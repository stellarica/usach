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y="6858000" cx="12192000"/>
  <p:notesSz cx="6858000" cy="9144000"/>
  <p:embeddedFontLst>
    <p:embeddedFont>
      <p:font typeface="Karla"/>
      <p:regular r:id="rId59"/>
      <p:bold r:id="rId60"/>
      <p:italic r:id="rId61"/>
      <p:boldItalic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3" roundtripDataSignature="AMtx7mi15XrBDRiLpWYzJQjcW+abE9Ic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317A173-6586-49D2-8B16-787E32E2BAFF}">
  <a:tblStyle styleId="{6317A173-6586-49D2-8B16-787E32E2BAF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Karla-boldItalic.fntdata"/><Relationship Id="rId61" Type="http://schemas.openxmlformats.org/officeDocument/2006/relationships/font" Target="fonts/Karla-italic.fntdata"/><Relationship Id="rId20" Type="http://schemas.openxmlformats.org/officeDocument/2006/relationships/slide" Target="slides/slide15.xml"/><Relationship Id="rId63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Karla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font" Target="fonts/Karla-regular.fntdata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f989f20f57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g1f989f20f57_0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f989f20f5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g1f989f20f5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1f989f20f57_0_9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4" name="Google Shape;234;g1f989f20f57_0_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3" name="Google Shape;25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2" name="Google Shape;26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2" name="Google Shape;28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2" name="Google Shape;29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f989f20f57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g1f989f20f57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3" name="Google Shape;31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f989f20f57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g1f989f20f57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3" name="Google Shape;39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1f989f20f57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g1f989f20f57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1f989f20f57_0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8" name="Google Shape;458;g1f989f20f57_0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7" name="Google Shape;47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1f989f20f57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9" name="Google Shape;489;g1f989f20f57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7" name="Google Shape;49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7" name="Google Shape;50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1f989f20f57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8" name="Google Shape;518;g1f989f20f57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7" name="Google Shape;537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f989f20f57_0_2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8" name="Google Shape;548;g1f989f20f57_0_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9" name="Google Shape;56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8" name="Google Shape;58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8" name="Google Shape;598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1f989f20f57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8" name="Google Shape;618;g1f989f20f57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7" name="Google Shape;647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7" name="Google Shape;657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6" name="Google Shape;666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5" name="Google Shape;685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8" name="Google Shape;698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8" name="Google Shape;708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9" name="Google Shape;719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1" name="Google Shape;731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4" name="Google Shape;764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>
  <p:cSld name="Empt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7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8"/>
          <p:cNvSpPr/>
          <p:nvPr/>
        </p:nvSpPr>
        <p:spPr>
          <a:xfrm>
            <a:off x="304801" y="-13915"/>
            <a:ext cx="10972420" cy="6885849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000000">
              <a:alpha val="6666"/>
            </a:srgbClr>
          </a:solidFill>
          <a:ln>
            <a:noFill/>
          </a:ln>
        </p:spPr>
      </p:sp>
      <p:sp>
        <p:nvSpPr>
          <p:cNvPr id="19" name="Google Shape;19;p58"/>
          <p:cNvSpPr/>
          <p:nvPr/>
        </p:nvSpPr>
        <p:spPr>
          <a:xfrm>
            <a:off x="1" y="-13915"/>
            <a:ext cx="10972420" cy="6885849"/>
          </a:xfrm>
          <a:custGeom>
            <a:rect b="b" l="l" r="r" t="t"/>
            <a:pathLst>
              <a:path extrusionOk="0" h="206122" w="328450">
                <a:moveTo>
                  <a:pt x="0" y="0"/>
                </a:moveTo>
                <a:lnTo>
                  <a:pt x="0" y="206122"/>
                </a:lnTo>
                <a:lnTo>
                  <a:pt x="328450" y="206122"/>
                </a:lnTo>
                <a:lnTo>
                  <a:pt x="273309" y="3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0" name="Google Shape;20;p58"/>
          <p:cNvSpPr txBox="1"/>
          <p:nvPr>
            <p:ph type="title"/>
          </p:nvPr>
        </p:nvSpPr>
        <p:spPr>
          <a:xfrm>
            <a:off x="1117800" y="1191333"/>
            <a:ext cx="7098800" cy="64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21" name="Google Shape;21;p58"/>
          <p:cNvSpPr txBox="1"/>
          <p:nvPr>
            <p:ph idx="1" type="body"/>
          </p:nvPr>
        </p:nvSpPr>
        <p:spPr>
          <a:xfrm>
            <a:off x="1117667" y="2006600"/>
            <a:ext cx="7098800" cy="30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Char char="▸"/>
              <a:defRPr/>
            </a:lvl1pPr>
            <a:lvl2pPr indent="-3556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▹"/>
              <a:defRPr/>
            </a:lvl2pPr>
            <a:lvl3pPr indent="-355600" lvl="2" marL="1371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▹"/>
              <a:defRPr/>
            </a:lvl3pPr>
            <a:lvl4pPr indent="-355600" lvl="3" marL="1828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/>
            </a:lvl4pPr>
            <a:lvl5pPr indent="-355600" lvl="4" marL="2286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/>
            </a:lvl5pPr>
            <a:lvl6pPr indent="-355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/>
            </a:lvl6pPr>
            <a:lvl7pPr indent="-355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  <a:defRPr/>
            </a:lvl7pPr>
            <a:lvl8pPr indent="-355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  <a:defRPr/>
            </a:lvl8pPr>
            <a:lvl9pPr indent="-355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/>
            </a:lvl9pPr>
          </a:lstStyle>
          <a:p/>
        </p:txBody>
      </p:sp>
      <p:sp>
        <p:nvSpPr>
          <p:cNvPr id="22" name="Google Shape;22;p58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6" name="Google Shape;26;p5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6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6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6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6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6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6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6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6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6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6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6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6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6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6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6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6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5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6.jpg"/><Relationship Id="rId5" Type="http://schemas.openxmlformats.org/officeDocument/2006/relationships/image" Target="../media/image3.jp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Relationship Id="rId6" Type="http://schemas.openxmlformats.org/officeDocument/2006/relationships/image" Target="../media/image14.jpg"/><Relationship Id="rId7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Relationship Id="rId5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8.png"/><Relationship Id="rId5" Type="http://schemas.openxmlformats.org/officeDocument/2006/relationships/image" Target="../media/image7.jpg"/><Relationship Id="rId6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24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Relationship Id="rId4" Type="http://schemas.openxmlformats.org/officeDocument/2006/relationships/image" Target="../media/image26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Relationship Id="rId4" Type="http://schemas.openxmlformats.org/officeDocument/2006/relationships/image" Target="../media/image21.gif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Relationship Id="rId4" Type="http://schemas.openxmlformats.org/officeDocument/2006/relationships/image" Target="../media/image30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Relationship Id="rId4" Type="http://schemas.openxmlformats.org/officeDocument/2006/relationships/image" Target="../media/image30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3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3.png"/><Relationship Id="rId4" Type="http://schemas.openxmlformats.org/officeDocument/2006/relationships/image" Target="../media/image3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3.png"/><Relationship Id="rId4" Type="http://schemas.openxmlformats.org/officeDocument/2006/relationships/image" Target="../media/image19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3.png"/><Relationship Id="rId4" Type="http://schemas.openxmlformats.org/officeDocument/2006/relationships/image" Target="../media/image25.gif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3.png"/><Relationship Id="rId4" Type="http://schemas.openxmlformats.org/officeDocument/2006/relationships/image" Target="../media/image28.png"/><Relationship Id="rId5" Type="http://schemas.openxmlformats.org/officeDocument/2006/relationships/image" Target="../media/image3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3.png"/><Relationship Id="rId4" Type="http://schemas.openxmlformats.org/officeDocument/2006/relationships/image" Target="../media/image34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97" name="Google Shape;97;p3"/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Teoría de Gases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251" y="2055274"/>
            <a:ext cx="4058571" cy="340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105" name="Google Shape;10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4"/>
          <p:cNvSpPr txBox="1"/>
          <p:nvPr/>
        </p:nvSpPr>
        <p:spPr>
          <a:xfrm>
            <a:off x="366154" y="226111"/>
            <a:ext cx="6829776" cy="648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2800"/>
              <a:buFont typeface="Lucida Sans"/>
              <a:buNone/>
            </a:pPr>
            <a:r>
              <a:rPr b="0" i="0" lang="es-CL" sz="28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Características de los Gases </a:t>
            </a:r>
            <a:endParaRPr b="0" i="0" sz="2800" u="none" cap="none" strike="noStrike">
              <a:solidFill>
                <a:srgbClr val="FF2F9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2F9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07" name="Google Shape;107;p4"/>
          <p:cNvSpPr txBox="1"/>
          <p:nvPr/>
        </p:nvSpPr>
        <p:spPr>
          <a:xfrm>
            <a:off x="266014" y="1227920"/>
            <a:ext cx="92400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Noto Sans Symbols"/>
              <a:buChar char="✔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Los gases adoptan el volumen y forma del recipiente que los contiene.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Noto Sans Symbols"/>
              <a:buChar char="✔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Se consideran los más compresibles de los estados de la materia.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Noto Sans Symbols"/>
              <a:buChar char="✔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Cuando se encuentran confinados en el mismo recipiente se mezclan uniforme y completamente.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Noto Sans Symbols"/>
              <a:buChar char="✔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Variación de volumen al pasar de </a:t>
            </a:r>
            <a:r>
              <a:rPr lang="es-CL" sz="2000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líquido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o solido a gas.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Noto Sans Symbols"/>
              <a:buChar char="✔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Cuentan con densidades mucho menores que los líquidos y sólidos.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174a" id="108" name="Google Shape;10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6022" y="4259242"/>
            <a:ext cx="2701925" cy="1868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56011_ma0501" id="109" name="Google Shape;109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3009" y="4471116"/>
            <a:ext cx="1412875" cy="1836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63597" y="4259242"/>
            <a:ext cx="2209800" cy="170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/>
          <p:nvPr/>
        </p:nvSpPr>
        <p:spPr>
          <a:xfrm>
            <a:off x="178741" y="1191334"/>
            <a:ext cx="4065588" cy="442912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 txBox="1"/>
          <p:nvPr/>
        </p:nvSpPr>
        <p:spPr>
          <a:xfrm>
            <a:off x="336272" y="377132"/>
            <a:ext cx="3505200" cy="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1270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11 elementos son gases a 25</a:t>
            </a:r>
            <a:r>
              <a:rPr b="1" baseline="30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0</a:t>
            </a: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C y 1 atmósfera</a:t>
            </a:r>
            <a:endParaRPr b="1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4675258" y="1191334"/>
            <a:ext cx="4143375" cy="3043238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s://encrypted-tbn0.gstatic.com/images?q=tbn:ANd9GcQbbefQgono7qYqtBSmdztE6V6a5_ibDnASNPrwQckES-vPp6Ak" id="120" name="Google Shape;120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27360" y="3815657"/>
            <a:ext cx="2209800" cy="147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independent.co.uk/incoming/article8558345.ece/alternates/w620/climate-change.jpg" id="121" name="Google Shape;121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42454" y="1663549"/>
            <a:ext cx="1979613" cy="148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5"/>
          <p:cNvSpPr txBox="1"/>
          <p:nvPr/>
        </p:nvSpPr>
        <p:spPr>
          <a:xfrm>
            <a:off x="5028349" y="4212130"/>
            <a:ext cx="3886200" cy="14417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Algunos ejemplos de compuestos moleculares gaseosos</a:t>
            </a:r>
            <a:endParaRPr b="1" i="0" sz="2000" u="none" cap="none" strike="noStrike">
              <a:solidFill>
                <a:srgbClr val="008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128" name="Google Shape;12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6"/>
          <p:cNvSpPr/>
          <p:nvPr/>
        </p:nvSpPr>
        <p:spPr>
          <a:xfrm>
            <a:off x="4977170" y="1511831"/>
            <a:ext cx="509230" cy="2191339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ww.chem4kids.com/files/art/matter-gas-01.jpg" id="130" name="Google Shape;130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41730" y="4031784"/>
            <a:ext cx="7406543" cy="2530569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6"/>
          <p:cNvSpPr txBox="1"/>
          <p:nvPr/>
        </p:nvSpPr>
        <p:spPr>
          <a:xfrm>
            <a:off x="226408" y="121563"/>
            <a:ext cx="9029105" cy="10583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2800"/>
              <a:buFont typeface="Lucida Sans"/>
              <a:buNone/>
            </a:pPr>
            <a:r>
              <a:rPr b="0" i="0" lang="es-CL" sz="28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¿Qué propiedades determinan el comportamiento físico de un gas ?</a:t>
            </a:r>
            <a:endParaRPr b="0" i="0" sz="2800" u="none" cap="none" strike="noStrike">
              <a:solidFill>
                <a:srgbClr val="FF2F9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2F9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1164217" y="1655605"/>
            <a:ext cx="4189488" cy="190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La cantidad de gas (moles)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El volumen (v)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La temperatura (T)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La presión (P)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 txBox="1"/>
          <p:nvPr/>
        </p:nvSpPr>
        <p:spPr>
          <a:xfrm>
            <a:off x="5780420" y="2000880"/>
            <a:ext cx="2959501" cy="1438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Vinculadas mediante una ecuacion de estado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139" name="Google Shape;13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0" name="Google Shape;140;p7"/>
          <p:cNvGraphicFramePr/>
          <p:nvPr/>
        </p:nvGraphicFramePr>
        <p:xfrm>
          <a:off x="117969" y="28075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{6317A173-6586-49D2-8B16-787E32E2BAFF}</a:tableStyleId>
              </a:tblPr>
              <a:tblGrid>
                <a:gridCol w="1633475"/>
                <a:gridCol w="1031675"/>
                <a:gridCol w="1375550"/>
                <a:gridCol w="1289575"/>
                <a:gridCol w="1289575"/>
                <a:gridCol w="1805425"/>
                <a:gridCol w="1375550"/>
              </a:tblGrid>
              <a:tr h="370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PROPIEDAD</a:t>
                      </a:r>
                      <a:endParaRPr sz="1400" u="none" cap="none" strike="noStrike"/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6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UNIDADES</a:t>
                      </a:r>
                      <a:endParaRPr sz="1400" u="none" cap="none" strike="noStrike"/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  <a:tc hMerge="1"/>
              </a:tr>
              <a:tr h="370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CL" sz="1600" u="none" cap="none" strike="noStrike">
                          <a:solidFill>
                            <a:schemeClr val="accent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Presión</a:t>
                      </a:r>
                      <a:endParaRPr sz="1400" u="none" cap="none" strike="noStrike"/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 atm</a:t>
                      </a:r>
                      <a:endParaRPr sz="1400" u="none" cap="none" strike="noStrike"/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760 mmHg</a:t>
                      </a:r>
                      <a:endParaRPr sz="16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760 Torr</a:t>
                      </a:r>
                      <a:endParaRPr sz="1400" u="none" cap="none" strike="noStrike"/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1,013 Bar</a:t>
                      </a:r>
                      <a:endParaRPr sz="1400" u="none" cap="none" strike="noStrike"/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lang="es-CL" sz="1600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1,013 x10</a:t>
                      </a:r>
                      <a:r>
                        <a:rPr baseline="30000" lang="es-CL" sz="1600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5</a:t>
                      </a:r>
                      <a:r>
                        <a:rPr lang="es-CL" sz="1600">
                          <a:solidFill>
                            <a:schemeClr val="dk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 Pa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t/>
                      </a:r>
                      <a:endParaRPr sz="1600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101,3 kPa</a:t>
                      </a:r>
                      <a:endParaRPr sz="16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CL" sz="1600" u="none" cap="none" strike="noStrike">
                          <a:solidFill>
                            <a:schemeClr val="accent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Volumen</a:t>
                      </a:r>
                      <a:endParaRPr sz="1400" u="none" cap="none" strike="noStrike"/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 L</a:t>
                      </a:r>
                      <a:endParaRPr sz="1400" u="none" cap="none" strike="noStrike"/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 dm</a:t>
                      </a:r>
                      <a:r>
                        <a:rPr baseline="30000" lang="es-CL" sz="16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1000 cm</a:t>
                      </a:r>
                      <a:r>
                        <a:rPr baseline="30000" lang="es-CL" sz="16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1000 mL</a:t>
                      </a:r>
                      <a:endParaRPr sz="16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Lucida Sans"/>
                        <a:buNone/>
                      </a:pPr>
                      <a:r>
                        <a:rPr lang="es-CL" sz="16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1 x10</a:t>
                      </a:r>
                      <a:r>
                        <a:rPr baseline="30000" lang="es-CL" sz="16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-3 </a:t>
                      </a:r>
                      <a:r>
                        <a:rPr lang="es-CL" sz="16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m</a:t>
                      </a:r>
                      <a:r>
                        <a:rPr baseline="30000" lang="es-CL" sz="16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3</a:t>
                      </a:r>
                      <a:endParaRPr sz="1400" u="none" cap="none" strike="noStrike"/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370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CL" sz="1600" u="none" cap="none" strike="noStrike">
                          <a:solidFill>
                            <a:schemeClr val="accent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Temperatura</a:t>
                      </a:r>
                      <a:endParaRPr sz="1400" u="none" cap="none" strike="noStrike"/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0°C</a:t>
                      </a:r>
                      <a:endParaRPr sz="1400" u="none" cap="none" strike="noStrike"/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273,15 K</a:t>
                      </a:r>
                      <a:endParaRPr sz="1400" u="none" cap="none" strike="noStrike"/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32 °F</a:t>
                      </a:r>
                      <a:endParaRPr sz="1400" u="none" cap="none" strike="noStrike"/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579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b="1" lang="es-CL" sz="1600" u="none" cap="none" strike="noStrike">
                          <a:solidFill>
                            <a:schemeClr val="accent1"/>
                          </a:solidFill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Cantidad de sustancia</a:t>
                      </a:r>
                      <a:endParaRPr sz="1400" u="none" cap="none" strike="noStrike"/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-CL" sz="1600" u="none" cap="none" strike="noStrike">
                          <a:latin typeface="Lucida Sans"/>
                          <a:ea typeface="Lucida Sans"/>
                          <a:cs typeface="Lucida Sans"/>
                          <a:sym typeface="Lucida Sans"/>
                        </a:rPr>
                        <a:t>mol</a:t>
                      </a:r>
                      <a:endParaRPr sz="1400" u="none" cap="none" strike="noStrike"/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t/>
                      </a:r>
                      <a:endParaRPr sz="1600" u="none" cap="none" strike="noStrike">
                        <a:latin typeface="Lucida Sans"/>
                        <a:ea typeface="Lucida Sans"/>
                        <a:cs typeface="Lucida Sans"/>
                        <a:sym typeface="Lucida Sans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8DA9D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http://upload.wikimedia.org/wikipedia/commons/thumb/6/60/CelsiusKelvin.svg/200px-CelsiusKelvin.svg.png" id="141" name="Google Shape;1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5648" y="3428999"/>
            <a:ext cx="1588573" cy="302687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7"/>
          <p:cNvSpPr/>
          <p:nvPr/>
        </p:nvSpPr>
        <p:spPr>
          <a:xfrm>
            <a:off x="3273260" y="3136612"/>
            <a:ext cx="5058210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158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T (K) = T (</a:t>
            </a:r>
            <a:r>
              <a:rPr b="0" baseline="30000" i="0" lang="es-CL" sz="32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0</a:t>
            </a:r>
            <a:r>
              <a:rPr b="0" i="0" lang="es-CL" sz="32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C) + 273,15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ttp://webquest.carm.es/majwq/public/files/files_user/101420/covnersion_de_unidades_fisicas.jpg" id="143" name="Google Shape;143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99453" y="4077976"/>
            <a:ext cx="2619375" cy="1838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upload.wikimedia.org/wikipedia/commons/thumb/1/13/Manometre_bleu.jpg/200px-Manometre_bleu.jpg" id="144" name="Google Shape;14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191458" y="4498913"/>
            <a:ext cx="1905000" cy="131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f989f20f57_0_114"/>
          <p:cNvSpPr txBox="1"/>
          <p:nvPr>
            <p:ph idx="12" type="sldNum"/>
          </p:nvPr>
        </p:nvSpPr>
        <p:spPr>
          <a:xfrm>
            <a:off x="11390969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150" name="Google Shape;150;g1f989f20f57_0_114"/>
          <p:cNvSpPr txBox="1"/>
          <p:nvPr/>
        </p:nvSpPr>
        <p:spPr>
          <a:xfrm>
            <a:off x="2027436" y="2931560"/>
            <a:ext cx="7781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1" name="Google Shape;151;g1f989f20f57_0_114"/>
          <p:cNvGrpSpPr/>
          <p:nvPr/>
        </p:nvGrpSpPr>
        <p:grpSpPr>
          <a:xfrm>
            <a:off x="5125622" y="1447535"/>
            <a:ext cx="1171825" cy="1045609"/>
            <a:chOff x="5233525" y="4954450"/>
            <a:chExt cx="538275" cy="516350"/>
          </a:xfrm>
        </p:grpSpPr>
        <p:sp>
          <p:nvSpPr>
            <p:cNvPr id="152" name="Google Shape;152;g1f989f20f57_0_114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g1f989f20f57_0_114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g1f989f20f57_0_114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g1f989f20f57_0_114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g1f989f20f57_0_114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g1f989f20f57_0_114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g1f989f20f57_0_114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g1f989f20f57_0_114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" name="Google Shape;160;g1f989f20f57_0_114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g1f989f20f57_0_114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g1f989f20f57_0_114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3" name="Google Shape;163;g1f989f20f57_0_114"/>
          <p:cNvSpPr txBox="1"/>
          <p:nvPr/>
        </p:nvSpPr>
        <p:spPr>
          <a:xfrm>
            <a:off x="3895870" y="5365948"/>
            <a:ext cx="829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Teoría de Gases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169" name="Google Shape;16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9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72" name="Google Shape;172;p9"/>
          <p:cNvSpPr txBox="1"/>
          <p:nvPr/>
        </p:nvSpPr>
        <p:spPr>
          <a:xfrm>
            <a:off x="291094" y="374889"/>
            <a:ext cx="8856599" cy="5501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1.- </a:t>
            </a:r>
            <a:r>
              <a:rPr b="0" i="0" lang="es-CL" sz="1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Transforme las siguientes unidades</a:t>
            </a:r>
            <a:r>
              <a:rPr b="1" i="0" lang="es-CL" sz="1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0,9 atm a mmHg</a:t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25°C a Kelvin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5 mL a m</a:t>
            </a:r>
            <a:r>
              <a:rPr b="0" baseline="30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100 Torr a kPa</a:t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75 Pa a atm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- 11 K a °C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122 mmHg a atm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2,4 L a cm</a:t>
            </a:r>
            <a:r>
              <a:rPr b="0" baseline="30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300 cm</a:t>
            </a:r>
            <a:r>
              <a:rPr b="0" baseline="30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a m</a:t>
            </a:r>
            <a:r>
              <a:rPr b="0" baseline="30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75 kPa a atm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178" name="Google Shape;17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0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81" name="Google Shape;181;p10"/>
          <p:cNvSpPr txBox="1"/>
          <p:nvPr/>
        </p:nvSpPr>
        <p:spPr>
          <a:xfrm>
            <a:off x="291094" y="374889"/>
            <a:ext cx="8856599" cy="5501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1.- </a:t>
            </a:r>
            <a:r>
              <a:rPr b="0" i="0" lang="es-CL" sz="1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Transforme las siguientes unidades</a:t>
            </a:r>
            <a:r>
              <a:rPr b="1" i="0" lang="es-CL" sz="1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0,9 atm a mmHg</a:t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25°C a Kelvin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5 mL a m</a:t>
            </a:r>
            <a:r>
              <a:rPr b="0" baseline="30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100 Torr a kPa</a:t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75 Pa a atm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- 11 K a °C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122 mmHg a atm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2,4 L a cm</a:t>
            </a:r>
            <a:r>
              <a:rPr b="0" baseline="30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300 cm</a:t>
            </a:r>
            <a:r>
              <a:rPr b="0" baseline="30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a m</a:t>
            </a:r>
            <a:r>
              <a:rPr b="0" baseline="30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Calibri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75 kPa a atm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2" name="Google Shape;182;p10"/>
          <p:cNvGrpSpPr/>
          <p:nvPr/>
        </p:nvGrpSpPr>
        <p:grpSpPr>
          <a:xfrm>
            <a:off x="2823459" y="1399893"/>
            <a:ext cx="1995694" cy="4479751"/>
            <a:chOff x="2903387" y="2221468"/>
            <a:chExt cx="1995373" cy="4479134"/>
          </a:xfrm>
        </p:grpSpPr>
        <p:sp>
          <p:nvSpPr>
            <p:cNvPr id="183" name="Google Shape;183;p10"/>
            <p:cNvSpPr txBox="1"/>
            <p:nvPr/>
          </p:nvSpPr>
          <p:spPr>
            <a:xfrm>
              <a:off x="3124200" y="2221468"/>
              <a:ext cx="1579024" cy="400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-CL" sz="20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684 mmHg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0"/>
            <p:cNvSpPr txBox="1"/>
            <p:nvPr/>
          </p:nvSpPr>
          <p:spPr>
            <a:xfrm>
              <a:off x="2956959" y="6300547"/>
              <a:ext cx="1309764" cy="400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-CL" sz="20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0,74 atm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0"/>
            <p:cNvSpPr txBox="1"/>
            <p:nvPr/>
          </p:nvSpPr>
          <p:spPr>
            <a:xfrm>
              <a:off x="3034325" y="2634939"/>
              <a:ext cx="1325791" cy="400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-CL" sz="20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298,15 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0"/>
            <p:cNvSpPr txBox="1"/>
            <p:nvPr/>
          </p:nvSpPr>
          <p:spPr>
            <a:xfrm>
              <a:off x="3006763" y="3061720"/>
              <a:ext cx="1583834" cy="400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-CL" sz="20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5 x10</a:t>
              </a:r>
              <a:r>
                <a:rPr b="1" baseline="30000" i="0" lang="es-CL" sz="20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−6</a:t>
              </a:r>
              <a:r>
                <a:rPr b="1" i="0" lang="es-CL" sz="20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 m</a:t>
              </a:r>
              <a:r>
                <a:rPr b="1" baseline="30000" i="0" lang="es-CL" sz="20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0"/>
            <p:cNvSpPr txBox="1"/>
            <p:nvPr/>
          </p:nvSpPr>
          <p:spPr>
            <a:xfrm>
              <a:off x="2970337" y="5336678"/>
              <a:ext cx="1393106" cy="400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-CL" sz="20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2400 cm</a:t>
              </a:r>
              <a:r>
                <a:rPr b="1" baseline="30000" i="0" lang="es-CL" sz="20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0"/>
            <p:cNvSpPr txBox="1"/>
            <p:nvPr/>
          </p:nvSpPr>
          <p:spPr>
            <a:xfrm>
              <a:off x="3124200" y="4850545"/>
              <a:ext cx="1309764" cy="400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-CL" sz="20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0,16 atm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0"/>
            <p:cNvSpPr txBox="1"/>
            <p:nvPr/>
          </p:nvSpPr>
          <p:spPr>
            <a:xfrm>
              <a:off x="3006763" y="3504734"/>
              <a:ext cx="1429970" cy="400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-CL" sz="20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13,33 kPa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0"/>
            <p:cNvSpPr txBox="1"/>
            <p:nvPr/>
          </p:nvSpPr>
          <p:spPr>
            <a:xfrm>
              <a:off x="2970337" y="3965915"/>
              <a:ext cx="1928423" cy="400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-CL" sz="20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7,4 x10</a:t>
              </a:r>
              <a:r>
                <a:rPr b="1" baseline="30000" i="0" lang="es-CL" sz="20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−4 </a:t>
              </a:r>
              <a:r>
                <a:rPr b="1" i="0" lang="es-CL" sz="20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atm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0"/>
            <p:cNvSpPr txBox="1"/>
            <p:nvPr/>
          </p:nvSpPr>
          <p:spPr>
            <a:xfrm>
              <a:off x="2903387" y="4378665"/>
              <a:ext cx="1636724" cy="400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-CL" sz="20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- 284,15 °C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0"/>
            <p:cNvSpPr txBox="1"/>
            <p:nvPr/>
          </p:nvSpPr>
          <p:spPr>
            <a:xfrm>
              <a:off x="2970337" y="5808558"/>
              <a:ext cx="1583833" cy="4000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1" i="0" lang="es-CL" sz="20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3 x10</a:t>
              </a:r>
              <a:r>
                <a:rPr b="1" baseline="30000" i="0" lang="es-CL" sz="20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−4</a:t>
              </a:r>
              <a:r>
                <a:rPr b="1" i="0" lang="es-CL" sz="20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 m</a:t>
              </a:r>
              <a:r>
                <a:rPr b="1" baseline="30000" i="0" lang="es-CL" sz="20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1f989f20f57_0_0"/>
          <p:cNvSpPr txBox="1"/>
          <p:nvPr>
            <p:ph idx="12" type="sldNum"/>
          </p:nvPr>
        </p:nvSpPr>
        <p:spPr>
          <a:xfrm>
            <a:off x="11390969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198" name="Google Shape;198;g1f989f20f57_0_0"/>
          <p:cNvSpPr txBox="1"/>
          <p:nvPr/>
        </p:nvSpPr>
        <p:spPr>
          <a:xfrm>
            <a:off x="3895870" y="5365948"/>
            <a:ext cx="829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Teoría de Gases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" name="Google Shape;199;g1f989f20f57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2" cy="1058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1f989f20f57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251" y="2055274"/>
            <a:ext cx="4058571" cy="340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206" name="Google Shape;20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2"/>
          <p:cNvSpPr txBox="1"/>
          <p:nvPr/>
        </p:nvSpPr>
        <p:spPr>
          <a:xfrm>
            <a:off x="238608" y="1944547"/>
            <a:ext cx="9030810" cy="449097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127000" lvl="0" marL="138113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Noto Sans Symbols"/>
              <a:buChar char="✔"/>
            </a:pPr>
            <a:r>
              <a:rPr b="0" i="0" lang="es-CL" sz="1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 Las moléculas de un gas son infinitamente pequeñas y el volumen real que ocupan es despreciable frente al recipiente que las contiene.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38113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Noto Sans Symbols"/>
              <a:buChar char="✔"/>
            </a:pPr>
            <a:r>
              <a:rPr b="0" i="0" lang="es-CL" sz="1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 Las moléculas sufren choques elásticos en el recipiente, no se pierde energía, aunque cambien de dirección luego del choque.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38113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Noto Sans Symbols"/>
              <a:buChar char="✔"/>
            </a:pPr>
            <a:r>
              <a:rPr b="0" i="0" lang="es-CL" sz="1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 Como consecuencia del choque con las paredes del recipiente, se origina una presión.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38113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Noto Sans Symbols"/>
              <a:buChar char="✔"/>
            </a:pPr>
            <a:r>
              <a:rPr b="0" i="0" lang="es-CL" sz="1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 Las fuerzas de interacción moleculares son nulas.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138113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Noto Sans Symbols"/>
              <a:buChar char="✔"/>
            </a:pPr>
            <a:r>
              <a:rPr b="0" i="0" lang="es-CL" sz="1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 La energía cinética media de las moléculas es directamente proporcional a la temperatura absoluta.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7121" lvl="0" marL="609585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descr="Resultado de imagen para teoria cinetica de los gases" id="208" name="Google Shape;20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25849" y="1987433"/>
            <a:ext cx="1391886" cy="244972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2"/>
          <p:cNvSpPr txBox="1"/>
          <p:nvPr/>
        </p:nvSpPr>
        <p:spPr>
          <a:xfrm>
            <a:off x="366154" y="156100"/>
            <a:ext cx="4796155" cy="6480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2800"/>
              <a:buFont typeface="Lucida Sans"/>
              <a:buNone/>
            </a:pPr>
            <a:r>
              <a:rPr b="0" i="0" lang="es-CL" sz="28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Teoría Cinética</a:t>
            </a:r>
            <a:endParaRPr b="0" i="0" sz="2800" u="none" cap="none" strike="noStrike">
              <a:solidFill>
                <a:srgbClr val="FF2F92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rgbClr val="FF2F9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238608" y="804172"/>
            <a:ext cx="9320178" cy="8887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Si se tiene en cuenta la Teoría Cinética para interpretar la ley de los gases ideales se debe considerar:</a:t>
            </a:r>
            <a:endParaRPr b="0" i="0" sz="18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3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216" name="Google Shape;21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3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19" name="Google Shape;219;p13"/>
          <p:cNvSpPr txBox="1"/>
          <p:nvPr/>
        </p:nvSpPr>
        <p:spPr>
          <a:xfrm>
            <a:off x="226455" y="152412"/>
            <a:ext cx="9246729" cy="5613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Ecuación de Estado de un Gas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1769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El estado gaseoso esta sujeto a leyes que se puede resumir en que la presión es función del volumen y la temperatura.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1769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P = f (V, 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1769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1769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Unidades de presión </a:t>
            </a:r>
            <a:r>
              <a:rPr b="0" i="0" lang="es-CL" sz="20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b="0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P</a:t>
            </a:r>
            <a:r>
              <a:rPr b="0" i="0" lang="es-CL" sz="20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):		1 Pa = 1 N m-2  (S.I.)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			       		                     1 atm = 101292,8 Pa = 760 mm Hg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1769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Unidades de Volumen </a:t>
            </a:r>
            <a:r>
              <a:rPr b="0" i="0" lang="es-CL" sz="20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b="1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V</a:t>
            </a:r>
            <a:r>
              <a:rPr b="0" i="0" lang="es-CL" sz="20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):	1 L = 1000 cm</a:t>
            </a:r>
            <a:r>
              <a:rPr b="0" baseline="30000" i="0" lang="es-CL" sz="20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20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 = 1000 mL</a:t>
            </a:r>
            <a:endParaRPr b="0" i="0" sz="2000" u="none" cap="none" strike="noStrike">
              <a:solidFill>
                <a:srgbClr val="1769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1769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Unidades de Temperatura </a:t>
            </a:r>
            <a:r>
              <a:rPr b="0" i="0" lang="es-CL" sz="20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b="1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T</a:t>
            </a:r>
            <a:r>
              <a:rPr b="0" i="0" lang="es-CL" sz="20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):  K = 273 + </a:t>
            </a:r>
            <a:r>
              <a:rPr b="0" baseline="30000" i="0" lang="es-CL" sz="20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r>
              <a:rPr b="0" i="0" lang="es-CL" sz="2000" u="none" cap="none" strike="noStrike">
                <a:solidFill>
                  <a:srgbClr val="1769B5"/>
                </a:solidFill>
                <a:latin typeface="Lucida Sans"/>
                <a:ea typeface="Lucida Sans"/>
                <a:cs typeface="Lucida Sans"/>
                <a:sym typeface="Lucida Sans"/>
              </a:rPr>
              <a:t>C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Lucida Sans"/>
              <a:buNone/>
            </a:pPr>
            <a:fld id="{00000000-1234-1234-1234-123412341234}" type="slidenum">
              <a:rPr lang="es-CL">
                <a:latin typeface="Lucida Sans"/>
                <a:ea typeface="Lucida Sans"/>
                <a:cs typeface="Lucida Sans"/>
                <a:sym typeface="Lucida Sans"/>
              </a:rPr>
              <a:t>‹#›</a:t>
            </a:fld>
            <a:endParaRPr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225" name="Google Shape;22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14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28" name="Google Shape;228;p14"/>
          <p:cNvSpPr txBox="1"/>
          <p:nvPr/>
        </p:nvSpPr>
        <p:spPr>
          <a:xfrm>
            <a:off x="107504" y="74712"/>
            <a:ext cx="9719388" cy="229809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35464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2F92"/>
              </a:buClr>
              <a:buSzPts val="2000"/>
              <a:buFont typeface="Arial"/>
              <a:buNone/>
            </a:pPr>
            <a:r>
              <a:rPr b="1" i="0" lang="es-CL" sz="28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Ley de Boyle - Mariotte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5464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Para una determinada masa de gas, a temperatura constante, las magnitudes presión y volumen se relacionan de manera inversa.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14"/>
          <p:cNvPicPr preferRelativeResize="0"/>
          <p:nvPr/>
        </p:nvPicPr>
        <p:blipFill rotWithShape="1">
          <a:blip r:embed="rId4">
            <a:alphaModFix/>
          </a:blip>
          <a:srcRect b="16002" l="0" r="0" t="16002"/>
          <a:stretch/>
        </p:blipFill>
        <p:spPr>
          <a:xfrm>
            <a:off x="4886066" y="2779449"/>
            <a:ext cx="5357812" cy="39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4"/>
          <p:cNvSpPr txBox="1"/>
          <p:nvPr/>
        </p:nvSpPr>
        <p:spPr>
          <a:xfrm>
            <a:off x="271425" y="1803258"/>
            <a:ext cx="4509568" cy="22621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V α 1 / P     </a:t>
            </a:r>
            <a:r>
              <a:rPr b="0" i="0" lang="es-CL" sz="24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(</a:t>
            </a:r>
            <a:r>
              <a:rPr b="1" i="0" lang="es-CL" sz="24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T</a:t>
            </a:r>
            <a:r>
              <a:rPr b="0" i="0" lang="es-CL" sz="24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y </a:t>
            </a:r>
            <a:r>
              <a:rPr b="1" i="0" lang="es-CL" sz="24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n</a:t>
            </a:r>
            <a:r>
              <a:rPr b="0" i="0" lang="es-CL" sz="24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constante)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Transformación Isotérmica</a:t>
            </a:r>
            <a:endParaRPr b="0" i="0" sz="24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V = k / 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P</a:t>
            </a:r>
            <a:r>
              <a:rPr b="1" baseline="-25000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1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V</a:t>
            </a:r>
            <a:r>
              <a:rPr b="1" baseline="-25000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1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= P</a:t>
            </a:r>
            <a:r>
              <a:rPr b="1" baseline="-25000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V</a:t>
            </a:r>
            <a:r>
              <a:rPr b="1" baseline="-25000" i="0" lang="es-CL" sz="24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endParaRPr b="1" i="0" sz="2400" u="none" cap="none" strike="noStrike">
              <a:solidFill>
                <a:srgbClr val="008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231" name="Google Shape;23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422408" y="1544650"/>
            <a:ext cx="2755483" cy="3768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f989f20f57_0_96"/>
          <p:cNvSpPr txBox="1"/>
          <p:nvPr>
            <p:ph idx="12" type="sldNum"/>
          </p:nvPr>
        </p:nvSpPr>
        <p:spPr>
          <a:xfrm>
            <a:off x="11390969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237" name="Google Shape;237;g1f989f20f57_0_96"/>
          <p:cNvSpPr txBox="1"/>
          <p:nvPr/>
        </p:nvSpPr>
        <p:spPr>
          <a:xfrm>
            <a:off x="2027436" y="2931560"/>
            <a:ext cx="7781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8" name="Google Shape;238;g1f989f20f57_0_96"/>
          <p:cNvGrpSpPr/>
          <p:nvPr/>
        </p:nvGrpSpPr>
        <p:grpSpPr>
          <a:xfrm>
            <a:off x="5125622" y="1447535"/>
            <a:ext cx="1171825" cy="1045609"/>
            <a:chOff x="5233525" y="4954450"/>
            <a:chExt cx="538275" cy="516350"/>
          </a:xfrm>
        </p:grpSpPr>
        <p:sp>
          <p:nvSpPr>
            <p:cNvPr id="239" name="Google Shape;239;g1f989f20f57_0_96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g1f989f20f57_0_96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g1f989f20f57_0_96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g1f989f20f57_0_96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g1f989f20f57_0_96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g1f989f20f57_0_96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g1f989f20f57_0_96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g1f989f20f57_0_96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g1f989f20f57_0_96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g1f989f20f57_0_96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g1f989f20f57_0_96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g1f989f20f57_0_96"/>
          <p:cNvSpPr txBox="1"/>
          <p:nvPr/>
        </p:nvSpPr>
        <p:spPr>
          <a:xfrm>
            <a:off x="3895870" y="5365948"/>
            <a:ext cx="829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Teoría de Gases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6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256" name="Google Shape;25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6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59" name="Google Shape;259;p16"/>
          <p:cNvSpPr txBox="1"/>
          <p:nvPr/>
        </p:nvSpPr>
        <p:spPr>
          <a:xfrm>
            <a:off x="250825" y="158907"/>
            <a:ext cx="8856599" cy="130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2.- </a:t>
            </a:r>
            <a:r>
              <a:rPr b="0" i="0" lang="es-CL" sz="1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Una muestra de gas de cloro (Cl</a:t>
            </a:r>
            <a:r>
              <a:rPr b="0" baseline="-25000" i="0" lang="es-CL" sz="1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1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) ocupa un volumen de 946 mL a una presión de 726 mmHg. ¿Cuál es la presión del gas (en mmHg) si el volumen está reducido a temperatura constante de 154 mL?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7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265" name="Google Shape;26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7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67" name="Google Shape;267;p17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68" name="Google Shape;268;p17"/>
          <p:cNvSpPr txBox="1"/>
          <p:nvPr/>
        </p:nvSpPr>
        <p:spPr>
          <a:xfrm>
            <a:off x="250825" y="158907"/>
            <a:ext cx="8856599" cy="1304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2.- </a:t>
            </a:r>
            <a:r>
              <a:rPr b="0" i="0" lang="es-CL" sz="1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Una muestra de gas de cloro ocupa un volumen de 946 mL a una presión de 726 mmHg. ¿Cuál es la presión del gas (en mmHg) si el volumen está reducido a temperatura constante de 154 mL?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3657807" y="1845272"/>
            <a:ext cx="298767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Arial"/>
              <a:buNone/>
            </a:pPr>
            <a:r>
              <a:rPr b="1" i="1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P</a:t>
            </a:r>
            <a:r>
              <a:rPr b="1" baseline="-25000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1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x </a:t>
            </a:r>
            <a:r>
              <a:rPr b="1" i="1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V</a:t>
            </a:r>
            <a:r>
              <a:rPr b="1" baseline="-25000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1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= </a:t>
            </a:r>
            <a:r>
              <a:rPr b="1" i="1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P</a:t>
            </a:r>
            <a:r>
              <a:rPr b="1" baseline="-25000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x </a:t>
            </a:r>
            <a:r>
              <a:rPr b="1" i="1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V</a:t>
            </a:r>
            <a:r>
              <a:rPr b="1" baseline="-25000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endParaRPr b="1" i="0" sz="2000" u="none" cap="none" strike="noStrike">
              <a:solidFill>
                <a:srgbClr val="008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3064083" y="2620260"/>
            <a:ext cx="2194832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0" i="1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P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= 726 mmHg</a:t>
            </a:r>
            <a:endParaRPr b="0" baseline="-2500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1" name="Google Shape;271;p17"/>
          <p:cNvSpPr txBox="1"/>
          <p:nvPr/>
        </p:nvSpPr>
        <p:spPr>
          <a:xfrm>
            <a:off x="5970795" y="2596447"/>
            <a:ext cx="909223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0" i="1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P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= ?</a:t>
            </a:r>
            <a:endParaRPr b="0" baseline="-2500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2" name="Google Shape;272;p17"/>
          <p:cNvSpPr txBox="1"/>
          <p:nvPr/>
        </p:nvSpPr>
        <p:spPr>
          <a:xfrm>
            <a:off x="3002170" y="3142547"/>
            <a:ext cx="177003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0" i="1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V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= 946 mL</a:t>
            </a:r>
            <a:endParaRPr b="0" baseline="-2500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3" name="Google Shape;273;p17"/>
          <p:cNvSpPr txBox="1"/>
          <p:nvPr/>
        </p:nvSpPr>
        <p:spPr>
          <a:xfrm>
            <a:off x="6054933" y="3077460"/>
            <a:ext cx="1770036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0" i="1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V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= 154 mL</a:t>
            </a:r>
            <a:endParaRPr b="0" baseline="-2500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274" name="Google Shape;274;p17"/>
          <p:cNvSpPr txBox="1"/>
          <p:nvPr/>
        </p:nvSpPr>
        <p:spPr>
          <a:xfrm>
            <a:off x="1991861" y="4115715"/>
            <a:ext cx="800219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0" i="1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P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= </a:t>
            </a:r>
            <a:endParaRPr b="0" i="1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275" name="Google Shape;275;p17"/>
          <p:cNvGrpSpPr/>
          <p:nvPr/>
        </p:nvGrpSpPr>
        <p:grpSpPr>
          <a:xfrm>
            <a:off x="2945020" y="3804532"/>
            <a:ext cx="1143000" cy="933449"/>
            <a:chOff x="1500" y="2928"/>
            <a:chExt cx="720" cy="588"/>
          </a:xfrm>
        </p:grpSpPr>
        <p:sp>
          <p:nvSpPr>
            <p:cNvPr id="276" name="Google Shape;276;p17"/>
            <p:cNvSpPr txBox="1"/>
            <p:nvPr/>
          </p:nvSpPr>
          <p:spPr>
            <a:xfrm>
              <a:off x="1536" y="2928"/>
              <a:ext cx="648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75B5"/>
                </a:buClr>
                <a:buSzPts val="2000"/>
                <a:buFont typeface="Arial"/>
                <a:buNone/>
              </a:pPr>
              <a:r>
                <a:rPr b="0" i="1" lang="es-CL" sz="20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P</a:t>
              </a:r>
              <a:r>
                <a:rPr b="0" baseline="-25000" i="0" lang="es-CL" sz="20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1</a:t>
              </a:r>
              <a:r>
                <a:rPr b="0" i="0" lang="es-CL" sz="20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 x </a:t>
              </a:r>
              <a:r>
                <a:rPr b="0" i="1" lang="es-CL" sz="20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V</a:t>
              </a:r>
              <a:r>
                <a:rPr b="0" baseline="-25000" i="0" lang="es-CL" sz="20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1</a:t>
              </a:r>
              <a:endParaRPr b="0" i="1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cxnSp>
          <p:nvCxnSpPr>
            <p:cNvPr id="277" name="Google Shape;277;p17"/>
            <p:cNvCxnSpPr/>
            <p:nvPr/>
          </p:nvCxnSpPr>
          <p:spPr>
            <a:xfrm>
              <a:off x="1500" y="3250"/>
              <a:ext cx="720" cy="0"/>
            </a:xfrm>
            <a:prstGeom prst="straightConnector1">
              <a:avLst/>
            </a:prstGeom>
            <a:noFill/>
            <a:ln cap="flat" cmpd="sng" w="28575">
              <a:solidFill>
                <a:srgbClr val="2E75B5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78" name="Google Shape;278;p17"/>
            <p:cNvSpPr txBox="1"/>
            <p:nvPr/>
          </p:nvSpPr>
          <p:spPr>
            <a:xfrm>
              <a:off x="1771" y="3264"/>
              <a:ext cx="29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75B5"/>
                </a:buClr>
                <a:buSzPts val="2000"/>
                <a:buFont typeface="Arial"/>
                <a:buNone/>
              </a:pPr>
              <a:r>
                <a:rPr b="0" i="1" lang="es-CL" sz="20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V</a:t>
              </a:r>
              <a:r>
                <a:rPr b="0" baseline="-25000" i="0" lang="es-CL" sz="20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2</a:t>
              </a:r>
              <a:endParaRPr b="0" i="1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</p:grpSp>
      <p:sp>
        <p:nvSpPr>
          <p:cNvPr id="279" name="Google Shape;279;p17"/>
          <p:cNvSpPr txBox="1"/>
          <p:nvPr/>
        </p:nvSpPr>
        <p:spPr>
          <a:xfrm>
            <a:off x="4398889" y="4115715"/>
            <a:ext cx="202651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= 4460 mmHg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8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285" name="Google Shape;28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18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7" name="Google Shape;287;p18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88" name="Google Shape;288;p18"/>
          <p:cNvSpPr txBox="1"/>
          <p:nvPr/>
        </p:nvSpPr>
        <p:spPr>
          <a:xfrm>
            <a:off x="250825" y="158907"/>
            <a:ext cx="9105210" cy="4208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.- Una muestra de aire ocupa un volumen de 3,8 L cuando la presión es de 1,2 atm.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Lucida Sans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¿Que volumen ocupará a 6,6 atm?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b) ¿Cual es la presión requerida para comprimir 0,075 L a T constante?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8"/>
          <p:cNvSpPr/>
          <p:nvPr/>
        </p:nvSpPr>
        <p:spPr>
          <a:xfrm>
            <a:off x="745435" y="911086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295" name="Google Shape;29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19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7" name="Google Shape;297;p19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298" name="Google Shape;298;p19"/>
          <p:cNvSpPr txBox="1"/>
          <p:nvPr/>
        </p:nvSpPr>
        <p:spPr>
          <a:xfrm>
            <a:off x="250825" y="158907"/>
            <a:ext cx="9105210" cy="42088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3.- Una muestra de aire ocupa un volumen de 3,8 L cuando la presión es de 1,2 atm.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457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Lucida Sans"/>
              <a:buAutoNum type="alphaLcParenR"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¿Que volumen ocupará a 6,6 atm?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302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t/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b) ¿Cual es la presión requerida para comprimir 0,075 L a T constante?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9"/>
          <p:cNvSpPr/>
          <p:nvPr/>
        </p:nvSpPr>
        <p:spPr>
          <a:xfrm>
            <a:off x="745435" y="911086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9"/>
          <p:cNvSpPr txBox="1"/>
          <p:nvPr/>
        </p:nvSpPr>
        <p:spPr>
          <a:xfrm>
            <a:off x="5471160" y="923012"/>
            <a:ext cx="350520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P</a:t>
            </a:r>
            <a:r>
              <a:rPr b="1" baseline="-25000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1 </a:t>
            </a:r>
            <a:r>
              <a:rPr b="1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x V</a:t>
            </a:r>
            <a:r>
              <a:rPr b="1" baseline="-25000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1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= P</a:t>
            </a:r>
            <a:r>
              <a:rPr b="1" baseline="-25000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 </a:t>
            </a:r>
            <a:r>
              <a:rPr b="1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x V</a:t>
            </a:r>
            <a:r>
              <a:rPr b="1" baseline="-25000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endParaRPr b="1" i="0" sz="2000" u="none" cap="none" strike="noStrike">
              <a:solidFill>
                <a:srgbClr val="008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455875" y="2549537"/>
            <a:ext cx="830580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	P</a:t>
            </a:r>
            <a:r>
              <a:rPr b="1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 </a:t>
            </a: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= 1,2 atm	P</a:t>
            </a:r>
            <a:r>
              <a:rPr b="1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= 6,6 atm	V</a:t>
            </a:r>
            <a:r>
              <a:rPr b="1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= 3,8	L	V</a:t>
            </a:r>
            <a:r>
              <a:rPr b="1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=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Reemplazando:	           1,2 atm x 3,8 L = 6,6 atm x V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                                               V</a:t>
            </a:r>
            <a:r>
              <a:rPr b="1" baseline="-25000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= 0,69 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670560" y="4964319"/>
            <a:ext cx="8305800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		P</a:t>
            </a:r>
            <a:r>
              <a:rPr b="1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= 1,2 atm	V</a:t>
            </a:r>
            <a:r>
              <a:rPr b="1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 </a:t>
            </a: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= 3,8 L	P</a:t>
            </a:r>
            <a:r>
              <a:rPr b="1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= ?	 V</a:t>
            </a:r>
            <a:r>
              <a:rPr b="1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= 0,075 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Reemplazando: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1,2 atm x 3,8 L = P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x 0,075 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P</a:t>
            </a:r>
            <a:r>
              <a:rPr b="1" baseline="-25000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0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= 60,8 atm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1f989f20f57_0_7"/>
          <p:cNvSpPr txBox="1"/>
          <p:nvPr>
            <p:ph idx="12" type="sldNum"/>
          </p:nvPr>
        </p:nvSpPr>
        <p:spPr>
          <a:xfrm>
            <a:off x="11390969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308" name="Google Shape;308;g1f989f20f57_0_7"/>
          <p:cNvSpPr txBox="1"/>
          <p:nvPr/>
        </p:nvSpPr>
        <p:spPr>
          <a:xfrm>
            <a:off x="3895870" y="5365948"/>
            <a:ext cx="829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Teoría de Gases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g1f989f20f57_0_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2" cy="1058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g1f989f20f57_0_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251" y="2055274"/>
            <a:ext cx="4058571" cy="340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1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316" name="Google Shape;31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1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19" name="Google Shape;319;p21"/>
          <p:cNvSpPr txBox="1"/>
          <p:nvPr/>
        </p:nvSpPr>
        <p:spPr>
          <a:xfrm>
            <a:off x="251520" y="227259"/>
            <a:ext cx="9002208" cy="530544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-19804" l="-702" r="-559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2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325" name="Google Shape;3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2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27" name="Google Shape;327;p22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328" name="Google Shape;328;p22"/>
          <p:cNvSpPr txBox="1"/>
          <p:nvPr/>
        </p:nvSpPr>
        <p:spPr>
          <a:xfrm>
            <a:off x="124736" y="298974"/>
            <a:ext cx="10105262" cy="6243923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-66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f989f20f57_0_78"/>
          <p:cNvSpPr txBox="1"/>
          <p:nvPr>
            <p:ph idx="12" type="sldNum"/>
          </p:nvPr>
        </p:nvSpPr>
        <p:spPr>
          <a:xfrm>
            <a:off x="11390969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334" name="Google Shape;334;g1f989f20f57_0_78"/>
          <p:cNvSpPr txBox="1"/>
          <p:nvPr/>
        </p:nvSpPr>
        <p:spPr>
          <a:xfrm>
            <a:off x="2027436" y="2931560"/>
            <a:ext cx="7781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5" name="Google Shape;335;g1f989f20f57_0_78"/>
          <p:cNvGrpSpPr/>
          <p:nvPr/>
        </p:nvGrpSpPr>
        <p:grpSpPr>
          <a:xfrm>
            <a:off x="5125622" y="1447535"/>
            <a:ext cx="1171825" cy="1045609"/>
            <a:chOff x="5233525" y="4954450"/>
            <a:chExt cx="538275" cy="516350"/>
          </a:xfrm>
        </p:grpSpPr>
        <p:sp>
          <p:nvSpPr>
            <p:cNvPr id="336" name="Google Shape;336;g1f989f20f57_0_78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g1f989f20f57_0_78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g1f989f20f57_0_78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g1f989f20f57_0_78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g1f989f20f57_0_78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g1f989f20f57_0_78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g1f989f20f57_0_78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g1f989f20f57_0_78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g1f989f20f57_0_78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g1f989f20f57_0_78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g1f989f20f57_0_78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7" name="Google Shape;347;g1f989f20f57_0_78"/>
          <p:cNvSpPr txBox="1"/>
          <p:nvPr/>
        </p:nvSpPr>
        <p:spPr>
          <a:xfrm>
            <a:off x="3895870" y="5365948"/>
            <a:ext cx="829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Teoría de Gases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4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353" name="Google Shape;35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24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55" name="Google Shape;355;p24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56" name="Google Shape;356;p24"/>
          <p:cNvSpPr txBox="1"/>
          <p:nvPr/>
        </p:nvSpPr>
        <p:spPr>
          <a:xfrm>
            <a:off x="250825" y="158907"/>
            <a:ext cx="8856599" cy="1438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4.-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Una muestra de gas de monóxido de carbono ocupa 3,20 L a 125 °C. ¿A qué temperatura el gas ocupará un volumen de 1,54 L si la presión permanece constante?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24"/>
          <p:cNvSpPr txBox="1"/>
          <p:nvPr/>
        </p:nvSpPr>
        <p:spPr>
          <a:xfrm>
            <a:off x="1552575" y="617538"/>
            <a:ext cx="75533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8" name="Google Shape;358;p24"/>
          <p:cNvSpPr/>
          <p:nvPr/>
        </p:nvSpPr>
        <p:spPr>
          <a:xfrm>
            <a:off x="1257300" y="1790700"/>
            <a:ext cx="8015288" cy="5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5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364" name="Google Shape;364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25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66" name="Google Shape;366;p25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67" name="Google Shape;367;p25"/>
          <p:cNvSpPr txBox="1"/>
          <p:nvPr/>
        </p:nvSpPr>
        <p:spPr>
          <a:xfrm>
            <a:off x="250825" y="158907"/>
            <a:ext cx="8856599" cy="1438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4.-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Una muestra de gas de monóxido de carbono ocupa 3,20 L a 125 °C. ¿A qué temperatura el gas ocupará un volumen de 1,54 L si la presión permanece constante?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8" name="Google Shape;368;p25"/>
          <p:cNvGrpSpPr/>
          <p:nvPr/>
        </p:nvGrpSpPr>
        <p:grpSpPr>
          <a:xfrm>
            <a:off x="1601787" y="4760909"/>
            <a:ext cx="7504113" cy="1122361"/>
            <a:chOff x="480" y="2856"/>
            <a:chExt cx="4727" cy="707"/>
          </a:xfrm>
        </p:grpSpPr>
        <p:sp>
          <p:nvSpPr>
            <p:cNvPr id="369" name="Google Shape;369;p25"/>
            <p:cNvSpPr txBox="1"/>
            <p:nvPr/>
          </p:nvSpPr>
          <p:spPr>
            <a:xfrm>
              <a:off x="480" y="3017"/>
              <a:ext cx="678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75B5"/>
                </a:buClr>
                <a:buSzPts val="2800"/>
                <a:buFont typeface="Arial"/>
                <a:buNone/>
              </a:pPr>
              <a:r>
                <a:rPr b="0" i="1" lang="es-CL" sz="28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T</a:t>
              </a:r>
              <a:r>
                <a:rPr b="0" baseline="-25000" i="0" lang="es-CL" sz="28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2</a:t>
              </a:r>
              <a:r>
                <a:rPr b="0" i="0" lang="es-CL" sz="28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 = </a:t>
              </a:r>
              <a:endParaRPr b="0" i="1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grpSp>
          <p:nvGrpSpPr>
            <p:cNvPr id="370" name="Google Shape;370;p25"/>
            <p:cNvGrpSpPr/>
            <p:nvPr/>
          </p:nvGrpSpPr>
          <p:grpSpPr>
            <a:xfrm>
              <a:off x="1005" y="2856"/>
              <a:ext cx="879" cy="666"/>
              <a:chOff x="1507" y="2928"/>
              <a:chExt cx="879" cy="666"/>
            </a:xfrm>
          </p:grpSpPr>
          <p:sp>
            <p:nvSpPr>
              <p:cNvPr id="371" name="Google Shape;371;p25"/>
              <p:cNvSpPr txBox="1"/>
              <p:nvPr/>
            </p:nvSpPr>
            <p:spPr>
              <a:xfrm>
                <a:off x="1507" y="2928"/>
                <a:ext cx="879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E75B5"/>
                  </a:buClr>
                  <a:buSzPts val="2800"/>
                  <a:buFont typeface="Arial"/>
                  <a:buNone/>
                </a:pPr>
                <a:r>
                  <a:rPr b="0" i="1" lang="es-CL" sz="2800" u="none" cap="none" strike="noStrike">
                    <a:solidFill>
                      <a:srgbClr val="2E75B5"/>
                    </a:solidFill>
                    <a:latin typeface="Lucida Sans"/>
                    <a:ea typeface="Lucida Sans"/>
                    <a:cs typeface="Lucida Sans"/>
                    <a:sym typeface="Lucida Sans"/>
                  </a:rPr>
                  <a:t>V</a:t>
                </a:r>
                <a:r>
                  <a:rPr b="0" baseline="-25000" i="0" lang="es-CL" sz="2800" u="none" cap="none" strike="noStrike">
                    <a:solidFill>
                      <a:srgbClr val="2E75B5"/>
                    </a:solidFill>
                    <a:latin typeface="Lucida Sans"/>
                    <a:ea typeface="Lucida Sans"/>
                    <a:cs typeface="Lucida Sans"/>
                    <a:sym typeface="Lucida Sans"/>
                  </a:rPr>
                  <a:t>2</a:t>
                </a:r>
                <a:r>
                  <a:rPr b="0" i="0" lang="es-CL" sz="2800" u="none" cap="none" strike="noStrike">
                    <a:solidFill>
                      <a:srgbClr val="2E75B5"/>
                    </a:solidFill>
                    <a:latin typeface="Lucida Sans"/>
                    <a:ea typeface="Lucida Sans"/>
                    <a:cs typeface="Lucida Sans"/>
                    <a:sym typeface="Lucida Sans"/>
                  </a:rPr>
                  <a:t> x </a:t>
                </a:r>
                <a:r>
                  <a:rPr b="0" i="1" lang="es-CL" sz="2800" u="none" cap="none" strike="noStrike">
                    <a:solidFill>
                      <a:srgbClr val="2E75B5"/>
                    </a:solidFill>
                    <a:latin typeface="Lucida Sans"/>
                    <a:ea typeface="Lucida Sans"/>
                    <a:cs typeface="Lucida Sans"/>
                    <a:sym typeface="Lucida Sans"/>
                  </a:rPr>
                  <a:t>T</a:t>
                </a:r>
                <a:r>
                  <a:rPr b="0" baseline="-25000" i="0" lang="es-CL" sz="2800" u="none" cap="none" strike="noStrike">
                    <a:solidFill>
                      <a:srgbClr val="2E75B5"/>
                    </a:solidFill>
                    <a:latin typeface="Lucida Sans"/>
                    <a:ea typeface="Lucida Sans"/>
                    <a:cs typeface="Lucida Sans"/>
                    <a:sym typeface="Lucida Sans"/>
                  </a:rPr>
                  <a:t>1</a:t>
                </a:r>
                <a:endParaRPr b="0" i="1" sz="28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endParaRPr>
              </a:p>
            </p:txBody>
          </p:sp>
          <p:cxnSp>
            <p:nvCxnSpPr>
              <p:cNvPr id="372" name="Google Shape;372;p25"/>
              <p:cNvCxnSpPr/>
              <p:nvPr/>
            </p:nvCxnSpPr>
            <p:spPr>
              <a:xfrm>
                <a:off x="1586" y="3259"/>
                <a:ext cx="72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73" name="Google Shape;373;p25"/>
              <p:cNvSpPr txBox="1"/>
              <p:nvPr/>
            </p:nvSpPr>
            <p:spPr>
              <a:xfrm>
                <a:off x="1767" y="3264"/>
                <a:ext cx="359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E75B5"/>
                  </a:buClr>
                  <a:buSzPts val="2800"/>
                  <a:buFont typeface="Arial"/>
                  <a:buNone/>
                </a:pPr>
                <a:r>
                  <a:rPr b="0" i="1" lang="es-CL" sz="2800" u="none" cap="none" strike="noStrike">
                    <a:solidFill>
                      <a:srgbClr val="2E75B5"/>
                    </a:solidFill>
                    <a:latin typeface="Lucida Sans"/>
                    <a:ea typeface="Lucida Sans"/>
                    <a:cs typeface="Lucida Sans"/>
                    <a:sym typeface="Lucida Sans"/>
                  </a:rPr>
                  <a:t>V</a:t>
                </a:r>
                <a:r>
                  <a:rPr b="0" baseline="-25000" i="0" lang="es-CL" sz="2800" u="none" cap="none" strike="noStrike">
                    <a:solidFill>
                      <a:srgbClr val="2E75B5"/>
                    </a:solidFill>
                    <a:latin typeface="Lucida Sans"/>
                    <a:ea typeface="Lucida Sans"/>
                    <a:cs typeface="Lucida Sans"/>
                    <a:sym typeface="Lucida Sans"/>
                  </a:rPr>
                  <a:t>1</a:t>
                </a:r>
                <a:endParaRPr b="0" i="1" sz="28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endParaRPr>
              </a:p>
            </p:txBody>
          </p:sp>
        </p:grpSp>
        <p:grpSp>
          <p:nvGrpSpPr>
            <p:cNvPr id="374" name="Google Shape;374;p25"/>
            <p:cNvGrpSpPr/>
            <p:nvPr/>
          </p:nvGrpSpPr>
          <p:grpSpPr>
            <a:xfrm>
              <a:off x="1794" y="2896"/>
              <a:ext cx="2436" cy="667"/>
              <a:chOff x="2024" y="2896"/>
              <a:chExt cx="2436" cy="667"/>
            </a:xfrm>
          </p:grpSpPr>
          <p:sp>
            <p:nvSpPr>
              <p:cNvPr id="375" name="Google Shape;375;p25"/>
              <p:cNvSpPr txBox="1"/>
              <p:nvPr/>
            </p:nvSpPr>
            <p:spPr>
              <a:xfrm>
                <a:off x="2357" y="2896"/>
                <a:ext cx="2100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E75B5"/>
                  </a:buClr>
                  <a:buSzPts val="2800"/>
                  <a:buFont typeface="Arial"/>
                  <a:buNone/>
                </a:pPr>
                <a:r>
                  <a:rPr b="0" i="0" lang="es-CL" sz="2800" u="none" cap="none" strike="noStrike">
                    <a:solidFill>
                      <a:srgbClr val="2E75B5"/>
                    </a:solidFill>
                    <a:latin typeface="Lucida Sans"/>
                    <a:ea typeface="Lucida Sans"/>
                    <a:cs typeface="Lucida Sans"/>
                    <a:sym typeface="Lucida Sans"/>
                  </a:rPr>
                  <a:t>1,54 L x 398,15 K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76" name="Google Shape;376;p25"/>
              <p:cNvCxnSpPr/>
              <p:nvPr/>
            </p:nvCxnSpPr>
            <p:spPr>
              <a:xfrm>
                <a:off x="2348" y="3188"/>
                <a:ext cx="2112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77" name="Google Shape;377;p25"/>
              <p:cNvSpPr txBox="1"/>
              <p:nvPr/>
            </p:nvSpPr>
            <p:spPr>
              <a:xfrm>
                <a:off x="2943" y="3233"/>
                <a:ext cx="810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E75B5"/>
                  </a:buClr>
                  <a:buSzPts val="2800"/>
                  <a:buFont typeface="Arial"/>
                  <a:buNone/>
                </a:pPr>
                <a:r>
                  <a:rPr b="0" i="0" lang="es-CL" sz="2800" u="none" cap="none" strike="noStrike">
                    <a:solidFill>
                      <a:srgbClr val="2E75B5"/>
                    </a:solidFill>
                    <a:latin typeface="Lucida Sans"/>
                    <a:ea typeface="Lucida Sans"/>
                    <a:cs typeface="Lucida Sans"/>
                    <a:sym typeface="Lucida Sans"/>
                  </a:rPr>
                  <a:t>3,20 L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8" name="Google Shape;378;p25"/>
              <p:cNvSpPr txBox="1"/>
              <p:nvPr/>
            </p:nvSpPr>
            <p:spPr>
              <a:xfrm>
                <a:off x="2024" y="3017"/>
                <a:ext cx="296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E75B5"/>
                  </a:buClr>
                  <a:buSzPts val="2800"/>
                  <a:buFont typeface="Arial"/>
                  <a:buNone/>
                </a:pPr>
                <a:r>
                  <a:rPr b="0" i="0" lang="es-CL" sz="2800" u="none" cap="none" strike="noStrike">
                    <a:solidFill>
                      <a:srgbClr val="2E75B5"/>
                    </a:solidFill>
                    <a:latin typeface="Lucida Sans"/>
                    <a:ea typeface="Lucida Sans"/>
                    <a:cs typeface="Lucida Sans"/>
                    <a:sym typeface="Lucida Sans"/>
                  </a:rPr>
                  <a:t>=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79" name="Google Shape;379;p25"/>
            <p:cNvSpPr txBox="1"/>
            <p:nvPr/>
          </p:nvSpPr>
          <p:spPr>
            <a:xfrm>
              <a:off x="4190" y="3017"/>
              <a:ext cx="1017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75B5"/>
                </a:buClr>
                <a:buSzPts val="2800"/>
                <a:buFont typeface="Arial"/>
                <a:buNone/>
              </a:pPr>
              <a:r>
                <a:rPr b="0" i="0" lang="es-CL" sz="28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= 192 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0" name="Google Shape;380;p25"/>
            <p:cNvCxnSpPr/>
            <p:nvPr/>
          </p:nvCxnSpPr>
          <p:spPr>
            <a:xfrm flipH="1" rot="10800000">
              <a:off x="2698" y="3024"/>
              <a:ext cx="288" cy="144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1" name="Google Shape;381;p25"/>
            <p:cNvCxnSpPr/>
            <p:nvPr/>
          </p:nvCxnSpPr>
          <p:spPr>
            <a:xfrm flipH="1" rot="10800000">
              <a:off x="3274" y="3272"/>
              <a:ext cx="288" cy="144"/>
            </a:xfrm>
            <a:prstGeom prst="straightConnector1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82" name="Google Shape;382;p25"/>
          <p:cNvSpPr txBox="1"/>
          <p:nvPr/>
        </p:nvSpPr>
        <p:spPr>
          <a:xfrm>
            <a:off x="4157662" y="1825812"/>
            <a:ext cx="260520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V</a:t>
            </a:r>
            <a:r>
              <a:rPr b="1" baseline="-2500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1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/T</a:t>
            </a:r>
            <a:r>
              <a:rPr b="1" baseline="-2500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1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= V</a:t>
            </a:r>
            <a:r>
              <a:rPr b="1" baseline="-2500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/T</a:t>
            </a:r>
            <a:r>
              <a:rPr b="1" baseline="-2500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endParaRPr b="1" i="0" sz="2800" u="none" cap="none" strike="noStrike">
              <a:solidFill>
                <a:srgbClr val="008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383" name="Google Shape;383;p25"/>
          <p:cNvGrpSpPr/>
          <p:nvPr/>
        </p:nvGrpSpPr>
        <p:grpSpPr>
          <a:xfrm>
            <a:off x="2405063" y="3128963"/>
            <a:ext cx="5784851" cy="1289050"/>
            <a:chOff x="986" y="1828"/>
            <a:chExt cx="3644" cy="812"/>
          </a:xfrm>
        </p:grpSpPr>
        <p:sp>
          <p:nvSpPr>
            <p:cNvPr id="384" name="Google Shape;384;p25"/>
            <p:cNvSpPr txBox="1"/>
            <p:nvPr/>
          </p:nvSpPr>
          <p:spPr>
            <a:xfrm>
              <a:off x="1010" y="1828"/>
              <a:ext cx="1376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75B5"/>
                </a:buClr>
                <a:buSzPts val="2800"/>
                <a:buFont typeface="Arial"/>
                <a:buNone/>
              </a:pPr>
              <a:r>
                <a:rPr b="0" i="1" lang="es-CL" sz="28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V</a:t>
              </a:r>
              <a:r>
                <a:rPr b="0" baseline="-25000" i="0" lang="es-CL" sz="28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1</a:t>
              </a:r>
              <a:r>
                <a:rPr b="0" i="0" lang="es-CL" sz="28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 = 3,20 L</a:t>
              </a:r>
              <a:endParaRPr b="0" baseline="-25000" i="0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385" name="Google Shape;385;p25"/>
            <p:cNvSpPr txBox="1"/>
            <p:nvPr/>
          </p:nvSpPr>
          <p:spPr>
            <a:xfrm>
              <a:off x="986" y="2252"/>
              <a:ext cx="1686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75B5"/>
                </a:buClr>
                <a:buSzPts val="2800"/>
                <a:buFont typeface="Arial"/>
                <a:buNone/>
              </a:pPr>
              <a:r>
                <a:rPr b="0" i="1" lang="es-CL" sz="28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T</a:t>
              </a:r>
              <a:r>
                <a:rPr b="0" baseline="-25000" i="0" lang="es-CL" sz="28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1</a:t>
              </a:r>
              <a:r>
                <a:rPr b="0" i="0" lang="es-CL" sz="28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 = 398,15 K</a:t>
              </a:r>
              <a:endParaRPr b="0" baseline="-25000" i="0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386" name="Google Shape;386;p25"/>
            <p:cNvSpPr txBox="1"/>
            <p:nvPr/>
          </p:nvSpPr>
          <p:spPr>
            <a:xfrm>
              <a:off x="3254" y="1829"/>
              <a:ext cx="1376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75B5"/>
                </a:buClr>
                <a:buSzPts val="2800"/>
                <a:buFont typeface="Arial"/>
                <a:buNone/>
              </a:pPr>
              <a:r>
                <a:rPr b="0" i="1" lang="es-CL" sz="28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V</a:t>
              </a:r>
              <a:r>
                <a:rPr b="0" baseline="-25000" i="0" lang="es-CL" sz="28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2</a:t>
              </a:r>
              <a:r>
                <a:rPr b="0" i="0" lang="es-CL" sz="28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 = 1,54 L</a:t>
              </a:r>
              <a:endParaRPr b="0" baseline="-25000" i="0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387" name="Google Shape;387;p25"/>
            <p:cNvSpPr txBox="1"/>
            <p:nvPr/>
          </p:nvSpPr>
          <p:spPr>
            <a:xfrm>
              <a:off x="3260" y="2253"/>
              <a:ext cx="774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75B5"/>
                </a:buClr>
                <a:buSzPts val="2800"/>
                <a:buFont typeface="Arial"/>
                <a:buNone/>
              </a:pPr>
              <a:r>
                <a:rPr b="0" i="1" lang="es-CL" sz="28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T</a:t>
              </a:r>
              <a:r>
                <a:rPr b="0" baseline="-25000" i="0" lang="es-CL" sz="28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2</a:t>
              </a:r>
              <a:r>
                <a:rPr b="0" i="0" lang="es-CL" sz="28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 = ?</a:t>
              </a:r>
              <a:endParaRPr b="0" baseline="-25000" i="0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sp>
          <p:nvSpPr>
            <p:cNvPr id="388" name="Google Shape;388;p25"/>
            <p:cNvSpPr/>
            <p:nvPr/>
          </p:nvSpPr>
          <p:spPr>
            <a:xfrm>
              <a:off x="2256" y="2160"/>
              <a:ext cx="384" cy="480"/>
            </a:xfrm>
            <a:prstGeom prst="ellipse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</p:grpSp>
      <p:sp>
        <p:nvSpPr>
          <p:cNvPr id="389" name="Google Shape;389;p25"/>
          <p:cNvSpPr txBox="1"/>
          <p:nvPr/>
        </p:nvSpPr>
        <p:spPr>
          <a:xfrm>
            <a:off x="1552575" y="617538"/>
            <a:ext cx="75533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0" name="Google Shape;390;p25"/>
          <p:cNvSpPr/>
          <p:nvPr/>
        </p:nvSpPr>
        <p:spPr>
          <a:xfrm>
            <a:off x="1257300" y="1790700"/>
            <a:ext cx="8015288" cy="51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6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396" name="Google Shape;39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6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98" name="Google Shape;398;p26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399" name="Google Shape;399;p26"/>
          <p:cNvSpPr txBox="1"/>
          <p:nvPr/>
        </p:nvSpPr>
        <p:spPr>
          <a:xfrm>
            <a:off x="95955" y="114308"/>
            <a:ext cx="9017565" cy="977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L" sz="1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5</a:t>
            </a: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.-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Se tiene un globo con 1.5 L de H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a 25ºC ¿Cuál será su volumen a -78°C?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6"/>
          <p:cNvSpPr/>
          <p:nvPr/>
        </p:nvSpPr>
        <p:spPr>
          <a:xfrm>
            <a:off x="685800" y="1809750"/>
            <a:ext cx="8610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7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406" name="Google Shape;40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27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08" name="Google Shape;408;p27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95955" y="114308"/>
            <a:ext cx="9017565" cy="977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5.-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Se tiene un globo con 1.5 L de H2 a 25ºC ¿Cuál será su volumen a -78°C?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7"/>
          <p:cNvSpPr/>
          <p:nvPr/>
        </p:nvSpPr>
        <p:spPr>
          <a:xfrm>
            <a:off x="685800" y="1809750"/>
            <a:ext cx="8610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11" name="Google Shape;411;p27"/>
          <p:cNvSpPr txBox="1"/>
          <p:nvPr/>
        </p:nvSpPr>
        <p:spPr>
          <a:xfrm>
            <a:off x="5696820" y="1469474"/>
            <a:ext cx="35052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V</a:t>
            </a:r>
            <a:r>
              <a:rPr b="1" baseline="-2500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1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/ T</a:t>
            </a:r>
            <a:r>
              <a:rPr b="1" baseline="-2500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1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= V</a:t>
            </a:r>
            <a:r>
              <a:rPr b="1" baseline="-2500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/ T</a:t>
            </a:r>
            <a:r>
              <a:rPr b="1" baseline="-2500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endParaRPr b="1" i="0" sz="2800" u="none" cap="none" strike="noStrike">
              <a:solidFill>
                <a:srgbClr val="008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12" name="Google Shape;412;p27"/>
          <p:cNvSpPr/>
          <p:nvPr/>
        </p:nvSpPr>
        <p:spPr>
          <a:xfrm>
            <a:off x="1038578" y="2951946"/>
            <a:ext cx="760475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V</a:t>
            </a:r>
            <a:r>
              <a:rPr b="1" baseline="-2500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1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= 1,50 L	T</a:t>
            </a:r>
            <a:r>
              <a:rPr b="1" baseline="-2500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</a:t>
            </a:r>
            <a:r>
              <a:rPr b="1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= 298 K	V</a:t>
            </a:r>
            <a:r>
              <a:rPr b="1" baseline="-2500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= ?	T</a:t>
            </a:r>
            <a:r>
              <a:rPr b="1" baseline="-2500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= 195 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27"/>
          <p:cNvSpPr/>
          <p:nvPr/>
        </p:nvSpPr>
        <p:spPr>
          <a:xfrm>
            <a:off x="566137" y="1015503"/>
            <a:ext cx="8077200" cy="54245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T1= 25 + 273 = 298 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T2= -78 + 273 = 195 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Reemplazando: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1,5 L x 195 K</a:t>
            </a:r>
            <a:r>
              <a:rPr b="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= V</a:t>
            </a:r>
            <a:r>
              <a:rPr b="0" baseline="-2500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endParaRPr b="0" baseline="-25000" i="0" sz="2800" u="sng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			             298 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V</a:t>
            </a:r>
            <a:r>
              <a:rPr b="1" baseline="-2500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= 0,98 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1f989f20f57_0_14"/>
          <p:cNvSpPr txBox="1"/>
          <p:nvPr>
            <p:ph idx="12" type="sldNum"/>
          </p:nvPr>
        </p:nvSpPr>
        <p:spPr>
          <a:xfrm>
            <a:off x="11390969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419" name="Google Shape;419;g1f989f20f57_0_14"/>
          <p:cNvSpPr txBox="1"/>
          <p:nvPr/>
        </p:nvSpPr>
        <p:spPr>
          <a:xfrm>
            <a:off x="3895870" y="5365948"/>
            <a:ext cx="829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Teoría de Gases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0" name="Google Shape;420;g1f989f20f57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2" cy="1058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g1f989f20f57_0_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251" y="2055274"/>
            <a:ext cx="4058571" cy="340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9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427" name="Google Shape;42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29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29" name="Google Shape;429;p29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30" name="Google Shape;430;p29"/>
          <p:cNvSpPr txBox="1"/>
          <p:nvPr/>
        </p:nvSpPr>
        <p:spPr>
          <a:xfrm>
            <a:off x="191088" y="1245161"/>
            <a:ext cx="8003788" cy="2362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Un globo aerostático asciende porque se calienta el aire en su interior, por lo tanto, aumenta la temperatura.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Al aumentar la temperatura, aumenta también la presión (ley de Gay-Lussac) ya que el globo tiene un volumen constante.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9"/>
          <p:cNvSpPr txBox="1"/>
          <p:nvPr/>
        </p:nvSpPr>
        <p:spPr>
          <a:xfrm>
            <a:off x="481734" y="265252"/>
            <a:ext cx="71352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¿Como Asciende un Globo Aerostático?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9"/>
          <p:cNvSpPr txBox="1"/>
          <p:nvPr/>
        </p:nvSpPr>
        <p:spPr>
          <a:xfrm>
            <a:off x="191088" y="3988806"/>
            <a:ext cx="8003788" cy="977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Entonces, como la presión del interior del globo es mucho mayor que la presión atmosférica, el globo tiende a ascender.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3" name="Google Shape;43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44829" y="2195421"/>
            <a:ext cx="3050836" cy="2843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30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439" name="Google Shape;4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440" name="Google Shape;440;p30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41" name="Google Shape;441;p30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42" name="Google Shape;442;p30"/>
          <p:cNvSpPr txBox="1"/>
          <p:nvPr/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3" name="Google Shape;443;p30"/>
          <p:cNvGrpSpPr/>
          <p:nvPr/>
        </p:nvGrpSpPr>
        <p:grpSpPr>
          <a:xfrm>
            <a:off x="270121" y="730569"/>
            <a:ext cx="8935121" cy="6103047"/>
            <a:chOff x="270121" y="730569"/>
            <a:chExt cx="8935121" cy="6103047"/>
          </a:xfrm>
        </p:grpSpPr>
        <p:pic>
          <p:nvPicPr>
            <p:cNvPr descr="http://www.actiweb.es/miclasevirtual/imagen48.gif?1111090403" id="444" name="Google Shape;444;p3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0121" y="754953"/>
              <a:ext cx="8898545" cy="598873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5" name="Google Shape;445;p30"/>
            <p:cNvSpPr/>
            <p:nvPr/>
          </p:nvSpPr>
          <p:spPr>
            <a:xfrm>
              <a:off x="9119616" y="730569"/>
              <a:ext cx="85626" cy="6103047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1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451" name="Google Shape;45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31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53" name="Google Shape;453;p31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descr="Resultado de imagen para leyes de los gases" id="454" name="Google Shape;45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4817" y="720496"/>
            <a:ext cx="7153279" cy="583879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1"/>
          <p:cNvSpPr txBox="1"/>
          <p:nvPr/>
        </p:nvSpPr>
        <p:spPr>
          <a:xfrm>
            <a:off x="391667" y="345490"/>
            <a:ext cx="2045387" cy="569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2800"/>
              <a:buFont typeface="Lucida Sans"/>
              <a:buNone/>
            </a:pPr>
            <a:r>
              <a:rPr b="0" i="0" lang="es-CL" sz="28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Resumen</a:t>
            </a:r>
            <a:endParaRPr b="0" i="0" sz="2800" u="none" cap="none" strike="noStrike">
              <a:solidFill>
                <a:srgbClr val="FF2F9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1f989f20f57_0_60"/>
          <p:cNvSpPr txBox="1"/>
          <p:nvPr>
            <p:ph idx="12" type="sldNum"/>
          </p:nvPr>
        </p:nvSpPr>
        <p:spPr>
          <a:xfrm>
            <a:off x="11390969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461" name="Google Shape;461;g1f989f20f57_0_60"/>
          <p:cNvSpPr txBox="1"/>
          <p:nvPr/>
        </p:nvSpPr>
        <p:spPr>
          <a:xfrm>
            <a:off x="2027436" y="2931560"/>
            <a:ext cx="7781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2" name="Google Shape;462;g1f989f20f57_0_60"/>
          <p:cNvGrpSpPr/>
          <p:nvPr/>
        </p:nvGrpSpPr>
        <p:grpSpPr>
          <a:xfrm>
            <a:off x="5125622" y="1447535"/>
            <a:ext cx="1171825" cy="1045609"/>
            <a:chOff x="5233525" y="4954450"/>
            <a:chExt cx="538275" cy="516350"/>
          </a:xfrm>
        </p:grpSpPr>
        <p:sp>
          <p:nvSpPr>
            <p:cNvPr id="463" name="Google Shape;463;g1f989f20f57_0_60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g1f989f20f57_0_60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" name="Google Shape;465;g1f989f20f57_0_60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6" name="Google Shape;466;g1f989f20f57_0_60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7" name="Google Shape;467;g1f989f20f57_0_60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8" name="Google Shape;468;g1f989f20f57_0_60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g1f989f20f57_0_60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g1f989f20f57_0_60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1" name="Google Shape;471;g1f989f20f57_0_60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g1f989f20f57_0_60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g1f989f20f57_0_60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4" name="Google Shape;474;g1f989f20f57_0_60"/>
          <p:cNvSpPr txBox="1"/>
          <p:nvPr/>
        </p:nvSpPr>
        <p:spPr>
          <a:xfrm>
            <a:off x="3895870" y="5365948"/>
            <a:ext cx="829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Teoría de Gases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3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480" name="Google Shape;48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3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82" name="Google Shape;482;p33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83" name="Google Shape;483;p33"/>
          <p:cNvSpPr txBox="1"/>
          <p:nvPr/>
        </p:nvSpPr>
        <p:spPr>
          <a:xfrm>
            <a:off x="250825" y="158907"/>
            <a:ext cx="8856599" cy="23621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6.-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El Argón es un gas inerte usado en ampolletas para retardar la vaporización del filamento.  Ciertas ampolletas contienen argón a 1,20 atm. Al encenderlas pasan de 18 </a:t>
            </a:r>
            <a:r>
              <a:rPr b="0" baseline="30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0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C a 85 </a:t>
            </a:r>
            <a:r>
              <a:rPr b="0" baseline="30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0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C a volumen constante. ¿Cuál es la presión final (en atm) del argón en la ampolleta?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3"/>
          <p:cNvSpPr txBox="1"/>
          <p:nvPr/>
        </p:nvSpPr>
        <p:spPr>
          <a:xfrm>
            <a:off x="8454888" y="5966422"/>
            <a:ext cx="17778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R= 1.48 atm</a:t>
            </a:r>
            <a:endParaRPr b="0" i="0" sz="1800" u="none" cap="none" strike="noStrike">
              <a:solidFill>
                <a:srgbClr val="FF2F9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485" name="Google Shape;485;p33"/>
          <p:cNvSpPr txBox="1"/>
          <p:nvPr/>
        </p:nvSpPr>
        <p:spPr>
          <a:xfrm>
            <a:off x="834888" y="1089647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6" name="Google Shape;486;p33"/>
          <p:cNvSpPr/>
          <p:nvPr/>
        </p:nvSpPr>
        <p:spPr>
          <a:xfrm>
            <a:off x="606288" y="2262809"/>
            <a:ext cx="7848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f989f20f57_0_21"/>
          <p:cNvSpPr txBox="1"/>
          <p:nvPr>
            <p:ph idx="12" type="sldNum"/>
          </p:nvPr>
        </p:nvSpPr>
        <p:spPr>
          <a:xfrm>
            <a:off x="11390969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492" name="Google Shape;492;g1f989f20f57_0_21"/>
          <p:cNvSpPr txBox="1"/>
          <p:nvPr/>
        </p:nvSpPr>
        <p:spPr>
          <a:xfrm>
            <a:off x="3895870" y="5365948"/>
            <a:ext cx="829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Teoría de Gases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3" name="Google Shape;493;g1f989f20f57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2" cy="1058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g1f989f20f57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251" y="2055274"/>
            <a:ext cx="4058571" cy="340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5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500" name="Google Shape;50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5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02" name="Google Shape;502;p35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descr="Resultado de imagen para leyes de los gases" id="503" name="Google Shape;50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4817" y="720496"/>
            <a:ext cx="7153279" cy="583879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5"/>
          <p:cNvSpPr txBox="1"/>
          <p:nvPr/>
        </p:nvSpPr>
        <p:spPr>
          <a:xfrm>
            <a:off x="391667" y="345490"/>
            <a:ext cx="2045387" cy="569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2800"/>
              <a:buFont typeface="Lucida Sans"/>
              <a:buNone/>
            </a:pPr>
            <a:r>
              <a:rPr b="0" i="0" lang="es-CL" sz="28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Resumen</a:t>
            </a:r>
            <a:endParaRPr b="0" i="0" sz="2800" u="none" cap="none" strike="noStrike">
              <a:solidFill>
                <a:srgbClr val="FF2F9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6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510" name="Google Shape;51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36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12" name="Google Shape;512;p36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13" name="Google Shape;513;p36"/>
          <p:cNvSpPr txBox="1"/>
          <p:nvPr/>
        </p:nvSpPr>
        <p:spPr>
          <a:xfrm>
            <a:off x="395432" y="962975"/>
            <a:ext cx="8856984" cy="519475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-713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6"/>
          <p:cNvSpPr/>
          <p:nvPr/>
        </p:nvSpPr>
        <p:spPr>
          <a:xfrm>
            <a:off x="570353" y="276379"/>
            <a:ext cx="74738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5464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2800"/>
              <a:buFont typeface="Lucida Sans"/>
              <a:buNone/>
            </a:pPr>
            <a:r>
              <a:rPr b="1" i="0" lang="es-CL" sz="28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Ecuación de Estado de los Gases Ideales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6"/>
          <p:cNvSpPr/>
          <p:nvPr/>
        </p:nvSpPr>
        <p:spPr>
          <a:xfrm>
            <a:off x="1900761" y="4023402"/>
            <a:ext cx="5571846" cy="733149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-11861" l="0" r="0" t="-847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1f989f20f57_0_42"/>
          <p:cNvSpPr txBox="1"/>
          <p:nvPr>
            <p:ph idx="12" type="sldNum"/>
          </p:nvPr>
        </p:nvSpPr>
        <p:spPr>
          <a:xfrm>
            <a:off x="11390969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521" name="Google Shape;521;g1f989f20f57_0_42"/>
          <p:cNvSpPr txBox="1"/>
          <p:nvPr/>
        </p:nvSpPr>
        <p:spPr>
          <a:xfrm>
            <a:off x="2027436" y="2931560"/>
            <a:ext cx="7781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2" name="Google Shape;522;g1f989f20f57_0_42"/>
          <p:cNvGrpSpPr/>
          <p:nvPr/>
        </p:nvGrpSpPr>
        <p:grpSpPr>
          <a:xfrm>
            <a:off x="5125622" y="1447535"/>
            <a:ext cx="1171825" cy="1045609"/>
            <a:chOff x="5233525" y="4954450"/>
            <a:chExt cx="538275" cy="516350"/>
          </a:xfrm>
        </p:grpSpPr>
        <p:sp>
          <p:nvSpPr>
            <p:cNvPr id="523" name="Google Shape;523;g1f989f20f57_0_42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g1f989f20f57_0_42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g1f989f20f57_0_42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g1f989f20f57_0_42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g1f989f20f57_0_42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g1f989f20f57_0_42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g1f989f20f57_0_42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g1f989f20f57_0_42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g1f989f20f57_0_42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g1f989f20f57_0_42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g1f989f20f57_0_42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34" name="Google Shape;534;g1f989f20f57_0_42"/>
          <p:cNvSpPr txBox="1"/>
          <p:nvPr/>
        </p:nvSpPr>
        <p:spPr>
          <a:xfrm>
            <a:off x="3895870" y="5365948"/>
            <a:ext cx="829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Teoría de Gases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8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540" name="Google Shape;54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38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42" name="Google Shape;542;p38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43" name="Google Shape;543;p38"/>
          <p:cNvSpPr txBox="1"/>
          <p:nvPr/>
        </p:nvSpPr>
        <p:spPr>
          <a:xfrm>
            <a:off x="250825" y="158907"/>
            <a:ext cx="8856599" cy="977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7.-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¿Cual es la temperatura (en Kelvin) de un gas ideal, si 0,717 moles ocupan un volumen de 5480 mL a una presión de 910 mmHg?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8"/>
          <p:cNvSpPr txBox="1"/>
          <p:nvPr/>
        </p:nvSpPr>
        <p:spPr>
          <a:xfrm>
            <a:off x="834888" y="1089647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5" name="Google Shape;545;p38"/>
          <p:cNvSpPr/>
          <p:nvPr/>
        </p:nvSpPr>
        <p:spPr>
          <a:xfrm>
            <a:off x="521916" y="1611668"/>
            <a:ext cx="9292644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PV = nRT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1.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Transformar todos los datos a las unidades de los gases ideales.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n =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0,717 moles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V =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5,480 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P =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1,197 atm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R = 0,082 atm L / mol 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2.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Reemplazar en la ecuación de los gases ideales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T = PV / nR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T = </a:t>
            </a:r>
            <a:r>
              <a:rPr b="0" i="0" lang="es-CL" sz="2000" u="sng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         1,197 atm • 5,48 L              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= </a:t>
            </a: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111,6 K</a:t>
            </a:r>
            <a:endParaRPr b="1" i="0" sz="2000" u="sng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      0,717 moles • 0,082 atm L / mol K</a:t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/>
        </a:solidFill>
      </p:bgPr>
    </p:bg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1f989f20f57_0_28"/>
          <p:cNvSpPr txBox="1"/>
          <p:nvPr>
            <p:ph idx="12" type="sldNum"/>
          </p:nvPr>
        </p:nvSpPr>
        <p:spPr>
          <a:xfrm>
            <a:off x="11390969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551" name="Google Shape;551;g1f989f20f57_0_28"/>
          <p:cNvSpPr txBox="1"/>
          <p:nvPr/>
        </p:nvSpPr>
        <p:spPr>
          <a:xfrm>
            <a:off x="3895870" y="5365948"/>
            <a:ext cx="829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Teoría de Gases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52" name="Google Shape;552;g1f989f20f57_0_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2" cy="1058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g1f989f20f57_0_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251" y="2055274"/>
            <a:ext cx="4058571" cy="340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40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559" name="Google Shape;55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0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61" name="Google Shape;561;p40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62" name="Google Shape;562;p40"/>
          <p:cNvSpPr txBox="1"/>
          <p:nvPr/>
        </p:nvSpPr>
        <p:spPr>
          <a:xfrm>
            <a:off x="306816" y="1653505"/>
            <a:ext cx="9300480" cy="4913584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135464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2E75B5"/>
              </a:buClr>
              <a:buSzPct val="108107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En una mezcla de gases, cada uno de los que forman la mezcla ejerce su propia presión independiente de los demás y la presión total es la suma de las presiones parciales de los gases de la mezcla.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5464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2E75B5"/>
              </a:buClr>
              <a:buSzPct val="108107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La presión parcial de un gas es directamente proporcional a la fracción molar (moles del gas / moles totales)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5464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722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8000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35464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8000"/>
              </a:buClr>
              <a:buSzPct val="77220"/>
              <a:buFont typeface="Arial"/>
              <a:buNone/>
            </a:pPr>
            <a:r>
              <a:rPr b="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P</a:t>
            </a:r>
            <a:r>
              <a:rPr b="0" baseline="-2500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i</a:t>
            </a:r>
            <a:r>
              <a:rPr b="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= χ</a:t>
            </a:r>
            <a:r>
              <a:rPr b="0" baseline="-2500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i</a:t>
            </a:r>
            <a:r>
              <a:rPr b="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P</a:t>
            </a:r>
            <a:r>
              <a:rPr b="0" baseline="-2500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5464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7220"/>
              <a:buFont typeface="Arial"/>
              <a:buNone/>
            </a:pPr>
            <a:r>
              <a:t/>
            </a:r>
            <a:endParaRPr b="0" baseline="-25000" i="0" sz="2800" u="none" cap="none" strike="noStrike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5464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ct val="120120"/>
              <a:buFont typeface="Arial"/>
              <a:buNone/>
            </a:pPr>
            <a:r>
              <a:rPr b="0" i="0" lang="es-CL" sz="18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baseline="-25000" i="0" lang="es-CL" sz="18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s-CL" sz="18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 = presión parcial del gas i;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5464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ct val="120120"/>
              <a:buFont typeface="Arial"/>
              <a:buNone/>
            </a:pPr>
            <a:r>
              <a:rPr b="0" i="0" lang="es-CL" sz="18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b="0" baseline="-25000" i="0" lang="es-CL" sz="18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0" i="0" lang="es-CL" sz="18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 = presión total de la mezcla;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5464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ct val="120120"/>
              <a:buFont typeface="Arial"/>
              <a:buNone/>
            </a:pPr>
            <a:r>
              <a:rPr b="0" i="0" lang="es-CL" sz="18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χ</a:t>
            </a:r>
            <a:r>
              <a:rPr b="0" baseline="-25000" i="0" lang="es-CL" sz="18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i </a:t>
            </a:r>
            <a:r>
              <a:rPr b="0" i="0" lang="es-CL" sz="18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= fracción molar del gas i;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5464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ct val="120120"/>
              <a:buFont typeface="Arial"/>
              <a:buNone/>
            </a:pPr>
            <a:r>
              <a:rPr b="0" i="0" lang="es-CL" sz="18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baseline="-25000" i="0" lang="es-CL" sz="18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r>
              <a:rPr b="0" i="0" lang="es-CL" sz="18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 = moles del gas i.</a:t>
            </a:r>
            <a:endParaRPr b="0" i="0" sz="1800" u="none" cap="none" strike="noStrike">
              <a:solidFill>
                <a:srgbClr val="2E75B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3" name="Google Shape;563;p40"/>
          <p:cNvGrpSpPr/>
          <p:nvPr/>
        </p:nvGrpSpPr>
        <p:grpSpPr>
          <a:xfrm>
            <a:off x="4843923" y="5036503"/>
            <a:ext cx="3381069" cy="837280"/>
            <a:chOff x="5612019" y="5414455"/>
            <a:chExt cx="3381069" cy="837280"/>
          </a:xfrm>
        </p:grpSpPr>
        <p:sp>
          <p:nvSpPr>
            <p:cNvPr id="564" name="Google Shape;564;p40"/>
            <p:cNvSpPr txBox="1"/>
            <p:nvPr/>
          </p:nvSpPr>
          <p:spPr>
            <a:xfrm>
              <a:off x="6321587" y="5414455"/>
              <a:ext cx="2671501" cy="83728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-2170" l="0" r="0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s-CL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 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40"/>
            <p:cNvSpPr/>
            <p:nvPr/>
          </p:nvSpPr>
          <p:spPr>
            <a:xfrm>
              <a:off x="5612019" y="5594635"/>
              <a:ext cx="92525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s-CL" sz="28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χ</a:t>
              </a:r>
              <a:r>
                <a:rPr b="0" baseline="-25000" i="0" lang="es-CL" sz="28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i </a:t>
              </a:r>
              <a:r>
                <a:rPr b="0" i="0" lang="es-CL" sz="2800" u="none" cap="none" strike="noStrike">
                  <a:solidFill>
                    <a:srgbClr val="008000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= </a:t>
              </a:r>
              <a:endParaRPr b="0" i="0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</p:grpSp>
      <p:sp>
        <p:nvSpPr>
          <p:cNvPr id="566" name="Google Shape;566;p40"/>
          <p:cNvSpPr/>
          <p:nvPr/>
        </p:nvSpPr>
        <p:spPr>
          <a:xfrm>
            <a:off x="306816" y="290911"/>
            <a:ext cx="7465584" cy="1331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5464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2800"/>
              <a:buFont typeface="Lucida Sans"/>
              <a:buNone/>
            </a:pPr>
            <a:r>
              <a:rPr b="0" i="0" lang="es-CL" sz="28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Ley de Dalton de las Presiones Parciales.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5464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2800"/>
              <a:buFont typeface="Lucida Sans"/>
              <a:buNone/>
            </a:pPr>
            <a:r>
              <a:rPr b="0" i="0" lang="es-CL" sz="28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Mezcla de Gases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2060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1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572" name="Google Shape;572;p41"/>
          <p:cNvSpPr txBox="1"/>
          <p:nvPr/>
        </p:nvSpPr>
        <p:spPr>
          <a:xfrm>
            <a:off x="2027436" y="2931560"/>
            <a:ext cx="778096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Ejercicios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73" name="Google Shape;573;p41"/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574" name="Google Shape;574;p41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41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41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41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41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41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41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41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41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41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41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5" name="Google Shape;585;p41"/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Teoría de Gases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2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591" name="Google Shape;59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2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93" name="Google Shape;593;p42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594" name="Google Shape;594;p42"/>
          <p:cNvSpPr txBox="1"/>
          <p:nvPr/>
        </p:nvSpPr>
        <p:spPr>
          <a:xfrm>
            <a:off x="250825" y="158907"/>
            <a:ext cx="8856599" cy="1438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8.-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Una muestra de gas natural contiene 8,24 moles de CH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4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, 0,421 moles de C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H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, y  0,116 moles de C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H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8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. Si la presión total de los gases es 1,37 atm, ¿cuál es la presión parcial del propano (C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H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8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)?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42"/>
          <p:cNvSpPr txBox="1"/>
          <p:nvPr/>
        </p:nvSpPr>
        <p:spPr>
          <a:xfrm>
            <a:off x="834888" y="1089647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11893">
            <a:alpha val="54509"/>
          </a:srgbClr>
        </a:solidFill>
      </p:bgPr>
    </p:bg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3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601" name="Google Shape;60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43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03" name="Google Shape;603;p43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04" name="Google Shape;604;p43"/>
          <p:cNvSpPr txBox="1"/>
          <p:nvPr/>
        </p:nvSpPr>
        <p:spPr>
          <a:xfrm>
            <a:off x="250825" y="158907"/>
            <a:ext cx="8856599" cy="1438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8.-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Una muestra de gas natural contiene 8,24 moles de CH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4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, 0,421 moles de C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H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, y  0,116 moles de C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H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8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. Si la presión total de los gases es 1,37 atm, ¿cuál es la presión parcial del propano (C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3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H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8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)?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43"/>
          <p:cNvSpPr txBox="1"/>
          <p:nvPr/>
        </p:nvSpPr>
        <p:spPr>
          <a:xfrm>
            <a:off x="834888" y="1089647"/>
            <a:ext cx="7620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t/>
            </a:r>
            <a:endParaRPr b="1" i="0" sz="4400" u="none" cap="none" strike="noStrike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6" name="Google Shape;606;p43"/>
          <p:cNvSpPr txBox="1"/>
          <p:nvPr/>
        </p:nvSpPr>
        <p:spPr>
          <a:xfrm>
            <a:off x="517526" y="1973996"/>
            <a:ext cx="2052806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137150" lIns="274300" spcFirstLastPara="1" rIns="274300" wrap="square" tIns="1371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800"/>
              <a:buFont typeface="Arial"/>
              <a:buNone/>
            </a:pPr>
            <a:r>
              <a:rPr b="0" i="1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P</a:t>
            </a:r>
            <a:r>
              <a:rPr b="0" baseline="-25000" i="1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i</a:t>
            </a:r>
            <a:r>
              <a:rPr b="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= </a:t>
            </a:r>
            <a:r>
              <a:rPr b="0" i="1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X</a:t>
            </a:r>
            <a:r>
              <a:rPr b="0" baseline="-25000" i="1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i</a:t>
            </a:r>
            <a:r>
              <a:rPr b="0" baseline="-2500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 </a:t>
            </a:r>
            <a:r>
              <a:rPr b="0" i="1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P</a:t>
            </a:r>
            <a:r>
              <a:rPr b="0" baseline="-25000" i="0" lang="es-CL" sz="2800" u="none" cap="none" strike="noStrike">
                <a:solidFill>
                  <a:srgbClr val="008000"/>
                </a:solidFill>
                <a:latin typeface="Lucida Sans"/>
                <a:ea typeface="Lucida Sans"/>
                <a:cs typeface="Lucida Sans"/>
                <a:sym typeface="Lucida Sans"/>
              </a:rPr>
              <a:t>T</a:t>
            </a:r>
            <a:endParaRPr b="0" i="1" sz="2800" u="none" cap="none" strike="noStrike">
              <a:solidFill>
                <a:srgbClr val="008000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07" name="Google Shape;607;p43"/>
          <p:cNvSpPr txBox="1"/>
          <p:nvPr/>
        </p:nvSpPr>
        <p:spPr>
          <a:xfrm>
            <a:off x="602832" y="3510866"/>
            <a:ext cx="189667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800"/>
              <a:buFont typeface="Arial"/>
              <a:buNone/>
            </a:pPr>
            <a:r>
              <a:rPr b="0" i="1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X</a:t>
            </a:r>
            <a:r>
              <a:rPr b="0" baseline="-2500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propano</a:t>
            </a:r>
            <a:r>
              <a:rPr b="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= </a:t>
            </a:r>
            <a:endParaRPr b="0" i="1" sz="28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608" name="Google Shape;608;p43"/>
          <p:cNvGrpSpPr/>
          <p:nvPr/>
        </p:nvGrpSpPr>
        <p:grpSpPr>
          <a:xfrm>
            <a:off x="2356329" y="3299858"/>
            <a:ext cx="4148138" cy="992188"/>
            <a:chOff x="1488" y="2489"/>
            <a:chExt cx="2613" cy="625"/>
          </a:xfrm>
        </p:grpSpPr>
        <p:sp>
          <p:nvSpPr>
            <p:cNvPr id="609" name="Google Shape;609;p43"/>
            <p:cNvSpPr txBox="1"/>
            <p:nvPr/>
          </p:nvSpPr>
          <p:spPr>
            <a:xfrm>
              <a:off x="2301" y="2489"/>
              <a:ext cx="762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75B5"/>
                </a:buClr>
                <a:buSzPts val="2800"/>
                <a:buFont typeface="Arial"/>
                <a:buNone/>
              </a:pPr>
              <a:r>
                <a:rPr b="0" i="0" lang="es-CL" sz="28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0,116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43"/>
            <p:cNvSpPr txBox="1"/>
            <p:nvPr/>
          </p:nvSpPr>
          <p:spPr>
            <a:xfrm>
              <a:off x="1546" y="2784"/>
              <a:ext cx="2555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E75B5"/>
                </a:buClr>
                <a:buSzPts val="2800"/>
                <a:buFont typeface="Arial"/>
                <a:buNone/>
              </a:pPr>
              <a:r>
                <a:rPr b="0" i="0" lang="es-CL" sz="2800" u="none" cap="none" strike="noStrike">
                  <a:solidFill>
                    <a:srgbClr val="2E75B5"/>
                  </a:solidFill>
                  <a:latin typeface="Lucida Sans"/>
                  <a:ea typeface="Lucida Sans"/>
                  <a:cs typeface="Lucida Sans"/>
                  <a:sym typeface="Lucida Sans"/>
                </a:rPr>
                <a:t>8,24 + 0,421 + 0,116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11" name="Google Shape;611;p43"/>
            <p:cNvCxnSpPr/>
            <p:nvPr/>
          </p:nvCxnSpPr>
          <p:spPr>
            <a:xfrm>
              <a:off x="1488" y="2800"/>
              <a:ext cx="2304" cy="0"/>
            </a:xfrm>
            <a:prstGeom prst="straightConnector1">
              <a:avLst/>
            </a:prstGeom>
            <a:noFill/>
            <a:ln cap="flat" cmpd="sng" w="28575">
              <a:solidFill>
                <a:srgbClr val="2E75B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12" name="Google Shape;612;p43"/>
          <p:cNvSpPr txBox="1"/>
          <p:nvPr/>
        </p:nvSpPr>
        <p:spPr>
          <a:xfrm>
            <a:off x="3646967" y="2246722"/>
            <a:ext cx="262604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800"/>
              <a:buFont typeface="Arial"/>
              <a:buNone/>
            </a:pPr>
            <a:r>
              <a:rPr b="0" i="1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P</a:t>
            </a:r>
            <a:r>
              <a:rPr b="0" baseline="-2500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T</a:t>
            </a:r>
            <a:r>
              <a:rPr b="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= 1,37 atm</a:t>
            </a:r>
            <a:endParaRPr b="0" i="1" sz="28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13" name="Google Shape;613;p43"/>
          <p:cNvSpPr txBox="1"/>
          <p:nvPr/>
        </p:nvSpPr>
        <p:spPr>
          <a:xfrm>
            <a:off x="6554727" y="3506561"/>
            <a:ext cx="183575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= 0,0132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43"/>
          <p:cNvSpPr txBox="1"/>
          <p:nvPr/>
        </p:nvSpPr>
        <p:spPr>
          <a:xfrm>
            <a:off x="640019" y="4892436"/>
            <a:ext cx="51491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800"/>
              <a:buFont typeface="Arial"/>
              <a:buNone/>
            </a:pPr>
            <a:r>
              <a:rPr b="0" i="1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P</a:t>
            </a:r>
            <a:r>
              <a:rPr b="0" baseline="-2500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propano</a:t>
            </a:r>
            <a:r>
              <a:rPr b="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= 0,0132 x 1,37 atm</a:t>
            </a:r>
            <a:endParaRPr b="0" i="1" sz="28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15" name="Google Shape;615;p43"/>
          <p:cNvSpPr txBox="1"/>
          <p:nvPr/>
        </p:nvSpPr>
        <p:spPr>
          <a:xfrm>
            <a:off x="5647242" y="4880157"/>
            <a:ext cx="261802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800"/>
              <a:buFont typeface="Arial"/>
              <a:buNone/>
            </a:pPr>
            <a:r>
              <a:rPr b="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= 0,0181 atm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/>
        </a:solidFill>
      </p:bgPr>
    </p:bg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1f989f20f57_0_35"/>
          <p:cNvSpPr txBox="1"/>
          <p:nvPr>
            <p:ph idx="12" type="sldNum"/>
          </p:nvPr>
        </p:nvSpPr>
        <p:spPr>
          <a:xfrm>
            <a:off x="11390969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621" name="Google Shape;621;g1f989f20f57_0_35"/>
          <p:cNvSpPr txBox="1"/>
          <p:nvPr/>
        </p:nvSpPr>
        <p:spPr>
          <a:xfrm>
            <a:off x="3895870" y="5365948"/>
            <a:ext cx="8296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Teoría de Gases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2" name="Google Shape;622;g1f989f20f57_0_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2" cy="1058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g1f989f20f57_0_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251" y="2055274"/>
            <a:ext cx="4058571" cy="340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45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629" name="Google Shape;62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31" name="Google Shape;631;p45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32" name="Google Shape;632;p45"/>
          <p:cNvSpPr txBox="1"/>
          <p:nvPr/>
        </p:nvSpPr>
        <p:spPr>
          <a:xfrm>
            <a:off x="107504" y="44625"/>
            <a:ext cx="9871776" cy="33843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35464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F2F92"/>
              </a:buClr>
              <a:buSzPts val="2000"/>
              <a:buFont typeface="Arial"/>
              <a:buNone/>
            </a:pPr>
            <a:r>
              <a:rPr b="0" i="0" lang="es-CL" sz="28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Gases con Humedad</a:t>
            </a:r>
            <a:endParaRPr b="0" i="0" sz="3600" u="none" cap="none" strike="noStrike">
              <a:solidFill>
                <a:schemeClr val="dk1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135464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Como la humedad es el vapor de agua contenido en un gas, cuando el aire está saturado de vapor de agua a una determinada temperatura, se dice que la humedad relativa es del 100 por 100 (100%).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5464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Luego, se habla de humedad relativa como la relación entre la concentración de vapor de agua presente y la que debiera tener si estuviese saturado</a:t>
            </a:r>
            <a:r>
              <a:rPr b="0" i="0" lang="es-CL" sz="28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.</a:t>
            </a:r>
            <a:endParaRPr b="0" i="0" sz="24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descr="Resultado de imagen para humedad relativa" id="633" name="Google Shape;633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75104" y="3520037"/>
            <a:ext cx="6371101" cy="31855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46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41" name="Google Shape;641;p46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42" name="Google Shape;642;p46"/>
          <p:cNvSpPr txBox="1"/>
          <p:nvPr/>
        </p:nvSpPr>
        <p:spPr>
          <a:xfrm>
            <a:off x="125981" y="766736"/>
            <a:ext cx="9754101" cy="557039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135464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Los gases no siguen totalmente estas leyes, pues existen interacciones moleculares que alteran la E potencial del sistema. Las moléculas de los gases tienen masa 	que no se pueden despreciar y ocupan volúmenes. Por eso se ocupa la ecuación de Van der Waals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7121" lvl="0" marL="609585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7121" lvl="0" marL="609585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7121" lvl="0" marL="609585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7121" lvl="0" marL="609585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7121" lvl="0" marL="609585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7121" lvl="0" marL="609585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5464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V = volumen molar del gas;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5464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a y b = constantes de Van der Waals tabulada para cada gas;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5464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a/V</a:t>
            </a:r>
            <a:r>
              <a:rPr b="0" baseline="30000" i="0" lang="es-CL" sz="20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s-CL" sz="20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 = se refiere a las fuerzas de interacción molecular;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5464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rgbClr val="2E75B5"/>
                </a:solidFill>
                <a:latin typeface="Calibri"/>
                <a:ea typeface="Calibri"/>
                <a:cs typeface="Calibri"/>
                <a:sym typeface="Calibri"/>
              </a:rPr>
              <a:t>b = volumen que ocupan realmente las moléculas de gas (covolumen)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5464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7121" lvl="0" marL="609585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7121" lvl="0" marL="609585" marR="0" rtl="0" algn="just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ttp://www2.montes.upm.es/dptos/digfa/cfisica/termo1p/gasreal_files/van_der_waals_eq.gif" id="643" name="Google Shape;643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00924" y="2938825"/>
            <a:ext cx="5007061" cy="122621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6"/>
          <p:cNvSpPr/>
          <p:nvPr/>
        </p:nvSpPr>
        <p:spPr>
          <a:xfrm>
            <a:off x="89483" y="222030"/>
            <a:ext cx="551497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35464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2F92"/>
              </a:buClr>
              <a:buSzPts val="2800"/>
              <a:buFont typeface="Lucida Sans"/>
              <a:buNone/>
            </a:pPr>
            <a:r>
              <a:rPr b="1" i="0" lang="es-CL" sz="2800" u="none" cap="none" strike="noStrike">
                <a:solidFill>
                  <a:srgbClr val="FF2F92"/>
                </a:solidFill>
                <a:latin typeface="Lucida Sans"/>
                <a:ea typeface="Lucida Sans"/>
                <a:cs typeface="Lucida Sans"/>
                <a:sym typeface="Lucida Sans"/>
              </a:rPr>
              <a:t>Ecuación de los Gases Reales</a:t>
            </a:r>
            <a:endParaRPr b="1" i="0" sz="2800" u="none" cap="none" strike="noStrike">
              <a:solidFill>
                <a:srgbClr val="FF2F92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47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0" name="Google Shape;65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7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52" name="Google Shape;652;p47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653" name="Google Shape;65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20634" y="483640"/>
            <a:ext cx="6336704" cy="34568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54" name="Google Shape;654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5394" y="3474720"/>
            <a:ext cx="6336704" cy="2517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9300">
            <a:alpha val="54509"/>
          </a:srgbClr>
        </a:solidFill>
      </p:bgPr>
    </p:bg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8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b="0" i="0" lang="es-CL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0" name="Google Shape;66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48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662" name="Google Shape;662;p48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FF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663" name="Google Shape;663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2325" y="1459267"/>
            <a:ext cx="8099425" cy="39394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F7F7F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9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sp>
        <p:nvSpPr>
          <p:cNvPr id="669" name="Google Shape;669;p49"/>
          <p:cNvSpPr txBox="1"/>
          <p:nvPr/>
        </p:nvSpPr>
        <p:spPr>
          <a:xfrm>
            <a:off x="2027436" y="2931560"/>
            <a:ext cx="778096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Ejercicios Propuestos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70" name="Google Shape;670;p49"/>
          <p:cNvGrpSpPr/>
          <p:nvPr/>
        </p:nvGrpSpPr>
        <p:grpSpPr>
          <a:xfrm>
            <a:off x="5125820" y="1447365"/>
            <a:ext cx="1171845" cy="1045591"/>
            <a:chOff x="5233525" y="4954450"/>
            <a:chExt cx="538275" cy="516350"/>
          </a:xfrm>
        </p:grpSpPr>
        <p:sp>
          <p:nvSpPr>
            <p:cNvPr id="671" name="Google Shape;671;p49"/>
            <p:cNvSpPr/>
            <p:nvPr/>
          </p:nvSpPr>
          <p:spPr>
            <a:xfrm>
              <a:off x="5637825" y="4954450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1023" y="3410"/>
                  </a:moveTo>
                  <a:lnTo>
                    <a:pt x="1023" y="3410"/>
                  </a:lnTo>
                  <a:lnTo>
                    <a:pt x="1193" y="3483"/>
                  </a:lnTo>
                  <a:lnTo>
                    <a:pt x="1388" y="3532"/>
                  </a:lnTo>
                  <a:lnTo>
                    <a:pt x="1583" y="3556"/>
                  </a:lnTo>
                  <a:lnTo>
                    <a:pt x="1778" y="3581"/>
                  </a:lnTo>
                  <a:lnTo>
                    <a:pt x="1778" y="3581"/>
                  </a:lnTo>
                  <a:lnTo>
                    <a:pt x="1973" y="3556"/>
                  </a:lnTo>
                  <a:lnTo>
                    <a:pt x="2143" y="3532"/>
                  </a:lnTo>
                  <a:lnTo>
                    <a:pt x="2314" y="3508"/>
                  </a:lnTo>
                  <a:lnTo>
                    <a:pt x="2484" y="3435"/>
                  </a:lnTo>
                  <a:lnTo>
                    <a:pt x="2630" y="3361"/>
                  </a:lnTo>
                  <a:lnTo>
                    <a:pt x="2776" y="3264"/>
                  </a:lnTo>
                  <a:lnTo>
                    <a:pt x="2923" y="3167"/>
                  </a:lnTo>
                  <a:lnTo>
                    <a:pt x="3044" y="3045"/>
                  </a:lnTo>
                  <a:lnTo>
                    <a:pt x="3166" y="2923"/>
                  </a:lnTo>
                  <a:lnTo>
                    <a:pt x="3264" y="2801"/>
                  </a:lnTo>
                  <a:lnTo>
                    <a:pt x="3361" y="2631"/>
                  </a:lnTo>
                  <a:lnTo>
                    <a:pt x="3434" y="2485"/>
                  </a:lnTo>
                  <a:lnTo>
                    <a:pt x="3483" y="2314"/>
                  </a:lnTo>
                  <a:lnTo>
                    <a:pt x="3531" y="2144"/>
                  </a:lnTo>
                  <a:lnTo>
                    <a:pt x="3556" y="1973"/>
                  </a:lnTo>
                  <a:lnTo>
                    <a:pt x="3580" y="1803"/>
                  </a:lnTo>
                  <a:lnTo>
                    <a:pt x="3580" y="1803"/>
                  </a:lnTo>
                  <a:lnTo>
                    <a:pt x="3556" y="1608"/>
                  </a:lnTo>
                  <a:lnTo>
                    <a:pt x="3531" y="1437"/>
                  </a:lnTo>
                  <a:lnTo>
                    <a:pt x="3483" y="1267"/>
                  </a:lnTo>
                  <a:lnTo>
                    <a:pt x="3434" y="1096"/>
                  </a:lnTo>
                  <a:lnTo>
                    <a:pt x="3361" y="950"/>
                  </a:lnTo>
                  <a:lnTo>
                    <a:pt x="3264" y="804"/>
                  </a:lnTo>
                  <a:lnTo>
                    <a:pt x="3166" y="658"/>
                  </a:lnTo>
                  <a:lnTo>
                    <a:pt x="3044" y="536"/>
                  </a:lnTo>
                  <a:lnTo>
                    <a:pt x="2923" y="414"/>
                  </a:lnTo>
                  <a:lnTo>
                    <a:pt x="2776" y="317"/>
                  </a:lnTo>
                  <a:lnTo>
                    <a:pt x="2630" y="220"/>
                  </a:lnTo>
                  <a:lnTo>
                    <a:pt x="2484" y="147"/>
                  </a:lnTo>
                  <a:lnTo>
                    <a:pt x="2314" y="98"/>
                  </a:lnTo>
                  <a:lnTo>
                    <a:pt x="2143" y="49"/>
                  </a:lnTo>
                  <a:lnTo>
                    <a:pt x="1973" y="25"/>
                  </a:lnTo>
                  <a:lnTo>
                    <a:pt x="1778" y="0"/>
                  </a:lnTo>
                  <a:lnTo>
                    <a:pt x="1778" y="0"/>
                  </a:lnTo>
                  <a:lnTo>
                    <a:pt x="1607" y="25"/>
                  </a:lnTo>
                  <a:lnTo>
                    <a:pt x="1437" y="49"/>
                  </a:lnTo>
                  <a:lnTo>
                    <a:pt x="1266" y="98"/>
                  </a:lnTo>
                  <a:lnTo>
                    <a:pt x="1096" y="147"/>
                  </a:lnTo>
                  <a:lnTo>
                    <a:pt x="925" y="220"/>
                  </a:lnTo>
                  <a:lnTo>
                    <a:pt x="779" y="317"/>
                  </a:lnTo>
                  <a:lnTo>
                    <a:pt x="658" y="414"/>
                  </a:lnTo>
                  <a:lnTo>
                    <a:pt x="536" y="536"/>
                  </a:lnTo>
                  <a:lnTo>
                    <a:pt x="414" y="658"/>
                  </a:lnTo>
                  <a:lnTo>
                    <a:pt x="317" y="804"/>
                  </a:lnTo>
                  <a:lnTo>
                    <a:pt x="219" y="950"/>
                  </a:lnTo>
                  <a:lnTo>
                    <a:pt x="146" y="1096"/>
                  </a:lnTo>
                  <a:lnTo>
                    <a:pt x="73" y="1267"/>
                  </a:lnTo>
                  <a:lnTo>
                    <a:pt x="49" y="1437"/>
                  </a:lnTo>
                  <a:lnTo>
                    <a:pt x="24" y="1608"/>
                  </a:lnTo>
                  <a:lnTo>
                    <a:pt x="0" y="1803"/>
                  </a:lnTo>
                  <a:lnTo>
                    <a:pt x="0" y="1803"/>
                  </a:lnTo>
                  <a:lnTo>
                    <a:pt x="24" y="2071"/>
                  </a:lnTo>
                  <a:lnTo>
                    <a:pt x="97" y="2339"/>
                  </a:lnTo>
                  <a:lnTo>
                    <a:pt x="195" y="2582"/>
                  </a:lnTo>
                  <a:lnTo>
                    <a:pt x="317" y="280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2" name="Google Shape;672;p49"/>
            <p:cNvSpPr/>
            <p:nvPr/>
          </p:nvSpPr>
          <p:spPr>
            <a:xfrm>
              <a:off x="5323025" y="4980625"/>
              <a:ext cx="88925" cy="88925"/>
            </a:xfrm>
            <a:custGeom>
              <a:rect b="b" l="l" r="r" t="t"/>
              <a:pathLst>
                <a:path extrusionOk="0" fill="none" h="3557" w="3557">
                  <a:moveTo>
                    <a:pt x="3191" y="2850"/>
                  </a:moveTo>
                  <a:lnTo>
                    <a:pt x="3191" y="2850"/>
                  </a:lnTo>
                  <a:lnTo>
                    <a:pt x="3313" y="2680"/>
                  </a:lnTo>
                  <a:lnTo>
                    <a:pt x="3410" y="2509"/>
                  </a:lnTo>
                  <a:lnTo>
                    <a:pt x="3483" y="2314"/>
                  </a:lnTo>
                  <a:lnTo>
                    <a:pt x="3532" y="2095"/>
                  </a:lnTo>
                  <a:lnTo>
                    <a:pt x="3532" y="2095"/>
                  </a:lnTo>
                  <a:lnTo>
                    <a:pt x="3556" y="1925"/>
                  </a:lnTo>
                  <a:lnTo>
                    <a:pt x="3556" y="1730"/>
                  </a:lnTo>
                  <a:lnTo>
                    <a:pt x="3556" y="1559"/>
                  </a:lnTo>
                  <a:lnTo>
                    <a:pt x="3508" y="1389"/>
                  </a:lnTo>
                  <a:lnTo>
                    <a:pt x="3459" y="1218"/>
                  </a:lnTo>
                  <a:lnTo>
                    <a:pt x="3410" y="1072"/>
                  </a:lnTo>
                  <a:lnTo>
                    <a:pt x="3337" y="902"/>
                  </a:lnTo>
                  <a:lnTo>
                    <a:pt x="3240" y="756"/>
                  </a:lnTo>
                  <a:lnTo>
                    <a:pt x="3142" y="634"/>
                  </a:lnTo>
                  <a:lnTo>
                    <a:pt x="3021" y="512"/>
                  </a:lnTo>
                  <a:lnTo>
                    <a:pt x="2899" y="390"/>
                  </a:lnTo>
                  <a:lnTo>
                    <a:pt x="2753" y="293"/>
                  </a:lnTo>
                  <a:lnTo>
                    <a:pt x="2606" y="196"/>
                  </a:lnTo>
                  <a:lnTo>
                    <a:pt x="2436" y="122"/>
                  </a:lnTo>
                  <a:lnTo>
                    <a:pt x="2266" y="74"/>
                  </a:lnTo>
                  <a:lnTo>
                    <a:pt x="2095" y="25"/>
                  </a:lnTo>
                  <a:lnTo>
                    <a:pt x="2095" y="25"/>
                  </a:lnTo>
                  <a:lnTo>
                    <a:pt x="1925" y="1"/>
                  </a:lnTo>
                  <a:lnTo>
                    <a:pt x="1730" y="1"/>
                  </a:lnTo>
                  <a:lnTo>
                    <a:pt x="1559" y="1"/>
                  </a:lnTo>
                  <a:lnTo>
                    <a:pt x="1389" y="25"/>
                  </a:lnTo>
                  <a:lnTo>
                    <a:pt x="1218" y="74"/>
                  </a:lnTo>
                  <a:lnTo>
                    <a:pt x="1072" y="147"/>
                  </a:lnTo>
                  <a:lnTo>
                    <a:pt x="902" y="220"/>
                  </a:lnTo>
                  <a:lnTo>
                    <a:pt x="756" y="317"/>
                  </a:lnTo>
                  <a:lnTo>
                    <a:pt x="634" y="415"/>
                  </a:lnTo>
                  <a:lnTo>
                    <a:pt x="512" y="537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1"/>
                  </a:lnTo>
                  <a:lnTo>
                    <a:pt x="122" y="1097"/>
                  </a:lnTo>
                  <a:lnTo>
                    <a:pt x="74" y="1267"/>
                  </a:lnTo>
                  <a:lnTo>
                    <a:pt x="25" y="1462"/>
                  </a:lnTo>
                  <a:lnTo>
                    <a:pt x="25" y="1462"/>
                  </a:lnTo>
                  <a:lnTo>
                    <a:pt x="1" y="1633"/>
                  </a:lnTo>
                  <a:lnTo>
                    <a:pt x="1" y="1803"/>
                  </a:lnTo>
                  <a:lnTo>
                    <a:pt x="1" y="1998"/>
                  </a:lnTo>
                  <a:lnTo>
                    <a:pt x="25" y="2168"/>
                  </a:lnTo>
                  <a:lnTo>
                    <a:pt x="74" y="2339"/>
                  </a:lnTo>
                  <a:lnTo>
                    <a:pt x="147" y="2485"/>
                  </a:lnTo>
                  <a:lnTo>
                    <a:pt x="220" y="2655"/>
                  </a:lnTo>
                  <a:lnTo>
                    <a:pt x="317" y="2777"/>
                  </a:lnTo>
                  <a:lnTo>
                    <a:pt x="415" y="2923"/>
                  </a:lnTo>
                  <a:lnTo>
                    <a:pt x="536" y="3045"/>
                  </a:lnTo>
                  <a:lnTo>
                    <a:pt x="658" y="3167"/>
                  </a:lnTo>
                  <a:lnTo>
                    <a:pt x="804" y="3264"/>
                  </a:lnTo>
                  <a:lnTo>
                    <a:pt x="950" y="3362"/>
                  </a:lnTo>
                  <a:lnTo>
                    <a:pt x="1096" y="3435"/>
                  </a:lnTo>
                  <a:lnTo>
                    <a:pt x="1267" y="3483"/>
                  </a:lnTo>
                  <a:lnTo>
                    <a:pt x="1462" y="3532"/>
                  </a:lnTo>
                  <a:lnTo>
                    <a:pt x="1462" y="3532"/>
                  </a:lnTo>
                  <a:lnTo>
                    <a:pt x="1705" y="3557"/>
                  </a:lnTo>
                  <a:lnTo>
                    <a:pt x="1973" y="3557"/>
                  </a:lnTo>
                  <a:lnTo>
                    <a:pt x="2217" y="3508"/>
                  </a:lnTo>
                  <a:lnTo>
                    <a:pt x="2460" y="3435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3" name="Google Shape;673;p49"/>
            <p:cNvSpPr/>
            <p:nvPr/>
          </p:nvSpPr>
          <p:spPr>
            <a:xfrm>
              <a:off x="5233525" y="5255225"/>
              <a:ext cx="89525" cy="89525"/>
            </a:xfrm>
            <a:custGeom>
              <a:rect b="b" l="l" r="r" t="t"/>
              <a:pathLst>
                <a:path extrusionOk="0" fill="none" h="3581" w="3581">
                  <a:moveTo>
                    <a:pt x="3215" y="707"/>
                  </a:moveTo>
                  <a:lnTo>
                    <a:pt x="3215" y="707"/>
                  </a:lnTo>
                  <a:lnTo>
                    <a:pt x="3093" y="585"/>
                  </a:lnTo>
                  <a:lnTo>
                    <a:pt x="2972" y="464"/>
                  </a:lnTo>
                  <a:lnTo>
                    <a:pt x="2850" y="342"/>
                  </a:lnTo>
                  <a:lnTo>
                    <a:pt x="2679" y="244"/>
                  </a:lnTo>
                  <a:lnTo>
                    <a:pt x="2679" y="244"/>
                  </a:lnTo>
                  <a:lnTo>
                    <a:pt x="2533" y="171"/>
                  </a:lnTo>
                  <a:lnTo>
                    <a:pt x="2363" y="98"/>
                  </a:lnTo>
                  <a:lnTo>
                    <a:pt x="2192" y="50"/>
                  </a:lnTo>
                  <a:lnTo>
                    <a:pt x="2022" y="25"/>
                  </a:lnTo>
                  <a:lnTo>
                    <a:pt x="1851" y="1"/>
                  </a:lnTo>
                  <a:lnTo>
                    <a:pt x="1681" y="25"/>
                  </a:lnTo>
                  <a:lnTo>
                    <a:pt x="1510" y="25"/>
                  </a:lnTo>
                  <a:lnTo>
                    <a:pt x="1340" y="74"/>
                  </a:lnTo>
                  <a:lnTo>
                    <a:pt x="1169" y="123"/>
                  </a:lnTo>
                  <a:lnTo>
                    <a:pt x="1023" y="196"/>
                  </a:lnTo>
                  <a:lnTo>
                    <a:pt x="877" y="269"/>
                  </a:lnTo>
                  <a:lnTo>
                    <a:pt x="731" y="366"/>
                  </a:lnTo>
                  <a:lnTo>
                    <a:pt x="585" y="488"/>
                  </a:lnTo>
                  <a:lnTo>
                    <a:pt x="463" y="610"/>
                  </a:lnTo>
                  <a:lnTo>
                    <a:pt x="341" y="731"/>
                  </a:lnTo>
                  <a:lnTo>
                    <a:pt x="244" y="902"/>
                  </a:lnTo>
                  <a:lnTo>
                    <a:pt x="244" y="902"/>
                  </a:lnTo>
                  <a:lnTo>
                    <a:pt x="171" y="1048"/>
                  </a:lnTo>
                  <a:lnTo>
                    <a:pt x="98" y="1219"/>
                  </a:lnTo>
                  <a:lnTo>
                    <a:pt x="49" y="1389"/>
                  </a:lnTo>
                  <a:lnTo>
                    <a:pt x="25" y="1560"/>
                  </a:lnTo>
                  <a:lnTo>
                    <a:pt x="0" y="1730"/>
                  </a:lnTo>
                  <a:lnTo>
                    <a:pt x="0" y="1900"/>
                  </a:lnTo>
                  <a:lnTo>
                    <a:pt x="25" y="2071"/>
                  </a:lnTo>
                  <a:lnTo>
                    <a:pt x="73" y="2241"/>
                  </a:lnTo>
                  <a:lnTo>
                    <a:pt x="122" y="2412"/>
                  </a:lnTo>
                  <a:lnTo>
                    <a:pt x="195" y="2558"/>
                  </a:lnTo>
                  <a:lnTo>
                    <a:pt x="268" y="2729"/>
                  </a:lnTo>
                  <a:lnTo>
                    <a:pt x="366" y="2850"/>
                  </a:lnTo>
                  <a:lnTo>
                    <a:pt x="463" y="2996"/>
                  </a:lnTo>
                  <a:lnTo>
                    <a:pt x="609" y="3118"/>
                  </a:lnTo>
                  <a:lnTo>
                    <a:pt x="731" y="3240"/>
                  </a:lnTo>
                  <a:lnTo>
                    <a:pt x="901" y="3337"/>
                  </a:lnTo>
                  <a:lnTo>
                    <a:pt x="901" y="3337"/>
                  </a:lnTo>
                  <a:lnTo>
                    <a:pt x="1048" y="3410"/>
                  </a:lnTo>
                  <a:lnTo>
                    <a:pt x="1218" y="3484"/>
                  </a:lnTo>
                  <a:lnTo>
                    <a:pt x="1389" y="3532"/>
                  </a:lnTo>
                  <a:lnTo>
                    <a:pt x="1559" y="3557"/>
                  </a:lnTo>
                  <a:lnTo>
                    <a:pt x="1730" y="3581"/>
                  </a:lnTo>
                  <a:lnTo>
                    <a:pt x="1900" y="3581"/>
                  </a:lnTo>
                  <a:lnTo>
                    <a:pt x="2071" y="3557"/>
                  </a:lnTo>
                  <a:lnTo>
                    <a:pt x="2241" y="3508"/>
                  </a:lnTo>
                  <a:lnTo>
                    <a:pt x="2411" y="3459"/>
                  </a:lnTo>
                  <a:lnTo>
                    <a:pt x="2558" y="3410"/>
                  </a:lnTo>
                  <a:lnTo>
                    <a:pt x="2704" y="3313"/>
                  </a:lnTo>
                  <a:lnTo>
                    <a:pt x="2850" y="3216"/>
                  </a:lnTo>
                  <a:lnTo>
                    <a:pt x="2996" y="3118"/>
                  </a:lnTo>
                  <a:lnTo>
                    <a:pt x="3118" y="2996"/>
                  </a:lnTo>
                  <a:lnTo>
                    <a:pt x="3240" y="2850"/>
                  </a:lnTo>
                  <a:lnTo>
                    <a:pt x="3337" y="2704"/>
                  </a:lnTo>
                  <a:lnTo>
                    <a:pt x="3337" y="2704"/>
                  </a:lnTo>
                  <a:lnTo>
                    <a:pt x="3459" y="2412"/>
                  </a:lnTo>
                  <a:lnTo>
                    <a:pt x="3532" y="2144"/>
                  </a:lnTo>
                  <a:lnTo>
                    <a:pt x="3581" y="1852"/>
                  </a:lnTo>
                  <a:lnTo>
                    <a:pt x="3556" y="156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4" name="Google Shape;674;p49"/>
            <p:cNvSpPr/>
            <p:nvPr/>
          </p:nvSpPr>
          <p:spPr>
            <a:xfrm>
              <a:off x="5453325" y="5382475"/>
              <a:ext cx="88925" cy="88325"/>
            </a:xfrm>
            <a:custGeom>
              <a:rect b="b" l="l" r="r" t="t"/>
              <a:pathLst>
                <a:path extrusionOk="0" fill="none" h="3533" w="3557">
                  <a:moveTo>
                    <a:pt x="1389" y="1"/>
                  </a:moveTo>
                  <a:lnTo>
                    <a:pt x="1389" y="1"/>
                  </a:lnTo>
                  <a:lnTo>
                    <a:pt x="1194" y="50"/>
                  </a:lnTo>
                  <a:lnTo>
                    <a:pt x="999" y="147"/>
                  </a:lnTo>
                  <a:lnTo>
                    <a:pt x="804" y="245"/>
                  </a:lnTo>
                  <a:lnTo>
                    <a:pt x="634" y="366"/>
                  </a:lnTo>
                  <a:lnTo>
                    <a:pt x="634" y="366"/>
                  </a:lnTo>
                  <a:lnTo>
                    <a:pt x="488" y="488"/>
                  </a:lnTo>
                  <a:lnTo>
                    <a:pt x="390" y="634"/>
                  </a:lnTo>
                  <a:lnTo>
                    <a:pt x="268" y="780"/>
                  </a:lnTo>
                  <a:lnTo>
                    <a:pt x="195" y="926"/>
                  </a:lnTo>
                  <a:lnTo>
                    <a:pt x="122" y="1073"/>
                  </a:lnTo>
                  <a:lnTo>
                    <a:pt x="74" y="1243"/>
                  </a:lnTo>
                  <a:lnTo>
                    <a:pt x="25" y="1414"/>
                  </a:lnTo>
                  <a:lnTo>
                    <a:pt x="0" y="1584"/>
                  </a:lnTo>
                  <a:lnTo>
                    <a:pt x="0" y="1755"/>
                  </a:lnTo>
                  <a:lnTo>
                    <a:pt x="0" y="1925"/>
                  </a:lnTo>
                  <a:lnTo>
                    <a:pt x="25" y="2096"/>
                  </a:lnTo>
                  <a:lnTo>
                    <a:pt x="74" y="2266"/>
                  </a:lnTo>
                  <a:lnTo>
                    <a:pt x="122" y="2412"/>
                  </a:lnTo>
                  <a:lnTo>
                    <a:pt x="195" y="2583"/>
                  </a:lnTo>
                  <a:lnTo>
                    <a:pt x="293" y="2729"/>
                  </a:lnTo>
                  <a:lnTo>
                    <a:pt x="415" y="2875"/>
                  </a:lnTo>
                  <a:lnTo>
                    <a:pt x="415" y="2875"/>
                  </a:lnTo>
                  <a:lnTo>
                    <a:pt x="536" y="3021"/>
                  </a:lnTo>
                  <a:lnTo>
                    <a:pt x="658" y="3143"/>
                  </a:lnTo>
                  <a:lnTo>
                    <a:pt x="804" y="3240"/>
                  </a:lnTo>
                  <a:lnTo>
                    <a:pt x="950" y="3313"/>
                  </a:lnTo>
                  <a:lnTo>
                    <a:pt x="1121" y="3386"/>
                  </a:lnTo>
                  <a:lnTo>
                    <a:pt x="1267" y="3459"/>
                  </a:lnTo>
                  <a:lnTo>
                    <a:pt x="1437" y="3484"/>
                  </a:lnTo>
                  <a:lnTo>
                    <a:pt x="1608" y="3508"/>
                  </a:lnTo>
                  <a:lnTo>
                    <a:pt x="1778" y="3532"/>
                  </a:lnTo>
                  <a:lnTo>
                    <a:pt x="1949" y="3508"/>
                  </a:lnTo>
                  <a:lnTo>
                    <a:pt x="2119" y="3484"/>
                  </a:lnTo>
                  <a:lnTo>
                    <a:pt x="2290" y="3435"/>
                  </a:lnTo>
                  <a:lnTo>
                    <a:pt x="2460" y="3386"/>
                  </a:lnTo>
                  <a:lnTo>
                    <a:pt x="2606" y="3313"/>
                  </a:lnTo>
                  <a:lnTo>
                    <a:pt x="2777" y="3216"/>
                  </a:lnTo>
                  <a:lnTo>
                    <a:pt x="2923" y="3118"/>
                  </a:lnTo>
                  <a:lnTo>
                    <a:pt x="2923" y="3118"/>
                  </a:lnTo>
                  <a:lnTo>
                    <a:pt x="3045" y="2997"/>
                  </a:lnTo>
                  <a:lnTo>
                    <a:pt x="3167" y="2851"/>
                  </a:lnTo>
                  <a:lnTo>
                    <a:pt x="3264" y="2704"/>
                  </a:lnTo>
                  <a:lnTo>
                    <a:pt x="3361" y="2558"/>
                  </a:lnTo>
                  <a:lnTo>
                    <a:pt x="3435" y="2412"/>
                  </a:lnTo>
                  <a:lnTo>
                    <a:pt x="3483" y="2242"/>
                  </a:lnTo>
                  <a:lnTo>
                    <a:pt x="3532" y="2071"/>
                  </a:lnTo>
                  <a:lnTo>
                    <a:pt x="3556" y="1901"/>
                  </a:lnTo>
                  <a:lnTo>
                    <a:pt x="3556" y="1730"/>
                  </a:lnTo>
                  <a:lnTo>
                    <a:pt x="3556" y="1560"/>
                  </a:lnTo>
                  <a:lnTo>
                    <a:pt x="3532" y="1389"/>
                  </a:lnTo>
                  <a:lnTo>
                    <a:pt x="3483" y="1219"/>
                  </a:lnTo>
                  <a:lnTo>
                    <a:pt x="3410" y="1048"/>
                  </a:lnTo>
                  <a:lnTo>
                    <a:pt x="3337" y="902"/>
                  </a:lnTo>
                  <a:lnTo>
                    <a:pt x="3264" y="756"/>
                  </a:lnTo>
                  <a:lnTo>
                    <a:pt x="3142" y="610"/>
                  </a:lnTo>
                  <a:lnTo>
                    <a:pt x="3142" y="610"/>
                  </a:lnTo>
                  <a:lnTo>
                    <a:pt x="2972" y="415"/>
                  </a:lnTo>
                  <a:lnTo>
                    <a:pt x="2753" y="245"/>
                  </a:lnTo>
                  <a:lnTo>
                    <a:pt x="2533" y="123"/>
                  </a:lnTo>
                  <a:lnTo>
                    <a:pt x="2314" y="5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5" name="Google Shape;675;p49"/>
            <p:cNvSpPr/>
            <p:nvPr/>
          </p:nvSpPr>
          <p:spPr>
            <a:xfrm>
              <a:off x="5682875" y="5188875"/>
              <a:ext cx="88925" cy="89525"/>
            </a:xfrm>
            <a:custGeom>
              <a:rect b="b" l="l" r="r" t="t"/>
              <a:pathLst>
                <a:path extrusionOk="0" fill="none" h="3581" w="3557">
                  <a:moveTo>
                    <a:pt x="0" y="2022"/>
                  </a:moveTo>
                  <a:lnTo>
                    <a:pt x="0" y="2022"/>
                  </a:lnTo>
                  <a:lnTo>
                    <a:pt x="25" y="2216"/>
                  </a:lnTo>
                  <a:lnTo>
                    <a:pt x="98" y="2411"/>
                  </a:lnTo>
                  <a:lnTo>
                    <a:pt x="98" y="2411"/>
                  </a:lnTo>
                  <a:lnTo>
                    <a:pt x="171" y="2557"/>
                  </a:lnTo>
                  <a:lnTo>
                    <a:pt x="244" y="2728"/>
                  </a:lnTo>
                  <a:lnTo>
                    <a:pt x="341" y="2874"/>
                  </a:lnTo>
                  <a:lnTo>
                    <a:pt x="463" y="2996"/>
                  </a:lnTo>
                  <a:lnTo>
                    <a:pt x="585" y="3118"/>
                  </a:lnTo>
                  <a:lnTo>
                    <a:pt x="707" y="3239"/>
                  </a:lnTo>
                  <a:lnTo>
                    <a:pt x="853" y="3337"/>
                  </a:lnTo>
                  <a:lnTo>
                    <a:pt x="999" y="3410"/>
                  </a:lnTo>
                  <a:lnTo>
                    <a:pt x="1169" y="3483"/>
                  </a:lnTo>
                  <a:lnTo>
                    <a:pt x="1340" y="3532"/>
                  </a:lnTo>
                  <a:lnTo>
                    <a:pt x="1510" y="3556"/>
                  </a:lnTo>
                  <a:lnTo>
                    <a:pt x="1681" y="3580"/>
                  </a:lnTo>
                  <a:lnTo>
                    <a:pt x="1851" y="3580"/>
                  </a:lnTo>
                  <a:lnTo>
                    <a:pt x="2022" y="3556"/>
                  </a:lnTo>
                  <a:lnTo>
                    <a:pt x="2192" y="3532"/>
                  </a:lnTo>
                  <a:lnTo>
                    <a:pt x="2363" y="3459"/>
                  </a:lnTo>
                  <a:lnTo>
                    <a:pt x="2363" y="3459"/>
                  </a:lnTo>
                  <a:lnTo>
                    <a:pt x="2533" y="3410"/>
                  </a:lnTo>
                  <a:lnTo>
                    <a:pt x="2704" y="3312"/>
                  </a:lnTo>
                  <a:lnTo>
                    <a:pt x="2850" y="3215"/>
                  </a:lnTo>
                  <a:lnTo>
                    <a:pt x="2972" y="3093"/>
                  </a:lnTo>
                  <a:lnTo>
                    <a:pt x="3093" y="2971"/>
                  </a:lnTo>
                  <a:lnTo>
                    <a:pt x="3215" y="2850"/>
                  </a:lnTo>
                  <a:lnTo>
                    <a:pt x="3288" y="2704"/>
                  </a:lnTo>
                  <a:lnTo>
                    <a:pt x="3386" y="2557"/>
                  </a:lnTo>
                  <a:lnTo>
                    <a:pt x="3434" y="2387"/>
                  </a:lnTo>
                  <a:lnTo>
                    <a:pt x="3483" y="2216"/>
                  </a:lnTo>
                  <a:lnTo>
                    <a:pt x="3532" y="2070"/>
                  </a:lnTo>
                  <a:lnTo>
                    <a:pt x="3556" y="1875"/>
                  </a:lnTo>
                  <a:lnTo>
                    <a:pt x="3556" y="1705"/>
                  </a:lnTo>
                  <a:lnTo>
                    <a:pt x="3532" y="1534"/>
                  </a:lnTo>
                  <a:lnTo>
                    <a:pt x="3507" y="1364"/>
                  </a:lnTo>
                  <a:lnTo>
                    <a:pt x="3434" y="1194"/>
                  </a:lnTo>
                  <a:lnTo>
                    <a:pt x="3434" y="1194"/>
                  </a:lnTo>
                  <a:lnTo>
                    <a:pt x="3361" y="1023"/>
                  </a:lnTo>
                  <a:lnTo>
                    <a:pt x="3288" y="853"/>
                  </a:lnTo>
                  <a:lnTo>
                    <a:pt x="3191" y="706"/>
                  </a:lnTo>
                  <a:lnTo>
                    <a:pt x="3069" y="585"/>
                  </a:lnTo>
                  <a:lnTo>
                    <a:pt x="2947" y="463"/>
                  </a:lnTo>
                  <a:lnTo>
                    <a:pt x="2825" y="341"/>
                  </a:lnTo>
                  <a:lnTo>
                    <a:pt x="2679" y="268"/>
                  </a:lnTo>
                  <a:lnTo>
                    <a:pt x="2533" y="171"/>
                  </a:lnTo>
                  <a:lnTo>
                    <a:pt x="2363" y="122"/>
                  </a:lnTo>
                  <a:lnTo>
                    <a:pt x="2192" y="73"/>
                  </a:lnTo>
                  <a:lnTo>
                    <a:pt x="2022" y="24"/>
                  </a:lnTo>
                  <a:lnTo>
                    <a:pt x="1851" y="24"/>
                  </a:lnTo>
                  <a:lnTo>
                    <a:pt x="1681" y="0"/>
                  </a:lnTo>
                  <a:lnTo>
                    <a:pt x="1510" y="24"/>
                  </a:lnTo>
                  <a:lnTo>
                    <a:pt x="1340" y="73"/>
                  </a:lnTo>
                  <a:lnTo>
                    <a:pt x="1169" y="122"/>
                  </a:lnTo>
                  <a:lnTo>
                    <a:pt x="1169" y="122"/>
                  </a:lnTo>
                  <a:lnTo>
                    <a:pt x="974" y="195"/>
                  </a:lnTo>
                  <a:lnTo>
                    <a:pt x="804" y="292"/>
                  </a:lnTo>
                  <a:lnTo>
                    <a:pt x="658" y="390"/>
                  </a:lnTo>
                  <a:lnTo>
                    <a:pt x="512" y="512"/>
                  </a:lnTo>
                  <a:lnTo>
                    <a:pt x="390" y="658"/>
                  </a:lnTo>
                  <a:lnTo>
                    <a:pt x="293" y="804"/>
                  </a:lnTo>
                  <a:lnTo>
                    <a:pt x="195" y="950"/>
                  </a:lnTo>
                  <a:lnTo>
                    <a:pt x="122" y="1120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6" name="Google Shape;676;p49"/>
            <p:cNvSpPr/>
            <p:nvPr/>
          </p:nvSpPr>
          <p:spPr>
            <a:xfrm>
              <a:off x="5411925" y="5110925"/>
              <a:ext cx="188775" cy="189400"/>
            </a:xfrm>
            <a:custGeom>
              <a:rect b="b" l="l" r="r" t="t"/>
              <a:pathLst>
                <a:path extrusionOk="0" fill="none" h="7576" w="7551">
                  <a:moveTo>
                    <a:pt x="0" y="3776"/>
                  </a:moveTo>
                  <a:lnTo>
                    <a:pt x="0" y="3776"/>
                  </a:lnTo>
                  <a:lnTo>
                    <a:pt x="25" y="3410"/>
                  </a:lnTo>
                  <a:lnTo>
                    <a:pt x="73" y="3021"/>
                  </a:lnTo>
                  <a:lnTo>
                    <a:pt x="171" y="2655"/>
                  </a:lnTo>
                  <a:lnTo>
                    <a:pt x="293" y="2314"/>
                  </a:lnTo>
                  <a:lnTo>
                    <a:pt x="463" y="1973"/>
                  </a:lnTo>
                  <a:lnTo>
                    <a:pt x="658" y="1681"/>
                  </a:lnTo>
                  <a:lnTo>
                    <a:pt x="877" y="1389"/>
                  </a:lnTo>
                  <a:lnTo>
                    <a:pt x="1121" y="1121"/>
                  </a:lnTo>
                  <a:lnTo>
                    <a:pt x="1389" y="877"/>
                  </a:lnTo>
                  <a:lnTo>
                    <a:pt x="1656" y="658"/>
                  </a:lnTo>
                  <a:lnTo>
                    <a:pt x="1973" y="463"/>
                  </a:lnTo>
                  <a:lnTo>
                    <a:pt x="2314" y="293"/>
                  </a:lnTo>
                  <a:lnTo>
                    <a:pt x="2655" y="171"/>
                  </a:lnTo>
                  <a:lnTo>
                    <a:pt x="3020" y="74"/>
                  </a:lnTo>
                  <a:lnTo>
                    <a:pt x="3386" y="25"/>
                  </a:lnTo>
                  <a:lnTo>
                    <a:pt x="3775" y="1"/>
                  </a:lnTo>
                  <a:lnTo>
                    <a:pt x="3775" y="1"/>
                  </a:lnTo>
                  <a:lnTo>
                    <a:pt x="4165" y="25"/>
                  </a:lnTo>
                  <a:lnTo>
                    <a:pt x="4555" y="74"/>
                  </a:lnTo>
                  <a:lnTo>
                    <a:pt x="4896" y="171"/>
                  </a:lnTo>
                  <a:lnTo>
                    <a:pt x="5261" y="293"/>
                  </a:lnTo>
                  <a:lnTo>
                    <a:pt x="5578" y="463"/>
                  </a:lnTo>
                  <a:lnTo>
                    <a:pt x="5894" y="658"/>
                  </a:lnTo>
                  <a:lnTo>
                    <a:pt x="6186" y="877"/>
                  </a:lnTo>
                  <a:lnTo>
                    <a:pt x="6454" y="1121"/>
                  </a:lnTo>
                  <a:lnTo>
                    <a:pt x="6698" y="1389"/>
                  </a:lnTo>
                  <a:lnTo>
                    <a:pt x="6917" y="1681"/>
                  </a:lnTo>
                  <a:lnTo>
                    <a:pt x="7112" y="1973"/>
                  </a:lnTo>
                  <a:lnTo>
                    <a:pt x="7258" y="2314"/>
                  </a:lnTo>
                  <a:lnTo>
                    <a:pt x="7404" y="2655"/>
                  </a:lnTo>
                  <a:lnTo>
                    <a:pt x="7477" y="3021"/>
                  </a:lnTo>
                  <a:lnTo>
                    <a:pt x="7550" y="3410"/>
                  </a:lnTo>
                  <a:lnTo>
                    <a:pt x="7550" y="3776"/>
                  </a:lnTo>
                  <a:lnTo>
                    <a:pt x="7550" y="3776"/>
                  </a:lnTo>
                  <a:lnTo>
                    <a:pt x="7550" y="4165"/>
                  </a:lnTo>
                  <a:lnTo>
                    <a:pt x="7477" y="4555"/>
                  </a:lnTo>
                  <a:lnTo>
                    <a:pt x="7404" y="4920"/>
                  </a:lnTo>
                  <a:lnTo>
                    <a:pt x="7258" y="5261"/>
                  </a:lnTo>
                  <a:lnTo>
                    <a:pt x="7112" y="5578"/>
                  </a:lnTo>
                  <a:lnTo>
                    <a:pt x="6917" y="5895"/>
                  </a:lnTo>
                  <a:lnTo>
                    <a:pt x="6698" y="6187"/>
                  </a:lnTo>
                  <a:lnTo>
                    <a:pt x="6454" y="6455"/>
                  </a:lnTo>
                  <a:lnTo>
                    <a:pt x="6186" y="6698"/>
                  </a:lnTo>
                  <a:lnTo>
                    <a:pt x="5894" y="6917"/>
                  </a:lnTo>
                  <a:lnTo>
                    <a:pt x="5578" y="7112"/>
                  </a:lnTo>
                  <a:lnTo>
                    <a:pt x="5261" y="7258"/>
                  </a:lnTo>
                  <a:lnTo>
                    <a:pt x="4896" y="7405"/>
                  </a:lnTo>
                  <a:lnTo>
                    <a:pt x="4555" y="7478"/>
                  </a:lnTo>
                  <a:lnTo>
                    <a:pt x="4165" y="7551"/>
                  </a:lnTo>
                  <a:lnTo>
                    <a:pt x="3775" y="7575"/>
                  </a:lnTo>
                  <a:lnTo>
                    <a:pt x="3775" y="7575"/>
                  </a:lnTo>
                  <a:lnTo>
                    <a:pt x="3386" y="7551"/>
                  </a:lnTo>
                  <a:lnTo>
                    <a:pt x="3020" y="7478"/>
                  </a:lnTo>
                  <a:lnTo>
                    <a:pt x="2655" y="7405"/>
                  </a:lnTo>
                  <a:lnTo>
                    <a:pt x="2314" y="7258"/>
                  </a:lnTo>
                  <a:lnTo>
                    <a:pt x="1973" y="7112"/>
                  </a:lnTo>
                  <a:lnTo>
                    <a:pt x="1656" y="6917"/>
                  </a:lnTo>
                  <a:lnTo>
                    <a:pt x="1389" y="6698"/>
                  </a:lnTo>
                  <a:lnTo>
                    <a:pt x="1121" y="6455"/>
                  </a:lnTo>
                  <a:lnTo>
                    <a:pt x="877" y="6187"/>
                  </a:lnTo>
                  <a:lnTo>
                    <a:pt x="658" y="5895"/>
                  </a:lnTo>
                  <a:lnTo>
                    <a:pt x="463" y="5578"/>
                  </a:lnTo>
                  <a:lnTo>
                    <a:pt x="293" y="5261"/>
                  </a:lnTo>
                  <a:lnTo>
                    <a:pt x="171" y="4920"/>
                  </a:lnTo>
                  <a:lnTo>
                    <a:pt x="73" y="4555"/>
                  </a:lnTo>
                  <a:lnTo>
                    <a:pt x="25" y="4165"/>
                  </a:lnTo>
                  <a:lnTo>
                    <a:pt x="0" y="3776"/>
                  </a:lnTo>
                  <a:lnTo>
                    <a:pt x="0" y="3776"/>
                  </a:lnTo>
                  <a:close/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7" name="Google Shape;677;p49"/>
            <p:cNvSpPr/>
            <p:nvPr/>
          </p:nvSpPr>
          <p:spPr>
            <a:xfrm>
              <a:off x="5367475" y="5025075"/>
              <a:ext cx="81600" cy="105975"/>
            </a:xfrm>
            <a:custGeom>
              <a:rect b="b" l="l" r="r" t="t"/>
              <a:pathLst>
                <a:path extrusionOk="0" fill="none" h="4239" w="3264">
                  <a:moveTo>
                    <a:pt x="0" y="1"/>
                  </a:moveTo>
                  <a:lnTo>
                    <a:pt x="3264" y="4238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8" name="Google Shape;678;p49"/>
            <p:cNvSpPr/>
            <p:nvPr/>
          </p:nvSpPr>
          <p:spPr>
            <a:xfrm>
              <a:off x="5567800" y="4999500"/>
              <a:ext cx="115100" cy="133975"/>
            </a:xfrm>
            <a:custGeom>
              <a:rect b="b" l="l" r="r" t="t"/>
              <a:pathLst>
                <a:path extrusionOk="0" fill="none" h="5359" w="4604">
                  <a:moveTo>
                    <a:pt x="0" y="5359"/>
                  </a:moveTo>
                  <a:lnTo>
                    <a:pt x="4603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9" name="Google Shape;679;p49"/>
            <p:cNvSpPr/>
            <p:nvPr/>
          </p:nvSpPr>
          <p:spPr>
            <a:xfrm>
              <a:off x="5600075" y="5217475"/>
              <a:ext cx="127275" cy="16475"/>
            </a:xfrm>
            <a:custGeom>
              <a:rect b="b" l="l" r="r" t="t"/>
              <a:pathLst>
                <a:path extrusionOk="0" fill="none" h="659" w="5091">
                  <a:moveTo>
                    <a:pt x="5090" y="658"/>
                  </a:moveTo>
                  <a:lnTo>
                    <a:pt x="0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0" name="Google Shape;680;p49"/>
            <p:cNvSpPr/>
            <p:nvPr/>
          </p:nvSpPr>
          <p:spPr>
            <a:xfrm>
              <a:off x="5497775" y="5299675"/>
              <a:ext cx="4900" cy="126675"/>
            </a:xfrm>
            <a:custGeom>
              <a:rect b="b" l="l" r="r" t="t"/>
              <a:pathLst>
                <a:path extrusionOk="0" fill="none" h="5067" w="196">
                  <a:moveTo>
                    <a:pt x="0" y="5067"/>
                  </a:moveTo>
                  <a:lnTo>
                    <a:pt x="195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81" name="Google Shape;681;p49"/>
            <p:cNvSpPr/>
            <p:nvPr/>
          </p:nvSpPr>
          <p:spPr>
            <a:xfrm>
              <a:off x="5277975" y="5241825"/>
              <a:ext cx="141275" cy="58500"/>
            </a:xfrm>
            <a:custGeom>
              <a:rect b="b" l="l" r="r" t="t"/>
              <a:pathLst>
                <a:path extrusionOk="0" fill="none" h="2340" w="5651">
                  <a:moveTo>
                    <a:pt x="0" y="2339"/>
                  </a:moveTo>
                  <a:lnTo>
                    <a:pt x="5651" y="1"/>
                  </a:lnTo>
                </a:path>
              </a:pathLst>
            </a:custGeom>
            <a:noFill/>
            <a:ln cap="rnd" cmpd="sng" w="121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82" name="Google Shape;682;p49"/>
          <p:cNvSpPr txBox="1"/>
          <p:nvPr/>
        </p:nvSpPr>
        <p:spPr>
          <a:xfrm>
            <a:off x="3895870" y="5365948"/>
            <a:ext cx="829613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s-CL" sz="6000" u="none" cap="none" strike="noStrike">
                <a:solidFill>
                  <a:srgbClr val="FFFFFF"/>
                </a:solidFill>
                <a:latin typeface="Karla"/>
                <a:ea typeface="Karla"/>
                <a:cs typeface="Karla"/>
                <a:sym typeface="Karla"/>
              </a:rPr>
              <a:t>Teoría de Gases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7979">
            <a:alpha val="54509"/>
          </a:srgbClr>
        </a:solidFill>
      </p:bgPr>
    </p:bg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50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688" name="Google Shape;68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50"/>
          <p:cNvSpPr/>
          <p:nvPr/>
        </p:nvSpPr>
        <p:spPr>
          <a:xfrm>
            <a:off x="7472607" y="30492"/>
            <a:ext cx="184731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90" name="Google Shape;690;p50"/>
          <p:cNvSpPr/>
          <p:nvPr/>
        </p:nvSpPr>
        <p:spPr>
          <a:xfrm>
            <a:off x="5604455" y="-7612"/>
            <a:ext cx="184731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91" name="Google Shape;691;p50"/>
          <p:cNvSpPr/>
          <p:nvPr/>
        </p:nvSpPr>
        <p:spPr>
          <a:xfrm>
            <a:off x="228600" y="259080"/>
            <a:ext cx="8854440" cy="977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1.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Calcular el volumen ocupado por 2,12 moles de monóxido de carbono (CO) a 6,54 atm de presión y 76°C.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50"/>
          <p:cNvSpPr/>
          <p:nvPr/>
        </p:nvSpPr>
        <p:spPr>
          <a:xfrm>
            <a:off x="228600" y="1402080"/>
            <a:ext cx="8686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693" name="Google Shape;693;p50"/>
          <p:cNvSpPr/>
          <p:nvPr/>
        </p:nvSpPr>
        <p:spPr>
          <a:xfrm>
            <a:off x="228600" y="1647826"/>
            <a:ext cx="9055364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2.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¿Cuál es el volumen (en litros) ocupado por 49,8 g de HCl a CNPT?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50"/>
          <p:cNvSpPr/>
          <p:nvPr/>
        </p:nvSpPr>
        <p:spPr>
          <a:xfrm>
            <a:off x="228600" y="2782696"/>
            <a:ext cx="9601200" cy="1438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3.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Una muestra de nitrógeno N</a:t>
            </a:r>
            <a:r>
              <a:rPr b="0" baseline="-25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 gaseoso contenido en un recipiente con un volumen de 2,3 L, a una temperatura de 32°C, ejerce una presión de 4,7 atm. Calcular el número de moles presentes en el gas.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5" name="Google Shape;695;p50"/>
          <p:cNvSpPr/>
          <p:nvPr/>
        </p:nvSpPr>
        <p:spPr>
          <a:xfrm>
            <a:off x="381000" y="4983480"/>
            <a:ext cx="10013156" cy="977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4.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Calcular la presión ejercida por 5 moles de un gas contenido en una recipiente de 500 mL, si la temperatura del sistema es 38°C.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7979">
            <a:alpha val="54509"/>
          </a:srgbClr>
        </a:solidFill>
      </p:bgPr>
    </p:bg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51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701" name="Google Shape;70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67800" y="152412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1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03" name="Google Shape;703;p51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04" name="Google Shape;704;p51"/>
          <p:cNvSpPr/>
          <p:nvPr/>
        </p:nvSpPr>
        <p:spPr>
          <a:xfrm>
            <a:off x="268356" y="316232"/>
            <a:ext cx="9297033" cy="3747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4288" lvl="0" marL="1428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5.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Una muestra de helio tiene un volumen de 0,180 L, una presión de 0,800 atm y una temperatura de 29°C. ¿Cuál es la temperatura de este gas (°C) a un volumen de 90,0 mL y una presión de 3,20 atm?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428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4288" lvl="0" marL="1428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4288" lvl="0" marL="1428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4288" lvl="0" marL="1428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6.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Una muestra de gas neón, tiene un volumen de 15,0 L en CNPT. ¿Cuál es su volumen (L) a 2,00 atm y –25°C?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51"/>
          <p:cNvSpPr/>
          <p:nvPr/>
        </p:nvSpPr>
        <p:spPr>
          <a:xfrm>
            <a:off x="268356" y="4722015"/>
            <a:ext cx="9668757" cy="1438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7.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Se ha sintetizado un compuesto gaseoso de Cloro y Oxígeno y su densidad es 7,71 g/L a 36ºC y Presión de 2,88 atm. Calcular la masa molar y determine la formula molecular.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7979">
            <a:alpha val="54509"/>
          </a:srgbClr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52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711" name="Google Shape;711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52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13" name="Google Shape;713;p52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14" name="Google Shape;714;p52"/>
          <p:cNvSpPr/>
          <p:nvPr/>
        </p:nvSpPr>
        <p:spPr>
          <a:xfrm>
            <a:off x="180220" y="227120"/>
            <a:ext cx="9029881" cy="190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8.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El análisis de un gas indica que contiene 33% de Silicio y 67% de Flúor a 35°C, 0,210 L del compuesto ejerce una presión de 1.70 atmosferas. Si la masa del gas fue 2,38 g. Calcular la formula molecular. Masa molar Si = 28,09 g/mol; F = 19 g/mol.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52"/>
          <p:cNvSpPr/>
          <p:nvPr/>
        </p:nvSpPr>
        <p:spPr>
          <a:xfrm>
            <a:off x="178382" y="2538828"/>
            <a:ext cx="9593579" cy="1900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9.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Un compuesto gaseoso formado por 78,14% de Boro y 21,86% de H, a 27°C y 74,3mL del gas ejercen una presión de 1,12 atm. Si la masa del gas fue 0,0934 g. ¿Cuál es su formula molecular? Masa molar: B = 10,81 g/mol; H = 1,008 g/mol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52"/>
          <p:cNvSpPr/>
          <p:nvPr/>
        </p:nvSpPr>
        <p:spPr>
          <a:xfrm>
            <a:off x="198578" y="4740367"/>
            <a:ext cx="10212362" cy="977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10 .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Calcule la densidad del bromuro de hidrógeno (HBr) gaseoso en g/L a 733 mmHg y 46ºC.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7979">
            <a:alpha val="54509"/>
          </a:srgbClr>
        </a:solidFill>
      </p:bgPr>
    </p:bg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53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722" name="Google Shape;722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53"/>
          <p:cNvSpPr/>
          <p:nvPr/>
        </p:nvSpPr>
        <p:spPr>
          <a:xfrm>
            <a:off x="7472607" y="152412"/>
            <a:ext cx="184731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24" name="Google Shape;724;p53"/>
          <p:cNvSpPr/>
          <p:nvPr/>
        </p:nvSpPr>
        <p:spPr>
          <a:xfrm>
            <a:off x="5604455" y="11430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2E75B5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725" name="Google Shape;725;p53"/>
          <p:cNvSpPr/>
          <p:nvPr/>
        </p:nvSpPr>
        <p:spPr>
          <a:xfrm>
            <a:off x="138656" y="298974"/>
            <a:ext cx="9016361" cy="1438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11.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Es relativamente fácil conseguir una presión tan baja como 1,0 x 10</a:t>
            </a:r>
            <a:r>
              <a:rPr b="0" baseline="30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-6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mmHg usando una bomba de difusión. ¿Cuántas moléculas de gas ideal habrá en 1 L a 25ºC en estas condiciones?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53"/>
          <p:cNvSpPr txBox="1"/>
          <p:nvPr/>
        </p:nvSpPr>
        <p:spPr>
          <a:xfrm>
            <a:off x="138656" y="2292103"/>
            <a:ext cx="9611272" cy="14388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12.  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La presión parcial de vapor de agua en el aire de un recinto es de 10,8 mm a 22 </a:t>
            </a:r>
            <a:r>
              <a:rPr b="0" baseline="3000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o</a:t>
            </a:r>
            <a:r>
              <a:rPr b="0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C. Si la presión de vapor de agua, a esa temperatura es de 19,8 mm. ¿Cuál es la humedad relativa del recinto?.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53"/>
          <p:cNvSpPr/>
          <p:nvPr/>
        </p:nvSpPr>
        <p:spPr>
          <a:xfrm>
            <a:off x="7887660" y="3730958"/>
            <a:ext cx="1606878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R = 54,5 %</a:t>
            </a:r>
            <a:endParaRPr b="1" baseline="-25000" i="0" sz="2000" u="none" cap="none" strike="noStrike">
              <a:solidFill>
                <a:srgbClr val="595959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28" name="Google Shape;728;p53"/>
          <p:cNvSpPr/>
          <p:nvPr/>
        </p:nvSpPr>
        <p:spPr>
          <a:xfrm>
            <a:off x="5996359" y="1661161"/>
            <a:ext cx="3584297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R = 3,3 x 10</a:t>
            </a:r>
            <a:r>
              <a:rPr b="1" baseline="30000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13</a:t>
            </a:r>
            <a:r>
              <a:rPr b="1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 moléculas</a:t>
            </a:r>
            <a:endParaRPr b="1" baseline="-25000" i="0" sz="2000" u="none" cap="none" strike="noStrike">
              <a:solidFill>
                <a:srgbClr val="595959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97979">
            <a:alpha val="54509"/>
          </a:srgbClr>
        </a:solidFill>
      </p:bgPr>
    </p:bg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54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734" name="Google Shape;73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79280" y="132951"/>
            <a:ext cx="2116765" cy="1058383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4"/>
          <p:cNvSpPr/>
          <p:nvPr/>
        </p:nvSpPr>
        <p:spPr>
          <a:xfrm>
            <a:off x="7472607" y="30492"/>
            <a:ext cx="184731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36" name="Google Shape;736;p54"/>
          <p:cNvSpPr/>
          <p:nvPr/>
        </p:nvSpPr>
        <p:spPr>
          <a:xfrm>
            <a:off x="5604455" y="-7612"/>
            <a:ext cx="184731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37" name="Google Shape;737;p54"/>
          <p:cNvSpPr/>
          <p:nvPr/>
        </p:nvSpPr>
        <p:spPr>
          <a:xfrm>
            <a:off x="228600" y="259080"/>
            <a:ext cx="8854440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1. </a:t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38" name="Google Shape;738;p54"/>
          <p:cNvSpPr/>
          <p:nvPr/>
        </p:nvSpPr>
        <p:spPr>
          <a:xfrm>
            <a:off x="228600" y="1402080"/>
            <a:ext cx="86868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39" name="Google Shape;739;p54"/>
          <p:cNvSpPr txBox="1"/>
          <p:nvPr/>
        </p:nvSpPr>
        <p:spPr>
          <a:xfrm>
            <a:off x="793022" y="253169"/>
            <a:ext cx="1499128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R = 9,28 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54"/>
          <p:cNvSpPr/>
          <p:nvPr/>
        </p:nvSpPr>
        <p:spPr>
          <a:xfrm>
            <a:off x="228600" y="820601"/>
            <a:ext cx="9055364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2. </a:t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41" name="Google Shape;741;p54"/>
          <p:cNvSpPr txBox="1"/>
          <p:nvPr/>
        </p:nvSpPr>
        <p:spPr>
          <a:xfrm>
            <a:off x="793022" y="798750"/>
            <a:ext cx="1499128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R = 30,6 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2" name="Google Shape;742;p54"/>
          <p:cNvSpPr/>
          <p:nvPr/>
        </p:nvSpPr>
        <p:spPr>
          <a:xfrm>
            <a:off x="242568" y="1441565"/>
            <a:ext cx="9601200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3. </a:t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43" name="Google Shape;743;p54"/>
          <p:cNvSpPr txBox="1"/>
          <p:nvPr/>
        </p:nvSpPr>
        <p:spPr>
          <a:xfrm>
            <a:off x="757774" y="1388938"/>
            <a:ext cx="2543175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R = 0,432 moles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54"/>
          <p:cNvSpPr/>
          <p:nvPr/>
        </p:nvSpPr>
        <p:spPr>
          <a:xfrm>
            <a:off x="228600" y="2096808"/>
            <a:ext cx="10013156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4. </a:t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45" name="Google Shape;745;p54"/>
          <p:cNvSpPr txBox="1"/>
          <p:nvPr/>
        </p:nvSpPr>
        <p:spPr>
          <a:xfrm>
            <a:off x="793022" y="2053216"/>
            <a:ext cx="2263775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R = 255, 02 atm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54"/>
          <p:cNvSpPr/>
          <p:nvPr/>
        </p:nvSpPr>
        <p:spPr>
          <a:xfrm>
            <a:off x="281545" y="2668329"/>
            <a:ext cx="9297033" cy="977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4288" lvl="0" marL="1428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5. </a:t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  <a:p>
            <a:pPr indent="-14288" lvl="0" marL="1428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6. </a:t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47" name="Google Shape;747;p54"/>
          <p:cNvSpPr txBox="1"/>
          <p:nvPr/>
        </p:nvSpPr>
        <p:spPr>
          <a:xfrm>
            <a:off x="793022" y="2595709"/>
            <a:ext cx="3616457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R = 603,77 °C = 330,62 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54"/>
          <p:cNvSpPr txBox="1"/>
          <p:nvPr/>
        </p:nvSpPr>
        <p:spPr>
          <a:xfrm>
            <a:off x="793022" y="3133962"/>
            <a:ext cx="1499128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R = 6,82 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54"/>
          <p:cNvSpPr/>
          <p:nvPr/>
        </p:nvSpPr>
        <p:spPr>
          <a:xfrm>
            <a:off x="242568" y="3720936"/>
            <a:ext cx="9668757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7. </a:t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50" name="Google Shape;750;p54"/>
          <p:cNvSpPr/>
          <p:nvPr/>
        </p:nvSpPr>
        <p:spPr>
          <a:xfrm>
            <a:off x="757774" y="3695453"/>
            <a:ext cx="2903359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R = 67,8 g/mol; ClO</a:t>
            </a:r>
            <a:r>
              <a:rPr b="1" baseline="-25000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54"/>
          <p:cNvSpPr/>
          <p:nvPr/>
        </p:nvSpPr>
        <p:spPr>
          <a:xfrm>
            <a:off x="281545" y="4308028"/>
            <a:ext cx="9029881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8. </a:t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52" name="Google Shape;752;p54"/>
          <p:cNvSpPr/>
          <p:nvPr/>
        </p:nvSpPr>
        <p:spPr>
          <a:xfrm>
            <a:off x="757774" y="4271977"/>
            <a:ext cx="1606878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R = Si</a:t>
            </a:r>
            <a:r>
              <a:rPr b="1" baseline="-25000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F</a:t>
            </a:r>
            <a:r>
              <a:rPr b="1" baseline="-25000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3" name="Google Shape;753;p54"/>
          <p:cNvSpPr/>
          <p:nvPr/>
        </p:nvSpPr>
        <p:spPr>
          <a:xfrm>
            <a:off x="250189" y="4873985"/>
            <a:ext cx="9593579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9. </a:t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54" name="Google Shape;754;p54"/>
          <p:cNvSpPr/>
          <p:nvPr/>
        </p:nvSpPr>
        <p:spPr>
          <a:xfrm>
            <a:off x="739147" y="4791739"/>
            <a:ext cx="1606878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R = B</a:t>
            </a:r>
            <a:r>
              <a:rPr b="1" baseline="-25000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2</a:t>
            </a:r>
            <a:r>
              <a:rPr b="1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F</a:t>
            </a:r>
            <a:r>
              <a:rPr b="1" baseline="-25000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54"/>
          <p:cNvSpPr/>
          <p:nvPr/>
        </p:nvSpPr>
        <p:spPr>
          <a:xfrm>
            <a:off x="61236" y="5332481"/>
            <a:ext cx="6980663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10 . </a:t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56" name="Google Shape;756;p54"/>
          <p:cNvSpPr/>
          <p:nvPr/>
        </p:nvSpPr>
        <p:spPr>
          <a:xfrm>
            <a:off x="757774" y="5329059"/>
            <a:ext cx="1894109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R = 2,98 g/L</a:t>
            </a:r>
            <a:endParaRPr b="1" baseline="-25000" i="0" sz="2000" u="none" cap="none" strike="noStrike">
              <a:solidFill>
                <a:srgbClr val="595959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57" name="Google Shape;757;p54"/>
          <p:cNvSpPr/>
          <p:nvPr/>
        </p:nvSpPr>
        <p:spPr>
          <a:xfrm>
            <a:off x="61236" y="5841408"/>
            <a:ext cx="9016361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75B5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11. </a:t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58" name="Google Shape;758;p54"/>
          <p:cNvSpPr txBox="1"/>
          <p:nvPr/>
        </p:nvSpPr>
        <p:spPr>
          <a:xfrm>
            <a:off x="61236" y="6356934"/>
            <a:ext cx="9611272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2E75B5"/>
                </a:solidFill>
                <a:latin typeface="Lucida Sans"/>
                <a:ea typeface="Lucida Sans"/>
                <a:cs typeface="Lucida Sans"/>
                <a:sym typeface="Lucida Sans"/>
              </a:rPr>
              <a:t>12.  </a:t>
            </a:r>
            <a:endParaRPr b="0" i="0" sz="2000" u="none" cap="none" strike="noStrike">
              <a:solidFill>
                <a:srgbClr val="2E75B5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59" name="Google Shape;759;p54"/>
          <p:cNvSpPr/>
          <p:nvPr/>
        </p:nvSpPr>
        <p:spPr>
          <a:xfrm>
            <a:off x="757774" y="6356934"/>
            <a:ext cx="1606878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R = 54,5 %</a:t>
            </a:r>
            <a:endParaRPr b="1" baseline="-25000" i="0" sz="2000" u="none" cap="none" strike="noStrike">
              <a:solidFill>
                <a:srgbClr val="595959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60" name="Google Shape;760;p54"/>
          <p:cNvSpPr/>
          <p:nvPr/>
        </p:nvSpPr>
        <p:spPr>
          <a:xfrm>
            <a:off x="747452" y="5841869"/>
            <a:ext cx="3584297" cy="515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R = 3,3 x 10</a:t>
            </a:r>
            <a:r>
              <a:rPr b="1" baseline="30000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13</a:t>
            </a:r>
            <a:r>
              <a:rPr b="1" i="0" lang="es-CL" sz="2000" u="none" cap="none" strike="noStrike">
                <a:solidFill>
                  <a:srgbClr val="595959"/>
                </a:solidFill>
                <a:latin typeface="Lucida Sans"/>
                <a:ea typeface="Lucida Sans"/>
                <a:cs typeface="Lucida Sans"/>
                <a:sym typeface="Lucida Sans"/>
              </a:rPr>
              <a:t> moléculas</a:t>
            </a:r>
            <a:endParaRPr b="1" baseline="-25000" i="0" sz="2000" u="none" cap="none" strike="noStrike">
              <a:solidFill>
                <a:srgbClr val="595959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sp>
        <p:nvSpPr>
          <p:cNvPr id="761" name="Google Shape;761;p54"/>
          <p:cNvSpPr txBox="1"/>
          <p:nvPr/>
        </p:nvSpPr>
        <p:spPr>
          <a:xfrm>
            <a:off x="5128165" y="427801"/>
            <a:ext cx="398524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-CL" sz="3200" u="none" cap="none" strike="noStrike">
                <a:solidFill>
                  <a:srgbClr val="7F7F7F"/>
                </a:solidFill>
                <a:latin typeface="Karla"/>
                <a:ea typeface="Karla"/>
                <a:cs typeface="Karla"/>
                <a:sym typeface="Karla"/>
              </a:rPr>
              <a:t>Respuestas Ejercicios Propuestos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55"/>
          <p:cNvSpPr txBox="1"/>
          <p:nvPr>
            <p:ph idx="12" type="sldNum"/>
          </p:nvPr>
        </p:nvSpPr>
        <p:spPr>
          <a:xfrm>
            <a:off x="11390969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  <p:pic>
        <p:nvPicPr>
          <p:cNvPr id="767" name="Google Shape;76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6684" y="1426351"/>
            <a:ext cx="609600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2017-08-15T01:11:26Z</dcterms:created>
  <dc:creator>Patricio Hermosilla Ibáñez</dc:creator>
</cp:coreProperties>
</file>