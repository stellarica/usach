
<file path=[Content_Types].xml><?xml version="1.0" encoding="utf-8"?>
<Types xmlns="http://schemas.openxmlformats.org/package/2006/content-types">
  <Default ContentType="image/jpeg" Extension="jpg"/>
  <Default ContentType="application/vnd.openxmlformats-officedocument.vmlDrawing" Extension="vml"/>
  <Default ContentType="application/x-fontdata" Extension="fntdata"/>
  <Default ContentType="application/vnd.openxmlformats-officedocument.oleObject" Extension="bin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oleObject" PartName="/ppt/embeddings/oleObject1.bin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</p:sldIdLst>
  <p:sldSz cy="6858000" cx="12192000"/>
  <p:notesSz cx="6858000" cy="9144000"/>
  <p:embeddedFontLst>
    <p:embeddedFont>
      <p:font typeface="Karla"/>
      <p:regular r:id="rId61"/>
      <p:bold r:id="rId62"/>
      <p:italic r:id="rId63"/>
      <p:boldItalic r:id="rId6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65" roundtripDataSignature="AMtx7mjbLhiLZRtdjaHzum//xhFgTQ6Cn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34E2CFE-9B3B-4503-910E-54FB47391BB1}">
  <a:tblStyle styleId="{E34E2CFE-9B3B-4503-910E-54FB47391BB1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font" Target="fonts/Karla-bold.fntdata"/><Relationship Id="rId61" Type="http://schemas.openxmlformats.org/officeDocument/2006/relationships/font" Target="fonts/Karla-regular.fntdata"/><Relationship Id="rId20" Type="http://schemas.openxmlformats.org/officeDocument/2006/relationships/slide" Target="slides/slide15.xml"/><Relationship Id="rId64" Type="http://schemas.openxmlformats.org/officeDocument/2006/relationships/font" Target="fonts/Karla-boldItalic.fntdata"/><Relationship Id="rId63" Type="http://schemas.openxmlformats.org/officeDocument/2006/relationships/font" Target="fonts/Karla-italic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65" Type="http://customschemas.google.com/relationships/presentationmetadata" Target="meta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drawings/_rels/vmlDrawing1.vml.rels><?xml version="1.0" encoding="UTF-8" standalone="yes"?><Relationships xmlns="http://schemas.openxmlformats.org/package/2006/relationships"><Relationship Id="rId1" Type="http://schemas.openxmlformats.org/officeDocument/2006/relationships/image" Target="../media/image17.png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CL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" name="Google Shape;10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9" name="Google Shape;10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1" name="Google Shape;12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2" name="Google Shape;13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0" name="Google Shape;14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0" name="Google Shape;15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1" name="Google Shape;16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6" name="Google Shape;17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6" name="Google Shape;18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8" name="Google Shape;19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7" name="Google Shape;21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9" name="Google Shape;22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0" name="Google Shape;24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9" name="Google Shape;249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2" name="Google Shape;26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0" name="Google Shape;280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C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0" name="Google Shape;290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C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7" name="Google Shape;297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4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C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2" name="Google Shape;312;p6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6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C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1" name="Google Shape;321;p6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6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C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9" name="Google Shape;329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9" name="Google Shape;339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2" name="Google Shape;352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7" name="Google Shape;377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9" name="Google Shape;389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9" name="Google Shape;409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217eded2196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7" name="Google Shape;417;g217eded2196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5" name="Google Shape;425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8" name="Google Shape;438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9" name="Google Shape;459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5" name="Google Shape;475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2" name="Google Shape;492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5" name="Google Shape;505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217eded2196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5" name="Google Shape;515;g217eded2196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3" name="Google Shape;523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5" name="Google Shape;535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5" name="Google Shape;555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3" name="Google Shape;563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7" name="Google Shape;577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8" name="Google Shape;588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1" name="Google Shape;601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0" name="Google Shape;610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9" name="Google Shape;619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7" name="Google Shape;627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7" name="Google Shape;637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7" name="Google Shape;657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7" name="Google Shape;667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0" name="Google Shape;680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3" name="Google Shape;693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g217eded2196_0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3" name="Google Shape;703;g217eded2196_0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11" name="Google Shape;711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3" name="Google Shape;723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43" name="Google Shape;743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54" name="Google Shape;754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74" name="Google Shape;774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pty">
  <p:cSld name="Empt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2"/>
          <p:cNvSpPr txBox="1"/>
          <p:nvPr>
            <p:ph idx="12" type="sldNum"/>
          </p:nvPr>
        </p:nvSpPr>
        <p:spPr>
          <a:xfrm>
            <a:off x="11390969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3"/>
          <p:cNvSpPr/>
          <p:nvPr/>
        </p:nvSpPr>
        <p:spPr>
          <a:xfrm>
            <a:off x="304801" y="-13915"/>
            <a:ext cx="10972420" cy="6885849"/>
          </a:xfrm>
          <a:custGeom>
            <a:rect b="b" l="l" r="r" t="t"/>
            <a:pathLst>
              <a:path extrusionOk="0" h="206122" w="32845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000000">
              <a:alpha val="6666"/>
            </a:srgbClr>
          </a:solidFill>
          <a:ln>
            <a:noFill/>
          </a:ln>
        </p:spPr>
      </p:sp>
      <p:sp>
        <p:nvSpPr>
          <p:cNvPr id="19" name="Google Shape;19;p53"/>
          <p:cNvSpPr/>
          <p:nvPr/>
        </p:nvSpPr>
        <p:spPr>
          <a:xfrm>
            <a:off x="1" y="-13915"/>
            <a:ext cx="10972420" cy="6885849"/>
          </a:xfrm>
          <a:custGeom>
            <a:rect b="b" l="l" r="r" t="t"/>
            <a:pathLst>
              <a:path extrusionOk="0" h="206122" w="32845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0" name="Google Shape;20;p53"/>
          <p:cNvSpPr txBox="1"/>
          <p:nvPr>
            <p:ph type="title"/>
          </p:nvPr>
        </p:nvSpPr>
        <p:spPr>
          <a:xfrm>
            <a:off x="1117800" y="1191333"/>
            <a:ext cx="7098800" cy="64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21" name="Google Shape;21;p53"/>
          <p:cNvSpPr txBox="1"/>
          <p:nvPr>
            <p:ph idx="1" type="body"/>
          </p:nvPr>
        </p:nvSpPr>
        <p:spPr>
          <a:xfrm>
            <a:off x="1117667" y="2006600"/>
            <a:ext cx="7098800" cy="30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Char char="▸"/>
              <a:defRPr/>
            </a:lvl1pPr>
            <a:lvl2pPr indent="-355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▹"/>
              <a:defRPr/>
            </a:lvl2pPr>
            <a:lvl3pPr indent="-355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▹"/>
              <a:defRPr/>
            </a:lvl3pPr>
            <a:lvl4pPr indent="-355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  <a:defRPr/>
            </a:lvl4pPr>
            <a:lvl5pPr indent="-3556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  <a:defRPr/>
            </a:lvl5pPr>
            <a:lvl6pPr indent="-355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■"/>
              <a:defRPr/>
            </a:lvl6pPr>
            <a:lvl7pPr indent="-355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  <a:defRPr/>
            </a:lvl7pPr>
            <a:lvl8pPr indent="-355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  <a:defRPr/>
            </a:lvl8pPr>
            <a:lvl9pPr indent="-355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■"/>
              <a:defRPr/>
            </a:lvl9pPr>
          </a:lstStyle>
          <a:p/>
        </p:txBody>
      </p:sp>
      <p:sp>
        <p:nvSpPr>
          <p:cNvPr id="22" name="Google Shape;22;p53"/>
          <p:cNvSpPr txBox="1"/>
          <p:nvPr>
            <p:ph idx="12" type="sldNum"/>
          </p:nvPr>
        </p:nvSpPr>
        <p:spPr>
          <a:xfrm>
            <a:off x="11390969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, texto y objetos" type="txAndObj">
  <p:cSld name="TEXT_AND_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7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67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67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6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6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6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7" name="Google Shape;37;p5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5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5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5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5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9" name="Google Shape;49;p5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5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5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5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5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5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5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5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5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5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2" name="Google Shape;62;p5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5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4" name="Google Shape;64;p5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5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5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5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5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5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5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6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6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6" name="Google Shape;76;p6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7" name="Google Shape;77;p6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6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6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6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6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6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4" name="Google Shape;84;p6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6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6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6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0" name="Google Shape;90;p6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6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6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6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6" name="Google Shape;96;p6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6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6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5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5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5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5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Relationship Id="rId4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7.png"/><Relationship Id="rId5" Type="http://schemas.openxmlformats.org/officeDocument/2006/relationships/image" Target="../media/image10.png"/><Relationship Id="rId6" Type="http://schemas.openxmlformats.org/officeDocument/2006/relationships/image" Target="../media/image3.png"/><Relationship Id="rId7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2.jpg"/><Relationship Id="rId5" Type="http://schemas.openxmlformats.org/officeDocument/2006/relationships/image" Target="../media/image1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vmlDrawing" Target="../drawings/vmlDrawing1.vml"/><Relationship Id="rId4" Type="http://schemas.openxmlformats.org/officeDocument/2006/relationships/oleObject" Target="../embeddings/oleObject1.bin"/><Relationship Id="rId5" Type="http://schemas.openxmlformats.org/officeDocument/2006/relationships/oleObject" Target="../embeddings/oleObject1.bin"/><Relationship Id="rId6" Type="http://schemas.openxmlformats.org/officeDocument/2006/relationships/image" Target="../media/image1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4.png"/><Relationship Id="rId4" Type="http://schemas.openxmlformats.org/officeDocument/2006/relationships/image" Target="../media/image2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3.png"/><Relationship Id="rId4" Type="http://schemas.openxmlformats.org/officeDocument/2006/relationships/image" Target="../media/image26.jpg"/><Relationship Id="rId5" Type="http://schemas.openxmlformats.org/officeDocument/2006/relationships/image" Target="../media/image29.png"/><Relationship Id="rId6" Type="http://schemas.openxmlformats.org/officeDocument/2006/relationships/image" Target="../media/image2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3.png"/><Relationship Id="rId4" Type="http://schemas.openxmlformats.org/officeDocument/2006/relationships/image" Target="../media/image18.png"/><Relationship Id="rId5" Type="http://schemas.openxmlformats.org/officeDocument/2006/relationships/image" Target="../media/image16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3.png"/><Relationship Id="rId4" Type="http://schemas.openxmlformats.org/officeDocument/2006/relationships/image" Target="../media/image30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3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3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3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3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3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3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3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3.png"/><Relationship Id="rId4" Type="http://schemas.openxmlformats.org/officeDocument/2006/relationships/image" Target="../media/image22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3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3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3.png"/><Relationship Id="rId4" Type="http://schemas.openxmlformats.org/officeDocument/2006/relationships/image" Target="../media/image28.png"/><Relationship Id="rId5" Type="http://schemas.openxmlformats.org/officeDocument/2006/relationships/image" Target="../media/image20.png"/><Relationship Id="rId6" Type="http://schemas.openxmlformats.org/officeDocument/2006/relationships/image" Target="../media/image24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3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3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3.png"/><Relationship Id="rId4" Type="http://schemas.openxmlformats.org/officeDocument/2006/relationships/image" Target="../media/image32.jpg"/><Relationship Id="rId5" Type="http://schemas.openxmlformats.org/officeDocument/2006/relationships/image" Target="../media/image34.jp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3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3.png"/><Relationship Id="rId4" Type="http://schemas.openxmlformats.org/officeDocument/2006/relationships/image" Target="../media/image27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3.png"/><Relationship Id="rId4" Type="http://schemas.openxmlformats.org/officeDocument/2006/relationships/image" Target="../media/image31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3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9300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"/>
          <p:cNvSpPr txBox="1"/>
          <p:nvPr>
            <p:ph idx="12" type="sldNum"/>
          </p:nvPr>
        </p:nvSpPr>
        <p:spPr>
          <a:xfrm>
            <a:off x="11390969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Lucida Sans"/>
              <a:buNone/>
            </a:pPr>
            <a:fld id="{00000000-1234-1234-1234-123412341234}" type="slidenum">
              <a:rPr b="0" i="0" lang="es-CL" sz="2000" u="none" cap="none" strike="noStrike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rPr>
              <a:t>‹#›</a:t>
            </a:fld>
            <a:endParaRPr b="0" i="0" sz="2000" u="none" cap="none" strike="noStrike">
              <a:solidFill>
                <a:srgbClr val="FFFFFF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104" name="Google Shape;10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79280" y="132951"/>
            <a:ext cx="2116765" cy="1058383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"/>
          <p:cNvSpPr txBox="1"/>
          <p:nvPr/>
        </p:nvSpPr>
        <p:spPr>
          <a:xfrm>
            <a:off x="4567397" y="5237922"/>
            <a:ext cx="7445742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Karla"/>
              <a:buNone/>
            </a:pPr>
            <a:r>
              <a:rPr b="1" i="0" lang="es-CL" sz="6000" u="none" cap="none" strike="noStrike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Estequiometría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6" name="Google Shape;106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9058" y="1908675"/>
            <a:ext cx="6400800" cy="28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9300">
            <a:alpha val="54509"/>
          </a:srgbClr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/>
          <p:cNvSpPr txBox="1"/>
          <p:nvPr>
            <p:ph idx="12" type="sldNum"/>
          </p:nvPr>
        </p:nvSpPr>
        <p:spPr>
          <a:xfrm>
            <a:off x="11390969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CL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2" name="Google Shape;11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79280" y="132951"/>
            <a:ext cx="2116765" cy="1058383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"/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FF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14" name="Google Shape;114;p2"/>
          <p:cNvSpPr/>
          <p:nvPr/>
        </p:nvSpPr>
        <p:spPr>
          <a:xfrm>
            <a:off x="176870" y="2595150"/>
            <a:ext cx="10107256" cy="14388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2F92"/>
              </a:buClr>
              <a:buSzPts val="2000"/>
              <a:buFont typeface="Lucida Sans"/>
              <a:buNone/>
            </a:pPr>
            <a:r>
              <a:rPr b="1" i="1" lang="es-CL" sz="2000" u="none" cap="none" strike="noStrike">
                <a:solidFill>
                  <a:srgbClr val="FF2F92"/>
                </a:solidFill>
                <a:latin typeface="Lucida Sans"/>
                <a:ea typeface="Lucida Sans"/>
                <a:cs typeface="Lucida Sans"/>
                <a:sym typeface="Lucida Sans"/>
              </a:rPr>
              <a:t>Mol</a:t>
            </a:r>
            <a:r>
              <a:rPr b="1" i="1" lang="es-CL" sz="2000" u="none" cap="none" strike="noStrike">
                <a:solidFill>
                  <a:srgbClr val="FF0000"/>
                </a:solidFill>
                <a:latin typeface="Lucida Sans"/>
                <a:ea typeface="Lucida Sans"/>
                <a:cs typeface="Lucida Sans"/>
                <a:sym typeface="Lucida Sans"/>
              </a:rPr>
              <a:t> </a:t>
            </a:r>
            <a:r>
              <a:rPr b="1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: Es la cantidad de una sustancia que contiene tantas entidades elementales (átomos, moléculas u otras partículas) como átomos hay exactamente en 12 g del isótopo de </a:t>
            </a:r>
            <a:r>
              <a:rPr b="1" baseline="3000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12</a:t>
            </a:r>
            <a:r>
              <a:rPr b="1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5" name="Google Shape;115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48829" y="4143448"/>
            <a:ext cx="3242140" cy="2407502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"/>
          <p:cNvSpPr/>
          <p:nvPr/>
        </p:nvSpPr>
        <p:spPr>
          <a:xfrm>
            <a:off x="339689" y="4498936"/>
            <a:ext cx="7480477" cy="14388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2F92"/>
              </a:buClr>
              <a:buSzPts val="2000"/>
              <a:buFont typeface="Lucida Sans"/>
              <a:buNone/>
            </a:pPr>
            <a:r>
              <a:rPr b="0" i="0" lang="es-CL" sz="2000" u="none" cap="none" strike="noStrike">
                <a:solidFill>
                  <a:srgbClr val="FF2F92"/>
                </a:solidFill>
                <a:latin typeface="Lucida Sans"/>
                <a:ea typeface="Lucida Sans"/>
                <a:cs typeface="Lucida Sans"/>
                <a:sym typeface="Lucida Sans"/>
              </a:rPr>
              <a:t>Un mol de varios elementos comunes. Carbono (polvo negro de carbón), azufre (polvo amarillo), hierro (clavos), alambres de cobre, y mercurio (metal líquido brillante).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2"/>
          <p:cNvSpPr/>
          <p:nvPr/>
        </p:nvSpPr>
        <p:spPr>
          <a:xfrm>
            <a:off x="176870" y="1811590"/>
            <a:ext cx="9322778" cy="5155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Los químicos miden a los átomos y a las moléculas en </a:t>
            </a:r>
            <a:r>
              <a:rPr b="1" i="1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moles</a:t>
            </a:r>
            <a:r>
              <a:rPr b="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2"/>
          <p:cNvSpPr/>
          <p:nvPr/>
        </p:nvSpPr>
        <p:spPr>
          <a:xfrm>
            <a:off x="128565" y="105989"/>
            <a:ext cx="9119115" cy="14388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Debido a que los átomos tienen masas tan pequeñas, no es posible diseñar una balanza para pesarlos mediante unidades calibradas de masa atómica. </a:t>
            </a:r>
            <a:endParaRPr b="0" i="0" sz="2000" u="none" cap="none" strike="noStrike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9300">
            <a:alpha val="54509"/>
          </a:srgbClr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"/>
          <p:cNvSpPr txBox="1"/>
          <p:nvPr>
            <p:ph idx="12" type="sldNum"/>
          </p:nvPr>
        </p:nvSpPr>
        <p:spPr>
          <a:xfrm>
            <a:off x="11390969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CL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4" name="Google Shape;12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79280" y="132951"/>
            <a:ext cx="2116765" cy="1058383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3"/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FF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26" name="Google Shape;126;p3"/>
          <p:cNvSpPr/>
          <p:nvPr/>
        </p:nvSpPr>
        <p:spPr>
          <a:xfrm>
            <a:off x="7179666" y="4936238"/>
            <a:ext cx="3515070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1400"/>
              <a:buFont typeface="Lucida Sans"/>
              <a:buNone/>
            </a:pPr>
            <a:r>
              <a:rPr b="0" i="0" lang="es-CL" sz="14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Lorenzo Romano Amedeo Carlo Avogadro di Quaregua e di Cerreto (</a:t>
            </a:r>
            <a:r>
              <a:rPr b="1" i="0" lang="es-CL" sz="14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1776-1856</a:t>
            </a:r>
            <a:r>
              <a:rPr b="0" i="0" lang="es-CL" sz="14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). Físico y matemático italiano.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3"/>
          <p:cNvSpPr/>
          <p:nvPr/>
        </p:nvSpPr>
        <p:spPr>
          <a:xfrm>
            <a:off x="351825" y="1687739"/>
            <a:ext cx="6961239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2400"/>
              <a:buFont typeface="Lucida Sans"/>
              <a:buNone/>
            </a:pPr>
            <a:r>
              <a:rPr b="0" i="0" lang="es-CL" sz="24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Un</a:t>
            </a:r>
            <a:r>
              <a:rPr b="0" i="0" lang="es-CL" sz="2400" u="none" cap="none" strike="noStrike">
                <a:solidFill>
                  <a:srgbClr val="FF2F92"/>
                </a:solidFill>
                <a:latin typeface="Lucida Sans"/>
                <a:ea typeface="Lucida Sans"/>
                <a:cs typeface="Lucida Sans"/>
                <a:sym typeface="Lucida Sans"/>
              </a:rPr>
              <a:t> </a:t>
            </a:r>
            <a:r>
              <a:rPr b="1" i="0" lang="es-CL" sz="2400" u="none" cap="none" strike="noStrike">
                <a:solidFill>
                  <a:srgbClr val="FF2F92"/>
                </a:solidFill>
                <a:latin typeface="Lucida Sans"/>
                <a:ea typeface="Lucida Sans"/>
                <a:cs typeface="Lucida Sans"/>
                <a:sym typeface="Lucida Sans"/>
              </a:rPr>
              <a:t>mol</a:t>
            </a:r>
            <a:r>
              <a:rPr b="0" i="0" lang="es-CL" sz="2400" u="none" cap="none" strike="noStrike">
                <a:solidFill>
                  <a:srgbClr val="FF2F92"/>
                </a:solidFill>
                <a:latin typeface="Lucida Sans"/>
                <a:ea typeface="Lucida Sans"/>
                <a:cs typeface="Lucida Sans"/>
                <a:sym typeface="Lucida Sans"/>
              </a:rPr>
              <a:t> </a:t>
            </a:r>
            <a:r>
              <a:rPr b="0" i="0" lang="es-CL" sz="24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es aquella cantidad de sustancia que contiene </a:t>
            </a:r>
            <a:r>
              <a:rPr b="1" i="0" lang="es-CL" sz="24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6,022 x 10</a:t>
            </a:r>
            <a:r>
              <a:rPr b="1" baseline="30000" i="0" lang="es-CL" sz="24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23</a:t>
            </a:r>
            <a:r>
              <a:rPr b="1" i="0" lang="es-CL" sz="24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 </a:t>
            </a:r>
            <a:r>
              <a:rPr b="0" i="0" lang="es-CL" sz="24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entidades elementales.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28" name="Google Shape;128;p3"/>
          <p:cNvSpPr/>
          <p:nvPr/>
        </p:nvSpPr>
        <p:spPr>
          <a:xfrm>
            <a:off x="2575542" y="398928"/>
            <a:ext cx="5330501" cy="646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ts val="2400"/>
              <a:buFont typeface="Lucida Sans"/>
              <a:buNone/>
            </a:pPr>
            <a:r>
              <a:rPr b="1" i="0" lang="es-CL" sz="24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NÚMERO DE AVOGADRO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9" name="Google Shape;129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08337" y="1422005"/>
            <a:ext cx="3289219" cy="32892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9300">
            <a:alpha val="54509"/>
          </a:srgbClr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"/>
          <p:cNvSpPr txBox="1"/>
          <p:nvPr>
            <p:ph idx="12" type="sldNum"/>
          </p:nvPr>
        </p:nvSpPr>
        <p:spPr>
          <a:xfrm>
            <a:off x="11390969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CL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5" name="Google Shape;13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79280" y="132951"/>
            <a:ext cx="2116765" cy="1058383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4"/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FF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137" name="Google Shape;137;p4"/>
          <p:cNvPicPr preferRelativeResize="0"/>
          <p:nvPr/>
        </p:nvPicPr>
        <p:blipFill rotWithShape="1">
          <a:blip r:embed="rId4">
            <a:alphaModFix/>
          </a:blip>
          <a:srcRect b="3675" l="0" r="1923" t="2688"/>
          <a:stretch/>
        </p:blipFill>
        <p:spPr>
          <a:xfrm>
            <a:off x="663173" y="968604"/>
            <a:ext cx="8621948" cy="49207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9300">
            <a:alpha val="54509"/>
          </a:srgbClr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"/>
          <p:cNvSpPr txBox="1"/>
          <p:nvPr>
            <p:ph idx="12" type="sldNum"/>
          </p:nvPr>
        </p:nvSpPr>
        <p:spPr>
          <a:xfrm>
            <a:off x="11390969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CL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3" name="Google Shape;14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79280" y="132951"/>
            <a:ext cx="2116765" cy="1058383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5"/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FF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428767" y="406504"/>
            <a:ext cx="8660641" cy="22467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2F92"/>
              </a:buClr>
              <a:buSzPts val="3200"/>
              <a:buFont typeface="Lucida Sans"/>
              <a:buNone/>
            </a:pPr>
            <a:r>
              <a:rPr b="1" i="1" lang="es-CL" sz="3200" u="none" cap="none" strike="noStrike">
                <a:solidFill>
                  <a:srgbClr val="FF2F92"/>
                </a:solidFill>
                <a:latin typeface="Lucida Sans"/>
                <a:ea typeface="Lucida Sans"/>
                <a:cs typeface="Lucida Sans"/>
                <a:sym typeface="Lucida Sans"/>
              </a:rPr>
              <a:t>masa molar (M.M) </a:t>
            </a:r>
            <a:r>
              <a:rPr b="1" i="0" lang="es-CL" sz="32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:</a:t>
            </a:r>
            <a:r>
              <a:rPr b="1" i="0" lang="es-CL" sz="3200" u="none" cap="none" strike="noStrike">
                <a:solidFill>
                  <a:srgbClr val="FF2F92"/>
                </a:solidFill>
                <a:latin typeface="Lucida Sans"/>
                <a:ea typeface="Lucida Sans"/>
                <a:cs typeface="Lucida Sans"/>
                <a:sym typeface="Lucida Sans"/>
              </a:rPr>
              <a:t> </a:t>
            </a:r>
            <a:r>
              <a:rPr b="1" i="0" lang="es-CL" sz="32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Es la suma de las masas atómicas en una molécula o compuesto.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6" name="Google Shape;14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9812" y="2760994"/>
            <a:ext cx="3905160" cy="1563333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5"/>
          <p:cNvSpPr/>
          <p:nvPr/>
        </p:nvSpPr>
        <p:spPr>
          <a:xfrm>
            <a:off x="797385" y="4324327"/>
            <a:ext cx="7931692" cy="22467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ts val="2800"/>
              <a:buFont typeface="Lucida Sans"/>
              <a:buNone/>
            </a:pPr>
            <a:r>
              <a:rPr b="1" i="0" lang="es-CL" sz="28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A</a:t>
            </a:r>
            <a:r>
              <a:rPr b="1" baseline="-25000" i="0" lang="es-CL" sz="28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x</a:t>
            </a:r>
            <a:r>
              <a:rPr b="1" i="0" lang="es-CL" sz="28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B</a:t>
            </a:r>
            <a:r>
              <a:rPr b="1" baseline="-25000" i="0" lang="es-CL" sz="28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y</a:t>
            </a:r>
            <a:r>
              <a:rPr b="1" i="0" lang="es-CL" sz="28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C</a:t>
            </a:r>
            <a:r>
              <a:rPr b="1" baseline="-25000" i="0" lang="es-CL" sz="28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69B5"/>
              </a:buClr>
              <a:buSzPts val="2800"/>
              <a:buFont typeface="Lucida Sans"/>
              <a:buNone/>
            </a:pPr>
            <a:r>
              <a:rPr b="0" i="0" lang="es-CL" sz="2800" u="none" cap="none" strike="noStrike">
                <a:solidFill>
                  <a:srgbClr val="1769B5"/>
                </a:solidFill>
                <a:latin typeface="Lucida Sans"/>
                <a:ea typeface="Lucida Sans"/>
                <a:cs typeface="Lucida Sans"/>
                <a:sym typeface="Lucida Sans"/>
              </a:rPr>
              <a:t>La masa molar sería: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80"/>
              </a:buClr>
              <a:buSzPts val="2800"/>
              <a:buFont typeface="Lucida Sans"/>
              <a:buNone/>
            </a:pPr>
            <a:r>
              <a:rPr b="0" i="0" lang="es-CL" sz="2800" u="none" cap="none" strike="noStrike">
                <a:solidFill>
                  <a:srgbClr val="FF0080"/>
                </a:solidFill>
                <a:latin typeface="Lucida Sans"/>
                <a:ea typeface="Lucida Sans"/>
                <a:cs typeface="Lucida Sans"/>
                <a:sym typeface="Lucida Sans"/>
              </a:rPr>
              <a:t>M.M = X * P.A (A) + Y * P.A (B) + Z * P.A (C)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9300">
            <a:alpha val="54509"/>
          </a:srgbClr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"/>
          <p:cNvSpPr txBox="1"/>
          <p:nvPr>
            <p:ph idx="12" type="sldNum"/>
          </p:nvPr>
        </p:nvSpPr>
        <p:spPr>
          <a:xfrm>
            <a:off x="11390969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Lucida Sans"/>
              <a:buNone/>
            </a:pPr>
            <a:fld id="{00000000-1234-1234-1234-123412341234}" type="slidenum">
              <a:rPr b="0" i="0" lang="es-CL" sz="1200" u="none" cap="none" strike="noStrike">
                <a:solidFill>
                  <a:srgbClr val="888888"/>
                </a:solidFill>
                <a:latin typeface="Lucida Sans"/>
                <a:ea typeface="Lucida Sans"/>
                <a:cs typeface="Lucida Sans"/>
                <a:sym typeface="Lucida Sans"/>
              </a:rPr>
              <a:t>‹#›</a:t>
            </a:fld>
            <a:endParaRPr b="0" i="0" sz="1200" u="none" cap="none" strike="noStrike">
              <a:solidFill>
                <a:srgbClr val="888888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153" name="Google Shape;15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79280" y="132951"/>
            <a:ext cx="2116765" cy="1058383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6"/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FF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55" name="Google Shape;155;p6"/>
          <p:cNvSpPr txBox="1"/>
          <p:nvPr/>
        </p:nvSpPr>
        <p:spPr>
          <a:xfrm>
            <a:off x="688249" y="383244"/>
            <a:ext cx="8374672" cy="12618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ts val="2800"/>
              <a:buFont typeface="Lucida Sans"/>
              <a:buNone/>
            </a:pPr>
            <a:r>
              <a:rPr b="1" i="0" lang="es-CL" sz="28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Ejemplo: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1769B5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69B5"/>
              </a:buClr>
              <a:buSzPts val="2400"/>
              <a:buFont typeface="Lucida Sans"/>
              <a:buNone/>
            </a:pPr>
            <a:r>
              <a:rPr b="0" i="0" lang="es-CL" sz="2400" u="none" cap="none" strike="noStrike">
                <a:solidFill>
                  <a:srgbClr val="1769B5"/>
                </a:solidFill>
                <a:latin typeface="Lucida Sans"/>
                <a:ea typeface="Lucida Sans"/>
                <a:cs typeface="Lucida Sans"/>
                <a:sym typeface="Lucida Sans"/>
              </a:rPr>
              <a:t>¿Cuál es la Masa Molar (MM) del H</a:t>
            </a:r>
            <a:r>
              <a:rPr b="0" baseline="-25000" i="0" lang="es-CL" sz="2400" u="none" cap="none" strike="noStrike">
                <a:solidFill>
                  <a:srgbClr val="1769B5"/>
                </a:solidFill>
                <a:latin typeface="Lucida Sans"/>
                <a:ea typeface="Lucida Sans"/>
                <a:cs typeface="Lucida Sans"/>
                <a:sym typeface="Lucida Sans"/>
              </a:rPr>
              <a:t>2</a:t>
            </a:r>
            <a:r>
              <a:rPr b="0" i="0" lang="es-CL" sz="2400" u="none" cap="none" strike="noStrike">
                <a:solidFill>
                  <a:srgbClr val="1769B5"/>
                </a:solidFill>
                <a:latin typeface="Lucida Sans"/>
                <a:ea typeface="Lucida Sans"/>
                <a:cs typeface="Lucida Sans"/>
                <a:sym typeface="Lucida Sans"/>
              </a:rPr>
              <a:t>SO</a:t>
            </a:r>
            <a:r>
              <a:rPr b="0" baseline="-25000" i="0" lang="es-CL" sz="2400" u="none" cap="none" strike="noStrike">
                <a:solidFill>
                  <a:srgbClr val="1769B5"/>
                </a:solidFill>
                <a:latin typeface="Lucida Sans"/>
                <a:ea typeface="Lucida Sans"/>
                <a:cs typeface="Lucida Sans"/>
                <a:sym typeface="Lucida Sans"/>
              </a:rPr>
              <a:t>4</a:t>
            </a:r>
            <a:r>
              <a:rPr b="0" i="0" lang="es-CL" sz="2400" u="none" cap="none" strike="noStrike">
                <a:solidFill>
                  <a:srgbClr val="1769B5"/>
                </a:solidFill>
                <a:latin typeface="Lucida Sans"/>
                <a:ea typeface="Lucida Sans"/>
                <a:cs typeface="Lucida Sans"/>
                <a:sym typeface="Lucida Sans"/>
              </a:rPr>
              <a:t>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56" name="Google Shape;156;p6"/>
          <p:cNvGraphicFramePr/>
          <p:nvPr/>
        </p:nvGraphicFramePr>
        <p:xfrm>
          <a:off x="615607" y="239091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{E34E2CFE-9B3B-4503-910E-54FB47391BB1}</a:tableStyleId>
              </a:tblPr>
              <a:tblGrid>
                <a:gridCol w="1664200"/>
                <a:gridCol w="2318400"/>
                <a:gridCol w="2570900"/>
                <a:gridCol w="2261000"/>
              </a:tblGrid>
              <a:tr h="1000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CL" sz="2400" u="none" cap="none" strike="noStrike">
                          <a:solidFill>
                            <a:srgbClr val="008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Elemento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4F81B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F81B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F81B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4F81B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CL" sz="2400" u="none" cap="none" strike="noStrike">
                          <a:solidFill>
                            <a:srgbClr val="008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Nº de átomos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4F81B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F81B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F81B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4F81B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CL" sz="2400" u="none" cap="none" strike="noStrike">
                          <a:solidFill>
                            <a:srgbClr val="008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Masa Elemental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CL" sz="2400" u="none" cap="none" strike="noStrike">
                          <a:solidFill>
                            <a:srgbClr val="008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(g/mol)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4F81B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F81B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F81B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4F81B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CL" sz="2400" u="none" cap="none" strike="noStrike">
                          <a:solidFill>
                            <a:srgbClr val="008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Masa Molar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CL" sz="2400" u="none" cap="none" strike="noStrike">
                          <a:solidFill>
                            <a:srgbClr val="008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(g/mol)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4F81B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F81B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F81B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4F81B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0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CL" sz="2400" u="none" cap="none" strike="noStrike">
                          <a:solidFill>
                            <a:srgbClr val="008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4F81B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F81B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4F81B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F81B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CL" sz="2400" u="none" cap="none" strike="noStrike">
                          <a:solidFill>
                            <a:srgbClr val="008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4F81B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F81B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4F81B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F81B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CL" sz="2400" u="none" cap="none" strike="noStrike">
                          <a:solidFill>
                            <a:srgbClr val="008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4F81B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F81B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4F81B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F81B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CL" sz="2400" u="none" cap="none" strike="noStrike">
                          <a:solidFill>
                            <a:srgbClr val="008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4F81B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F81B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4F81B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F81B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>
                        <a:alpha val="20000"/>
                      </a:srgbClr>
                    </a:solidFill>
                  </a:tcPr>
                </a:tc>
              </a:tr>
              <a:tr h="570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CL" sz="2400" u="none" cap="none" strike="noStrike">
                          <a:solidFill>
                            <a:srgbClr val="008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4F81B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F81B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F81B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F81B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CL" sz="2400" u="none" cap="none" strike="noStrike">
                          <a:solidFill>
                            <a:srgbClr val="008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4F81B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F81B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F81B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F81B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CL" sz="2400" u="none" cap="none" strike="noStrike">
                          <a:solidFill>
                            <a:srgbClr val="008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4F81B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F81B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F81B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F81B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CL" sz="2400" u="none" cap="none" strike="noStrike">
                          <a:solidFill>
                            <a:srgbClr val="008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4F81B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F81B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F81B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F81B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0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CL" sz="2400" u="none" cap="none" strike="noStrike">
                          <a:solidFill>
                            <a:srgbClr val="008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4F81B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F81B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F81B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F81B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CL" sz="2400" u="none" cap="none" strike="noStrike">
                          <a:solidFill>
                            <a:srgbClr val="008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4F81B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F81B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F81B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F81B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CL" sz="2400" u="none" cap="none" strike="noStrike">
                          <a:solidFill>
                            <a:srgbClr val="008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4F81B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F81B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F81B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F81B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CL" sz="2400" u="none" cap="none" strike="noStrike">
                          <a:solidFill>
                            <a:srgbClr val="008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4F81B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F81B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F81B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F81B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>
                        <a:alpha val="2000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7" name="Google Shape;157;p6"/>
          <p:cNvGraphicFramePr/>
          <p:nvPr/>
        </p:nvGraphicFramePr>
        <p:xfrm>
          <a:off x="7733167" y="542916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{E34E2CFE-9B3B-4503-910E-54FB47391BB1}</a:tableStyleId>
              </a:tblPr>
              <a:tblGrid>
                <a:gridCol w="1329750"/>
              </a:tblGrid>
              <a:tr h="433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s-CL" sz="2400" u="none" cap="none" strike="noStrike">
                          <a:solidFill>
                            <a:srgbClr val="FF008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98 g/mol</a:t>
                      </a:r>
                      <a:endParaRPr b="1" sz="2400" u="none" cap="none" strike="noStrike">
                        <a:solidFill>
                          <a:srgbClr val="FF008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CCE4"/>
                    </a:solidFill>
                  </a:tcPr>
                </a:tc>
              </a:tr>
            </a:tbl>
          </a:graphicData>
        </a:graphic>
      </p:graphicFrame>
      <p:sp>
        <p:nvSpPr>
          <p:cNvPr id="158" name="Google Shape;158;p6"/>
          <p:cNvSpPr/>
          <p:nvPr/>
        </p:nvSpPr>
        <p:spPr>
          <a:xfrm>
            <a:off x="2896098" y="5476655"/>
            <a:ext cx="551638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2400"/>
              <a:buFont typeface="Lucida Sans"/>
              <a:buNone/>
            </a:pPr>
            <a:r>
              <a:rPr b="1" i="0" lang="es-CL" sz="24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Masa Molar (MM) del H</a:t>
            </a:r>
            <a:r>
              <a:rPr b="1" baseline="-25000" i="0" lang="es-CL" sz="24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2</a:t>
            </a:r>
            <a:r>
              <a:rPr b="1" i="0" lang="es-CL" sz="24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SO</a:t>
            </a:r>
            <a:r>
              <a:rPr b="1" baseline="-25000" i="0" lang="es-CL" sz="24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4 </a:t>
            </a:r>
            <a:r>
              <a:rPr b="1" i="0" lang="es-CL" sz="24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 </a:t>
            </a:r>
            <a:r>
              <a:rPr b="0" i="0" lang="es-CL" sz="24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= </a:t>
            </a:r>
            <a:endParaRPr b="0" i="0" sz="1800" u="none" cap="none" strike="noStrike">
              <a:solidFill>
                <a:srgbClr val="2E75B5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9300">
            <a:alpha val="54509"/>
          </a:srgbClr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"/>
          <p:cNvSpPr txBox="1"/>
          <p:nvPr>
            <p:ph idx="12" type="sldNum"/>
          </p:nvPr>
        </p:nvSpPr>
        <p:spPr>
          <a:xfrm>
            <a:off x="11390969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Lucida Sans"/>
              <a:buNone/>
            </a:pPr>
            <a:fld id="{00000000-1234-1234-1234-123412341234}" type="slidenum">
              <a:rPr b="0" i="0" lang="es-CL" sz="1200" u="none" cap="none" strike="noStrike">
                <a:solidFill>
                  <a:srgbClr val="888888"/>
                </a:solidFill>
                <a:latin typeface="Lucida Sans"/>
                <a:ea typeface="Lucida Sans"/>
                <a:cs typeface="Lucida Sans"/>
                <a:sym typeface="Lucida Sans"/>
              </a:rPr>
              <a:t>‹#›</a:t>
            </a:fld>
            <a:endParaRPr b="0" i="0" sz="1200" u="none" cap="none" strike="noStrike">
              <a:solidFill>
                <a:srgbClr val="888888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164" name="Google Shape;16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79280" y="132951"/>
            <a:ext cx="2116765" cy="1058383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7"/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FF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66" name="Google Shape;166;p7"/>
          <p:cNvSpPr txBox="1"/>
          <p:nvPr/>
        </p:nvSpPr>
        <p:spPr>
          <a:xfrm>
            <a:off x="156026" y="211885"/>
            <a:ext cx="7408946" cy="584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ts val="3200"/>
              <a:buFont typeface="Lucida Sans"/>
              <a:buNone/>
            </a:pPr>
            <a:r>
              <a:rPr b="1" i="0" lang="es-CL" sz="32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Resumen Fórmulas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7"/>
          <p:cNvSpPr txBox="1"/>
          <p:nvPr/>
        </p:nvSpPr>
        <p:spPr>
          <a:xfrm>
            <a:off x="382542" y="1520280"/>
            <a:ext cx="4741684" cy="111248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10341" l="-6415" r="0" t="-114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8" name="Google Shape;168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66094" y="1524504"/>
            <a:ext cx="3598747" cy="129211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9" name="Google Shape;169;p7"/>
          <p:cNvGrpSpPr/>
          <p:nvPr/>
        </p:nvGrpSpPr>
        <p:grpSpPr>
          <a:xfrm>
            <a:off x="1255161" y="3113812"/>
            <a:ext cx="9239374" cy="991892"/>
            <a:chOff x="2009635" y="1827725"/>
            <a:chExt cx="8029383" cy="991892"/>
          </a:xfrm>
        </p:grpSpPr>
        <p:sp>
          <p:nvSpPr>
            <p:cNvPr id="170" name="Google Shape;170;p7"/>
            <p:cNvSpPr/>
            <p:nvPr/>
          </p:nvSpPr>
          <p:spPr>
            <a:xfrm>
              <a:off x="2009635" y="1827725"/>
              <a:ext cx="8029383" cy="991892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8000"/>
                </a:buClr>
                <a:buSzPts val="2800"/>
                <a:buFont typeface="Lucida Sans"/>
                <a:buNone/>
              </a:pPr>
              <a:r>
                <a:rPr b="1" i="0" lang="es-CL" sz="2800" u="none" cap="none" strike="noStrike">
                  <a:solidFill>
                    <a:srgbClr val="008000"/>
                  </a:solidFill>
                  <a:latin typeface="Lucida Sans"/>
                  <a:ea typeface="Lucida Sans"/>
                  <a:cs typeface="Lucida Sans"/>
                  <a:sym typeface="Lucida Sans"/>
                </a:rPr>
                <a:t>1 mol                     </a:t>
              </a:r>
              <a:r>
                <a:rPr b="1" i="0" lang="es-CL" sz="2800" u="none" cap="none" strike="noStrike">
                  <a:solidFill>
                    <a:srgbClr val="400080"/>
                  </a:solidFill>
                  <a:latin typeface="Lucida Sans"/>
                  <a:ea typeface="Lucida Sans"/>
                  <a:cs typeface="Lucida Sans"/>
                  <a:sym typeface="Lucida Sans"/>
                </a:rPr>
                <a:t>6,022 x 10</a:t>
              </a:r>
              <a:r>
                <a:rPr b="1" baseline="30000" i="0" lang="es-CL" sz="2800" u="none" cap="none" strike="noStrike">
                  <a:solidFill>
                    <a:srgbClr val="400080"/>
                  </a:solidFill>
                  <a:latin typeface="Lucida Sans"/>
                  <a:ea typeface="Lucida Sans"/>
                  <a:cs typeface="Lucida Sans"/>
                  <a:sym typeface="Lucida Sans"/>
                </a:rPr>
                <a:t>23</a:t>
              </a:r>
              <a:r>
                <a:rPr b="1" i="0" lang="es-CL" sz="2800" u="none" cap="none" strike="noStrike">
                  <a:solidFill>
                    <a:srgbClr val="400080"/>
                  </a:solidFill>
                  <a:latin typeface="Lucida Sans"/>
                  <a:ea typeface="Lucida Sans"/>
                  <a:cs typeface="Lucida Sans"/>
                  <a:sym typeface="Lucida Sans"/>
                </a:rPr>
                <a:t> átomos,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8000"/>
                </a:buClr>
                <a:buSzPts val="2800"/>
                <a:buFont typeface="Lucida Sans"/>
                <a:buNone/>
              </a:pPr>
              <a:r>
                <a:rPr b="1" i="0" lang="es-CL" sz="2800" u="none" cap="none" strike="noStrike">
                  <a:solidFill>
                    <a:srgbClr val="008000"/>
                  </a:solidFill>
                  <a:latin typeface="Lucida Sans"/>
                  <a:ea typeface="Lucida Sans"/>
                  <a:cs typeface="Lucida Sans"/>
                  <a:sym typeface="Lucida Sans"/>
                </a:rPr>
                <a:t>   1 mol                     </a:t>
              </a:r>
              <a:r>
                <a:rPr b="1" i="0" lang="es-CL" sz="2800" u="none" cap="none" strike="noStrike">
                  <a:solidFill>
                    <a:srgbClr val="400080"/>
                  </a:solidFill>
                  <a:latin typeface="Lucida Sans"/>
                  <a:ea typeface="Lucida Sans"/>
                  <a:cs typeface="Lucida Sans"/>
                  <a:sym typeface="Lucida Sans"/>
                </a:rPr>
                <a:t>6,022 x 10</a:t>
              </a:r>
              <a:r>
                <a:rPr b="1" baseline="30000" i="0" lang="es-CL" sz="2800" u="none" cap="none" strike="noStrike">
                  <a:solidFill>
                    <a:srgbClr val="400080"/>
                  </a:solidFill>
                  <a:latin typeface="Lucida Sans"/>
                  <a:ea typeface="Lucida Sans"/>
                  <a:cs typeface="Lucida Sans"/>
                  <a:sym typeface="Lucida Sans"/>
                </a:rPr>
                <a:t>23</a:t>
              </a:r>
              <a:r>
                <a:rPr b="1" i="0" lang="es-CL" sz="2800" u="none" cap="none" strike="noStrike">
                  <a:solidFill>
                    <a:srgbClr val="400080"/>
                  </a:solidFill>
                  <a:latin typeface="Lucida Sans"/>
                  <a:ea typeface="Lucida Sans"/>
                  <a:cs typeface="Lucida Sans"/>
                  <a:sym typeface="Lucida Sans"/>
                </a:rPr>
                <a:t> moléculas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769B5"/>
                </a:buClr>
                <a:buSzPts val="2800"/>
                <a:buFont typeface="Lucida Sans"/>
                <a:buNone/>
              </a:pPr>
              <a:r>
                <a:rPr b="1" i="0" lang="es-CL" sz="2800" u="none" cap="none" strike="noStrike">
                  <a:solidFill>
                    <a:srgbClr val="1769B5"/>
                  </a:solidFill>
                  <a:latin typeface="Lucida Sans"/>
                  <a:ea typeface="Lucida Sans"/>
                  <a:cs typeface="Lucida Sans"/>
                  <a:sym typeface="Lucida Sans"/>
                </a:rPr>
                <a:t>                 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71" name="Google Shape;171;p7"/>
            <p:cNvCxnSpPr/>
            <p:nvPr/>
          </p:nvCxnSpPr>
          <p:spPr>
            <a:xfrm>
              <a:off x="4342402" y="1835159"/>
              <a:ext cx="1131217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pic>
          <p:nvPicPr>
            <p:cNvPr id="172" name="Google Shape;172;p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342402" y="2200327"/>
              <a:ext cx="1298561" cy="329213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73" name="Google Shape;173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32689" y="4056113"/>
            <a:ext cx="10161846" cy="15660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9300">
            <a:alpha val="54509"/>
          </a:srgbClr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"/>
          <p:cNvSpPr txBox="1"/>
          <p:nvPr>
            <p:ph idx="12" type="sldNum"/>
          </p:nvPr>
        </p:nvSpPr>
        <p:spPr>
          <a:xfrm>
            <a:off x="11390969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CL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9" name="Google Shape;17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79280" y="132951"/>
            <a:ext cx="2116765" cy="1058383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8"/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FF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245661" y="383244"/>
            <a:ext cx="8385008" cy="19774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2800"/>
              <a:buFont typeface="Lucida Sans"/>
              <a:buNone/>
            </a:pPr>
            <a:r>
              <a:rPr b="0" i="0" lang="es-CL" sz="28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 ¿Cuántos átomos de hidrógeno están presentes en 25,6 g de urea [(NH</a:t>
            </a:r>
            <a:r>
              <a:rPr b="0" baseline="-25000" i="0" lang="es-CL" sz="28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2</a:t>
            </a:r>
            <a:r>
              <a:rPr b="0" i="0" lang="es-CL" sz="28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)</a:t>
            </a:r>
            <a:r>
              <a:rPr b="0" baseline="-25000" i="0" lang="es-CL" sz="28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2</a:t>
            </a:r>
            <a:r>
              <a:rPr b="0" i="0" lang="es-CL" sz="28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CO)], si la masa molar de la urea es 60,06 g/mol</a:t>
            </a:r>
            <a:endParaRPr b="0" i="0" sz="1800" u="none" cap="none" strike="noStrike">
              <a:solidFill>
                <a:srgbClr val="2E75B5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182" name="Google Shape;182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2856959"/>
            <a:ext cx="3406855" cy="3391713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8"/>
          <p:cNvSpPr txBox="1"/>
          <p:nvPr/>
        </p:nvSpPr>
        <p:spPr>
          <a:xfrm>
            <a:off x="8275852" y="6299447"/>
            <a:ext cx="232973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s-CL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1,03x10e24 átomos 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9300">
            <a:alpha val="54509"/>
          </a:srgbClr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"/>
          <p:cNvSpPr txBox="1"/>
          <p:nvPr>
            <p:ph idx="12" type="sldNum"/>
          </p:nvPr>
        </p:nvSpPr>
        <p:spPr>
          <a:xfrm>
            <a:off x="11390969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  <p:pic>
        <p:nvPicPr>
          <p:cNvPr id="189" name="Google Shape;18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79280" y="132951"/>
            <a:ext cx="2116765" cy="1058383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9"/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FF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95954" y="0"/>
            <a:ext cx="8849767" cy="30784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113" lvl="0" marL="11113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CL" sz="3200" u="none" cap="none" strike="noStrik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	</a:t>
            </a:r>
            <a:r>
              <a:rPr b="0" i="0" lang="es-CL" sz="2000" u="none" cap="none" strike="noStrike">
                <a:solidFill>
                  <a:srgbClr val="1769B5"/>
                </a:solidFill>
                <a:latin typeface="Lucida Sans"/>
                <a:ea typeface="Lucida Sans"/>
                <a:cs typeface="Lucida Sans"/>
                <a:sym typeface="Lucida Sans"/>
              </a:rPr>
              <a:t> En las reacciones químicas los reactantes se transforman  en productos. Los átomos o iones se reagrupan para formar otras sustancias, constituyendo lo que conocemos como un cambio químico.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3" lvl="0" marL="11113" marR="0" rtl="0" algn="just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1769B5"/>
                </a:solidFill>
                <a:latin typeface="Lucida Sans"/>
                <a:ea typeface="Lucida Sans"/>
                <a:cs typeface="Lucida Sans"/>
                <a:sym typeface="Lucida Sans"/>
              </a:rPr>
              <a:t> Las ecuaciones químicas representan las reacciones químicas, describiendo todas las sustancias que participan en el proceso, sus interrelaciones y el tipo de transformación química que se produce.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3" lvl="0" marL="11113" marR="0" rtl="0" algn="just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1769B5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11113" lvl="0" marL="11113" marR="0" rtl="0" algn="just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1769B5"/>
                </a:solidFill>
                <a:latin typeface="Lucida Sans"/>
                <a:ea typeface="Lucida Sans"/>
                <a:cs typeface="Lucida Sans"/>
                <a:sym typeface="Lucida Sans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3253359" y="3863958"/>
            <a:ext cx="6736909" cy="588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2F92"/>
              </a:buClr>
              <a:buSzPts val="3000"/>
              <a:buFont typeface="Arial"/>
              <a:buNone/>
            </a:pPr>
            <a:r>
              <a:rPr b="1" i="0" lang="es-CL" sz="3000" u="none" cap="none" strike="noStrike">
                <a:solidFill>
                  <a:srgbClr val="FF2F92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1" baseline="-25000" i="0" lang="es-CL" sz="3000" u="none" cap="none" strike="noStrike">
                <a:solidFill>
                  <a:srgbClr val="FF2F9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r>
              <a:rPr b="1" i="0" lang="es-CL" sz="3000" u="none" cap="none" strike="noStrike">
                <a:solidFill>
                  <a:srgbClr val="FF2F92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b="1" baseline="-25000" i="0" lang="es-CL" sz="3000" u="none" cap="none" strike="noStrike">
                <a:solidFill>
                  <a:srgbClr val="FF2F92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r>
              <a:rPr b="1" i="0" lang="es-CL" sz="3000" u="none" cap="none" strike="noStrike">
                <a:solidFill>
                  <a:srgbClr val="FF2F92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b="1" baseline="-25000" i="0" lang="es-CL" sz="3000" u="none" cap="none" strike="noStrike">
                <a:solidFill>
                  <a:srgbClr val="FF2F9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r>
              <a:rPr b="1" i="0" lang="es-CL" sz="3000" u="none" cap="none" strike="noStrike">
                <a:solidFill>
                  <a:srgbClr val="FF2F92"/>
                </a:solidFill>
                <a:latin typeface="Calibri"/>
                <a:ea typeface="Calibri"/>
                <a:cs typeface="Calibri"/>
                <a:sym typeface="Calibri"/>
              </a:rPr>
              <a:t>  +  6O</a:t>
            </a:r>
            <a:r>
              <a:rPr b="1" baseline="-25000" i="0" lang="es-CL" sz="3000" u="none" cap="none" strike="noStrike">
                <a:solidFill>
                  <a:srgbClr val="FF2F92"/>
                </a:solidFill>
                <a:latin typeface="Calibri"/>
                <a:ea typeface="Calibri"/>
                <a:cs typeface="Calibri"/>
                <a:sym typeface="Calibri"/>
              </a:rPr>
              <a:t>2   </a:t>
            </a:r>
            <a:r>
              <a:rPr b="1" i="0" lang="es-CL" sz="3000" u="none" cap="none" strike="noStrike">
                <a:solidFill>
                  <a:srgbClr val="FF2F92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b="1" baseline="-25000" i="0" lang="es-CL" sz="3000" u="none" cap="none" strike="noStrike">
                <a:solidFill>
                  <a:srgbClr val="FF2F9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s-CL" sz="3000" u="none" cap="none" strike="noStrike">
                <a:solidFill>
                  <a:srgbClr val="FF2F92"/>
                </a:solidFill>
                <a:latin typeface="Calibri"/>
                <a:ea typeface="Calibri"/>
                <a:cs typeface="Calibri"/>
                <a:sym typeface="Calibri"/>
              </a:rPr>
              <a:t>6 H</a:t>
            </a:r>
            <a:r>
              <a:rPr b="1" baseline="-25000" i="0" lang="es-CL" sz="3000" u="none" cap="none" strike="noStrike">
                <a:solidFill>
                  <a:srgbClr val="FF2F92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i="0" lang="es-CL" sz="3000" u="none" cap="none" strike="noStrike">
                <a:solidFill>
                  <a:srgbClr val="FF2F92"/>
                </a:solidFill>
                <a:latin typeface="Calibri"/>
                <a:ea typeface="Calibri"/>
                <a:cs typeface="Calibri"/>
                <a:sym typeface="Calibri"/>
              </a:rPr>
              <a:t>O + 6 CO</a:t>
            </a:r>
            <a:r>
              <a:rPr b="1" baseline="-25000" i="0" lang="es-CL" sz="3000" u="none" cap="none" strike="noStrike">
                <a:solidFill>
                  <a:srgbClr val="FF2F92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i="0" lang="es-CL" sz="3000" u="none" cap="none" strike="noStrike">
                <a:solidFill>
                  <a:srgbClr val="FF2F92"/>
                </a:solidFill>
                <a:latin typeface="Calibri"/>
                <a:ea typeface="Calibri"/>
                <a:cs typeface="Calibri"/>
                <a:sym typeface="Calibri"/>
              </a:rPr>
              <a:t> + 38 ATP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2863416" y="5982887"/>
            <a:ext cx="6082305" cy="592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ts val="3000"/>
              <a:buFont typeface="Arial"/>
              <a:buNone/>
            </a:pPr>
            <a:r>
              <a:rPr b="1" i="0" lang="es-CL" sz="30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b="1" baseline="-25000" i="0" lang="es-CL" sz="30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1" i="0" lang="es-CL" sz="30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O + 6 CO</a:t>
            </a:r>
            <a:r>
              <a:rPr b="1" baseline="-25000" i="0" lang="es-CL" sz="30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r>
              <a:rPr b="1" i="0" lang="es-CL" sz="30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+ Luz → C</a:t>
            </a:r>
            <a:r>
              <a:rPr b="1" baseline="-25000" i="0" lang="es-CL" sz="30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r>
              <a:rPr b="1" i="0" lang="es-CL" sz="30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b="1" baseline="-25000" i="0" lang="es-CL" sz="30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r>
              <a:rPr b="1" i="0" lang="es-CL" sz="30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b="1" baseline="-25000" i="0" lang="es-CL" sz="30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1" i="0" sz="3000" u="none" cap="none" strike="noStrike">
              <a:solidFill>
                <a:srgbClr val="008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esultado de imagen para pulmones" id="194" name="Google Shape;19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7637" y="3917762"/>
            <a:ext cx="2719922" cy="2065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plantas" id="195" name="Google Shape;195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13569" y="5010549"/>
            <a:ext cx="2743200" cy="171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9300">
            <a:alpha val="54509"/>
          </a:srgbClr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0"/>
          <p:cNvSpPr txBox="1"/>
          <p:nvPr>
            <p:ph idx="12" type="sldNum"/>
          </p:nvPr>
        </p:nvSpPr>
        <p:spPr>
          <a:xfrm>
            <a:off x="11390969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Lucida Sans"/>
              <a:buNone/>
            </a:pPr>
            <a:fld id="{00000000-1234-1234-1234-123412341234}" type="slidenum">
              <a:rPr lang="es-CL">
                <a:latin typeface="Lucida Sans"/>
                <a:ea typeface="Lucida Sans"/>
                <a:cs typeface="Lucida Sans"/>
                <a:sym typeface="Lucida Sans"/>
              </a:rPr>
              <a:t>‹#›</a:t>
            </a:fld>
            <a:endParaRPr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201" name="Google Shape;20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79280" y="132951"/>
            <a:ext cx="2116765" cy="1058383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0"/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FF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203" name="Google Shape;203;p10"/>
          <p:cNvSpPr/>
          <p:nvPr/>
        </p:nvSpPr>
        <p:spPr>
          <a:xfrm>
            <a:off x="1033463" y="2887663"/>
            <a:ext cx="8520281" cy="6059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493"/>
              </a:buClr>
              <a:buSzPts val="3000"/>
              <a:buFont typeface="Arial"/>
              <a:buNone/>
            </a:pPr>
            <a:r>
              <a:rPr b="1" i="0" lang="es-CL" sz="3000" u="none" cap="none" strike="noStrike">
                <a:solidFill>
                  <a:srgbClr val="005493"/>
                </a:solidFill>
                <a:latin typeface="Lucida Sans"/>
                <a:ea typeface="Lucida Sans"/>
                <a:cs typeface="Lucida Sans"/>
                <a:sym typeface="Lucida Sans"/>
              </a:rPr>
              <a:t>C</a:t>
            </a:r>
            <a:r>
              <a:rPr b="1" baseline="-25000" i="0" lang="es-CL" sz="3000" u="none" cap="none" strike="noStrike">
                <a:solidFill>
                  <a:srgbClr val="00B050"/>
                </a:solidFill>
                <a:latin typeface="Lucida Sans"/>
                <a:ea typeface="Lucida Sans"/>
                <a:cs typeface="Lucida Sans"/>
                <a:sym typeface="Lucida Sans"/>
              </a:rPr>
              <a:t>6</a:t>
            </a:r>
            <a:r>
              <a:rPr b="1" i="0" lang="es-CL" sz="3000" u="none" cap="none" strike="noStrike">
                <a:solidFill>
                  <a:srgbClr val="005493"/>
                </a:solidFill>
                <a:latin typeface="Lucida Sans"/>
                <a:ea typeface="Lucida Sans"/>
                <a:cs typeface="Lucida Sans"/>
                <a:sym typeface="Lucida Sans"/>
              </a:rPr>
              <a:t>H</a:t>
            </a:r>
            <a:r>
              <a:rPr b="1" baseline="-25000" i="0" lang="es-CL" sz="3000" u="none" cap="none" strike="noStrike">
                <a:solidFill>
                  <a:srgbClr val="00B050"/>
                </a:solidFill>
                <a:latin typeface="Lucida Sans"/>
                <a:ea typeface="Lucida Sans"/>
                <a:cs typeface="Lucida Sans"/>
                <a:sym typeface="Lucida Sans"/>
              </a:rPr>
              <a:t>12</a:t>
            </a:r>
            <a:r>
              <a:rPr b="1" i="0" lang="es-CL" sz="3000" u="none" cap="none" strike="noStrike">
                <a:solidFill>
                  <a:srgbClr val="005493"/>
                </a:solidFill>
                <a:latin typeface="Lucida Sans"/>
                <a:ea typeface="Lucida Sans"/>
                <a:cs typeface="Lucida Sans"/>
                <a:sym typeface="Lucida Sans"/>
              </a:rPr>
              <a:t>O</a:t>
            </a:r>
            <a:r>
              <a:rPr b="1" baseline="-25000" i="0" lang="es-CL" sz="3000" u="none" cap="none" strike="noStrike">
                <a:solidFill>
                  <a:srgbClr val="00B050"/>
                </a:solidFill>
                <a:latin typeface="Lucida Sans"/>
                <a:ea typeface="Lucida Sans"/>
                <a:cs typeface="Lucida Sans"/>
                <a:sym typeface="Lucida Sans"/>
              </a:rPr>
              <a:t>6</a:t>
            </a:r>
            <a:r>
              <a:rPr b="1" i="0" lang="es-CL" sz="3000" u="none" cap="none" strike="noStrik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  +  </a:t>
            </a:r>
            <a:r>
              <a:rPr b="1" i="0" lang="es-CL" sz="3000" u="none" cap="none" strike="noStrike">
                <a:solidFill>
                  <a:srgbClr val="FF2F92"/>
                </a:solidFill>
                <a:latin typeface="Lucida Sans"/>
                <a:ea typeface="Lucida Sans"/>
                <a:cs typeface="Lucida Sans"/>
                <a:sym typeface="Lucida Sans"/>
              </a:rPr>
              <a:t>6</a:t>
            </a:r>
            <a:r>
              <a:rPr b="1" i="0" lang="es-CL" sz="3000" u="none" cap="none" strike="noStrike">
                <a:solidFill>
                  <a:srgbClr val="005493"/>
                </a:solidFill>
                <a:latin typeface="Lucida Sans"/>
                <a:ea typeface="Lucida Sans"/>
                <a:cs typeface="Lucida Sans"/>
                <a:sym typeface="Lucida Sans"/>
              </a:rPr>
              <a:t>O</a:t>
            </a:r>
            <a:r>
              <a:rPr b="1" baseline="-25000" i="0" lang="es-CL" sz="3000" u="none" cap="none" strike="noStrike">
                <a:solidFill>
                  <a:srgbClr val="00B050"/>
                </a:solidFill>
                <a:latin typeface="Lucida Sans"/>
                <a:ea typeface="Lucida Sans"/>
                <a:cs typeface="Lucida Sans"/>
                <a:sym typeface="Lucida Sans"/>
              </a:rPr>
              <a:t>2</a:t>
            </a:r>
            <a:r>
              <a:rPr b="1" baseline="-25000" i="0" lang="es-CL" sz="3000" u="none" cap="none" strike="noStrik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   </a:t>
            </a:r>
            <a:r>
              <a:rPr b="1" i="0" lang="es-CL" sz="3000" u="none" cap="none" strike="noStrike">
                <a:solidFill>
                  <a:srgbClr val="005493"/>
                </a:solidFill>
                <a:latin typeface="Lucida Sans"/>
                <a:ea typeface="Lucida Sans"/>
                <a:cs typeface="Lucida Sans"/>
                <a:sym typeface="Lucida Sans"/>
              </a:rPr>
              <a:t>→</a:t>
            </a:r>
            <a:r>
              <a:rPr b="1" baseline="-25000" i="0" lang="es-CL" sz="3000" u="none" cap="none" strike="noStrik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 </a:t>
            </a:r>
            <a:r>
              <a:rPr b="1" i="0" lang="es-CL" sz="3000" u="none" cap="none" strike="noStrike">
                <a:solidFill>
                  <a:srgbClr val="FF2F92"/>
                </a:solidFill>
                <a:latin typeface="Lucida Sans"/>
                <a:ea typeface="Lucida Sans"/>
                <a:cs typeface="Lucida Sans"/>
                <a:sym typeface="Lucida Sans"/>
              </a:rPr>
              <a:t>6</a:t>
            </a:r>
            <a:r>
              <a:rPr b="1" i="0" lang="es-CL" sz="3000" u="none" cap="none" strike="noStrik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 </a:t>
            </a:r>
            <a:r>
              <a:rPr b="1" i="0" lang="es-CL" sz="3000" u="none" cap="none" strike="noStrike">
                <a:solidFill>
                  <a:srgbClr val="005493"/>
                </a:solidFill>
                <a:latin typeface="Lucida Sans"/>
                <a:ea typeface="Lucida Sans"/>
                <a:cs typeface="Lucida Sans"/>
                <a:sym typeface="Lucida Sans"/>
              </a:rPr>
              <a:t>H</a:t>
            </a:r>
            <a:r>
              <a:rPr b="1" baseline="-25000" i="0" lang="es-CL" sz="3000" u="none" cap="none" strike="noStrike">
                <a:solidFill>
                  <a:srgbClr val="00B050"/>
                </a:solidFill>
                <a:latin typeface="Lucida Sans"/>
                <a:ea typeface="Lucida Sans"/>
                <a:cs typeface="Lucida Sans"/>
                <a:sym typeface="Lucida Sans"/>
              </a:rPr>
              <a:t>2</a:t>
            </a:r>
            <a:r>
              <a:rPr b="1" i="0" lang="es-CL" sz="3000" u="none" cap="none" strike="noStrike">
                <a:solidFill>
                  <a:srgbClr val="005493"/>
                </a:solidFill>
                <a:latin typeface="Lucida Sans"/>
                <a:ea typeface="Lucida Sans"/>
                <a:cs typeface="Lucida Sans"/>
                <a:sym typeface="Lucida Sans"/>
              </a:rPr>
              <a:t>O</a:t>
            </a:r>
            <a:r>
              <a:rPr b="1" i="0" lang="es-CL" sz="3000" u="none" cap="none" strike="noStrik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 </a:t>
            </a:r>
            <a:r>
              <a:rPr b="1" i="0" lang="es-CL" sz="3000" u="none" cap="none" strike="noStrike">
                <a:solidFill>
                  <a:srgbClr val="005493"/>
                </a:solidFill>
                <a:latin typeface="Lucida Sans"/>
                <a:ea typeface="Lucida Sans"/>
                <a:cs typeface="Lucida Sans"/>
                <a:sym typeface="Lucida Sans"/>
              </a:rPr>
              <a:t>+</a:t>
            </a:r>
            <a:r>
              <a:rPr b="1" i="0" lang="es-CL" sz="3000" u="none" cap="none" strike="noStrik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 </a:t>
            </a:r>
            <a:r>
              <a:rPr b="1" i="0" lang="es-CL" sz="3000" u="none" cap="none" strike="noStrike">
                <a:solidFill>
                  <a:srgbClr val="FF2F92"/>
                </a:solidFill>
                <a:latin typeface="Lucida Sans"/>
                <a:ea typeface="Lucida Sans"/>
                <a:cs typeface="Lucida Sans"/>
                <a:sym typeface="Lucida Sans"/>
              </a:rPr>
              <a:t>6</a:t>
            </a:r>
            <a:r>
              <a:rPr b="1" i="0" lang="es-CL" sz="3000" u="none" cap="none" strike="noStrik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 </a:t>
            </a:r>
            <a:r>
              <a:rPr b="1" i="0" lang="es-CL" sz="3000" u="none" cap="none" strike="noStrike">
                <a:solidFill>
                  <a:srgbClr val="005493"/>
                </a:solidFill>
                <a:latin typeface="Lucida Sans"/>
                <a:ea typeface="Lucida Sans"/>
                <a:cs typeface="Lucida Sans"/>
                <a:sym typeface="Lucida Sans"/>
              </a:rPr>
              <a:t>CO</a:t>
            </a:r>
            <a:r>
              <a:rPr b="1" baseline="-25000" i="0" lang="es-CL" sz="3000" u="none" cap="none" strike="noStrike">
                <a:solidFill>
                  <a:srgbClr val="00B050"/>
                </a:solidFill>
                <a:latin typeface="Lucida Sans"/>
                <a:ea typeface="Lucida Sans"/>
                <a:cs typeface="Lucida Sans"/>
                <a:sym typeface="Lucida Sans"/>
              </a:rPr>
              <a:t>2</a:t>
            </a:r>
            <a:r>
              <a:rPr b="1" i="0" lang="es-CL" sz="3000" u="none" cap="none" strike="noStrik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 + </a:t>
            </a:r>
            <a:r>
              <a:rPr b="1" i="0" lang="es-CL" sz="3000" u="none" cap="none" strike="noStrike">
                <a:solidFill>
                  <a:srgbClr val="FF2F92"/>
                </a:solidFill>
                <a:latin typeface="Lucida Sans"/>
                <a:ea typeface="Lucida Sans"/>
                <a:cs typeface="Lucida Sans"/>
                <a:sym typeface="Lucida Sans"/>
              </a:rPr>
              <a:t>38</a:t>
            </a:r>
            <a:r>
              <a:rPr b="1" i="0" lang="es-CL" sz="3000" u="none" cap="none" strike="noStrik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 </a:t>
            </a:r>
            <a:r>
              <a:rPr b="1" i="0" lang="es-CL" sz="3000" u="none" cap="none" strike="noStrike">
                <a:solidFill>
                  <a:srgbClr val="005493"/>
                </a:solidFill>
                <a:latin typeface="Lucida Sans"/>
                <a:ea typeface="Lucida Sans"/>
                <a:cs typeface="Lucida Sans"/>
                <a:sym typeface="Lucida Sans"/>
              </a:rPr>
              <a:t>ATP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0"/>
          <p:cNvSpPr txBox="1"/>
          <p:nvPr/>
        </p:nvSpPr>
        <p:spPr>
          <a:xfrm>
            <a:off x="1060393" y="2181529"/>
            <a:ext cx="30601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   </a:t>
            </a:r>
            <a:r>
              <a:rPr b="1" i="0" lang="es-CL" sz="1800" u="none" cap="none" strike="noStrike">
                <a:solidFill>
                  <a:srgbClr val="FF9300"/>
                </a:solidFill>
                <a:latin typeface="Lucida Sans"/>
                <a:ea typeface="Lucida Sans"/>
                <a:cs typeface="Lucida Sans"/>
                <a:sym typeface="Lucida Sans"/>
              </a:rPr>
              <a:t>Reactivos</a:t>
            </a:r>
            <a:r>
              <a:rPr b="0" i="0" lang="es-CL" sz="1800" u="none" cap="none" strike="noStrike">
                <a:solidFill>
                  <a:srgbClr val="FF9300"/>
                </a:solidFill>
                <a:latin typeface="Lucida Sans"/>
                <a:ea typeface="Lucida Sans"/>
                <a:cs typeface="Lucida Sans"/>
                <a:sym typeface="Lucida Sans"/>
              </a:rPr>
              <a:t> </a:t>
            </a:r>
            <a:r>
              <a:rPr b="1" i="0" lang="es-CL" sz="1800" u="none" cap="none" strike="noStrike">
                <a:solidFill>
                  <a:srgbClr val="FF9300"/>
                </a:solidFill>
                <a:latin typeface="Lucida Sans"/>
                <a:ea typeface="Lucida Sans"/>
                <a:cs typeface="Lucida Sans"/>
                <a:sym typeface="Lucida Sans"/>
              </a:rPr>
              <a:t>o Reactantes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0"/>
          <p:cNvSpPr txBox="1"/>
          <p:nvPr/>
        </p:nvSpPr>
        <p:spPr>
          <a:xfrm>
            <a:off x="5975712" y="2201254"/>
            <a:ext cx="2160587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2093"/>
              </a:buClr>
              <a:buSzPts val="1800"/>
              <a:buFont typeface="Arial"/>
              <a:buNone/>
            </a:pPr>
            <a:r>
              <a:rPr b="1" i="0" lang="es-CL" sz="1800" u="none" cap="none" strike="noStrike">
                <a:solidFill>
                  <a:srgbClr val="942093"/>
                </a:solidFill>
                <a:latin typeface="Lucida Sans"/>
                <a:ea typeface="Lucida Sans"/>
                <a:cs typeface="Lucida Sans"/>
                <a:sym typeface="Lucida Sans"/>
              </a:rPr>
              <a:t>Productos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0"/>
          <p:cNvSpPr txBox="1"/>
          <p:nvPr/>
        </p:nvSpPr>
        <p:spPr>
          <a:xfrm>
            <a:off x="641097" y="388809"/>
            <a:ext cx="8177212" cy="585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493"/>
              </a:buClr>
              <a:buSzPts val="3200"/>
              <a:buFont typeface="Arial"/>
              <a:buNone/>
            </a:pPr>
            <a:r>
              <a:rPr b="1" i="0" lang="es-CL" sz="3200" u="none" cap="none" strike="noStrike">
                <a:solidFill>
                  <a:srgbClr val="005493"/>
                </a:solidFill>
                <a:latin typeface="Lucida Sans"/>
                <a:ea typeface="Lucida Sans"/>
                <a:cs typeface="Lucida Sans"/>
                <a:sym typeface="Lucida Sans"/>
              </a:rPr>
              <a:t>Componentes de una Ecuación Química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0"/>
          <p:cNvSpPr txBox="1"/>
          <p:nvPr/>
        </p:nvSpPr>
        <p:spPr>
          <a:xfrm>
            <a:off x="2195513" y="3702050"/>
            <a:ext cx="2160587" cy="646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2F92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FF2F92"/>
                </a:solidFill>
                <a:latin typeface="Lucida Sans"/>
                <a:ea typeface="Lucida Sans"/>
                <a:cs typeface="Lucida Sans"/>
                <a:sym typeface="Lucida Sans"/>
              </a:rPr>
              <a:t>Coeficientes estequiométricos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0"/>
          <p:cNvSpPr txBox="1"/>
          <p:nvPr/>
        </p:nvSpPr>
        <p:spPr>
          <a:xfrm>
            <a:off x="6392313" y="3884027"/>
            <a:ext cx="216058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00B050"/>
                </a:solidFill>
                <a:latin typeface="Lucida Sans"/>
                <a:ea typeface="Lucida Sans"/>
                <a:cs typeface="Lucida Sans"/>
                <a:sym typeface="Lucida Sans"/>
              </a:rPr>
              <a:t>Número de átomos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9" name="Google Shape;209;p10"/>
          <p:cNvCxnSpPr>
            <a:endCxn id="208" idx="0"/>
          </p:cNvCxnSpPr>
          <p:nvPr/>
        </p:nvCxnSpPr>
        <p:spPr>
          <a:xfrm>
            <a:off x="7472607" y="3458327"/>
            <a:ext cx="0" cy="425700"/>
          </a:xfrm>
          <a:prstGeom prst="straightConnector1">
            <a:avLst/>
          </a:prstGeom>
          <a:noFill/>
          <a:ln cap="flat" cmpd="sng" w="28575">
            <a:solidFill>
              <a:srgbClr val="008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10" name="Google Shape;210;p10"/>
          <p:cNvCxnSpPr/>
          <p:nvPr/>
        </p:nvCxnSpPr>
        <p:spPr>
          <a:xfrm>
            <a:off x="3461483" y="3385600"/>
            <a:ext cx="0" cy="343752"/>
          </a:xfrm>
          <a:prstGeom prst="straightConnector1">
            <a:avLst/>
          </a:prstGeom>
          <a:noFill/>
          <a:ln cap="flat" cmpd="sng" w="28575">
            <a:solidFill>
              <a:srgbClr val="FF2F9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11" name="Google Shape;211;p10"/>
          <p:cNvCxnSpPr/>
          <p:nvPr/>
        </p:nvCxnSpPr>
        <p:spPr>
          <a:xfrm flipH="1">
            <a:off x="4120587" y="3385600"/>
            <a:ext cx="744390" cy="639506"/>
          </a:xfrm>
          <a:prstGeom prst="straightConnector1">
            <a:avLst/>
          </a:prstGeom>
          <a:noFill/>
          <a:ln cap="flat" cmpd="sng" w="28575">
            <a:solidFill>
              <a:srgbClr val="FF2F9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12" name="Google Shape;212;p10"/>
          <p:cNvSpPr txBox="1"/>
          <p:nvPr/>
        </p:nvSpPr>
        <p:spPr>
          <a:xfrm>
            <a:off x="256032" y="4712553"/>
            <a:ext cx="9973056" cy="8887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493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005493"/>
                </a:solidFill>
                <a:latin typeface="Lucida Sans"/>
                <a:ea typeface="Lucida Sans"/>
                <a:cs typeface="Lucida Sans"/>
                <a:sym typeface="Lucida Sans"/>
              </a:rPr>
              <a:t>1 mol de glucosa reacciona con 6 moles de oxígeno, para formar 6 moles de agua, 6 moles de dióxido de carbono y 38 moles de ATP.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0"/>
          <p:cNvSpPr/>
          <p:nvPr/>
        </p:nvSpPr>
        <p:spPr>
          <a:xfrm rot="5400000">
            <a:off x="2502411" y="1398076"/>
            <a:ext cx="303212" cy="2933135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28575">
            <a:solidFill>
              <a:srgbClr val="FF93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214" name="Google Shape;214;p10"/>
          <p:cNvSpPr/>
          <p:nvPr/>
        </p:nvSpPr>
        <p:spPr>
          <a:xfrm rot="5400000">
            <a:off x="6904400" y="492768"/>
            <a:ext cx="303213" cy="4638980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28575">
            <a:solidFill>
              <a:srgbClr val="94209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9300">
            <a:alpha val="54509"/>
          </a:srgbClr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1"/>
          <p:cNvSpPr txBox="1"/>
          <p:nvPr>
            <p:ph idx="12" type="sldNum"/>
          </p:nvPr>
        </p:nvSpPr>
        <p:spPr>
          <a:xfrm>
            <a:off x="11390969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Lucida Sans"/>
              <a:buNone/>
            </a:pPr>
            <a:fld id="{00000000-1234-1234-1234-123412341234}" type="slidenum">
              <a:rPr lang="es-CL">
                <a:latin typeface="Lucida Sans"/>
                <a:ea typeface="Lucida Sans"/>
                <a:cs typeface="Lucida Sans"/>
                <a:sym typeface="Lucida Sans"/>
              </a:rPr>
              <a:t>‹#›</a:t>
            </a:fld>
            <a:endParaRPr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220" name="Google Shape;22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79280" y="132951"/>
            <a:ext cx="2116765" cy="1058383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1"/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FF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222" name="Google Shape;222;p11"/>
          <p:cNvSpPr txBox="1"/>
          <p:nvPr/>
        </p:nvSpPr>
        <p:spPr>
          <a:xfrm>
            <a:off x="423863" y="268315"/>
            <a:ext cx="4726802" cy="5881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493"/>
              </a:buClr>
              <a:buSzPts val="3200"/>
              <a:buFont typeface="Arial"/>
              <a:buNone/>
            </a:pPr>
            <a:r>
              <a:rPr b="1" i="0" lang="es-CL" sz="3200" u="none" cap="none" strike="noStrike">
                <a:solidFill>
                  <a:srgbClr val="005493"/>
                </a:solidFill>
                <a:latin typeface="Lucida Sans"/>
                <a:ea typeface="Lucida Sans"/>
                <a:cs typeface="Lucida Sans"/>
                <a:sym typeface="Lucida Sans"/>
              </a:rPr>
              <a:t>Tipo de Reacciones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1"/>
          <p:cNvSpPr/>
          <p:nvPr/>
        </p:nvSpPr>
        <p:spPr>
          <a:xfrm>
            <a:off x="599709" y="1094130"/>
            <a:ext cx="9233608" cy="18729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2F92"/>
              </a:buClr>
              <a:buSzPts val="3000"/>
              <a:buFont typeface="Arial"/>
              <a:buNone/>
            </a:pPr>
            <a:r>
              <a:rPr b="1" i="0" lang="es-CL" sz="3000" u="none" cap="none" strike="noStrike">
                <a:solidFill>
                  <a:srgbClr val="FF2F92"/>
                </a:solidFill>
                <a:latin typeface="Lucida Sans"/>
                <a:ea typeface="Lucida Sans"/>
                <a:cs typeface="Lucida Sans"/>
                <a:sym typeface="Lucida Sans"/>
              </a:rPr>
              <a:t>Combinación        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750"/>
              </a:spcBef>
              <a:spcAft>
                <a:spcPts val="0"/>
              </a:spcAft>
              <a:buClr>
                <a:srgbClr val="FF2F92"/>
              </a:buClr>
              <a:buSzPts val="3000"/>
              <a:buFont typeface="Arial"/>
              <a:buNone/>
            </a:pPr>
            <a:r>
              <a:rPr b="1" i="0" lang="es-CL" sz="3000" u="none" cap="none" strike="noStrike">
                <a:solidFill>
                  <a:srgbClr val="FF2F92"/>
                </a:solidFill>
                <a:latin typeface="Lucida Sans"/>
                <a:ea typeface="Lucida Sans"/>
                <a:cs typeface="Lucida Sans"/>
                <a:sym typeface="Lucida Sans"/>
              </a:rPr>
              <a:t>                                 2 H</a:t>
            </a:r>
            <a:r>
              <a:rPr b="1" baseline="-25000" i="0" lang="es-CL" sz="3000" u="none" cap="none" strike="noStrike">
                <a:solidFill>
                  <a:srgbClr val="FF2F92"/>
                </a:solidFill>
                <a:latin typeface="Lucida Sans"/>
                <a:ea typeface="Lucida Sans"/>
                <a:cs typeface="Lucida Sans"/>
                <a:sym typeface="Lucida Sans"/>
              </a:rPr>
              <a:t>2</a:t>
            </a:r>
            <a:r>
              <a:rPr b="1" i="0" lang="es-CL" sz="3000" u="none" cap="none" strike="noStrike">
                <a:solidFill>
                  <a:srgbClr val="FF2F92"/>
                </a:solidFill>
                <a:latin typeface="Lucida Sans"/>
                <a:ea typeface="Lucida Sans"/>
                <a:cs typeface="Lucida Sans"/>
                <a:sym typeface="Lucida Sans"/>
              </a:rPr>
              <a:t>  + O</a:t>
            </a:r>
            <a:r>
              <a:rPr b="1" baseline="-25000" i="0" lang="es-CL" sz="3000" u="none" cap="none" strike="noStrike">
                <a:solidFill>
                  <a:srgbClr val="FF2F92"/>
                </a:solidFill>
                <a:latin typeface="Lucida Sans"/>
                <a:ea typeface="Lucida Sans"/>
                <a:cs typeface="Lucida Sans"/>
                <a:sym typeface="Lucida Sans"/>
              </a:rPr>
              <a:t>2   </a:t>
            </a:r>
            <a:r>
              <a:rPr b="1" i="0" lang="es-CL" sz="3000" u="none" cap="none" strike="noStrike">
                <a:solidFill>
                  <a:srgbClr val="FF2F92"/>
                </a:solidFill>
                <a:latin typeface="Lucida Sans"/>
                <a:ea typeface="Lucida Sans"/>
                <a:cs typeface="Lucida Sans"/>
                <a:sym typeface="Lucida Sans"/>
              </a:rPr>
              <a:t>→</a:t>
            </a:r>
            <a:r>
              <a:rPr b="1" baseline="-25000" i="0" lang="es-CL" sz="3000" u="none" cap="none" strike="noStrike">
                <a:solidFill>
                  <a:srgbClr val="FF2F92"/>
                </a:solidFill>
                <a:latin typeface="Lucida Sans"/>
                <a:ea typeface="Lucida Sans"/>
                <a:cs typeface="Lucida Sans"/>
                <a:sym typeface="Lucida Sans"/>
              </a:rPr>
              <a:t> </a:t>
            </a:r>
            <a:r>
              <a:rPr b="1" i="0" lang="es-CL" sz="3000" u="none" cap="none" strike="noStrike">
                <a:solidFill>
                  <a:srgbClr val="FF2F92"/>
                </a:solidFill>
                <a:latin typeface="Lucida Sans"/>
                <a:ea typeface="Lucida Sans"/>
                <a:cs typeface="Lucida Sans"/>
                <a:sym typeface="Lucida Sans"/>
              </a:rPr>
              <a:t> 2 H</a:t>
            </a:r>
            <a:r>
              <a:rPr b="1" baseline="-25000" i="0" lang="es-CL" sz="3000" u="none" cap="none" strike="noStrike">
                <a:solidFill>
                  <a:srgbClr val="FF2F92"/>
                </a:solidFill>
                <a:latin typeface="Lucida Sans"/>
                <a:ea typeface="Lucida Sans"/>
                <a:cs typeface="Lucida Sans"/>
                <a:sym typeface="Lucida Sans"/>
              </a:rPr>
              <a:t>2</a:t>
            </a:r>
            <a:r>
              <a:rPr b="1" i="0" lang="es-CL" sz="3000" u="none" cap="none" strike="noStrike">
                <a:solidFill>
                  <a:srgbClr val="FF2F92"/>
                </a:solidFill>
                <a:latin typeface="Lucida Sans"/>
                <a:ea typeface="Lucida Sans"/>
                <a:cs typeface="Lucida Sans"/>
                <a:sym typeface="Lucida Sans"/>
              </a:rPr>
              <a:t>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750"/>
              </a:spcBef>
              <a:spcAft>
                <a:spcPts val="0"/>
              </a:spcAft>
              <a:buClr>
                <a:srgbClr val="FF2F92"/>
              </a:buClr>
              <a:buSzPts val="3000"/>
              <a:buFont typeface="Arial"/>
              <a:buNone/>
            </a:pPr>
            <a:r>
              <a:rPr b="1" i="0" lang="es-CL" sz="3000" u="none" cap="none" strike="noStrike">
                <a:solidFill>
                  <a:srgbClr val="FF2F92"/>
                </a:solidFill>
                <a:latin typeface="Lucida Sans"/>
                <a:ea typeface="Lucida Sans"/>
                <a:cs typeface="Lucida Sans"/>
                <a:sym typeface="Lucida Sans"/>
              </a:rPr>
              <a:t>                               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1"/>
          <p:cNvSpPr/>
          <p:nvPr/>
        </p:nvSpPr>
        <p:spPr>
          <a:xfrm>
            <a:off x="606997" y="2379587"/>
            <a:ext cx="9535809" cy="12567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ts val="3000"/>
              <a:buFont typeface="Arial"/>
              <a:buNone/>
            </a:pPr>
            <a:r>
              <a:rPr b="1" i="0" lang="es-CL" sz="30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Descomposición   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750"/>
              </a:spcBef>
              <a:spcAft>
                <a:spcPts val="0"/>
              </a:spcAft>
              <a:buClr>
                <a:srgbClr val="008000"/>
              </a:buClr>
              <a:buSzPts val="3000"/>
              <a:buFont typeface="Arial"/>
              <a:buNone/>
            </a:pPr>
            <a:r>
              <a:rPr b="1" i="0" lang="es-CL" sz="30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                                 2 HgO    </a:t>
            </a:r>
            <a:r>
              <a:rPr b="1" baseline="-25000" i="0" lang="es-CL" sz="30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  </a:t>
            </a:r>
            <a:r>
              <a:rPr b="1" i="0" lang="es-CL" sz="30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→</a:t>
            </a:r>
            <a:r>
              <a:rPr b="1" baseline="-25000" i="0" lang="es-CL" sz="30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 </a:t>
            </a:r>
            <a:r>
              <a:rPr b="1" i="0" lang="es-CL" sz="30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 2 Hg + O</a:t>
            </a:r>
            <a:r>
              <a:rPr b="1" baseline="-25000" i="0" lang="es-CL" sz="30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1"/>
          <p:cNvSpPr/>
          <p:nvPr/>
        </p:nvSpPr>
        <p:spPr>
          <a:xfrm>
            <a:off x="635851" y="3665044"/>
            <a:ext cx="8440131" cy="12394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42093"/>
              </a:buClr>
              <a:buSzPts val="3000"/>
              <a:buFont typeface="Arial"/>
              <a:buNone/>
            </a:pPr>
            <a:r>
              <a:rPr b="1" i="0" lang="es-CL" sz="3000" u="none" cap="none" strike="noStrike">
                <a:solidFill>
                  <a:srgbClr val="942093"/>
                </a:solidFill>
                <a:latin typeface="Lucida Sans"/>
                <a:ea typeface="Lucida Sans"/>
                <a:cs typeface="Lucida Sans"/>
                <a:sym typeface="Lucida Sans"/>
              </a:rPr>
              <a:t>Disociación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750"/>
              </a:spcBef>
              <a:spcAft>
                <a:spcPts val="0"/>
              </a:spcAft>
              <a:buClr>
                <a:srgbClr val="942093"/>
              </a:buClr>
              <a:buSzPts val="3000"/>
              <a:buFont typeface="Arial"/>
              <a:buNone/>
            </a:pPr>
            <a:r>
              <a:rPr b="1" i="0" lang="es-CL" sz="3000" u="none" cap="none" strike="noStrike">
                <a:solidFill>
                  <a:srgbClr val="942093"/>
                </a:solidFill>
                <a:latin typeface="Lucida Sans"/>
                <a:ea typeface="Lucida Sans"/>
                <a:cs typeface="Lucida Sans"/>
                <a:sym typeface="Lucida Sans"/>
              </a:rPr>
              <a:t>                                  PCl</a:t>
            </a:r>
            <a:r>
              <a:rPr b="1" baseline="-25000" i="0" lang="es-CL" sz="3000" u="none" cap="none" strike="noStrike">
                <a:solidFill>
                  <a:srgbClr val="942093"/>
                </a:solidFill>
                <a:latin typeface="Lucida Sans"/>
                <a:ea typeface="Lucida Sans"/>
                <a:cs typeface="Lucida Sans"/>
                <a:sym typeface="Lucida Sans"/>
              </a:rPr>
              <a:t>5</a:t>
            </a:r>
            <a:r>
              <a:rPr b="1" i="0" lang="es-CL" sz="3000" u="none" cap="none" strike="noStrike">
                <a:solidFill>
                  <a:srgbClr val="942093"/>
                </a:solidFill>
                <a:latin typeface="Lucida Sans"/>
                <a:ea typeface="Lucida Sans"/>
                <a:cs typeface="Lucida Sans"/>
                <a:sym typeface="Lucida Sans"/>
              </a:rPr>
              <a:t> </a:t>
            </a:r>
            <a:r>
              <a:rPr b="1" baseline="-25000" i="0" lang="es-CL" sz="3000" u="none" cap="none" strike="noStrike">
                <a:solidFill>
                  <a:srgbClr val="942093"/>
                </a:solidFill>
                <a:latin typeface="Lucida Sans"/>
                <a:ea typeface="Lucida Sans"/>
                <a:cs typeface="Lucida Sans"/>
                <a:sym typeface="Lucida Sans"/>
              </a:rPr>
              <a:t>       </a:t>
            </a:r>
            <a:r>
              <a:rPr b="1" i="0" lang="es-CL" sz="3000" u="none" cap="none" strike="noStrike">
                <a:solidFill>
                  <a:srgbClr val="942093"/>
                </a:solidFill>
                <a:latin typeface="Lucida Sans"/>
                <a:ea typeface="Lucida Sans"/>
                <a:cs typeface="Lucida Sans"/>
                <a:sym typeface="Lucida Sans"/>
              </a:rPr>
              <a:t>→</a:t>
            </a:r>
            <a:r>
              <a:rPr b="1" baseline="-25000" i="0" lang="es-CL" sz="3000" u="none" cap="none" strike="noStrike">
                <a:solidFill>
                  <a:srgbClr val="942093"/>
                </a:solidFill>
                <a:latin typeface="Lucida Sans"/>
                <a:ea typeface="Lucida Sans"/>
                <a:cs typeface="Lucida Sans"/>
                <a:sym typeface="Lucida Sans"/>
              </a:rPr>
              <a:t> </a:t>
            </a:r>
            <a:r>
              <a:rPr b="1" i="0" lang="es-CL" sz="3000" u="none" cap="none" strike="noStrike">
                <a:solidFill>
                  <a:srgbClr val="942093"/>
                </a:solidFill>
                <a:latin typeface="Lucida Sans"/>
                <a:ea typeface="Lucida Sans"/>
                <a:cs typeface="Lucida Sans"/>
                <a:sym typeface="Lucida Sans"/>
              </a:rPr>
              <a:t>  PCl</a:t>
            </a:r>
            <a:r>
              <a:rPr b="1" baseline="-25000" i="0" lang="es-CL" sz="3000" u="none" cap="none" strike="noStrike">
                <a:solidFill>
                  <a:srgbClr val="942093"/>
                </a:solidFill>
                <a:latin typeface="Lucida Sans"/>
                <a:ea typeface="Lucida Sans"/>
                <a:cs typeface="Lucida Sans"/>
                <a:sym typeface="Lucida Sans"/>
              </a:rPr>
              <a:t>3</a:t>
            </a:r>
            <a:r>
              <a:rPr b="1" i="0" lang="es-CL" sz="3000" u="none" cap="none" strike="noStrike">
                <a:solidFill>
                  <a:srgbClr val="942093"/>
                </a:solidFill>
                <a:latin typeface="Lucida Sans"/>
                <a:ea typeface="Lucida Sans"/>
                <a:cs typeface="Lucida Sans"/>
                <a:sym typeface="Lucida Sans"/>
              </a:rPr>
              <a:t> + Cl</a:t>
            </a:r>
            <a:r>
              <a:rPr b="1" baseline="-25000" i="0" lang="es-CL" sz="3000" u="none" cap="none" strike="noStrike">
                <a:solidFill>
                  <a:srgbClr val="942093"/>
                </a:solidFill>
                <a:latin typeface="Lucida Sans"/>
                <a:ea typeface="Lucida Sans"/>
                <a:cs typeface="Lucida Sans"/>
                <a:sym typeface="Lucida Sans"/>
              </a:rPr>
              <a:t>2</a:t>
            </a:r>
            <a:endParaRPr b="1" i="0" sz="3000" u="none" cap="none" strike="noStrike">
              <a:solidFill>
                <a:srgbClr val="942093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226" name="Google Shape;226;p11"/>
          <p:cNvSpPr/>
          <p:nvPr/>
        </p:nvSpPr>
        <p:spPr>
          <a:xfrm>
            <a:off x="635851" y="5093693"/>
            <a:ext cx="10351017" cy="12567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432FF"/>
              </a:buClr>
              <a:buSzPts val="3000"/>
              <a:buFont typeface="Arial"/>
              <a:buNone/>
            </a:pPr>
            <a:r>
              <a:rPr b="1" i="0" lang="es-CL" sz="3000" u="none" cap="none" strike="noStrike">
                <a:solidFill>
                  <a:srgbClr val="0432FF"/>
                </a:solidFill>
                <a:latin typeface="Lucida Sans"/>
                <a:ea typeface="Lucida Sans"/>
                <a:cs typeface="Lucida Sans"/>
                <a:sym typeface="Lucida Sans"/>
              </a:rPr>
              <a:t>Sustitución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750"/>
              </a:spcBef>
              <a:spcAft>
                <a:spcPts val="0"/>
              </a:spcAft>
              <a:buClr>
                <a:srgbClr val="0432FF"/>
              </a:buClr>
              <a:buSzPts val="3000"/>
              <a:buFont typeface="Arial"/>
              <a:buNone/>
            </a:pPr>
            <a:r>
              <a:rPr b="1" i="0" lang="es-CL" sz="3000" u="none" cap="none" strike="noStrike">
                <a:solidFill>
                  <a:srgbClr val="0432FF"/>
                </a:solidFill>
                <a:latin typeface="Lucida Sans"/>
                <a:ea typeface="Lucida Sans"/>
                <a:cs typeface="Lucida Sans"/>
                <a:sym typeface="Lucida Sans"/>
              </a:rPr>
              <a:t>                                CuSO</a:t>
            </a:r>
            <a:r>
              <a:rPr b="1" baseline="-25000" i="0" lang="es-CL" sz="3000" u="none" cap="none" strike="noStrike">
                <a:solidFill>
                  <a:srgbClr val="0432FF"/>
                </a:solidFill>
                <a:latin typeface="Lucida Sans"/>
                <a:ea typeface="Lucida Sans"/>
                <a:cs typeface="Lucida Sans"/>
                <a:sym typeface="Lucida Sans"/>
              </a:rPr>
              <a:t>4</a:t>
            </a:r>
            <a:r>
              <a:rPr b="1" i="0" lang="es-CL" sz="3000" u="none" cap="none" strike="noStrike">
                <a:solidFill>
                  <a:srgbClr val="0432FF"/>
                </a:solidFill>
                <a:latin typeface="Lucida Sans"/>
                <a:ea typeface="Lucida Sans"/>
                <a:cs typeface="Lucida Sans"/>
                <a:sym typeface="Lucida Sans"/>
              </a:rPr>
              <a:t> </a:t>
            </a:r>
            <a:r>
              <a:rPr b="1" baseline="-25000" i="0" lang="es-CL" sz="3000" u="none" cap="none" strike="noStrike">
                <a:solidFill>
                  <a:srgbClr val="0432FF"/>
                </a:solidFill>
                <a:latin typeface="Lucida Sans"/>
                <a:ea typeface="Lucida Sans"/>
                <a:cs typeface="Lucida Sans"/>
                <a:sym typeface="Lucida Sans"/>
              </a:rPr>
              <a:t> </a:t>
            </a:r>
            <a:r>
              <a:rPr b="1" i="0" lang="es-CL" sz="3000" u="none" cap="none" strike="noStrike">
                <a:solidFill>
                  <a:srgbClr val="0432FF"/>
                </a:solidFill>
                <a:latin typeface="Lucida Sans"/>
                <a:ea typeface="Lucida Sans"/>
                <a:cs typeface="Lucida Sans"/>
                <a:sym typeface="Lucida Sans"/>
              </a:rPr>
              <a:t>+ Zn   </a:t>
            </a:r>
            <a:r>
              <a:rPr b="1" baseline="-25000" i="0" lang="es-CL" sz="3000" u="none" cap="none" strike="noStrike">
                <a:solidFill>
                  <a:srgbClr val="0432FF"/>
                </a:solidFill>
                <a:latin typeface="Lucida Sans"/>
                <a:ea typeface="Lucida Sans"/>
                <a:cs typeface="Lucida Sans"/>
                <a:sym typeface="Lucida Sans"/>
              </a:rPr>
              <a:t> </a:t>
            </a:r>
            <a:r>
              <a:rPr b="1" i="0" lang="es-CL" sz="3000" u="none" cap="none" strike="noStrike">
                <a:solidFill>
                  <a:srgbClr val="0432FF"/>
                </a:solidFill>
                <a:latin typeface="Lucida Sans"/>
                <a:ea typeface="Lucida Sans"/>
                <a:cs typeface="Lucida Sans"/>
                <a:sym typeface="Lucida Sans"/>
              </a:rPr>
              <a:t>→</a:t>
            </a:r>
            <a:r>
              <a:rPr b="1" baseline="-25000" i="0" lang="es-CL" sz="3000" u="none" cap="none" strike="noStrike">
                <a:solidFill>
                  <a:srgbClr val="0432FF"/>
                </a:solidFill>
                <a:latin typeface="Lucida Sans"/>
                <a:ea typeface="Lucida Sans"/>
                <a:cs typeface="Lucida Sans"/>
                <a:sym typeface="Lucida Sans"/>
              </a:rPr>
              <a:t> </a:t>
            </a:r>
            <a:r>
              <a:rPr b="1" i="0" lang="es-CL" sz="3000" u="none" cap="none" strike="noStrike">
                <a:solidFill>
                  <a:srgbClr val="0432FF"/>
                </a:solidFill>
                <a:latin typeface="Lucida Sans"/>
                <a:ea typeface="Lucida Sans"/>
                <a:cs typeface="Lucida Sans"/>
                <a:sym typeface="Lucida Sans"/>
              </a:rPr>
              <a:t>  ZnSO</a:t>
            </a:r>
            <a:r>
              <a:rPr b="1" baseline="-25000" i="0" lang="es-CL" sz="3000" u="none" cap="none" strike="noStrike">
                <a:solidFill>
                  <a:srgbClr val="0432FF"/>
                </a:solidFill>
                <a:latin typeface="Lucida Sans"/>
                <a:ea typeface="Lucida Sans"/>
                <a:cs typeface="Lucida Sans"/>
                <a:sym typeface="Lucida Sans"/>
              </a:rPr>
              <a:t>4</a:t>
            </a:r>
            <a:r>
              <a:rPr b="1" i="0" lang="es-CL" sz="3000" u="none" cap="none" strike="noStrike">
                <a:solidFill>
                  <a:srgbClr val="0432FF"/>
                </a:solidFill>
                <a:latin typeface="Lucida Sans"/>
                <a:ea typeface="Lucida Sans"/>
                <a:cs typeface="Lucida Sans"/>
                <a:sym typeface="Lucida Sans"/>
              </a:rPr>
              <a:t> + Cu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9300">
            <a:alpha val="54509"/>
          </a:srgbClr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2"/>
          <p:cNvSpPr txBox="1"/>
          <p:nvPr>
            <p:ph idx="12" type="sldNum"/>
          </p:nvPr>
        </p:nvSpPr>
        <p:spPr>
          <a:xfrm>
            <a:off x="11390969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Lucida Sans"/>
              <a:buNone/>
            </a:pPr>
            <a:fld id="{00000000-1234-1234-1234-123412341234}" type="slidenum">
              <a:rPr lang="es-CL">
                <a:latin typeface="Lucida Sans"/>
                <a:ea typeface="Lucida Sans"/>
                <a:cs typeface="Lucida Sans"/>
                <a:sym typeface="Lucida Sans"/>
              </a:rPr>
              <a:t>‹#›</a:t>
            </a:fld>
            <a:endParaRPr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232" name="Google Shape;23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79280" y="132951"/>
            <a:ext cx="2116765" cy="1058383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12"/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FF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234" name="Google Shape;234;p12"/>
          <p:cNvSpPr/>
          <p:nvPr/>
        </p:nvSpPr>
        <p:spPr>
          <a:xfrm>
            <a:off x="462086" y="1792564"/>
            <a:ext cx="11425114" cy="12567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9193"/>
              </a:buClr>
              <a:buSzPts val="3000"/>
              <a:buFont typeface="Arial"/>
              <a:buNone/>
            </a:pPr>
            <a:r>
              <a:rPr b="1" i="0" lang="es-CL" sz="3000" u="none" cap="none" strike="noStrike">
                <a:solidFill>
                  <a:srgbClr val="009193"/>
                </a:solidFill>
                <a:latin typeface="Lucida Sans"/>
                <a:ea typeface="Lucida Sans"/>
                <a:cs typeface="Lucida Sans"/>
                <a:sym typeface="Lucida Sans"/>
              </a:rPr>
              <a:t>Intercambio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750"/>
              </a:spcBef>
              <a:spcAft>
                <a:spcPts val="0"/>
              </a:spcAft>
              <a:buClr>
                <a:srgbClr val="009193"/>
              </a:buClr>
              <a:buSzPts val="3000"/>
              <a:buFont typeface="Arial"/>
              <a:buNone/>
            </a:pPr>
            <a:r>
              <a:rPr b="1" i="0" lang="es-CL" sz="3000" u="none" cap="none" strike="noStrike">
                <a:solidFill>
                  <a:srgbClr val="009193"/>
                </a:solidFill>
                <a:latin typeface="Lucida Sans"/>
                <a:ea typeface="Lucida Sans"/>
                <a:cs typeface="Lucida Sans"/>
                <a:sym typeface="Lucida Sans"/>
              </a:rPr>
              <a:t>                                CaCl</a:t>
            </a:r>
            <a:r>
              <a:rPr b="1" baseline="-25000" i="0" lang="es-CL" sz="3000" u="none" cap="none" strike="noStrike">
                <a:solidFill>
                  <a:srgbClr val="009193"/>
                </a:solidFill>
                <a:latin typeface="Lucida Sans"/>
                <a:ea typeface="Lucida Sans"/>
                <a:cs typeface="Lucida Sans"/>
                <a:sym typeface="Lucida Sans"/>
              </a:rPr>
              <a:t>2</a:t>
            </a:r>
            <a:r>
              <a:rPr b="1" i="0" lang="es-CL" sz="3000" u="none" cap="none" strike="noStrike">
                <a:solidFill>
                  <a:srgbClr val="009193"/>
                </a:solidFill>
                <a:latin typeface="Lucida Sans"/>
                <a:ea typeface="Lucida Sans"/>
                <a:cs typeface="Lucida Sans"/>
                <a:sym typeface="Lucida Sans"/>
              </a:rPr>
              <a:t> </a:t>
            </a:r>
            <a:r>
              <a:rPr b="1" baseline="-25000" i="0" lang="es-CL" sz="3000" u="none" cap="none" strike="noStrike">
                <a:solidFill>
                  <a:srgbClr val="009193"/>
                </a:solidFill>
                <a:latin typeface="Lucida Sans"/>
                <a:ea typeface="Lucida Sans"/>
                <a:cs typeface="Lucida Sans"/>
                <a:sym typeface="Lucida Sans"/>
              </a:rPr>
              <a:t> </a:t>
            </a:r>
            <a:r>
              <a:rPr b="1" i="0" lang="es-CL" sz="3000" u="none" cap="none" strike="noStrike">
                <a:solidFill>
                  <a:srgbClr val="009193"/>
                </a:solidFill>
                <a:latin typeface="Lucida Sans"/>
                <a:ea typeface="Lucida Sans"/>
                <a:cs typeface="Lucida Sans"/>
                <a:sym typeface="Lucida Sans"/>
              </a:rPr>
              <a:t>+ Na</a:t>
            </a:r>
            <a:r>
              <a:rPr b="1" baseline="-25000" i="0" lang="es-CL" sz="3000" u="none" cap="none" strike="noStrike">
                <a:solidFill>
                  <a:srgbClr val="009193"/>
                </a:solidFill>
                <a:latin typeface="Lucida Sans"/>
                <a:ea typeface="Lucida Sans"/>
                <a:cs typeface="Lucida Sans"/>
                <a:sym typeface="Lucida Sans"/>
              </a:rPr>
              <a:t>2</a:t>
            </a:r>
            <a:r>
              <a:rPr b="1" i="0" lang="es-CL" sz="3000" u="none" cap="none" strike="noStrike">
                <a:solidFill>
                  <a:srgbClr val="009193"/>
                </a:solidFill>
                <a:latin typeface="Lucida Sans"/>
                <a:ea typeface="Lucida Sans"/>
                <a:cs typeface="Lucida Sans"/>
                <a:sym typeface="Lucida Sans"/>
              </a:rPr>
              <a:t>CO</a:t>
            </a:r>
            <a:r>
              <a:rPr b="1" baseline="-25000" i="0" lang="es-CL" sz="3000" u="none" cap="none" strike="noStrike">
                <a:solidFill>
                  <a:srgbClr val="009193"/>
                </a:solidFill>
                <a:latin typeface="Lucida Sans"/>
                <a:ea typeface="Lucida Sans"/>
                <a:cs typeface="Lucida Sans"/>
                <a:sym typeface="Lucida Sans"/>
              </a:rPr>
              <a:t>3</a:t>
            </a:r>
            <a:r>
              <a:rPr b="1" i="0" lang="es-CL" sz="3000" u="none" cap="none" strike="noStrike">
                <a:solidFill>
                  <a:srgbClr val="009193"/>
                </a:solidFill>
                <a:latin typeface="Lucida Sans"/>
                <a:ea typeface="Lucida Sans"/>
                <a:cs typeface="Lucida Sans"/>
                <a:sym typeface="Lucida Sans"/>
              </a:rPr>
              <a:t>   </a:t>
            </a:r>
            <a:r>
              <a:rPr b="1" baseline="-25000" i="0" lang="es-CL" sz="3000" u="none" cap="none" strike="noStrike">
                <a:solidFill>
                  <a:srgbClr val="009193"/>
                </a:solidFill>
                <a:latin typeface="Lucida Sans"/>
                <a:ea typeface="Lucida Sans"/>
                <a:cs typeface="Lucida Sans"/>
                <a:sym typeface="Lucida Sans"/>
              </a:rPr>
              <a:t> </a:t>
            </a:r>
            <a:r>
              <a:rPr b="1" i="0" lang="es-CL" sz="3000" u="none" cap="none" strike="noStrike">
                <a:solidFill>
                  <a:srgbClr val="009193"/>
                </a:solidFill>
                <a:latin typeface="Lucida Sans"/>
                <a:ea typeface="Lucida Sans"/>
                <a:cs typeface="Lucida Sans"/>
                <a:sym typeface="Lucida Sans"/>
              </a:rPr>
              <a:t>→</a:t>
            </a:r>
            <a:r>
              <a:rPr b="1" baseline="-25000" i="0" lang="es-CL" sz="3000" u="none" cap="none" strike="noStrike">
                <a:solidFill>
                  <a:srgbClr val="009193"/>
                </a:solidFill>
                <a:latin typeface="Lucida Sans"/>
                <a:ea typeface="Lucida Sans"/>
                <a:cs typeface="Lucida Sans"/>
                <a:sym typeface="Lucida Sans"/>
              </a:rPr>
              <a:t> </a:t>
            </a:r>
            <a:r>
              <a:rPr b="1" i="0" lang="es-CL" sz="3000" u="none" cap="none" strike="noStrike">
                <a:solidFill>
                  <a:srgbClr val="009193"/>
                </a:solidFill>
                <a:latin typeface="Lucida Sans"/>
                <a:ea typeface="Lucida Sans"/>
                <a:cs typeface="Lucida Sans"/>
                <a:sym typeface="Lucida Sans"/>
              </a:rPr>
              <a:t>  2 NaCl + CaCO</a:t>
            </a:r>
            <a:r>
              <a:rPr b="1" baseline="-25000" i="0" lang="es-CL" sz="3000" u="none" cap="none" strike="noStrike">
                <a:solidFill>
                  <a:srgbClr val="009193"/>
                </a:solidFill>
                <a:latin typeface="Lucida Sans"/>
                <a:ea typeface="Lucida Sans"/>
                <a:cs typeface="Lucida Sans"/>
                <a:sym typeface="Lucida Sans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2"/>
          <p:cNvSpPr/>
          <p:nvPr/>
        </p:nvSpPr>
        <p:spPr>
          <a:xfrm>
            <a:off x="462085" y="250685"/>
            <a:ext cx="9286825" cy="12567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41100"/>
              </a:buClr>
              <a:buSzPts val="3000"/>
              <a:buFont typeface="Arial"/>
              <a:buNone/>
            </a:pPr>
            <a:r>
              <a:rPr b="1" i="0" lang="es-CL" sz="3000" u="none" cap="none" strike="noStrike">
                <a:solidFill>
                  <a:srgbClr val="941100"/>
                </a:solidFill>
                <a:latin typeface="Lucida Sans"/>
                <a:ea typeface="Lucida Sans"/>
                <a:cs typeface="Lucida Sans"/>
                <a:sym typeface="Lucida Sans"/>
              </a:rPr>
              <a:t>Reorganización Interna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750"/>
              </a:spcBef>
              <a:spcAft>
                <a:spcPts val="0"/>
              </a:spcAft>
              <a:buClr>
                <a:srgbClr val="941100"/>
              </a:buClr>
              <a:buSzPts val="3000"/>
              <a:buFont typeface="Arial"/>
              <a:buNone/>
            </a:pPr>
            <a:r>
              <a:rPr b="1" i="0" lang="es-CL" sz="3000" u="none" cap="none" strike="noStrike">
                <a:solidFill>
                  <a:srgbClr val="941100"/>
                </a:solidFill>
                <a:latin typeface="Lucida Sans"/>
                <a:ea typeface="Lucida Sans"/>
                <a:cs typeface="Lucida Sans"/>
                <a:sym typeface="Lucida Sans"/>
              </a:rPr>
              <a:t>                                NH</a:t>
            </a:r>
            <a:r>
              <a:rPr b="1" baseline="-25000" i="0" lang="es-CL" sz="3000" u="none" cap="none" strike="noStrike">
                <a:solidFill>
                  <a:srgbClr val="941100"/>
                </a:solidFill>
                <a:latin typeface="Lucida Sans"/>
                <a:ea typeface="Lucida Sans"/>
                <a:cs typeface="Lucida Sans"/>
                <a:sym typeface="Lucida Sans"/>
              </a:rPr>
              <a:t>4</a:t>
            </a:r>
            <a:r>
              <a:rPr b="1" i="0" lang="es-CL" sz="3000" u="none" cap="none" strike="noStrike">
                <a:solidFill>
                  <a:srgbClr val="941100"/>
                </a:solidFill>
                <a:latin typeface="Lucida Sans"/>
                <a:ea typeface="Lucida Sans"/>
                <a:cs typeface="Lucida Sans"/>
                <a:sym typeface="Lucida Sans"/>
              </a:rPr>
              <a:t>NCO </a:t>
            </a:r>
            <a:r>
              <a:rPr b="1" baseline="-25000" i="0" lang="es-CL" sz="3000" u="none" cap="none" strike="noStrike">
                <a:solidFill>
                  <a:srgbClr val="941100"/>
                </a:solidFill>
                <a:latin typeface="Lucida Sans"/>
                <a:ea typeface="Lucida Sans"/>
                <a:cs typeface="Lucida Sans"/>
                <a:sym typeface="Lucida Sans"/>
              </a:rPr>
              <a:t> </a:t>
            </a:r>
            <a:r>
              <a:rPr b="1" i="0" lang="es-CL" sz="3000" u="none" cap="none" strike="noStrike">
                <a:solidFill>
                  <a:srgbClr val="941100"/>
                </a:solidFill>
                <a:latin typeface="Lucida Sans"/>
                <a:ea typeface="Lucida Sans"/>
                <a:cs typeface="Lucida Sans"/>
                <a:sym typeface="Lucida Sans"/>
              </a:rPr>
              <a:t>   </a:t>
            </a:r>
            <a:r>
              <a:rPr b="1" baseline="-25000" i="0" lang="es-CL" sz="3000" u="none" cap="none" strike="noStrike">
                <a:solidFill>
                  <a:srgbClr val="941100"/>
                </a:solidFill>
                <a:latin typeface="Lucida Sans"/>
                <a:ea typeface="Lucida Sans"/>
                <a:cs typeface="Lucida Sans"/>
                <a:sym typeface="Lucida Sans"/>
              </a:rPr>
              <a:t> </a:t>
            </a:r>
            <a:r>
              <a:rPr b="1" i="0" lang="es-CL" sz="3000" u="none" cap="none" strike="noStrike">
                <a:solidFill>
                  <a:srgbClr val="941100"/>
                </a:solidFill>
                <a:latin typeface="Lucida Sans"/>
                <a:ea typeface="Lucida Sans"/>
                <a:cs typeface="Lucida Sans"/>
                <a:sym typeface="Lucida Sans"/>
              </a:rPr>
              <a:t>→</a:t>
            </a:r>
            <a:r>
              <a:rPr b="1" baseline="-25000" i="0" lang="es-CL" sz="3000" u="none" cap="none" strike="noStrike">
                <a:solidFill>
                  <a:srgbClr val="941100"/>
                </a:solidFill>
                <a:latin typeface="Lucida Sans"/>
                <a:ea typeface="Lucida Sans"/>
                <a:cs typeface="Lucida Sans"/>
                <a:sym typeface="Lucida Sans"/>
              </a:rPr>
              <a:t> </a:t>
            </a:r>
            <a:r>
              <a:rPr b="1" i="0" lang="es-CL" sz="3000" u="none" cap="none" strike="noStrike">
                <a:solidFill>
                  <a:srgbClr val="941100"/>
                </a:solidFill>
                <a:latin typeface="Lucida Sans"/>
                <a:ea typeface="Lucida Sans"/>
                <a:cs typeface="Lucida Sans"/>
                <a:sym typeface="Lucida Sans"/>
              </a:rPr>
              <a:t>  (NH</a:t>
            </a:r>
            <a:r>
              <a:rPr b="1" baseline="-25000" i="0" lang="es-CL" sz="3000" u="none" cap="none" strike="noStrike">
                <a:solidFill>
                  <a:srgbClr val="941100"/>
                </a:solidFill>
                <a:latin typeface="Lucida Sans"/>
                <a:ea typeface="Lucida Sans"/>
                <a:cs typeface="Lucida Sans"/>
                <a:sym typeface="Lucida Sans"/>
              </a:rPr>
              <a:t>2</a:t>
            </a:r>
            <a:r>
              <a:rPr b="1" i="0" lang="es-CL" sz="3000" u="none" cap="none" strike="noStrike">
                <a:solidFill>
                  <a:srgbClr val="941100"/>
                </a:solidFill>
                <a:latin typeface="Lucida Sans"/>
                <a:ea typeface="Lucida Sans"/>
                <a:cs typeface="Lucida Sans"/>
                <a:sym typeface="Lucida Sans"/>
              </a:rPr>
              <a:t>)</a:t>
            </a:r>
            <a:r>
              <a:rPr b="1" baseline="-25000" i="0" lang="es-CL" sz="3000" u="none" cap="none" strike="noStrike">
                <a:solidFill>
                  <a:srgbClr val="941100"/>
                </a:solidFill>
                <a:latin typeface="Lucida Sans"/>
                <a:ea typeface="Lucida Sans"/>
                <a:cs typeface="Lucida Sans"/>
                <a:sym typeface="Lucida Sans"/>
              </a:rPr>
              <a:t>2</a:t>
            </a:r>
            <a:r>
              <a:rPr b="1" i="0" lang="es-CL" sz="3000" u="none" cap="none" strike="noStrike">
                <a:solidFill>
                  <a:srgbClr val="941100"/>
                </a:solidFill>
                <a:latin typeface="Lucida Sans"/>
                <a:ea typeface="Lucida Sans"/>
                <a:cs typeface="Lucida Sans"/>
                <a:sym typeface="Lucida Sans"/>
              </a:rPr>
              <a:t>CO </a:t>
            </a:r>
            <a:endParaRPr b="1" baseline="-25000" i="0" sz="3000" u="none" cap="none" strike="noStrike">
              <a:solidFill>
                <a:srgbClr val="941100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236" name="Google Shape;236;p12"/>
          <p:cNvSpPr/>
          <p:nvPr/>
        </p:nvSpPr>
        <p:spPr>
          <a:xfrm>
            <a:off x="471728" y="3347835"/>
            <a:ext cx="10275989" cy="12567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3000"/>
              <a:buFont typeface="Arial"/>
              <a:buNone/>
            </a:pPr>
            <a:r>
              <a:rPr b="1" i="0" lang="es-CL" sz="3000" u="none" cap="none" strike="noStrike">
                <a:solidFill>
                  <a:srgbClr val="5E5E5E"/>
                </a:solidFill>
                <a:latin typeface="Lucida Sans"/>
                <a:ea typeface="Lucida Sans"/>
                <a:cs typeface="Lucida Sans"/>
                <a:sym typeface="Lucida Sans"/>
              </a:rPr>
              <a:t>Neutralización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750"/>
              </a:spcBef>
              <a:spcAft>
                <a:spcPts val="0"/>
              </a:spcAft>
              <a:buClr>
                <a:srgbClr val="5E5E5E"/>
              </a:buClr>
              <a:buSzPts val="3000"/>
              <a:buFont typeface="Arial"/>
              <a:buNone/>
            </a:pPr>
            <a:r>
              <a:rPr b="1" i="0" lang="es-CL" sz="3000" u="none" cap="none" strike="noStrike">
                <a:solidFill>
                  <a:srgbClr val="5E5E5E"/>
                </a:solidFill>
                <a:latin typeface="Lucida Sans"/>
                <a:ea typeface="Lucida Sans"/>
                <a:cs typeface="Lucida Sans"/>
                <a:sym typeface="Lucida Sans"/>
              </a:rPr>
              <a:t>                                HCl + NaOH </a:t>
            </a:r>
            <a:r>
              <a:rPr b="1" baseline="-25000" i="0" lang="es-CL" sz="3000" u="none" cap="none" strike="noStrike">
                <a:solidFill>
                  <a:srgbClr val="5E5E5E"/>
                </a:solidFill>
                <a:latin typeface="Lucida Sans"/>
                <a:ea typeface="Lucida Sans"/>
                <a:cs typeface="Lucida Sans"/>
                <a:sym typeface="Lucida Sans"/>
              </a:rPr>
              <a:t> </a:t>
            </a:r>
            <a:r>
              <a:rPr b="1" i="0" lang="es-CL" sz="3000" u="none" cap="none" strike="noStrike">
                <a:solidFill>
                  <a:srgbClr val="5E5E5E"/>
                </a:solidFill>
                <a:latin typeface="Lucida Sans"/>
                <a:ea typeface="Lucida Sans"/>
                <a:cs typeface="Lucida Sans"/>
                <a:sym typeface="Lucida Sans"/>
              </a:rPr>
              <a:t>   </a:t>
            </a:r>
            <a:r>
              <a:rPr b="1" baseline="-25000" i="0" lang="es-CL" sz="3000" u="none" cap="none" strike="noStrike">
                <a:solidFill>
                  <a:srgbClr val="5E5E5E"/>
                </a:solidFill>
                <a:latin typeface="Lucida Sans"/>
                <a:ea typeface="Lucida Sans"/>
                <a:cs typeface="Lucida Sans"/>
                <a:sym typeface="Lucida Sans"/>
              </a:rPr>
              <a:t> </a:t>
            </a:r>
            <a:r>
              <a:rPr b="1" i="0" lang="es-CL" sz="3000" u="none" cap="none" strike="noStrike">
                <a:solidFill>
                  <a:srgbClr val="5E5E5E"/>
                </a:solidFill>
                <a:latin typeface="Lucida Sans"/>
                <a:ea typeface="Lucida Sans"/>
                <a:cs typeface="Lucida Sans"/>
                <a:sym typeface="Lucida Sans"/>
              </a:rPr>
              <a:t>→</a:t>
            </a:r>
            <a:r>
              <a:rPr b="1" baseline="-25000" i="0" lang="es-CL" sz="3000" u="none" cap="none" strike="noStrike">
                <a:solidFill>
                  <a:srgbClr val="5E5E5E"/>
                </a:solidFill>
                <a:latin typeface="Lucida Sans"/>
                <a:ea typeface="Lucida Sans"/>
                <a:cs typeface="Lucida Sans"/>
                <a:sym typeface="Lucida Sans"/>
              </a:rPr>
              <a:t> </a:t>
            </a:r>
            <a:r>
              <a:rPr b="1" i="0" lang="es-CL" sz="3000" u="none" cap="none" strike="noStrike">
                <a:solidFill>
                  <a:srgbClr val="5E5E5E"/>
                </a:solidFill>
                <a:latin typeface="Lucida Sans"/>
                <a:ea typeface="Lucida Sans"/>
                <a:cs typeface="Lucida Sans"/>
                <a:sym typeface="Lucida Sans"/>
              </a:rPr>
              <a:t>  NaCl + H</a:t>
            </a:r>
            <a:r>
              <a:rPr b="1" baseline="-25000" i="0" lang="es-CL" sz="3000" u="none" cap="none" strike="noStrike">
                <a:solidFill>
                  <a:srgbClr val="5E5E5E"/>
                </a:solidFill>
                <a:latin typeface="Lucida Sans"/>
                <a:ea typeface="Lucida Sans"/>
                <a:cs typeface="Lucida Sans"/>
                <a:sym typeface="Lucida Sans"/>
              </a:rPr>
              <a:t>2</a:t>
            </a:r>
            <a:r>
              <a:rPr b="1" i="0" lang="es-CL" sz="3000" u="none" cap="none" strike="noStrike">
                <a:solidFill>
                  <a:srgbClr val="5E5E5E"/>
                </a:solidFill>
                <a:latin typeface="Lucida Sans"/>
                <a:ea typeface="Lucida Sans"/>
                <a:cs typeface="Lucida Sans"/>
                <a:sym typeface="Lucida Sans"/>
              </a:rPr>
              <a:t>O</a:t>
            </a:r>
            <a:endParaRPr b="1" baseline="-25000" i="0" sz="3000" u="none" cap="none" strike="noStrike">
              <a:solidFill>
                <a:srgbClr val="5E5E5E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237" name="Google Shape;237;p12"/>
          <p:cNvSpPr/>
          <p:nvPr/>
        </p:nvSpPr>
        <p:spPr>
          <a:xfrm>
            <a:off x="471728" y="4889714"/>
            <a:ext cx="10064974" cy="12567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437FF"/>
              </a:buClr>
              <a:buSzPts val="3000"/>
              <a:buFont typeface="Arial"/>
              <a:buNone/>
            </a:pPr>
            <a:r>
              <a:rPr b="1" i="0" lang="es-CL" sz="3000" u="none" cap="none" strike="noStrike">
                <a:solidFill>
                  <a:srgbClr val="9437FF"/>
                </a:solidFill>
                <a:latin typeface="Lucida Sans"/>
                <a:ea typeface="Lucida Sans"/>
                <a:cs typeface="Lucida Sans"/>
                <a:sym typeface="Lucida Sans"/>
              </a:rPr>
              <a:t>Combustión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750"/>
              </a:spcBef>
              <a:spcAft>
                <a:spcPts val="0"/>
              </a:spcAft>
              <a:buClr>
                <a:srgbClr val="9437FF"/>
              </a:buClr>
              <a:buSzPts val="3000"/>
              <a:buFont typeface="Arial"/>
              <a:buNone/>
            </a:pPr>
            <a:r>
              <a:rPr b="1" i="0" lang="es-CL" sz="3000" u="none" cap="none" strike="noStrike">
                <a:solidFill>
                  <a:srgbClr val="9437FF"/>
                </a:solidFill>
                <a:latin typeface="Lucida Sans"/>
                <a:ea typeface="Lucida Sans"/>
                <a:cs typeface="Lucida Sans"/>
                <a:sym typeface="Lucida Sans"/>
              </a:rPr>
              <a:t>                                CH</a:t>
            </a:r>
            <a:r>
              <a:rPr b="1" baseline="-25000" i="0" lang="es-CL" sz="3000" u="none" cap="none" strike="noStrike">
                <a:solidFill>
                  <a:srgbClr val="9437FF"/>
                </a:solidFill>
                <a:latin typeface="Lucida Sans"/>
                <a:ea typeface="Lucida Sans"/>
                <a:cs typeface="Lucida Sans"/>
                <a:sym typeface="Lucida Sans"/>
              </a:rPr>
              <a:t>4</a:t>
            </a:r>
            <a:r>
              <a:rPr b="1" i="0" lang="es-CL" sz="3000" u="none" cap="none" strike="noStrike">
                <a:solidFill>
                  <a:srgbClr val="9437FF"/>
                </a:solidFill>
                <a:latin typeface="Lucida Sans"/>
                <a:ea typeface="Lucida Sans"/>
                <a:cs typeface="Lucida Sans"/>
                <a:sym typeface="Lucida Sans"/>
              </a:rPr>
              <a:t> + 2O</a:t>
            </a:r>
            <a:r>
              <a:rPr b="1" baseline="-25000" i="0" lang="es-CL" sz="3000" u="none" cap="none" strike="noStrike">
                <a:solidFill>
                  <a:srgbClr val="9437FF"/>
                </a:solidFill>
                <a:latin typeface="Lucida Sans"/>
                <a:ea typeface="Lucida Sans"/>
                <a:cs typeface="Lucida Sans"/>
                <a:sym typeface="Lucida Sans"/>
              </a:rPr>
              <a:t>2</a:t>
            </a:r>
            <a:r>
              <a:rPr b="1" i="0" lang="es-CL" sz="3000" u="none" cap="none" strike="noStrike">
                <a:solidFill>
                  <a:srgbClr val="9437FF"/>
                </a:solidFill>
                <a:latin typeface="Lucida Sans"/>
                <a:ea typeface="Lucida Sans"/>
                <a:cs typeface="Lucida Sans"/>
                <a:sym typeface="Lucida Sans"/>
              </a:rPr>
              <a:t> </a:t>
            </a:r>
            <a:r>
              <a:rPr b="1" baseline="-25000" i="0" lang="es-CL" sz="3000" u="none" cap="none" strike="noStrike">
                <a:solidFill>
                  <a:srgbClr val="9437FF"/>
                </a:solidFill>
                <a:latin typeface="Lucida Sans"/>
                <a:ea typeface="Lucida Sans"/>
                <a:cs typeface="Lucida Sans"/>
                <a:sym typeface="Lucida Sans"/>
              </a:rPr>
              <a:t> </a:t>
            </a:r>
            <a:r>
              <a:rPr b="1" i="0" lang="es-CL" sz="3000" u="none" cap="none" strike="noStrike">
                <a:solidFill>
                  <a:srgbClr val="9437FF"/>
                </a:solidFill>
                <a:latin typeface="Lucida Sans"/>
                <a:ea typeface="Lucida Sans"/>
                <a:cs typeface="Lucida Sans"/>
                <a:sym typeface="Lucida Sans"/>
              </a:rPr>
              <a:t>   </a:t>
            </a:r>
            <a:r>
              <a:rPr b="1" baseline="-25000" i="0" lang="es-CL" sz="3000" u="none" cap="none" strike="noStrike">
                <a:solidFill>
                  <a:srgbClr val="9437FF"/>
                </a:solidFill>
                <a:latin typeface="Lucida Sans"/>
                <a:ea typeface="Lucida Sans"/>
                <a:cs typeface="Lucida Sans"/>
                <a:sym typeface="Lucida Sans"/>
              </a:rPr>
              <a:t> </a:t>
            </a:r>
            <a:r>
              <a:rPr b="1" i="0" lang="es-CL" sz="3000" u="none" cap="none" strike="noStrike">
                <a:solidFill>
                  <a:srgbClr val="9437FF"/>
                </a:solidFill>
                <a:latin typeface="Lucida Sans"/>
                <a:ea typeface="Lucida Sans"/>
                <a:cs typeface="Lucida Sans"/>
                <a:sym typeface="Lucida Sans"/>
              </a:rPr>
              <a:t>→</a:t>
            </a:r>
            <a:r>
              <a:rPr b="1" baseline="-25000" i="0" lang="es-CL" sz="3000" u="none" cap="none" strike="noStrike">
                <a:solidFill>
                  <a:srgbClr val="9437FF"/>
                </a:solidFill>
                <a:latin typeface="Lucida Sans"/>
                <a:ea typeface="Lucida Sans"/>
                <a:cs typeface="Lucida Sans"/>
                <a:sym typeface="Lucida Sans"/>
              </a:rPr>
              <a:t> </a:t>
            </a:r>
            <a:r>
              <a:rPr b="1" i="0" lang="es-CL" sz="3000" u="none" cap="none" strike="noStrike">
                <a:solidFill>
                  <a:srgbClr val="9437FF"/>
                </a:solidFill>
                <a:latin typeface="Lucida Sans"/>
                <a:ea typeface="Lucida Sans"/>
                <a:cs typeface="Lucida Sans"/>
                <a:sym typeface="Lucida Sans"/>
              </a:rPr>
              <a:t>  CO</a:t>
            </a:r>
            <a:r>
              <a:rPr b="1" baseline="-25000" i="0" lang="es-CL" sz="3000" u="none" cap="none" strike="noStrike">
                <a:solidFill>
                  <a:srgbClr val="9437FF"/>
                </a:solidFill>
                <a:latin typeface="Lucida Sans"/>
                <a:ea typeface="Lucida Sans"/>
                <a:cs typeface="Lucida Sans"/>
                <a:sym typeface="Lucida Sans"/>
              </a:rPr>
              <a:t>2</a:t>
            </a:r>
            <a:r>
              <a:rPr b="1" i="0" lang="es-CL" sz="3000" u="none" cap="none" strike="noStrike">
                <a:solidFill>
                  <a:srgbClr val="9437FF"/>
                </a:solidFill>
                <a:latin typeface="Lucida Sans"/>
                <a:ea typeface="Lucida Sans"/>
                <a:cs typeface="Lucida Sans"/>
                <a:sym typeface="Lucida Sans"/>
              </a:rPr>
              <a:t>+ 2H</a:t>
            </a:r>
            <a:r>
              <a:rPr b="1" baseline="-25000" i="0" lang="es-CL" sz="3000" u="none" cap="none" strike="noStrike">
                <a:solidFill>
                  <a:srgbClr val="9437FF"/>
                </a:solidFill>
                <a:latin typeface="Lucida Sans"/>
                <a:ea typeface="Lucida Sans"/>
                <a:cs typeface="Lucida Sans"/>
                <a:sym typeface="Lucida Sans"/>
              </a:rPr>
              <a:t>2</a:t>
            </a:r>
            <a:r>
              <a:rPr b="1" i="0" lang="es-CL" sz="3000" u="none" cap="none" strike="noStrike">
                <a:solidFill>
                  <a:srgbClr val="9437FF"/>
                </a:solidFill>
                <a:latin typeface="Lucida Sans"/>
                <a:ea typeface="Lucida Sans"/>
                <a:cs typeface="Lucida Sans"/>
                <a:sym typeface="Lucida Sans"/>
              </a:rPr>
              <a:t>O</a:t>
            </a:r>
            <a:endParaRPr b="1" baseline="-25000" i="0" sz="3000" u="none" cap="none" strike="noStrike">
              <a:solidFill>
                <a:srgbClr val="9437FF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9300">
            <a:alpha val="54509"/>
          </a:srgbClr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3"/>
          <p:cNvSpPr/>
          <p:nvPr/>
        </p:nvSpPr>
        <p:spPr>
          <a:xfrm>
            <a:off x="411282" y="598566"/>
            <a:ext cx="8193457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2F92"/>
              </a:buClr>
              <a:buSzPts val="3200"/>
              <a:buFont typeface="Lucida Sans"/>
              <a:buNone/>
            </a:pPr>
            <a:r>
              <a:rPr b="1" i="0" lang="es-CL" sz="3200" u="none" cap="none" strike="noStrike">
                <a:solidFill>
                  <a:srgbClr val="FF2F92"/>
                </a:solidFill>
                <a:latin typeface="Lucida Sans"/>
                <a:ea typeface="Lucida Sans"/>
                <a:cs typeface="Lucida Sans"/>
                <a:sym typeface="Lucida Sans"/>
              </a:rPr>
              <a:t>Equilibrio de las Ecuaciones Químicas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3" name="Google Shape;24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04270" y="0"/>
            <a:ext cx="2116765" cy="1058383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13"/>
          <p:cNvSpPr txBox="1"/>
          <p:nvPr>
            <p:ph idx="12" type="sldNum"/>
          </p:nvPr>
        </p:nvSpPr>
        <p:spPr>
          <a:xfrm>
            <a:off x="11026140" y="6492862"/>
            <a:ext cx="11658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lt1"/>
              </a:buClr>
              <a:buSzPts val="1200"/>
              <a:buFont typeface="Lucida Sans"/>
              <a:buNone/>
            </a:pPr>
            <a:fld id="{00000000-1234-1234-1234-123412341234}" type="slidenum">
              <a:rPr lang="es-CL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‹#›</a:t>
            </a:fld>
            <a:endParaRPr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245" name="Google Shape;245;p13"/>
          <p:cNvSpPr/>
          <p:nvPr/>
        </p:nvSpPr>
        <p:spPr>
          <a:xfrm>
            <a:off x="2291577" y="5384319"/>
            <a:ext cx="6313162" cy="6059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33655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3000"/>
              <a:buFont typeface="Arial"/>
              <a:buNone/>
            </a:pPr>
            <a:r>
              <a:rPr b="1" i="0" lang="es-CL" sz="3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__ N</a:t>
            </a:r>
            <a:r>
              <a:rPr b="1" baseline="-25000" i="0" lang="es-CL" sz="3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2    </a:t>
            </a:r>
            <a:r>
              <a:rPr b="1" i="0" lang="es-CL" sz="3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 +   __  H</a:t>
            </a:r>
            <a:r>
              <a:rPr b="1" baseline="-25000" i="0" lang="es-CL" sz="3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2   </a:t>
            </a:r>
            <a:r>
              <a:rPr b="1" i="0" lang="es-CL" sz="3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→  __  NH</a:t>
            </a:r>
            <a:r>
              <a:rPr b="1" baseline="-25000" i="0" lang="es-CL" sz="3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3</a:t>
            </a:r>
            <a:endParaRPr b="1" i="0" sz="3000" u="none" cap="none" strike="noStrike">
              <a:solidFill>
                <a:srgbClr val="2F5496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246" name="Google Shape;246;p13"/>
          <p:cNvSpPr/>
          <p:nvPr/>
        </p:nvSpPr>
        <p:spPr>
          <a:xfrm>
            <a:off x="926670" y="2004641"/>
            <a:ext cx="9811241" cy="33489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2F92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rgbClr val="FF2F92"/>
                </a:solidFill>
                <a:latin typeface="Lucida Sans"/>
                <a:ea typeface="Lucida Sans"/>
                <a:cs typeface="Lucida Sans"/>
                <a:sym typeface="Lucida Sans"/>
              </a:rPr>
              <a:t>Método de Tanteo: </a:t>
            </a:r>
            <a:r>
              <a:rPr b="0" i="0" lang="es-CL" sz="2000" u="none" cap="none" strike="noStrike">
                <a:solidFill>
                  <a:srgbClr val="1769B5"/>
                </a:solidFill>
                <a:latin typeface="Lucida Sans"/>
                <a:ea typeface="Lucida Sans"/>
                <a:cs typeface="Lucida Sans"/>
                <a:sym typeface="Lucida Sans"/>
              </a:rPr>
              <a:t>Es utilizado para ecuaciones sencillas y consiste en colocar coeficientes a la izquierda de cada sustancia, hasta tener igual número de átomos tanto en reactantes como en productos. Esto permite cumplir la Ley de conservación de la masa.</a:t>
            </a:r>
            <a:endParaRPr b="0" i="0" sz="1800" u="none" cap="none" strike="noStrike">
              <a:solidFill>
                <a:srgbClr val="1769B5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1769B5"/>
              </a:buClr>
              <a:buSzPts val="1800"/>
              <a:buFont typeface="Arial"/>
              <a:buNone/>
            </a:pPr>
            <a:r>
              <a:rPr b="1" i="0" lang="es-CL" sz="1800" u="none" cap="none" strike="noStrike">
                <a:solidFill>
                  <a:srgbClr val="1769B5"/>
                </a:solidFill>
                <a:latin typeface="Lucida Sans"/>
                <a:ea typeface="Lucida Sans"/>
                <a:cs typeface="Lucida Sans"/>
                <a:sym typeface="Lucida Sans"/>
              </a:rPr>
              <a:t>Ejemplo: </a:t>
            </a:r>
            <a:endParaRPr b="1" i="0" sz="2000" u="none" cap="none" strike="noStrike">
              <a:solidFill>
                <a:srgbClr val="1769B5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9300">
            <a:alpha val="54509"/>
          </a:srgbClr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4"/>
          <p:cNvSpPr txBox="1"/>
          <p:nvPr>
            <p:ph idx="12" type="sldNum"/>
          </p:nvPr>
        </p:nvSpPr>
        <p:spPr>
          <a:xfrm>
            <a:off x="11390969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Lucida Sans"/>
              <a:buNone/>
            </a:pPr>
            <a:fld id="{00000000-1234-1234-1234-123412341234}" type="slidenum">
              <a:rPr lang="es-CL" sz="2400">
                <a:latin typeface="Lucida Sans"/>
                <a:ea typeface="Lucida Sans"/>
                <a:cs typeface="Lucida Sans"/>
                <a:sym typeface="Lucida Sans"/>
              </a:rPr>
              <a:t>‹#›</a:t>
            </a:fld>
            <a:endParaRPr sz="2400"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252" name="Google Shape;25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79280" y="132951"/>
            <a:ext cx="2116765" cy="1058383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14"/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FF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254" name="Google Shape;254;p14"/>
          <p:cNvSpPr/>
          <p:nvPr/>
        </p:nvSpPr>
        <p:spPr>
          <a:xfrm>
            <a:off x="2174114" y="526720"/>
            <a:ext cx="5483224" cy="640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33655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3200"/>
              <a:buFont typeface="Arial"/>
              <a:buNone/>
            </a:pPr>
            <a:r>
              <a:rPr b="1" i="0" lang="es-CL" sz="32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N</a:t>
            </a:r>
            <a:r>
              <a:rPr b="1" baseline="-25000" i="0" lang="es-CL" sz="32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2    </a:t>
            </a:r>
            <a:r>
              <a:rPr b="1" i="0" lang="es-CL" sz="32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 +     H</a:t>
            </a:r>
            <a:r>
              <a:rPr b="1" baseline="-25000" i="0" lang="es-CL" sz="32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2 </a:t>
            </a:r>
            <a:r>
              <a:rPr b="1" i="0" lang="es-CL" sz="32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→      NH</a:t>
            </a:r>
            <a:r>
              <a:rPr b="1" baseline="-25000" i="0" lang="es-CL" sz="32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3</a:t>
            </a:r>
            <a:endParaRPr b="1" i="0" sz="3200" u="none" cap="none" strike="noStrike">
              <a:solidFill>
                <a:srgbClr val="2F5496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255" name="Google Shape;255;p14"/>
          <p:cNvSpPr txBox="1"/>
          <p:nvPr/>
        </p:nvSpPr>
        <p:spPr>
          <a:xfrm>
            <a:off x="2311079" y="1359229"/>
            <a:ext cx="1450694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2 átomos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nitrógeno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14"/>
          <p:cNvSpPr txBox="1"/>
          <p:nvPr/>
        </p:nvSpPr>
        <p:spPr>
          <a:xfrm>
            <a:off x="6096000" y="1289608"/>
            <a:ext cx="154592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1 átomo nitrógeno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4"/>
          <p:cNvSpPr txBox="1"/>
          <p:nvPr/>
        </p:nvSpPr>
        <p:spPr>
          <a:xfrm>
            <a:off x="292100" y="2967335"/>
            <a:ext cx="104140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¿Qué número deberé escribir delante de NH</a:t>
            </a:r>
            <a:r>
              <a:rPr b="0" baseline="-25000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3</a:t>
            </a:r>
            <a:r>
              <a:rPr b="0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 para tener 2 átomos de nitrógeno?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4"/>
          <p:cNvSpPr/>
          <p:nvPr/>
        </p:nvSpPr>
        <p:spPr>
          <a:xfrm>
            <a:off x="1968500" y="4069455"/>
            <a:ext cx="5805345" cy="640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33655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3200"/>
              <a:buFont typeface="Arial"/>
              <a:buNone/>
            </a:pPr>
            <a:r>
              <a:rPr b="1" i="0" lang="es-CL" sz="32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N</a:t>
            </a:r>
            <a:r>
              <a:rPr b="1" baseline="-25000" i="0" lang="es-CL" sz="32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2    </a:t>
            </a:r>
            <a:r>
              <a:rPr b="1" i="0" lang="es-CL" sz="32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 +     H</a:t>
            </a:r>
            <a:r>
              <a:rPr b="1" baseline="-25000" i="0" lang="es-CL" sz="32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2 </a:t>
            </a:r>
            <a:r>
              <a:rPr b="1" i="0" lang="es-CL" sz="32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→      </a:t>
            </a:r>
            <a:r>
              <a:rPr b="1" i="0" lang="es-CL" sz="3200" u="none" cap="none" strike="noStrike">
                <a:solidFill>
                  <a:srgbClr val="FF2F92"/>
                </a:solidFill>
                <a:latin typeface="Lucida Sans"/>
                <a:ea typeface="Lucida Sans"/>
                <a:cs typeface="Lucida Sans"/>
                <a:sym typeface="Lucida Sans"/>
              </a:rPr>
              <a:t>2</a:t>
            </a:r>
            <a:r>
              <a:rPr b="1" i="0" lang="es-CL" sz="32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 NH</a:t>
            </a:r>
            <a:r>
              <a:rPr b="1" baseline="-25000" i="0" lang="es-CL" sz="32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3</a:t>
            </a:r>
            <a:endParaRPr b="1" i="0" sz="3200" u="none" cap="none" strike="noStrike">
              <a:solidFill>
                <a:srgbClr val="2F5496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259" name="Google Shape;259;p14"/>
          <p:cNvSpPr txBox="1"/>
          <p:nvPr/>
        </p:nvSpPr>
        <p:spPr>
          <a:xfrm>
            <a:off x="656687" y="5426394"/>
            <a:ext cx="932259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Ahora, tenemos 2 átomos de nitrógeno en ambos lados de la ecuación.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9300">
            <a:alpha val="54509"/>
          </a:srgbClr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5"/>
          <p:cNvSpPr txBox="1"/>
          <p:nvPr>
            <p:ph idx="12" type="sldNum"/>
          </p:nvPr>
        </p:nvSpPr>
        <p:spPr>
          <a:xfrm>
            <a:off x="11390969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000"/>
              <a:buFont typeface="Lucida Sans"/>
              <a:buNone/>
            </a:pPr>
            <a:fld id="{00000000-1234-1234-1234-123412341234}" type="slidenum">
              <a:rPr lang="es-CL" sz="2000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‹#›</a:t>
            </a:fld>
            <a:endParaRPr sz="2000">
              <a:solidFill>
                <a:srgbClr val="2F5496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265" name="Google Shape;26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79280" y="132951"/>
            <a:ext cx="2116765" cy="1058383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15"/>
          <p:cNvSpPr/>
          <p:nvPr/>
        </p:nvSpPr>
        <p:spPr>
          <a:xfrm>
            <a:off x="7472607" y="152412"/>
            <a:ext cx="18473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2F5496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267" name="Google Shape;267;p15"/>
          <p:cNvSpPr/>
          <p:nvPr/>
        </p:nvSpPr>
        <p:spPr>
          <a:xfrm>
            <a:off x="2032001" y="1081713"/>
            <a:ext cx="5946776" cy="640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33655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3200"/>
              <a:buFont typeface="Arial"/>
              <a:buNone/>
            </a:pPr>
            <a:r>
              <a:rPr b="1" i="0" lang="es-CL" sz="32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N</a:t>
            </a:r>
            <a:r>
              <a:rPr b="1" baseline="-25000" i="0" lang="es-CL" sz="32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2    </a:t>
            </a:r>
            <a:r>
              <a:rPr b="1" i="0" lang="es-CL" sz="32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 +     H</a:t>
            </a:r>
            <a:r>
              <a:rPr b="1" baseline="-25000" i="0" lang="es-CL" sz="32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2 </a:t>
            </a:r>
            <a:r>
              <a:rPr b="1" i="0" lang="es-CL" sz="32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→      </a:t>
            </a:r>
            <a:r>
              <a:rPr b="1" i="0" lang="es-CL" sz="3200" u="none" cap="none" strike="noStrike">
                <a:solidFill>
                  <a:srgbClr val="FF2F92"/>
                </a:solidFill>
                <a:latin typeface="Lucida Sans"/>
                <a:ea typeface="Lucida Sans"/>
                <a:cs typeface="Lucida Sans"/>
                <a:sym typeface="Lucida Sans"/>
              </a:rPr>
              <a:t>2</a:t>
            </a:r>
            <a:r>
              <a:rPr b="1" i="0" lang="es-CL" sz="32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 NH</a:t>
            </a:r>
            <a:r>
              <a:rPr b="1" baseline="-25000" i="0" lang="es-CL" sz="32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3</a:t>
            </a:r>
            <a:endParaRPr b="1" i="0" sz="3200" u="none" cap="none" strike="noStrike">
              <a:solidFill>
                <a:srgbClr val="2F5496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268" name="Google Shape;268;p15"/>
          <p:cNvSpPr txBox="1"/>
          <p:nvPr/>
        </p:nvSpPr>
        <p:spPr>
          <a:xfrm>
            <a:off x="431800" y="488950"/>
            <a:ext cx="533876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Veamos que pasa con el hidrógeno: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5"/>
          <p:cNvSpPr txBox="1"/>
          <p:nvPr/>
        </p:nvSpPr>
        <p:spPr>
          <a:xfrm>
            <a:off x="658813" y="1790700"/>
            <a:ext cx="446405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2 átomos de hidrógeno en reactivos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5"/>
          <p:cNvSpPr txBox="1"/>
          <p:nvPr/>
        </p:nvSpPr>
        <p:spPr>
          <a:xfrm>
            <a:off x="5905500" y="1848506"/>
            <a:ext cx="425450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6 átomos de hidrógeno en productos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15"/>
          <p:cNvSpPr txBox="1"/>
          <p:nvPr/>
        </p:nvSpPr>
        <p:spPr>
          <a:xfrm>
            <a:off x="231649" y="3010278"/>
            <a:ext cx="954748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¿Qué número deberás escribir delante del H</a:t>
            </a:r>
            <a:r>
              <a:rPr b="0" baseline="-25000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2</a:t>
            </a:r>
            <a:r>
              <a:rPr b="0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 para tener 6 átomos de H</a:t>
            </a:r>
            <a:r>
              <a:rPr b="0" baseline="-25000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2</a:t>
            </a:r>
            <a:r>
              <a:rPr b="0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15"/>
          <p:cNvSpPr/>
          <p:nvPr/>
        </p:nvSpPr>
        <p:spPr>
          <a:xfrm>
            <a:off x="2362201" y="3555958"/>
            <a:ext cx="5943600" cy="640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33655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3200"/>
              <a:buFont typeface="Arial"/>
              <a:buNone/>
            </a:pPr>
            <a:r>
              <a:rPr b="1" i="0" lang="es-CL" sz="32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N</a:t>
            </a:r>
            <a:r>
              <a:rPr b="1" baseline="-25000" i="0" lang="es-CL" sz="32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2    </a:t>
            </a:r>
            <a:r>
              <a:rPr b="1" i="0" lang="es-CL" sz="32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 +    </a:t>
            </a:r>
            <a:r>
              <a:rPr b="1" i="0" lang="es-CL" sz="3200" u="none" cap="none" strike="noStrike">
                <a:solidFill>
                  <a:srgbClr val="FF2F92"/>
                </a:solidFill>
                <a:latin typeface="Lucida Sans"/>
                <a:ea typeface="Lucida Sans"/>
                <a:cs typeface="Lucida Sans"/>
                <a:sym typeface="Lucida Sans"/>
              </a:rPr>
              <a:t>3</a:t>
            </a:r>
            <a:r>
              <a:rPr b="1" i="0" lang="es-CL" sz="32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 H</a:t>
            </a:r>
            <a:r>
              <a:rPr b="1" baseline="-25000" i="0" lang="es-CL" sz="32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2 </a:t>
            </a:r>
            <a:r>
              <a:rPr b="1" i="0" lang="es-CL" sz="32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→      </a:t>
            </a:r>
            <a:r>
              <a:rPr b="1" i="0" lang="es-CL" sz="3200" u="none" cap="none" strike="noStrike">
                <a:solidFill>
                  <a:srgbClr val="FF2F92"/>
                </a:solidFill>
                <a:latin typeface="Lucida Sans"/>
                <a:ea typeface="Lucida Sans"/>
                <a:cs typeface="Lucida Sans"/>
                <a:sym typeface="Lucida Sans"/>
              </a:rPr>
              <a:t>2</a:t>
            </a:r>
            <a:r>
              <a:rPr b="1" i="0" lang="es-CL" sz="32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 NH</a:t>
            </a:r>
            <a:r>
              <a:rPr b="1" baseline="-25000" i="0" lang="es-CL" sz="32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3</a:t>
            </a:r>
            <a:endParaRPr b="1" i="0" sz="3200" u="none" cap="none" strike="noStrike">
              <a:solidFill>
                <a:srgbClr val="2F5496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273" name="Google Shape;273;p15"/>
          <p:cNvSpPr txBox="1"/>
          <p:nvPr/>
        </p:nvSpPr>
        <p:spPr>
          <a:xfrm>
            <a:off x="1306513" y="4264025"/>
            <a:ext cx="165576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Revisemos: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5"/>
          <p:cNvSpPr txBox="1"/>
          <p:nvPr/>
        </p:nvSpPr>
        <p:spPr>
          <a:xfrm>
            <a:off x="1162050" y="4955275"/>
            <a:ext cx="446405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2 átomos de nitrógeno en reactivos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5"/>
          <p:cNvSpPr txBox="1"/>
          <p:nvPr/>
        </p:nvSpPr>
        <p:spPr>
          <a:xfrm>
            <a:off x="6301147" y="4941033"/>
            <a:ext cx="446405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2 átomos de nitrógeno en productos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15"/>
          <p:cNvSpPr txBox="1"/>
          <p:nvPr/>
        </p:nvSpPr>
        <p:spPr>
          <a:xfrm>
            <a:off x="6301147" y="5696508"/>
            <a:ext cx="446405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6 átomos de hidrógeno en productos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5"/>
          <p:cNvSpPr txBox="1"/>
          <p:nvPr/>
        </p:nvSpPr>
        <p:spPr>
          <a:xfrm>
            <a:off x="1162050" y="5671108"/>
            <a:ext cx="446405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6 átomos de hidrógeno en reactivos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2"/>
          <p:cNvSpPr txBox="1"/>
          <p:nvPr>
            <p:ph idx="1" type="body"/>
          </p:nvPr>
        </p:nvSpPr>
        <p:spPr>
          <a:xfrm>
            <a:off x="1878014" y="404813"/>
            <a:ext cx="8435975" cy="1008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64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s-CL" sz="2400">
                <a:latin typeface="Times New Roman"/>
                <a:ea typeface="Times New Roman"/>
                <a:cs typeface="Times New Roman"/>
                <a:sym typeface="Times New Roman"/>
              </a:rPr>
              <a:t>Ley de conservación de la masa establece que la materia no se pierde en las reacciones químicas.</a:t>
            </a:r>
            <a:r>
              <a:rPr lang="es-CL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84" name="Google Shape;284;p22"/>
          <p:cNvGraphicFramePr/>
          <p:nvPr/>
        </p:nvGraphicFramePr>
        <p:xfrm>
          <a:off x="1604963" y="2501900"/>
          <a:ext cx="8964612" cy="3951288"/>
        </p:xfrm>
        <a:graphic>
          <a:graphicData uri="http://schemas.openxmlformats.org/presentationml/2006/ole">
            <mc:AlternateContent>
              <mc:Choice Requires="v">
                <p:oleObj r:id="rId4" imgH="3951288" imgW="8964612" progId="Paint.Picture" spid="_x0000_s1">
                  <p:embed/>
                </p:oleObj>
              </mc:Choice>
              <mc:Fallback>
                <p:oleObj r:id="rId5" imgH="3951288" imgW="8964612" progId="Paint.Picture">
                  <p:embed/>
                  <p:pic>
                    <p:nvPicPr>
                      <p:cNvPr id="284" name="Google Shape;284;p22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1604963" y="2501900"/>
                        <a:ext cx="8964612" cy="3951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5" name="Google Shape;285;p22"/>
          <p:cNvSpPr/>
          <p:nvPr/>
        </p:nvSpPr>
        <p:spPr>
          <a:xfrm>
            <a:off x="1992313" y="1531938"/>
            <a:ext cx="8064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L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</a:t>
            </a:r>
            <a:r>
              <a:rPr b="0" baseline="-25000" i="0" lang="es-CL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b="0" i="0" lang="es-CL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 +	      </a:t>
            </a:r>
            <a:r>
              <a:rPr b="0" i="0" lang="es-CL" sz="2400" u="none" cap="none" strike="noStrik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s-CL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b="0" baseline="-25000" i="0" lang="es-CL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s-CL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     CO</a:t>
            </a:r>
            <a:r>
              <a:rPr b="0" baseline="-25000" i="0" lang="es-CL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s-CL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     +          </a:t>
            </a:r>
            <a:r>
              <a:rPr b="0" i="0" lang="es-CL" sz="2400" u="none" cap="none" strike="noStrik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s-CL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b="0" baseline="-25000" i="0" lang="es-CL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s-CL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endParaRPr/>
          </a:p>
        </p:txBody>
      </p:sp>
      <p:cxnSp>
        <p:nvCxnSpPr>
          <p:cNvPr id="286" name="Google Shape;286;p22"/>
          <p:cNvCxnSpPr/>
          <p:nvPr/>
        </p:nvCxnSpPr>
        <p:spPr>
          <a:xfrm>
            <a:off x="5591176" y="1773238"/>
            <a:ext cx="792163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87" name="Google Shape;287;p22"/>
          <p:cNvSpPr txBox="1"/>
          <p:nvPr/>
        </p:nvSpPr>
        <p:spPr>
          <a:xfrm>
            <a:off x="9667876" y="5565775"/>
            <a:ext cx="360363" cy="42703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-CL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9"/>
          <p:cNvSpPr/>
          <p:nvPr/>
        </p:nvSpPr>
        <p:spPr>
          <a:xfrm>
            <a:off x="1847851" y="981075"/>
            <a:ext cx="8355013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ts val="2000"/>
              <a:buFont typeface="Arial"/>
              <a:buChar char="•"/>
            </a:pPr>
            <a:r>
              <a:rPr b="0" i="0" lang="es-CL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Los</a:t>
            </a:r>
            <a:r>
              <a:rPr b="0" i="0" lang="es-CL" sz="20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Coeficientes Estequiométricos </a:t>
            </a:r>
            <a:r>
              <a:rPr b="0" i="0" lang="es-CL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son los números que anteceden a las fórmulas químicas, es decir, dan la cantidad de moléculas  de reactantes que se combinan para formar cierta cantidad de moléculas de productos.</a:t>
            </a:r>
            <a:endParaRPr/>
          </a:p>
          <a:p>
            <a:pPr indent="-342900" lvl="0" marL="34290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s-CL" sz="2000" u="none" cap="none" strike="noStrike">
                <a:solidFill>
                  <a:srgbClr val="0033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 + </a:t>
            </a:r>
            <a:r>
              <a:rPr b="0" i="0" lang="es-CL" sz="20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s-CL" sz="2000" u="none" cap="none" strike="noStrike">
                <a:solidFill>
                  <a:srgbClr val="0033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b="0" baseline="-25000" i="0" lang="es-CL" sz="2000" u="none" cap="none" strike="noStrike">
                <a:solidFill>
                  <a:srgbClr val="0033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s-CL" sz="2000" u="none" cap="none" strike="noStrike">
                <a:solidFill>
                  <a:srgbClr val="0033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→ </a:t>
            </a:r>
            <a:r>
              <a:rPr b="0" i="0" lang="es-CL" sz="20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s-CL" sz="2000" u="none" cap="none" strike="noStrike">
                <a:solidFill>
                  <a:srgbClr val="0033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NaOH + H</a:t>
            </a:r>
            <a:r>
              <a:rPr b="0" baseline="-25000" i="0" lang="es-CL" sz="2000" u="none" cap="none" strike="noStrike">
                <a:solidFill>
                  <a:srgbClr val="0033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  <a:p>
            <a:pPr indent="-342900" lvl="0" marL="34290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baseline="-25000" i="0" sz="2000" u="none" cap="none" strike="noStrike">
              <a:solidFill>
                <a:srgbClr val="0033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s-CL" sz="2000" u="none" cap="none" strike="noStrike">
                <a:solidFill>
                  <a:srgbClr val="0033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 + </a:t>
            </a:r>
            <a:r>
              <a:rPr b="0" i="0" lang="es-CL" sz="20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s-CL" sz="2000" u="none" cap="none" strike="noStrike">
                <a:solidFill>
                  <a:srgbClr val="0033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b="0" baseline="-25000" i="0" lang="es-CL" sz="2000" u="none" cap="none" strike="noStrike">
                <a:solidFill>
                  <a:srgbClr val="0033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s-CL" sz="2000" u="none" cap="none" strike="noStrike">
                <a:solidFill>
                  <a:srgbClr val="0033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→ </a:t>
            </a:r>
            <a:r>
              <a:rPr b="0" i="0" lang="es-CL" sz="20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s-CL" sz="2000" u="none" cap="none" strike="noStrike">
                <a:solidFill>
                  <a:srgbClr val="0033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KOH + H</a:t>
            </a:r>
            <a:r>
              <a:rPr b="0" baseline="-25000" i="0" lang="es-CL" sz="2000" u="none" cap="none" strike="noStrike">
                <a:solidFill>
                  <a:srgbClr val="0033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  <a:p>
            <a:pPr indent="-342900" lvl="0" marL="34290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baseline="-25000" i="0" sz="2000" u="none" cap="none" strike="noStrike">
              <a:solidFill>
                <a:srgbClr val="0033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b="0" i="0" lang="es-CL" sz="2000" u="none" cap="none" strike="noStrike">
                <a:solidFill>
                  <a:srgbClr val="0033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</a:t>
            </a:r>
            <a:r>
              <a:rPr b="0" baseline="-25000" i="0" lang="es-CL" sz="2000" u="none" cap="none" strike="noStrike">
                <a:solidFill>
                  <a:srgbClr val="0033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b="0" i="0" lang="es-CL" sz="2000" u="none" cap="none" strike="noStrike">
                <a:solidFill>
                  <a:srgbClr val="0033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b="0" i="0" lang="es-CL" sz="20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b="0" i="0" lang="es-CL" sz="2000" u="none" cap="none" strike="noStrike">
                <a:solidFill>
                  <a:srgbClr val="0033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b="0" baseline="-25000" i="0" lang="es-CL" sz="2000" u="none" cap="none" strike="noStrike">
                <a:solidFill>
                  <a:srgbClr val="0033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s-CL" sz="2000" u="none" cap="none" strike="noStrike">
                <a:solidFill>
                  <a:srgbClr val="0033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→ </a:t>
            </a:r>
            <a:r>
              <a:rPr b="0" i="0" lang="es-CL" sz="20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b="0" i="0" lang="es-CL" sz="2000" u="none" cap="none" strike="noStrike">
                <a:solidFill>
                  <a:srgbClr val="0033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+ </a:t>
            </a:r>
            <a:r>
              <a:rPr b="0" i="0" lang="es-CL" sz="20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b="0" i="0" lang="es-CL" sz="2000" u="none" cap="none" strike="noStrike">
                <a:solidFill>
                  <a:srgbClr val="0033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b="0" baseline="-25000" i="0" lang="es-CL" sz="2000" u="none" cap="none" strike="noStrike">
                <a:solidFill>
                  <a:srgbClr val="0033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s-CL" sz="2000" u="none" cap="none" strike="noStrike">
                <a:solidFill>
                  <a:srgbClr val="0033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endParaRPr b="0" i="0" sz="2000" u="none" cap="none" strike="noStrike">
              <a:solidFill>
                <a:srgbClr val="0033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33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4" name="Google Shape;294;p29"/>
          <p:cNvSpPr/>
          <p:nvPr/>
        </p:nvSpPr>
        <p:spPr>
          <a:xfrm>
            <a:off x="3454400" y="260351"/>
            <a:ext cx="5257800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CL" sz="2800" u="none" cap="none" strike="noStrik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Ecuaciones Químicas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5"/>
          <p:cNvSpPr txBox="1"/>
          <p:nvPr/>
        </p:nvSpPr>
        <p:spPr>
          <a:xfrm>
            <a:off x="3208338" y="423863"/>
            <a:ext cx="57467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L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Igualación de Ecuaciones Químicas</a:t>
            </a:r>
            <a:endParaRPr b="1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1" name="Google Shape;301;p45"/>
          <p:cNvSpPr txBox="1"/>
          <p:nvPr/>
        </p:nvSpPr>
        <p:spPr>
          <a:xfrm>
            <a:off x="2017713" y="1111251"/>
            <a:ext cx="20574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L" sz="1800" u="none" cap="none" strike="noStrike">
                <a:solidFill>
                  <a:srgbClr val="FF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Método Algebraico</a:t>
            </a:r>
            <a:endParaRPr b="1" i="0" sz="1800" u="none" cap="none" strike="noStrike">
              <a:solidFill>
                <a:srgbClr val="FF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2" name="Google Shape;302;p45"/>
          <p:cNvSpPr txBox="1"/>
          <p:nvPr/>
        </p:nvSpPr>
        <p:spPr>
          <a:xfrm>
            <a:off x="4378325" y="1752601"/>
            <a:ext cx="3613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Fe    +    HCl   →   FeCl</a:t>
            </a:r>
            <a:r>
              <a:rPr b="1" baseline="-2500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1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+    H</a:t>
            </a:r>
            <a:r>
              <a:rPr b="1" baseline="-2500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3" name="Google Shape;303;p45"/>
          <p:cNvGrpSpPr/>
          <p:nvPr/>
        </p:nvGrpSpPr>
        <p:grpSpPr>
          <a:xfrm>
            <a:off x="4291014" y="1757363"/>
            <a:ext cx="3303587" cy="392112"/>
            <a:chOff x="1752" y="1089"/>
            <a:chExt cx="2081" cy="247"/>
          </a:xfrm>
        </p:grpSpPr>
        <p:sp>
          <p:nvSpPr>
            <p:cNvPr id="304" name="Google Shape;304;p45"/>
            <p:cNvSpPr txBox="1"/>
            <p:nvPr/>
          </p:nvSpPr>
          <p:spPr>
            <a:xfrm>
              <a:off x="1752" y="1096"/>
              <a:ext cx="15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s-CL" sz="1800" u="none" cap="none" strike="noStrike">
                  <a:solidFill>
                    <a:srgbClr val="FF33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 b="1" i="0" sz="1800" u="none" cap="none" strike="noStrike">
                <a:solidFill>
                  <a:srgbClr val="FF33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5" name="Google Shape;305;p45"/>
            <p:cNvSpPr txBox="1"/>
            <p:nvPr/>
          </p:nvSpPr>
          <p:spPr>
            <a:xfrm>
              <a:off x="2345" y="1089"/>
              <a:ext cx="15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s-CL" sz="1800" u="none" cap="none" strike="noStrike">
                  <a:solidFill>
                    <a:srgbClr val="FF33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</a:t>
              </a:r>
              <a:endParaRPr b="1" i="0" sz="1800" u="none" cap="none" strike="noStrike">
                <a:solidFill>
                  <a:srgbClr val="FF33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6" name="Google Shape;306;p45"/>
            <p:cNvSpPr txBox="1"/>
            <p:nvPr/>
          </p:nvSpPr>
          <p:spPr>
            <a:xfrm>
              <a:off x="2993" y="1105"/>
              <a:ext cx="15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s-CL" sz="1800" u="none" cap="none" strike="noStrike">
                  <a:solidFill>
                    <a:srgbClr val="FF33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endParaRPr b="1" i="0" sz="1800" u="none" cap="none" strike="noStrike">
                <a:solidFill>
                  <a:srgbClr val="FF33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7" name="Google Shape;307;p45"/>
            <p:cNvSpPr txBox="1"/>
            <p:nvPr/>
          </p:nvSpPr>
          <p:spPr>
            <a:xfrm>
              <a:off x="3681" y="1105"/>
              <a:ext cx="15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s-CL" sz="1800" u="none" cap="none" strike="noStrike">
                  <a:solidFill>
                    <a:srgbClr val="FF33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</a:t>
              </a:r>
              <a:endParaRPr b="1" i="0" sz="1800" u="none" cap="none" strike="noStrike">
                <a:solidFill>
                  <a:srgbClr val="FF33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308" name="Google Shape;308;p45"/>
          <p:cNvSpPr txBox="1"/>
          <p:nvPr/>
        </p:nvSpPr>
        <p:spPr>
          <a:xfrm>
            <a:off x="5092700" y="2501901"/>
            <a:ext cx="1981200" cy="11922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L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Para Fe : </a:t>
            </a:r>
            <a:r>
              <a:rPr b="1" i="0" lang="es-CL" sz="1800" u="none" cap="none" strike="noStrike">
                <a:solidFill>
                  <a:srgbClr val="FF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= c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L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Para H : </a:t>
            </a:r>
            <a:r>
              <a:rPr b="1" i="0" lang="es-CL" sz="1800" u="none" cap="none" strike="noStrike">
                <a:solidFill>
                  <a:srgbClr val="FF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 = 2d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L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Para Cl : </a:t>
            </a:r>
            <a:r>
              <a:rPr b="1" i="0" lang="es-CL" sz="1800" u="none" cap="none" strike="noStrike">
                <a:solidFill>
                  <a:srgbClr val="FF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 = 3c</a:t>
            </a:r>
            <a:endParaRPr b="1" i="0" sz="1800" u="none" cap="none" strike="noStrike">
              <a:solidFill>
                <a:srgbClr val="FF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9" name="Google Shape;309;p45"/>
          <p:cNvSpPr txBox="1"/>
          <p:nvPr/>
        </p:nvSpPr>
        <p:spPr>
          <a:xfrm>
            <a:off x="1803400" y="3810001"/>
            <a:ext cx="8547100" cy="1190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 problema se reduce a resolver este sistema de ecuaciones, asignado en forma arbitraria, </a:t>
            </a:r>
            <a:r>
              <a:rPr b="1" i="0" lang="es-CL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 valor al coeficiente que más se repita</a:t>
            </a:r>
            <a:r>
              <a:rPr b="0" i="0" lang="es-CL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y, en función de éste, obtener los otros valores. Si resultan números fraccionarios se </a:t>
            </a:r>
            <a:r>
              <a:rPr b="1" i="0" lang="es-CL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amplifica por el denominador</a:t>
            </a:r>
            <a:r>
              <a:rPr b="0" i="0" lang="es-CL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para convertirlos en números enteros y pequeños 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5" name="Google Shape;315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47850" y="549275"/>
            <a:ext cx="8161338" cy="273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63750" y="3644901"/>
            <a:ext cx="8307388" cy="2644775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65"/>
          <p:cNvSpPr txBox="1"/>
          <p:nvPr/>
        </p:nvSpPr>
        <p:spPr>
          <a:xfrm>
            <a:off x="8040688" y="1412875"/>
            <a:ext cx="36036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L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  <p:sp>
        <p:nvSpPr>
          <p:cNvPr id="318" name="Google Shape;318;p65"/>
          <p:cNvSpPr txBox="1"/>
          <p:nvPr/>
        </p:nvSpPr>
        <p:spPr>
          <a:xfrm>
            <a:off x="8328026" y="6237288"/>
            <a:ext cx="36036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L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66"/>
          <p:cNvSpPr txBox="1"/>
          <p:nvPr/>
        </p:nvSpPr>
        <p:spPr>
          <a:xfrm>
            <a:off x="3208338" y="423863"/>
            <a:ext cx="57467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L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Igualación de Ecuaciones Químicas</a:t>
            </a:r>
            <a:endParaRPr b="1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5" name="Google Shape;325;p66"/>
          <p:cNvSpPr txBox="1"/>
          <p:nvPr/>
        </p:nvSpPr>
        <p:spPr>
          <a:xfrm>
            <a:off x="2679700" y="2933701"/>
            <a:ext cx="6807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  +   HNO</a:t>
            </a:r>
            <a:r>
              <a:rPr b="1" baseline="-2500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1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→   Cu(NO</a:t>
            </a:r>
            <a:r>
              <a:rPr b="1" baseline="-2500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1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1" baseline="-2500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1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+   NO</a:t>
            </a:r>
            <a:r>
              <a:rPr b="1" baseline="-2500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1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+   H</a:t>
            </a:r>
            <a:r>
              <a:rPr b="1" baseline="-2500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1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endParaRPr/>
          </a:p>
        </p:txBody>
      </p:sp>
      <p:sp>
        <p:nvSpPr>
          <p:cNvPr id="326" name="Google Shape;326;p66"/>
          <p:cNvSpPr txBox="1"/>
          <p:nvPr/>
        </p:nvSpPr>
        <p:spPr>
          <a:xfrm>
            <a:off x="4178300" y="1549401"/>
            <a:ext cx="37973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1" baseline="-2500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1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b="1" baseline="-2500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b="1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 O</a:t>
            </a:r>
            <a:r>
              <a:rPr b="1" baseline="-2500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1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→   CO</a:t>
            </a:r>
            <a:r>
              <a:rPr b="1" baseline="-2500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1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+  H</a:t>
            </a:r>
            <a:r>
              <a:rPr b="1" baseline="-2500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1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9300">
            <a:alpha val="54509"/>
          </a:srgbClr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6"/>
          <p:cNvSpPr txBox="1"/>
          <p:nvPr>
            <p:ph idx="12" type="sldNum"/>
          </p:nvPr>
        </p:nvSpPr>
        <p:spPr>
          <a:xfrm>
            <a:off x="11390969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  <p:pic>
        <p:nvPicPr>
          <p:cNvPr id="332" name="Google Shape;33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79280" y="132951"/>
            <a:ext cx="2116765" cy="1058383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16"/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FF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34" name="Google Shape;334;p16"/>
          <p:cNvSpPr/>
          <p:nvPr/>
        </p:nvSpPr>
        <p:spPr>
          <a:xfrm>
            <a:off x="301625" y="383244"/>
            <a:ext cx="8893176" cy="5816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2F92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rgbClr val="FF2F92"/>
                </a:solidFill>
                <a:latin typeface="Lucida Sans"/>
                <a:ea typeface="Lucida Sans"/>
                <a:cs typeface="Lucida Sans"/>
                <a:sym typeface="Lucida Sans"/>
              </a:rPr>
              <a:t>Método algebraico: </a:t>
            </a:r>
            <a:r>
              <a:rPr b="0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Es un método matemático que consiste en asignar incógnitas a cada una de las especies de nuestra ecuación química; se establecerán ecuaciones en función de los átomos y, al despejar dichas incógnitas, encontraremos los coeficientes buscados.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2F5496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2F5496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2F5496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2F5496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3200"/>
              <a:buFont typeface="Arial"/>
              <a:buNone/>
            </a:pPr>
            <a:r>
              <a:rPr b="0" i="0" lang="es-CL" sz="32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         </a:t>
            </a:r>
            <a:endParaRPr b="0" i="0" sz="2000" u="none" cap="none" strike="noStrike">
              <a:solidFill>
                <a:srgbClr val="2F5496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Pasos: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2F5496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1.-  </a:t>
            </a:r>
            <a:r>
              <a:rPr b="0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Escribir delante de cada sustancia letras.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2F5496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2F5496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2F5496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               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16"/>
          <p:cNvSpPr/>
          <p:nvPr/>
        </p:nvSpPr>
        <p:spPr>
          <a:xfrm>
            <a:off x="574141" y="3136612"/>
            <a:ext cx="9405139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ts val="3200"/>
              <a:buFont typeface="Lucida Sans"/>
              <a:buNone/>
            </a:pPr>
            <a:r>
              <a:rPr b="1" i="0" lang="es-CL" sz="32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Cu    +  HNO</a:t>
            </a:r>
            <a:r>
              <a:rPr b="1" baseline="-25000" i="0" lang="es-CL" sz="32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3</a:t>
            </a:r>
            <a:r>
              <a:rPr b="1" i="0" lang="es-CL" sz="32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   →   NO</a:t>
            </a:r>
            <a:r>
              <a:rPr b="1" baseline="-25000" i="0" lang="es-CL" sz="32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2</a:t>
            </a:r>
            <a:r>
              <a:rPr b="1" i="0" lang="es-CL" sz="32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    + Cu(NO</a:t>
            </a:r>
            <a:r>
              <a:rPr b="1" baseline="-25000" i="0" lang="es-CL" sz="32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3</a:t>
            </a:r>
            <a:r>
              <a:rPr b="1" i="0" lang="es-CL" sz="32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)</a:t>
            </a:r>
            <a:r>
              <a:rPr b="1" baseline="-25000" i="0" lang="es-CL" sz="32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2</a:t>
            </a:r>
            <a:r>
              <a:rPr b="1" i="0" lang="es-CL" sz="32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  +  H</a:t>
            </a:r>
            <a:r>
              <a:rPr b="1" baseline="-25000" i="0" lang="es-CL" sz="32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2</a:t>
            </a:r>
            <a:r>
              <a:rPr b="1" i="0" lang="es-CL" sz="32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16"/>
          <p:cNvSpPr/>
          <p:nvPr/>
        </p:nvSpPr>
        <p:spPr>
          <a:xfrm>
            <a:off x="242662" y="5405055"/>
            <a:ext cx="1032373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37FF"/>
              </a:buClr>
              <a:buSzPts val="2800"/>
              <a:buFont typeface="Lucida Sans"/>
              <a:buNone/>
            </a:pPr>
            <a:r>
              <a:rPr b="1" i="0" lang="es-CL" sz="2800" u="none" cap="none" strike="noStrike">
                <a:solidFill>
                  <a:srgbClr val="9437FF"/>
                </a:solidFill>
                <a:latin typeface="Lucida Sans"/>
                <a:ea typeface="Lucida Sans"/>
                <a:cs typeface="Lucida Sans"/>
                <a:sym typeface="Lucida Sans"/>
              </a:rPr>
              <a:t>a</a:t>
            </a:r>
            <a:r>
              <a:rPr b="0" i="0" lang="es-CL" sz="28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  Cu    +    </a:t>
            </a:r>
            <a:r>
              <a:rPr b="1" i="0" lang="es-CL" sz="2800" u="none" cap="none" strike="noStrike">
                <a:solidFill>
                  <a:srgbClr val="FF9300"/>
                </a:solidFill>
                <a:latin typeface="Lucida Sans"/>
                <a:ea typeface="Lucida Sans"/>
                <a:cs typeface="Lucida Sans"/>
                <a:sym typeface="Lucida Sans"/>
              </a:rPr>
              <a:t>b</a:t>
            </a:r>
            <a:r>
              <a:rPr b="0" i="0" lang="es-CL" sz="28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 HNO</a:t>
            </a:r>
            <a:r>
              <a:rPr b="0" baseline="-25000" i="0" lang="es-CL" sz="28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3</a:t>
            </a:r>
            <a:r>
              <a:rPr b="0" i="0" lang="es-CL" sz="28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 →    </a:t>
            </a:r>
            <a:r>
              <a:rPr b="1" i="0" lang="es-CL" sz="2800" u="none" cap="none" strike="noStrike">
                <a:solidFill>
                  <a:srgbClr val="0432FF"/>
                </a:solidFill>
                <a:latin typeface="Lucida Sans"/>
                <a:ea typeface="Lucida Sans"/>
                <a:cs typeface="Lucida Sans"/>
                <a:sym typeface="Lucida Sans"/>
              </a:rPr>
              <a:t>c</a:t>
            </a:r>
            <a:r>
              <a:rPr b="0" i="0" lang="es-CL" sz="2800" u="none" cap="none" strike="noStrike">
                <a:solidFill>
                  <a:srgbClr val="0432FF"/>
                </a:solidFill>
                <a:latin typeface="Lucida Sans"/>
                <a:ea typeface="Lucida Sans"/>
                <a:cs typeface="Lucida Sans"/>
                <a:sym typeface="Lucida Sans"/>
              </a:rPr>
              <a:t> </a:t>
            </a:r>
            <a:r>
              <a:rPr b="0" i="0" lang="es-CL" sz="28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NO</a:t>
            </a:r>
            <a:r>
              <a:rPr b="0" baseline="-25000" i="0" lang="es-CL" sz="28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2</a:t>
            </a:r>
            <a:r>
              <a:rPr b="0" i="0" lang="es-CL" sz="28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    +   </a:t>
            </a:r>
            <a:r>
              <a:rPr b="1" i="0" lang="es-CL" sz="2800" u="none" cap="none" strike="noStrike">
                <a:solidFill>
                  <a:srgbClr val="FF85FF"/>
                </a:solidFill>
                <a:latin typeface="Lucida Sans"/>
                <a:ea typeface="Lucida Sans"/>
                <a:cs typeface="Lucida Sans"/>
                <a:sym typeface="Lucida Sans"/>
              </a:rPr>
              <a:t>d</a:t>
            </a:r>
            <a:r>
              <a:rPr b="0" i="0" lang="es-CL" sz="28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 Cu(NO</a:t>
            </a:r>
            <a:r>
              <a:rPr b="0" baseline="-25000" i="0" lang="es-CL" sz="28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3</a:t>
            </a:r>
            <a:r>
              <a:rPr b="0" i="0" lang="es-CL" sz="28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)</a:t>
            </a:r>
            <a:r>
              <a:rPr b="0" baseline="-25000" i="0" lang="es-CL" sz="28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2</a:t>
            </a:r>
            <a:r>
              <a:rPr b="0" i="0" lang="es-CL" sz="28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  +  </a:t>
            </a:r>
            <a:r>
              <a:rPr b="1" i="0" lang="es-CL" sz="2800" u="none" cap="none" strike="noStrike">
                <a:solidFill>
                  <a:srgbClr val="797979"/>
                </a:solidFill>
                <a:latin typeface="Lucida Sans"/>
                <a:ea typeface="Lucida Sans"/>
                <a:cs typeface="Lucida Sans"/>
                <a:sym typeface="Lucida Sans"/>
              </a:rPr>
              <a:t>e</a:t>
            </a:r>
            <a:r>
              <a:rPr b="0" i="0" lang="es-CL" sz="28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 H</a:t>
            </a:r>
            <a:r>
              <a:rPr b="0" baseline="-25000" i="0" lang="es-CL" sz="28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2</a:t>
            </a:r>
            <a:r>
              <a:rPr b="0" i="0" lang="es-CL" sz="28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9300">
            <a:alpha val="54509"/>
          </a:srgbClr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7"/>
          <p:cNvSpPr txBox="1"/>
          <p:nvPr>
            <p:ph idx="12" type="sldNum"/>
          </p:nvPr>
        </p:nvSpPr>
        <p:spPr>
          <a:xfrm>
            <a:off x="11230321" y="6333200"/>
            <a:ext cx="961679" cy="5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Lucida Sans"/>
              <a:buNone/>
            </a:pPr>
            <a:fld id="{00000000-1234-1234-1234-123412341234}" type="slidenum">
              <a:rPr lang="es-CL" sz="2000">
                <a:latin typeface="Lucida Sans"/>
                <a:ea typeface="Lucida Sans"/>
                <a:cs typeface="Lucida Sans"/>
                <a:sym typeface="Lucida Sans"/>
              </a:rPr>
              <a:t>‹#›</a:t>
            </a:fld>
            <a:endParaRPr sz="2000"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342" name="Google Shape;34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74155" y="8494"/>
            <a:ext cx="2782463" cy="1058383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17"/>
          <p:cNvSpPr/>
          <p:nvPr/>
        </p:nvSpPr>
        <p:spPr>
          <a:xfrm>
            <a:off x="7472606" y="152412"/>
            <a:ext cx="24282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FF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344" name="Google Shape;344;p17"/>
          <p:cNvSpPr txBox="1"/>
          <p:nvPr/>
        </p:nvSpPr>
        <p:spPr>
          <a:xfrm>
            <a:off x="586574" y="1768630"/>
            <a:ext cx="4949772" cy="11079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400"/>
              <a:buFont typeface="Arial"/>
              <a:buNone/>
            </a:pPr>
            <a:r>
              <a:rPr b="1" i="0" lang="es-CL" sz="24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N      </a:t>
            </a:r>
            <a:r>
              <a:rPr b="0" i="0" lang="es-CL" sz="24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 :     </a:t>
            </a:r>
            <a:r>
              <a:rPr b="1" i="0" lang="es-CL" sz="2400" u="none" cap="none" strike="noStrike">
                <a:solidFill>
                  <a:srgbClr val="FF9300"/>
                </a:solidFill>
                <a:latin typeface="Lucida Sans"/>
                <a:ea typeface="Lucida Sans"/>
                <a:cs typeface="Lucida Sans"/>
                <a:sym typeface="Lucida Sans"/>
              </a:rPr>
              <a:t>b</a:t>
            </a:r>
            <a:r>
              <a:rPr b="0" i="0" lang="es-CL" sz="24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  = </a:t>
            </a:r>
            <a:r>
              <a:rPr b="1" i="0" lang="es-CL" sz="2400" u="none" cap="none" strike="noStrike">
                <a:solidFill>
                  <a:srgbClr val="0432FF"/>
                </a:solidFill>
                <a:latin typeface="Lucida Sans"/>
                <a:ea typeface="Lucida Sans"/>
                <a:cs typeface="Lucida Sans"/>
                <a:sym typeface="Lucida Sans"/>
              </a:rPr>
              <a:t>c</a:t>
            </a:r>
            <a:r>
              <a:rPr b="0" i="0" lang="es-CL" sz="24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 + </a:t>
            </a:r>
            <a:r>
              <a:rPr b="1" i="0" lang="es-CL" sz="2400" u="none" cap="none" strike="noStrike">
                <a:solidFill>
                  <a:srgbClr val="FF85FF"/>
                </a:solidFill>
                <a:latin typeface="Lucida Sans"/>
                <a:ea typeface="Lucida Sans"/>
                <a:cs typeface="Lucida Sans"/>
                <a:sym typeface="Lucida Sans"/>
              </a:rPr>
              <a:t>2d</a:t>
            </a:r>
            <a:endParaRPr b="0" i="0" sz="2400" u="none" cap="none" strike="noStrike">
              <a:solidFill>
                <a:srgbClr val="2F5496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400"/>
              <a:buFont typeface="Arial"/>
              <a:buNone/>
            </a:pPr>
            <a:r>
              <a:rPr b="1" i="0" lang="es-CL" sz="24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O       </a:t>
            </a:r>
            <a:r>
              <a:rPr b="0" i="0" lang="es-CL" sz="24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:</a:t>
            </a:r>
            <a:r>
              <a:rPr b="1" i="0" lang="es-CL" sz="24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    </a:t>
            </a:r>
            <a:r>
              <a:rPr b="1" i="0" lang="es-CL" sz="2400" u="none" cap="none" strike="noStrike">
                <a:solidFill>
                  <a:srgbClr val="FF9300"/>
                </a:solidFill>
                <a:latin typeface="Lucida Sans"/>
                <a:ea typeface="Lucida Sans"/>
                <a:cs typeface="Lucida Sans"/>
                <a:sym typeface="Lucida Sans"/>
              </a:rPr>
              <a:t>3b</a:t>
            </a:r>
            <a:r>
              <a:rPr b="0" i="0" lang="es-CL" sz="24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 = </a:t>
            </a:r>
            <a:r>
              <a:rPr b="1" i="0" lang="es-CL" sz="2400" u="none" cap="none" strike="noStrike">
                <a:solidFill>
                  <a:srgbClr val="0432FF"/>
                </a:solidFill>
                <a:latin typeface="Lucida Sans"/>
                <a:ea typeface="Lucida Sans"/>
                <a:cs typeface="Lucida Sans"/>
                <a:sym typeface="Lucida Sans"/>
              </a:rPr>
              <a:t>2c</a:t>
            </a:r>
            <a:r>
              <a:rPr b="0" i="0" lang="es-CL" sz="24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 +</a:t>
            </a:r>
            <a:r>
              <a:rPr b="1" i="0" lang="es-CL" sz="2400" u="none" cap="none" strike="noStrike">
                <a:solidFill>
                  <a:srgbClr val="FF85FF"/>
                </a:solidFill>
                <a:latin typeface="Lucida Sans"/>
                <a:ea typeface="Lucida Sans"/>
                <a:cs typeface="Lucida Sans"/>
                <a:sym typeface="Lucida Sans"/>
              </a:rPr>
              <a:t> 6d </a:t>
            </a:r>
            <a:r>
              <a:rPr b="0" i="0" lang="es-CL" sz="24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+ </a:t>
            </a:r>
            <a:r>
              <a:rPr b="1" i="0" lang="es-CL" sz="2400" u="none" cap="none" strike="noStrike">
                <a:solidFill>
                  <a:srgbClr val="797979"/>
                </a:solidFill>
                <a:latin typeface="Lucida Sans"/>
                <a:ea typeface="Lucida Sans"/>
                <a:cs typeface="Lucida Sans"/>
                <a:sym typeface="Lucida Sans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345" name="Google Shape;345;p17"/>
          <p:cNvSpPr txBox="1"/>
          <p:nvPr/>
        </p:nvSpPr>
        <p:spPr>
          <a:xfrm>
            <a:off x="209131" y="3110918"/>
            <a:ext cx="10342433" cy="35394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3.-  </a:t>
            </a:r>
            <a:r>
              <a:rPr b="0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A la letra que más se repita en las ecuaciones algebraicas se les asigna un valor arbitrario, como 1 o 2 en caso de que convenga, para evitar fracciones.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2F5496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En el ejercicios la letra que más se repite es la letra b.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2F5496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300"/>
              </a:buClr>
              <a:buSzPts val="2400"/>
              <a:buFont typeface="Arial"/>
              <a:buNone/>
            </a:pPr>
            <a:r>
              <a:rPr b="0" i="0" lang="es-CL" sz="2400" u="none" cap="none" strike="noStrike">
                <a:solidFill>
                  <a:srgbClr val="FF9300"/>
                </a:solidFill>
                <a:latin typeface="Lucida Sans"/>
                <a:ea typeface="Lucida Sans"/>
                <a:cs typeface="Lucida Sans"/>
                <a:sym typeface="Lucida Sans"/>
              </a:rPr>
              <a:t> </a:t>
            </a:r>
            <a:r>
              <a:rPr b="1" i="0" lang="es-CL" sz="2400" u="none" cap="none" strike="noStrike">
                <a:solidFill>
                  <a:srgbClr val="FF9300"/>
                </a:solidFill>
                <a:latin typeface="Lucida Sans"/>
                <a:ea typeface="Lucida Sans"/>
                <a:cs typeface="Lucida Sans"/>
                <a:sym typeface="Lucida Sans"/>
              </a:rPr>
              <a:t>b = 2</a:t>
            </a:r>
            <a:endParaRPr b="0" i="0" sz="2400" u="none" cap="none" strike="noStrike">
              <a:solidFill>
                <a:srgbClr val="FF9300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2F5496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2F5496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2F5496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Reemplazando el valor de b, se tiene </a:t>
            </a:r>
            <a:r>
              <a:rPr b="1" i="0" lang="es-CL" sz="2000" u="none" cap="none" strike="noStrike">
                <a:solidFill>
                  <a:srgbClr val="797979"/>
                </a:solidFill>
                <a:latin typeface="Lucida Sans"/>
                <a:ea typeface="Lucida Sans"/>
                <a:cs typeface="Lucida Sans"/>
                <a:sym typeface="Lucida Sans"/>
              </a:rPr>
              <a:t>e =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2F5496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346" name="Google Shape;346;p17"/>
          <p:cNvSpPr txBox="1"/>
          <p:nvPr/>
        </p:nvSpPr>
        <p:spPr>
          <a:xfrm>
            <a:off x="570775" y="980340"/>
            <a:ext cx="3190996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400"/>
              <a:buFont typeface="Arial"/>
              <a:buNone/>
            </a:pPr>
            <a:r>
              <a:rPr b="1" i="0" lang="es-CL" sz="24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Cu     </a:t>
            </a:r>
            <a:r>
              <a:rPr b="0" i="0" lang="es-CL" sz="24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:     </a:t>
            </a:r>
            <a:r>
              <a:rPr b="1" i="0" lang="es-CL" sz="2400" u="none" cap="none" strike="noStrike">
                <a:solidFill>
                  <a:srgbClr val="9437FF"/>
                </a:solidFill>
                <a:latin typeface="Lucida Sans"/>
                <a:ea typeface="Lucida Sans"/>
                <a:cs typeface="Lucida Sans"/>
                <a:sym typeface="Lucida Sans"/>
              </a:rPr>
              <a:t>a</a:t>
            </a:r>
            <a:r>
              <a:rPr b="0" i="0" lang="es-CL" sz="24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  = </a:t>
            </a:r>
            <a:r>
              <a:rPr b="1" i="0" lang="es-CL" sz="2400" u="none" cap="none" strike="noStrike">
                <a:solidFill>
                  <a:srgbClr val="FF85FF"/>
                </a:solidFill>
                <a:latin typeface="Lucida Sans"/>
                <a:ea typeface="Lucida Sans"/>
                <a:cs typeface="Lucida Sans"/>
                <a:sym typeface="Lucida Sans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400"/>
              <a:buFont typeface="Arial"/>
              <a:buNone/>
            </a:pPr>
            <a:r>
              <a:rPr b="1" i="0" lang="es-CL" sz="24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H       </a:t>
            </a:r>
            <a:r>
              <a:rPr b="0" i="0" lang="es-CL" sz="24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:    </a:t>
            </a:r>
            <a:r>
              <a:rPr b="1" i="0" lang="es-CL" sz="2400" u="none" cap="none" strike="noStrike">
                <a:solidFill>
                  <a:srgbClr val="FF9300"/>
                </a:solidFill>
                <a:latin typeface="Lucida Sans"/>
                <a:ea typeface="Lucida Sans"/>
                <a:cs typeface="Lucida Sans"/>
                <a:sym typeface="Lucida Sans"/>
              </a:rPr>
              <a:t> b  </a:t>
            </a:r>
            <a:r>
              <a:rPr b="0" i="0" lang="es-CL" sz="24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= </a:t>
            </a:r>
            <a:r>
              <a:rPr b="1" i="0" lang="es-CL" sz="2400" u="none" cap="none" strike="noStrike">
                <a:solidFill>
                  <a:srgbClr val="797979"/>
                </a:solidFill>
                <a:latin typeface="Lucida Sans"/>
                <a:ea typeface="Lucida Sans"/>
                <a:cs typeface="Lucida Sans"/>
                <a:sym typeface="Lucida Sans"/>
              </a:rPr>
              <a:t>2e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17"/>
          <p:cNvSpPr/>
          <p:nvPr/>
        </p:nvSpPr>
        <p:spPr>
          <a:xfrm>
            <a:off x="209131" y="330910"/>
            <a:ext cx="1069831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000"/>
              <a:buFont typeface="Lucida Sans"/>
              <a:buNone/>
            </a:pPr>
            <a:r>
              <a:rPr b="1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2.-  </a:t>
            </a:r>
            <a:r>
              <a:rPr b="0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Para cada elemento debes escribir una ecuación algebraica.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17"/>
          <p:cNvSpPr/>
          <p:nvPr/>
        </p:nvSpPr>
        <p:spPr>
          <a:xfrm>
            <a:off x="5110140" y="923099"/>
            <a:ext cx="3651896" cy="17197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2F92"/>
              </a:buClr>
              <a:buSzPts val="1800"/>
              <a:buFont typeface="Lucida Sans"/>
              <a:buNone/>
            </a:pPr>
            <a:r>
              <a:rPr b="1" i="0" lang="es-CL" sz="1800" u="none" cap="none" strike="noStrike">
                <a:solidFill>
                  <a:srgbClr val="FF2F92"/>
                </a:solidFill>
                <a:latin typeface="Lucida Sans"/>
                <a:ea typeface="Lucida Sans"/>
                <a:cs typeface="Lucida Sans"/>
                <a:sym typeface="Lucida Sans"/>
              </a:rPr>
              <a:t>Recuerda que el 2 multiplica a los número que están dentro del paréntesis, es como factorizar.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17"/>
          <p:cNvSpPr/>
          <p:nvPr/>
        </p:nvSpPr>
        <p:spPr>
          <a:xfrm>
            <a:off x="1640436" y="5256524"/>
            <a:ext cx="365629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400"/>
              <a:buFont typeface="Lucida Sans"/>
              <a:buNone/>
            </a:pPr>
            <a:r>
              <a:rPr b="1" i="0" lang="es-CL" sz="24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H       </a:t>
            </a:r>
            <a:r>
              <a:rPr b="0" i="0" lang="es-CL" sz="24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:   </a:t>
            </a:r>
            <a:r>
              <a:rPr b="1" i="0" lang="es-CL" sz="2400" u="none" cap="none" strike="noStrike">
                <a:solidFill>
                  <a:srgbClr val="FF9300"/>
                </a:solidFill>
                <a:latin typeface="Lucida Sans"/>
                <a:ea typeface="Lucida Sans"/>
                <a:cs typeface="Lucida Sans"/>
                <a:sym typeface="Lucida Sans"/>
              </a:rPr>
              <a:t> b   </a:t>
            </a:r>
            <a:r>
              <a:rPr b="0" i="0" lang="es-CL" sz="24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= </a:t>
            </a:r>
            <a:r>
              <a:rPr b="1" i="0" lang="es-CL" sz="2400" u="none" cap="none" strike="noStrike">
                <a:solidFill>
                  <a:srgbClr val="797979"/>
                </a:solidFill>
                <a:latin typeface="Lucida Sans"/>
                <a:ea typeface="Lucida Sans"/>
                <a:cs typeface="Lucida Sans"/>
                <a:sym typeface="Lucida Sans"/>
              </a:rPr>
              <a:t>2e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9300">
            <a:alpha val="54509"/>
          </a:srgbClr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8"/>
          <p:cNvSpPr txBox="1"/>
          <p:nvPr>
            <p:ph idx="12" type="sldNum"/>
          </p:nvPr>
        </p:nvSpPr>
        <p:spPr>
          <a:xfrm>
            <a:off x="11390969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Lucida Sans"/>
              <a:buNone/>
            </a:pPr>
            <a:fld id="{00000000-1234-1234-1234-123412341234}" type="slidenum">
              <a:rPr lang="es-CL" sz="2000">
                <a:latin typeface="Lucida Sans"/>
                <a:ea typeface="Lucida Sans"/>
                <a:cs typeface="Lucida Sans"/>
                <a:sym typeface="Lucida Sans"/>
              </a:rPr>
              <a:t>‹#›</a:t>
            </a:fld>
            <a:endParaRPr sz="2000"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355" name="Google Shape;35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79280" y="132951"/>
            <a:ext cx="2116765" cy="1058383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18"/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FF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57" name="Google Shape;357;p18"/>
          <p:cNvSpPr txBox="1"/>
          <p:nvPr/>
        </p:nvSpPr>
        <p:spPr>
          <a:xfrm>
            <a:off x="664917" y="636607"/>
            <a:ext cx="7920880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400"/>
              <a:buFont typeface="Arial"/>
              <a:buNone/>
            </a:pPr>
            <a:r>
              <a:rPr b="1" i="0" lang="es-CL" sz="24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N      </a:t>
            </a:r>
            <a:r>
              <a:rPr b="0" i="0" lang="es-CL" sz="24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 :     </a:t>
            </a:r>
            <a:r>
              <a:rPr b="1" i="0" lang="es-CL" sz="1800" u="none" cap="none" strike="noStrike">
                <a:solidFill>
                  <a:srgbClr val="FF9300"/>
                </a:solidFill>
                <a:latin typeface="Lucida Sans"/>
                <a:ea typeface="Lucida Sans"/>
                <a:cs typeface="Lucida Sans"/>
                <a:sym typeface="Lucida Sans"/>
              </a:rPr>
              <a:t>b</a:t>
            </a:r>
            <a:r>
              <a:rPr b="0" i="0" lang="es-CL" sz="18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  = </a:t>
            </a:r>
            <a:r>
              <a:rPr b="1" i="0" lang="es-CL" sz="1800" u="none" cap="none" strike="noStrike">
                <a:solidFill>
                  <a:srgbClr val="0432FF"/>
                </a:solidFill>
                <a:latin typeface="Lucida Sans"/>
                <a:ea typeface="Lucida Sans"/>
                <a:cs typeface="Lucida Sans"/>
                <a:sym typeface="Lucida Sans"/>
              </a:rPr>
              <a:t>c</a:t>
            </a:r>
            <a:r>
              <a:rPr b="0" i="0" lang="es-CL" sz="18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 + </a:t>
            </a:r>
            <a:r>
              <a:rPr b="1" i="0" lang="es-CL" sz="1800" u="none" cap="none" strike="noStrike">
                <a:solidFill>
                  <a:srgbClr val="FF85FF"/>
                </a:solidFill>
                <a:latin typeface="Lucida Sans"/>
                <a:ea typeface="Lucida Sans"/>
                <a:cs typeface="Lucida Sans"/>
                <a:sym typeface="Lucida Sans"/>
              </a:rPr>
              <a:t>2d </a:t>
            </a:r>
            <a:r>
              <a:rPr b="0" i="0" lang="es-CL" sz="18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 reemplazando valor de 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300"/>
              </a:buClr>
              <a:buSzPts val="1800"/>
              <a:buFont typeface="Arial"/>
              <a:buNone/>
            </a:pPr>
            <a:r>
              <a:rPr b="1" i="0" lang="es-CL" sz="1800" u="none" cap="none" strike="noStrike">
                <a:solidFill>
                  <a:srgbClr val="FF9300"/>
                </a:solidFill>
                <a:latin typeface="Lucida Sans"/>
                <a:ea typeface="Lucida Sans"/>
                <a:cs typeface="Lucida Sans"/>
                <a:sym typeface="Lucida Sans"/>
              </a:rPr>
              <a:t>                    2</a:t>
            </a:r>
            <a:r>
              <a:rPr b="0" i="0" lang="es-CL" sz="18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  = </a:t>
            </a:r>
            <a:r>
              <a:rPr b="1" i="0" lang="es-CL" sz="1800" u="none" cap="none" strike="noStrike">
                <a:solidFill>
                  <a:srgbClr val="0432FF"/>
                </a:solidFill>
                <a:latin typeface="Lucida Sans"/>
                <a:ea typeface="Lucida Sans"/>
                <a:cs typeface="Lucida Sans"/>
                <a:sym typeface="Lucida Sans"/>
              </a:rPr>
              <a:t>c</a:t>
            </a:r>
            <a:r>
              <a:rPr b="0" i="0" lang="es-CL" sz="18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 + </a:t>
            </a:r>
            <a:r>
              <a:rPr b="1" i="0" lang="es-CL" sz="1800" u="none" cap="none" strike="noStrike">
                <a:solidFill>
                  <a:srgbClr val="FF85FF"/>
                </a:solidFill>
                <a:latin typeface="Lucida Sans"/>
                <a:ea typeface="Lucida Sans"/>
                <a:cs typeface="Lucida Sans"/>
                <a:sym typeface="Lucida Sans"/>
              </a:rPr>
              <a:t>2d</a:t>
            </a:r>
            <a:endParaRPr b="0" i="0" sz="1800" u="none" cap="none" strike="noStrike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358" name="Google Shape;358;p18"/>
          <p:cNvSpPr/>
          <p:nvPr/>
        </p:nvSpPr>
        <p:spPr>
          <a:xfrm>
            <a:off x="162610" y="202550"/>
            <a:ext cx="80407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800"/>
              <a:buFont typeface="Lucida Sans"/>
              <a:buNone/>
            </a:pPr>
            <a:r>
              <a:rPr b="0" i="0" lang="es-CL" sz="18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Con las ecuaciones de Ny O se forma un sistema de ecuaciones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8"/>
          <p:cNvSpPr txBox="1"/>
          <p:nvPr/>
        </p:nvSpPr>
        <p:spPr>
          <a:xfrm>
            <a:off x="545098" y="1525284"/>
            <a:ext cx="8040699" cy="1292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400"/>
              <a:buFont typeface="Arial"/>
              <a:buNone/>
            </a:pPr>
            <a:r>
              <a:rPr b="1" i="0" lang="es-CL" sz="24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O       </a:t>
            </a:r>
            <a:r>
              <a:rPr b="0" i="0" lang="es-CL" sz="18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:</a:t>
            </a:r>
            <a:r>
              <a:rPr b="1" i="0" lang="es-CL" sz="18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      </a:t>
            </a:r>
            <a:r>
              <a:rPr b="1" i="0" lang="es-CL" sz="1800" u="none" cap="none" strike="noStrike">
                <a:solidFill>
                  <a:srgbClr val="FF9300"/>
                </a:solidFill>
                <a:latin typeface="Lucida Sans"/>
                <a:ea typeface="Lucida Sans"/>
                <a:cs typeface="Lucida Sans"/>
                <a:sym typeface="Lucida Sans"/>
              </a:rPr>
              <a:t>3b</a:t>
            </a:r>
            <a:r>
              <a:rPr b="0" i="0" lang="es-CL" sz="18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   = </a:t>
            </a:r>
            <a:r>
              <a:rPr b="1" i="0" lang="es-CL" sz="1800" u="none" cap="none" strike="noStrike">
                <a:solidFill>
                  <a:srgbClr val="0432FF"/>
                </a:solidFill>
                <a:latin typeface="Lucida Sans"/>
                <a:ea typeface="Lucida Sans"/>
                <a:cs typeface="Lucida Sans"/>
                <a:sym typeface="Lucida Sans"/>
              </a:rPr>
              <a:t>2c</a:t>
            </a:r>
            <a:r>
              <a:rPr b="0" i="0" lang="es-CL" sz="18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 +</a:t>
            </a:r>
            <a:r>
              <a:rPr b="1" i="0" lang="es-CL" sz="1800" u="none" cap="none" strike="noStrike">
                <a:solidFill>
                  <a:srgbClr val="FF85FF"/>
                </a:solidFill>
                <a:latin typeface="Lucida Sans"/>
                <a:ea typeface="Lucida Sans"/>
                <a:cs typeface="Lucida Sans"/>
                <a:sym typeface="Lucida Sans"/>
              </a:rPr>
              <a:t> 6d </a:t>
            </a:r>
            <a:r>
              <a:rPr b="0" i="0" lang="es-CL" sz="18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+ </a:t>
            </a:r>
            <a:r>
              <a:rPr b="1" i="0" lang="es-CL" sz="1800" u="none" cap="none" strike="noStrike">
                <a:solidFill>
                  <a:srgbClr val="797979"/>
                </a:solidFill>
                <a:latin typeface="Lucida Sans"/>
                <a:ea typeface="Lucida Sans"/>
                <a:cs typeface="Lucida Sans"/>
                <a:sym typeface="Lucida Sans"/>
              </a:rPr>
              <a:t>e </a:t>
            </a:r>
            <a:r>
              <a:rPr b="0" i="0" lang="es-CL" sz="18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reemplazando valor de b y e</a:t>
            </a:r>
            <a:endParaRPr b="1" i="0" sz="1800" u="none" cap="none" strike="noStrike">
              <a:solidFill>
                <a:srgbClr val="797979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300"/>
              </a:buClr>
              <a:buSzPts val="1800"/>
              <a:buFont typeface="Arial"/>
              <a:buNone/>
            </a:pPr>
            <a:r>
              <a:rPr b="1" i="0" lang="es-CL" sz="1800" u="none" cap="none" strike="noStrike">
                <a:solidFill>
                  <a:srgbClr val="FF9300"/>
                </a:solidFill>
                <a:latin typeface="Lucida Sans"/>
                <a:ea typeface="Lucida Sans"/>
                <a:cs typeface="Lucida Sans"/>
                <a:sym typeface="Lucida Sans"/>
              </a:rPr>
              <a:t>                   3x2</a:t>
            </a:r>
            <a:r>
              <a:rPr b="0" i="0" lang="es-CL" sz="18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 = </a:t>
            </a:r>
            <a:r>
              <a:rPr b="1" i="0" lang="es-CL" sz="1800" u="none" cap="none" strike="noStrike">
                <a:solidFill>
                  <a:srgbClr val="0432FF"/>
                </a:solidFill>
                <a:latin typeface="Lucida Sans"/>
                <a:ea typeface="Lucida Sans"/>
                <a:cs typeface="Lucida Sans"/>
                <a:sym typeface="Lucida Sans"/>
              </a:rPr>
              <a:t>2c</a:t>
            </a:r>
            <a:r>
              <a:rPr b="0" i="0" lang="es-CL" sz="18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 +</a:t>
            </a:r>
            <a:r>
              <a:rPr b="1" i="0" lang="es-CL" sz="1800" u="none" cap="none" strike="noStrike">
                <a:solidFill>
                  <a:srgbClr val="FF85FF"/>
                </a:solidFill>
                <a:latin typeface="Lucida Sans"/>
                <a:ea typeface="Lucida Sans"/>
                <a:cs typeface="Lucida Sans"/>
                <a:sym typeface="Lucida Sans"/>
              </a:rPr>
              <a:t> 6d </a:t>
            </a:r>
            <a:r>
              <a:rPr b="0" i="0" lang="es-CL" sz="18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+ </a:t>
            </a:r>
            <a:r>
              <a:rPr b="1" i="0" lang="es-CL" sz="1800" u="none" cap="none" strike="noStrike">
                <a:solidFill>
                  <a:srgbClr val="797979"/>
                </a:solidFill>
                <a:latin typeface="Lucida Sans"/>
                <a:ea typeface="Lucida Sans"/>
                <a:cs typeface="Lucida Sans"/>
                <a:sym typeface="Lucida Sans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300"/>
              </a:buClr>
              <a:buSzPts val="1800"/>
              <a:buFont typeface="Arial"/>
              <a:buNone/>
            </a:pPr>
            <a:r>
              <a:rPr b="1" i="0" lang="es-CL" sz="1800" u="none" cap="none" strike="noStrike">
                <a:solidFill>
                  <a:srgbClr val="FF9300"/>
                </a:solidFill>
                <a:latin typeface="Lucida Sans"/>
                <a:ea typeface="Lucida Sans"/>
                <a:cs typeface="Lucida Sans"/>
                <a:sym typeface="Lucida Sans"/>
              </a:rPr>
              <a:t>                       6</a:t>
            </a:r>
            <a:r>
              <a:rPr b="0" i="0" lang="es-CL" sz="18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 = </a:t>
            </a:r>
            <a:r>
              <a:rPr b="1" i="0" lang="es-CL" sz="1800" u="none" cap="none" strike="noStrike">
                <a:solidFill>
                  <a:srgbClr val="0432FF"/>
                </a:solidFill>
                <a:latin typeface="Lucida Sans"/>
                <a:ea typeface="Lucida Sans"/>
                <a:cs typeface="Lucida Sans"/>
                <a:sym typeface="Lucida Sans"/>
              </a:rPr>
              <a:t>2c</a:t>
            </a:r>
            <a:r>
              <a:rPr b="0" i="0" lang="es-CL" sz="18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 +</a:t>
            </a:r>
            <a:r>
              <a:rPr b="1" i="0" lang="es-CL" sz="1800" u="none" cap="none" strike="noStrike">
                <a:solidFill>
                  <a:srgbClr val="FF85FF"/>
                </a:solidFill>
                <a:latin typeface="Lucida Sans"/>
                <a:ea typeface="Lucida Sans"/>
                <a:cs typeface="Lucida Sans"/>
                <a:sym typeface="Lucida Sans"/>
              </a:rPr>
              <a:t> 6d </a:t>
            </a:r>
            <a:r>
              <a:rPr b="0" i="0" lang="es-CL" sz="18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+ </a:t>
            </a:r>
            <a:r>
              <a:rPr b="1" i="0" lang="es-CL" sz="1800" u="none" cap="none" strike="noStrike">
                <a:solidFill>
                  <a:srgbClr val="797979"/>
                </a:solidFill>
                <a:latin typeface="Lucida Sans"/>
                <a:ea typeface="Lucida Sans"/>
                <a:cs typeface="Lucida Sans"/>
                <a:sym typeface="Lucida Sans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800"/>
              <a:buFont typeface="Arial"/>
              <a:buNone/>
            </a:pPr>
            <a:r>
              <a:rPr b="1" i="0" lang="es-CL" sz="18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                       5</a:t>
            </a:r>
            <a:r>
              <a:rPr b="0" i="0" lang="es-CL" sz="18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 = </a:t>
            </a:r>
            <a:r>
              <a:rPr b="1" i="0" lang="es-CL" sz="1800" u="none" cap="none" strike="noStrike">
                <a:solidFill>
                  <a:srgbClr val="0432FF"/>
                </a:solidFill>
                <a:latin typeface="Lucida Sans"/>
                <a:ea typeface="Lucida Sans"/>
                <a:cs typeface="Lucida Sans"/>
                <a:sym typeface="Lucida Sans"/>
              </a:rPr>
              <a:t>2c</a:t>
            </a:r>
            <a:r>
              <a:rPr b="0" i="0" lang="es-CL" sz="18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 +</a:t>
            </a:r>
            <a:r>
              <a:rPr b="1" i="0" lang="es-CL" sz="1800" u="none" cap="none" strike="noStrike">
                <a:solidFill>
                  <a:srgbClr val="FF85FF"/>
                </a:solidFill>
                <a:latin typeface="Lucida Sans"/>
                <a:ea typeface="Lucida Sans"/>
                <a:cs typeface="Lucida Sans"/>
                <a:sym typeface="Lucida Sans"/>
              </a:rPr>
              <a:t> 6d </a:t>
            </a:r>
            <a:endParaRPr b="1" i="0" sz="1800" u="none" cap="none" strike="noStrike">
              <a:solidFill>
                <a:srgbClr val="797979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360" name="Google Shape;360;p18"/>
          <p:cNvSpPr/>
          <p:nvPr/>
        </p:nvSpPr>
        <p:spPr>
          <a:xfrm>
            <a:off x="360352" y="2783520"/>
            <a:ext cx="470122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800"/>
              <a:buFont typeface="Lucida Sans"/>
              <a:buNone/>
            </a:pPr>
            <a:r>
              <a:rPr b="0" i="0" lang="es-CL" sz="18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Resolviendo el sistema de ecuaciones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18"/>
          <p:cNvSpPr/>
          <p:nvPr/>
        </p:nvSpPr>
        <p:spPr>
          <a:xfrm>
            <a:off x="360351" y="4127914"/>
            <a:ext cx="470122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800"/>
              <a:buFont typeface="Lucida Sans"/>
              <a:buNone/>
            </a:pPr>
            <a:r>
              <a:rPr b="0" i="0" lang="es-CL" sz="18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Multiplica por -2 , la ecuacion 1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18"/>
          <p:cNvSpPr/>
          <p:nvPr/>
        </p:nvSpPr>
        <p:spPr>
          <a:xfrm>
            <a:off x="4133771" y="1021511"/>
            <a:ext cx="163182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ts val="1800"/>
              <a:buFont typeface="Lucida Sans"/>
              <a:buNone/>
            </a:pPr>
            <a:r>
              <a:rPr b="1" i="0" lang="es-CL" sz="18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Ecuación 1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18"/>
          <p:cNvSpPr/>
          <p:nvPr/>
        </p:nvSpPr>
        <p:spPr>
          <a:xfrm>
            <a:off x="4182960" y="2431288"/>
            <a:ext cx="163182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ts val="1800"/>
              <a:buFont typeface="Lucida Sans"/>
              <a:buNone/>
            </a:pPr>
            <a:r>
              <a:rPr b="1" i="0" lang="es-CL" sz="18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ecuación 2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18"/>
          <p:cNvSpPr/>
          <p:nvPr/>
        </p:nvSpPr>
        <p:spPr>
          <a:xfrm>
            <a:off x="488078" y="5287642"/>
            <a:ext cx="72913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800"/>
              <a:buFont typeface="Lucida Sans"/>
              <a:buNone/>
            </a:pPr>
            <a:r>
              <a:rPr b="0" i="0" lang="es-CL" sz="18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Reemplazando este valor en cualquiera de ambas ecuaciones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18"/>
          <p:cNvSpPr/>
          <p:nvPr/>
        </p:nvSpPr>
        <p:spPr>
          <a:xfrm>
            <a:off x="534225" y="6303274"/>
            <a:ext cx="645236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800"/>
              <a:buFont typeface="Lucida Sans"/>
              <a:buNone/>
            </a:pPr>
            <a:r>
              <a:rPr b="0" i="0" lang="es-CL" sz="18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Para obtener el valor de a, usar ecuacion de Cu a= ½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18"/>
          <p:cNvSpPr/>
          <p:nvPr/>
        </p:nvSpPr>
        <p:spPr>
          <a:xfrm>
            <a:off x="2658687" y="3552456"/>
            <a:ext cx="162095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L" sz="18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5</a:t>
            </a:r>
            <a:r>
              <a:rPr b="0" i="0" lang="es-CL" sz="18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 = </a:t>
            </a:r>
            <a:r>
              <a:rPr b="1" i="0" lang="es-CL" sz="1800" u="none" cap="none" strike="noStrike">
                <a:solidFill>
                  <a:srgbClr val="0432FF"/>
                </a:solidFill>
                <a:latin typeface="Lucida Sans"/>
                <a:ea typeface="Lucida Sans"/>
                <a:cs typeface="Lucida Sans"/>
                <a:sym typeface="Lucida Sans"/>
              </a:rPr>
              <a:t>2c</a:t>
            </a:r>
            <a:r>
              <a:rPr b="0" i="0" lang="es-CL" sz="18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 +</a:t>
            </a:r>
            <a:r>
              <a:rPr b="1" i="0" lang="es-CL" sz="1800" u="none" cap="none" strike="noStrike">
                <a:solidFill>
                  <a:srgbClr val="FF85FF"/>
                </a:solidFill>
                <a:latin typeface="Lucida Sans"/>
                <a:ea typeface="Lucida Sans"/>
                <a:cs typeface="Lucida Sans"/>
                <a:sym typeface="Lucida Sans"/>
              </a:rPr>
              <a:t> 6d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8"/>
          <p:cNvSpPr/>
          <p:nvPr/>
        </p:nvSpPr>
        <p:spPr>
          <a:xfrm>
            <a:off x="2658687" y="3174312"/>
            <a:ext cx="147508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L" sz="1800" u="none" cap="none" strike="noStrike">
                <a:solidFill>
                  <a:srgbClr val="FF9300"/>
                </a:solidFill>
                <a:latin typeface="Lucida Sans"/>
                <a:ea typeface="Lucida Sans"/>
                <a:cs typeface="Lucida Sans"/>
                <a:sym typeface="Lucida Sans"/>
              </a:rPr>
              <a:t>2</a:t>
            </a:r>
            <a:r>
              <a:rPr b="0" i="0" lang="es-CL" sz="18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  = </a:t>
            </a:r>
            <a:r>
              <a:rPr b="1" i="0" lang="es-CL" sz="1800" u="none" cap="none" strike="noStrike">
                <a:solidFill>
                  <a:srgbClr val="0432FF"/>
                </a:solidFill>
                <a:latin typeface="Lucida Sans"/>
                <a:ea typeface="Lucida Sans"/>
                <a:cs typeface="Lucida Sans"/>
                <a:sym typeface="Lucida Sans"/>
              </a:rPr>
              <a:t>c</a:t>
            </a:r>
            <a:r>
              <a:rPr b="0" i="0" lang="es-CL" sz="18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 + </a:t>
            </a:r>
            <a:r>
              <a:rPr b="1" i="0" lang="es-CL" sz="1800" u="none" cap="none" strike="noStrike">
                <a:solidFill>
                  <a:srgbClr val="FF85FF"/>
                </a:solidFill>
                <a:latin typeface="Lucida Sans"/>
                <a:ea typeface="Lucida Sans"/>
                <a:cs typeface="Lucida Sans"/>
                <a:sym typeface="Lucida Sans"/>
              </a:rPr>
              <a:t>2d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8"/>
          <p:cNvSpPr/>
          <p:nvPr/>
        </p:nvSpPr>
        <p:spPr>
          <a:xfrm>
            <a:off x="4498280" y="4426963"/>
            <a:ext cx="202010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L" sz="1800" u="none" cap="none" strike="noStrike">
                <a:solidFill>
                  <a:srgbClr val="FF9300"/>
                </a:solidFill>
                <a:latin typeface="Lucida Sans"/>
                <a:ea typeface="Lucida Sans"/>
                <a:cs typeface="Lucida Sans"/>
                <a:sym typeface="Lucida Sans"/>
              </a:rPr>
              <a:t>-4</a:t>
            </a:r>
            <a:r>
              <a:rPr b="0" i="0" lang="es-CL" sz="18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  = -2</a:t>
            </a:r>
            <a:r>
              <a:rPr b="1" i="0" lang="es-CL" sz="1800" u="none" cap="none" strike="noStrike">
                <a:solidFill>
                  <a:srgbClr val="0432FF"/>
                </a:solidFill>
                <a:latin typeface="Lucida Sans"/>
                <a:ea typeface="Lucida Sans"/>
                <a:cs typeface="Lucida Sans"/>
                <a:sym typeface="Lucida Sans"/>
              </a:rPr>
              <a:t>c</a:t>
            </a:r>
            <a:r>
              <a:rPr b="0" i="0" lang="es-CL" sz="18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 + </a:t>
            </a:r>
            <a:r>
              <a:rPr b="1" i="0" lang="es-CL" sz="1800" u="none" cap="none" strike="noStrike">
                <a:solidFill>
                  <a:srgbClr val="FF85FF"/>
                </a:solidFill>
                <a:latin typeface="Lucida Sans"/>
                <a:ea typeface="Lucida Sans"/>
                <a:cs typeface="Lucida Sans"/>
                <a:sym typeface="Lucida Sans"/>
              </a:rPr>
              <a:t>-4d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8"/>
          <p:cNvSpPr/>
          <p:nvPr/>
        </p:nvSpPr>
        <p:spPr>
          <a:xfrm>
            <a:off x="4657766" y="4660772"/>
            <a:ext cx="162095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L" sz="18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5</a:t>
            </a:r>
            <a:r>
              <a:rPr b="0" i="0" lang="es-CL" sz="18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 = </a:t>
            </a:r>
            <a:r>
              <a:rPr b="1" i="0" lang="es-CL" sz="1800" u="none" cap="none" strike="noStrike">
                <a:solidFill>
                  <a:srgbClr val="0432FF"/>
                </a:solidFill>
                <a:latin typeface="Lucida Sans"/>
                <a:ea typeface="Lucida Sans"/>
                <a:cs typeface="Lucida Sans"/>
                <a:sym typeface="Lucida Sans"/>
              </a:rPr>
              <a:t>2c</a:t>
            </a:r>
            <a:r>
              <a:rPr b="0" i="0" lang="es-CL" sz="18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 +</a:t>
            </a:r>
            <a:r>
              <a:rPr b="1" i="0" lang="es-CL" sz="1800" u="none" cap="none" strike="noStrike">
                <a:solidFill>
                  <a:srgbClr val="FF85FF"/>
                </a:solidFill>
                <a:latin typeface="Lucida Sans"/>
                <a:ea typeface="Lucida Sans"/>
                <a:cs typeface="Lucida Sans"/>
                <a:sym typeface="Lucida Sans"/>
              </a:rPr>
              <a:t> 6d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8"/>
          <p:cNvSpPr/>
          <p:nvPr/>
        </p:nvSpPr>
        <p:spPr>
          <a:xfrm>
            <a:off x="4657765" y="4952963"/>
            <a:ext cx="102624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L" sz="18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1</a:t>
            </a:r>
            <a:r>
              <a:rPr b="0" i="0" lang="es-CL" sz="18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 = </a:t>
            </a:r>
            <a:r>
              <a:rPr b="1" i="0" lang="es-CL" sz="1800" u="none" cap="none" strike="noStrike">
                <a:solidFill>
                  <a:srgbClr val="FF85FF"/>
                </a:solidFill>
                <a:latin typeface="Lucida Sans"/>
                <a:ea typeface="Lucida Sans"/>
                <a:cs typeface="Lucida Sans"/>
                <a:sym typeface="Lucida Sans"/>
              </a:rPr>
              <a:t>2d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8"/>
          <p:cNvSpPr/>
          <p:nvPr/>
        </p:nvSpPr>
        <p:spPr>
          <a:xfrm>
            <a:off x="6402991" y="4918310"/>
            <a:ext cx="91884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L" sz="18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d</a:t>
            </a:r>
            <a:r>
              <a:rPr b="0" i="0" lang="es-CL" sz="18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 = ½</a:t>
            </a:r>
            <a:r>
              <a:rPr b="1" i="0" lang="es-CL" sz="1800" u="none" cap="none" strike="noStrike">
                <a:solidFill>
                  <a:srgbClr val="FF85FF"/>
                </a:solidFill>
                <a:latin typeface="Lucida Sans"/>
                <a:ea typeface="Lucida Sans"/>
                <a:cs typeface="Lucida Sans"/>
                <a:sym typeface="Lucida Sans"/>
              </a:rPr>
              <a:t>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8"/>
          <p:cNvSpPr/>
          <p:nvPr/>
        </p:nvSpPr>
        <p:spPr>
          <a:xfrm>
            <a:off x="2401703" y="5673449"/>
            <a:ext cx="178125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800"/>
              <a:buFont typeface="Lucida Sans"/>
              <a:buAutoNum type="arabicPlain" startAt="2"/>
            </a:pPr>
            <a:r>
              <a:rPr b="0" i="0" lang="es-CL" sz="18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= </a:t>
            </a:r>
            <a:r>
              <a:rPr b="1" i="0" lang="es-CL" sz="1800" u="none" cap="none" strike="noStrike">
                <a:solidFill>
                  <a:srgbClr val="0432FF"/>
                </a:solidFill>
                <a:latin typeface="Lucida Sans"/>
                <a:ea typeface="Lucida Sans"/>
                <a:cs typeface="Lucida Sans"/>
                <a:sym typeface="Lucida Sans"/>
              </a:rPr>
              <a:t>c</a:t>
            </a:r>
            <a:r>
              <a:rPr b="0" i="0" lang="es-CL" sz="18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 + </a:t>
            </a:r>
            <a:r>
              <a:rPr b="1" i="0" lang="es-CL" sz="1800" u="none" cap="none" strike="noStrike">
                <a:solidFill>
                  <a:srgbClr val="FF85FF"/>
                </a:solidFill>
                <a:latin typeface="Lucida Sans"/>
                <a:ea typeface="Lucida Sans"/>
                <a:cs typeface="Lucida Sans"/>
                <a:sym typeface="Lucida Sans"/>
              </a:rPr>
              <a:t>2x ½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18"/>
          <p:cNvSpPr/>
          <p:nvPr/>
        </p:nvSpPr>
        <p:spPr>
          <a:xfrm>
            <a:off x="6337267" y="5688118"/>
            <a:ext cx="98456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2-1= </a:t>
            </a:r>
            <a:r>
              <a:rPr b="1" i="0" lang="es-CL" sz="1800" u="none" cap="none" strike="noStrike">
                <a:solidFill>
                  <a:srgbClr val="0432FF"/>
                </a:solidFill>
                <a:latin typeface="Lucida Sans"/>
                <a:ea typeface="Lucida Sans"/>
                <a:cs typeface="Lucida Sans"/>
                <a:sym typeface="Lucida Sans"/>
              </a:rPr>
              <a:t>c</a:t>
            </a:r>
            <a:endParaRPr b="1" i="0" sz="1800" u="none" cap="none" strike="noStrike">
              <a:solidFill>
                <a:srgbClr val="FF85FF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374" name="Google Shape;374;p18"/>
          <p:cNvSpPr/>
          <p:nvPr/>
        </p:nvSpPr>
        <p:spPr>
          <a:xfrm>
            <a:off x="7657338" y="5708706"/>
            <a:ext cx="92845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 </a:t>
            </a:r>
            <a:r>
              <a:rPr b="1" i="0" lang="es-CL" sz="1800" u="none" cap="none" strike="noStrike">
                <a:solidFill>
                  <a:srgbClr val="0432FF"/>
                </a:solidFill>
                <a:latin typeface="Lucida Sans"/>
                <a:ea typeface="Lucida Sans"/>
                <a:cs typeface="Lucida Sans"/>
                <a:sym typeface="Lucida Sans"/>
              </a:rPr>
              <a:t>c = 1 </a:t>
            </a:r>
            <a:endParaRPr b="1" i="0" sz="1800" u="none" cap="none" strike="noStrike">
              <a:solidFill>
                <a:srgbClr val="FF85FF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9300">
            <a:alpha val="54509"/>
          </a:srgbClr>
        </a:solid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9"/>
          <p:cNvSpPr txBox="1"/>
          <p:nvPr>
            <p:ph idx="12" type="sldNum"/>
          </p:nvPr>
        </p:nvSpPr>
        <p:spPr>
          <a:xfrm>
            <a:off x="11390969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Lucida Sans"/>
              <a:buNone/>
            </a:pPr>
            <a:fld id="{00000000-1234-1234-1234-123412341234}" type="slidenum">
              <a:rPr lang="es-CL" sz="2000">
                <a:latin typeface="Lucida Sans"/>
                <a:ea typeface="Lucida Sans"/>
                <a:cs typeface="Lucida Sans"/>
                <a:sym typeface="Lucida Sans"/>
              </a:rPr>
              <a:t>‹#›</a:t>
            </a:fld>
            <a:endParaRPr sz="2000"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380" name="Google Shape;38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79280" y="132951"/>
            <a:ext cx="2116765" cy="1058383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19"/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FF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382" name="Google Shape;382;p19"/>
          <p:cNvSpPr txBox="1"/>
          <p:nvPr/>
        </p:nvSpPr>
        <p:spPr>
          <a:xfrm>
            <a:off x="260351" y="387351"/>
            <a:ext cx="8208963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4.-  </a:t>
            </a:r>
            <a:r>
              <a:rPr b="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Los valores obtenidos son reemplazados en la ecuación: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2E75B5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383" name="Google Shape;383;p19"/>
          <p:cNvSpPr/>
          <p:nvPr/>
        </p:nvSpPr>
        <p:spPr>
          <a:xfrm>
            <a:off x="268877" y="1402527"/>
            <a:ext cx="1126539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800"/>
              <a:buFont typeface="Arial"/>
              <a:buNone/>
            </a:pPr>
            <a:r>
              <a:rPr b="0" i="0" lang="es-CL" sz="28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 </a:t>
            </a:r>
            <a:r>
              <a:rPr b="1" i="0" lang="es-CL" sz="28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½ Cu    +     2 HNO</a:t>
            </a:r>
            <a:r>
              <a:rPr b="1" baseline="-25000" i="0" lang="es-CL" sz="28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3</a:t>
            </a:r>
            <a:r>
              <a:rPr b="1" i="0" lang="es-CL" sz="28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   →       NO</a:t>
            </a:r>
            <a:r>
              <a:rPr b="1" baseline="-25000" i="0" lang="es-CL" sz="28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2</a:t>
            </a:r>
            <a:r>
              <a:rPr b="1" i="0" lang="es-CL" sz="28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    +.    ½ Cu (NO</a:t>
            </a:r>
            <a:r>
              <a:rPr b="1" baseline="-25000" i="0" lang="es-CL" sz="28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3</a:t>
            </a:r>
            <a:r>
              <a:rPr b="1" i="0" lang="es-CL" sz="28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)</a:t>
            </a:r>
            <a:r>
              <a:rPr b="1" baseline="-25000" i="0" lang="es-CL" sz="28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2</a:t>
            </a:r>
            <a:r>
              <a:rPr b="1" i="0" lang="es-CL" sz="28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   +   H</a:t>
            </a:r>
            <a:r>
              <a:rPr b="1" baseline="-25000" i="0" lang="es-CL" sz="28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2</a:t>
            </a:r>
            <a:r>
              <a:rPr b="1" i="0" lang="es-CL" sz="28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O</a:t>
            </a:r>
            <a:endParaRPr b="1" i="0" sz="2800" u="none" cap="none" strike="noStrike">
              <a:solidFill>
                <a:srgbClr val="2F5496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384" name="Google Shape;384;p19"/>
          <p:cNvSpPr txBox="1"/>
          <p:nvPr/>
        </p:nvSpPr>
        <p:spPr>
          <a:xfrm>
            <a:off x="268877" y="2157274"/>
            <a:ext cx="11273923" cy="14388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Las ecuaciones químicas </a:t>
            </a:r>
            <a:r>
              <a:rPr b="1" i="0" lang="es-CL" sz="2000" u="none" cap="none" strike="noStrike">
                <a:solidFill>
                  <a:srgbClr val="FF2F92"/>
                </a:solidFill>
                <a:latin typeface="Lucida Sans"/>
                <a:ea typeface="Lucida Sans"/>
                <a:cs typeface="Lucida Sans"/>
                <a:sym typeface="Lucida Sans"/>
              </a:rPr>
              <a:t>no pueden tener coeficientes fraccionarios</a:t>
            </a:r>
            <a:r>
              <a:rPr b="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, por lo que se deben dejar estos valores como números enteros. Para ello tenemos que amplificar por 2 todos los coeficientes estequiométricos.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19"/>
          <p:cNvSpPr/>
          <p:nvPr/>
        </p:nvSpPr>
        <p:spPr>
          <a:xfrm>
            <a:off x="385011" y="4081583"/>
            <a:ext cx="1100595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800"/>
              <a:buFont typeface="Arial"/>
              <a:buNone/>
            </a:pPr>
            <a:r>
              <a:rPr b="1" i="0" lang="es-CL" sz="28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 Cu    +     4 HNO</a:t>
            </a:r>
            <a:r>
              <a:rPr b="1" baseline="-25000" i="0" lang="es-CL" sz="28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3</a:t>
            </a:r>
            <a:r>
              <a:rPr b="1" i="0" lang="es-CL" sz="28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   →      2 NO</a:t>
            </a:r>
            <a:r>
              <a:rPr b="1" baseline="-25000" i="0" lang="es-CL" sz="28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2</a:t>
            </a:r>
            <a:r>
              <a:rPr b="1" i="0" lang="es-CL" sz="28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    +      Cu (NO</a:t>
            </a:r>
            <a:r>
              <a:rPr b="1" baseline="-25000" i="0" lang="es-CL" sz="28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3</a:t>
            </a:r>
            <a:r>
              <a:rPr b="1" i="0" lang="es-CL" sz="28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)</a:t>
            </a:r>
            <a:r>
              <a:rPr b="1" baseline="-25000" i="0" lang="es-CL" sz="28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2</a:t>
            </a:r>
            <a:r>
              <a:rPr b="1" i="0" lang="es-CL" sz="28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   +   2H</a:t>
            </a:r>
            <a:r>
              <a:rPr b="1" baseline="-25000" i="0" lang="es-CL" sz="28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2</a:t>
            </a:r>
            <a:r>
              <a:rPr b="1" i="0" lang="es-CL" sz="28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O</a:t>
            </a:r>
            <a:endParaRPr b="1" i="0" sz="2800" u="none" cap="none" strike="noStrike">
              <a:solidFill>
                <a:srgbClr val="2F5496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386" name="Google Shape;386;p19"/>
          <p:cNvSpPr txBox="1"/>
          <p:nvPr/>
        </p:nvSpPr>
        <p:spPr>
          <a:xfrm>
            <a:off x="268877" y="5291035"/>
            <a:ext cx="875937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5.- </a:t>
            </a:r>
            <a:r>
              <a:rPr b="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Comprueba que la ecuación esté correctamente balanceada.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060"/>
        </a:solidFill>
      </p:bgPr>
    </p:bg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20"/>
          <p:cNvSpPr txBox="1"/>
          <p:nvPr>
            <p:ph idx="12" type="sldNum"/>
          </p:nvPr>
        </p:nvSpPr>
        <p:spPr>
          <a:xfrm>
            <a:off x="11390969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ucida Sans"/>
              <a:buNone/>
            </a:pPr>
            <a:fld id="{00000000-1234-1234-1234-123412341234}" type="slidenum">
              <a:rPr lang="es-CL" sz="20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‹#›</a:t>
            </a:fld>
            <a:endParaRPr sz="20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392" name="Google Shape;392;p20"/>
          <p:cNvSpPr txBox="1"/>
          <p:nvPr/>
        </p:nvSpPr>
        <p:spPr>
          <a:xfrm>
            <a:off x="2027436" y="2931560"/>
            <a:ext cx="7780961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s-CL" sz="6000" u="none" cap="none" strike="noStrike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Ejercicios</a:t>
            </a:r>
            <a:r>
              <a:rPr b="1" i="0" lang="es-CL" sz="6000" u="none" cap="none" strike="noStrike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93" name="Google Shape;393;p20"/>
          <p:cNvGrpSpPr/>
          <p:nvPr/>
        </p:nvGrpSpPr>
        <p:grpSpPr>
          <a:xfrm>
            <a:off x="5125820" y="1447365"/>
            <a:ext cx="1171845" cy="1045591"/>
            <a:chOff x="5233525" y="4954450"/>
            <a:chExt cx="538275" cy="516350"/>
          </a:xfrm>
        </p:grpSpPr>
        <p:sp>
          <p:nvSpPr>
            <p:cNvPr id="394" name="Google Shape;394;p20"/>
            <p:cNvSpPr/>
            <p:nvPr/>
          </p:nvSpPr>
          <p:spPr>
            <a:xfrm>
              <a:off x="5637825" y="4954450"/>
              <a:ext cx="89525" cy="89525"/>
            </a:xfrm>
            <a:custGeom>
              <a:rect b="b" l="l" r="r" t="t"/>
              <a:pathLst>
                <a:path extrusionOk="0" fill="none" h="3581" w="3581">
                  <a:moveTo>
                    <a:pt x="1023" y="3410"/>
                  </a:moveTo>
                  <a:lnTo>
                    <a:pt x="1023" y="3410"/>
                  </a:lnTo>
                  <a:lnTo>
                    <a:pt x="1193" y="3483"/>
                  </a:lnTo>
                  <a:lnTo>
                    <a:pt x="1388" y="3532"/>
                  </a:lnTo>
                  <a:lnTo>
                    <a:pt x="1583" y="3556"/>
                  </a:lnTo>
                  <a:lnTo>
                    <a:pt x="1778" y="3581"/>
                  </a:lnTo>
                  <a:lnTo>
                    <a:pt x="1778" y="3581"/>
                  </a:lnTo>
                  <a:lnTo>
                    <a:pt x="1973" y="3556"/>
                  </a:lnTo>
                  <a:lnTo>
                    <a:pt x="2143" y="3532"/>
                  </a:lnTo>
                  <a:lnTo>
                    <a:pt x="2314" y="3508"/>
                  </a:lnTo>
                  <a:lnTo>
                    <a:pt x="2484" y="3435"/>
                  </a:lnTo>
                  <a:lnTo>
                    <a:pt x="2630" y="3361"/>
                  </a:lnTo>
                  <a:lnTo>
                    <a:pt x="2776" y="3264"/>
                  </a:lnTo>
                  <a:lnTo>
                    <a:pt x="2923" y="3167"/>
                  </a:lnTo>
                  <a:lnTo>
                    <a:pt x="3044" y="3045"/>
                  </a:lnTo>
                  <a:lnTo>
                    <a:pt x="3166" y="2923"/>
                  </a:lnTo>
                  <a:lnTo>
                    <a:pt x="3264" y="2801"/>
                  </a:lnTo>
                  <a:lnTo>
                    <a:pt x="3361" y="2631"/>
                  </a:lnTo>
                  <a:lnTo>
                    <a:pt x="3434" y="2485"/>
                  </a:lnTo>
                  <a:lnTo>
                    <a:pt x="3483" y="2314"/>
                  </a:lnTo>
                  <a:lnTo>
                    <a:pt x="3531" y="2144"/>
                  </a:lnTo>
                  <a:lnTo>
                    <a:pt x="3556" y="1973"/>
                  </a:lnTo>
                  <a:lnTo>
                    <a:pt x="3580" y="1803"/>
                  </a:lnTo>
                  <a:lnTo>
                    <a:pt x="3580" y="1803"/>
                  </a:lnTo>
                  <a:lnTo>
                    <a:pt x="3556" y="1608"/>
                  </a:lnTo>
                  <a:lnTo>
                    <a:pt x="3531" y="1437"/>
                  </a:lnTo>
                  <a:lnTo>
                    <a:pt x="3483" y="1267"/>
                  </a:lnTo>
                  <a:lnTo>
                    <a:pt x="3434" y="1096"/>
                  </a:lnTo>
                  <a:lnTo>
                    <a:pt x="3361" y="950"/>
                  </a:lnTo>
                  <a:lnTo>
                    <a:pt x="3264" y="804"/>
                  </a:lnTo>
                  <a:lnTo>
                    <a:pt x="3166" y="658"/>
                  </a:lnTo>
                  <a:lnTo>
                    <a:pt x="3044" y="536"/>
                  </a:lnTo>
                  <a:lnTo>
                    <a:pt x="2923" y="414"/>
                  </a:lnTo>
                  <a:lnTo>
                    <a:pt x="2776" y="317"/>
                  </a:lnTo>
                  <a:lnTo>
                    <a:pt x="2630" y="220"/>
                  </a:lnTo>
                  <a:lnTo>
                    <a:pt x="2484" y="147"/>
                  </a:lnTo>
                  <a:lnTo>
                    <a:pt x="2314" y="98"/>
                  </a:lnTo>
                  <a:lnTo>
                    <a:pt x="2143" y="49"/>
                  </a:lnTo>
                  <a:lnTo>
                    <a:pt x="1973" y="25"/>
                  </a:lnTo>
                  <a:lnTo>
                    <a:pt x="1778" y="0"/>
                  </a:lnTo>
                  <a:lnTo>
                    <a:pt x="1778" y="0"/>
                  </a:lnTo>
                  <a:lnTo>
                    <a:pt x="1607" y="25"/>
                  </a:lnTo>
                  <a:lnTo>
                    <a:pt x="1437" y="49"/>
                  </a:lnTo>
                  <a:lnTo>
                    <a:pt x="1266" y="98"/>
                  </a:lnTo>
                  <a:lnTo>
                    <a:pt x="1096" y="147"/>
                  </a:lnTo>
                  <a:lnTo>
                    <a:pt x="925" y="220"/>
                  </a:lnTo>
                  <a:lnTo>
                    <a:pt x="779" y="317"/>
                  </a:lnTo>
                  <a:lnTo>
                    <a:pt x="658" y="414"/>
                  </a:lnTo>
                  <a:lnTo>
                    <a:pt x="536" y="536"/>
                  </a:lnTo>
                  <a:lnTo>
                    <a:pt x="414" y="658"/>
                  </a:lnTo>
                  <a:lnTo>
                    <a:pt x="317" y="804"/>
                  </a:lnTo>
                  <a:lnTo>
                    <a:pt x="219" y="950"/>
                  </a:lnTo>
                  <a:lnTo>
                    <a:pt x="146" y="1096"/>
                  </a:lnTo>
                  <a:lnTo>
                    <a:pt x="73" y="1267"/>
                  </a:lnTo>
                  <a:lnTo>
                    <a:pt x="49" y="1437"/>
                  </a:lnTo>
                  <a:lnTo>
                    <a:pt x="24" y="1608"/>
                  </a:lnTo>
                  <a:lnTo>
                    <a:pt x="0" y="1803"/>
                  </a:lnTo>
                  <a:lnTo>
                    <a:pt x="0" y="1803"/>
                  </a:lnTo>
                  <a:lnTo>
                    <a:pt x="24" y="2071"/>
                  </a:lnTo>
                  <a:lnTo>
                    <a:pt x="97" y="2339"/>
                  </a:lnTo>
                  <a:lnTo>
                    <a:pt x="195" y="2582"/>
                  </a:lnTo>
                  <a:lnTo>
                    <a:pt x="317" y="2801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5" name="Google Shape;395;p20"/>
            <p:cNvSpPr/>
            <p:nvPr/>
          </p:nvSpPr>
          <p:spPr>
            <a:xfrm>
              <a:off x="5323025" y="4980625"/>
              <a:ext cx="88925" cy="88925"/>
            </a:xfrm>
            <a:custGeom>
              <a:rect b="b" l="l" r="r" t="t"/>
              <a:pathLst>
                <a:path extrusionOk="0" fill="none" h="3557" w="3557">
                  <a:moveTo>
                    <a:pt x="3191" y="2850"/>
                  </a:moveTo>
                  <a:lnTo>
                    <a:pt x="3191" y="2850"/>
                  </a:lnTo>
                  <a:lnTo>
                    <a:pt x="3313" y="2680"/>
                  </a:lnTo>
                  <a:lnTo>
                    <a:pt x="3410" y="2509"/>
                  </a:lnTo>
                  <a:lnTo>
                    <a:pt x="3483" y="2314"/>
                  </a:lnTo>
                  <a:lnTo>
                    <a:pt x="3532" y="2095"/>
                  </a:lnTo>
                  <a:lnTo>
                    <a:pt x="3532" y="2095"/>
                  </a:lnTo>
                  <a:lnTo>
                    <a:pt x="3556" y="1925"/>
                  </a:lnTo>
                  <a:lnTo>
                    <a:pt x="3556" y="1730"/>
                  </a:lnTo>
                  <a:lnTo>
                    <a:pt x="3556" y="1559"/>
                  </a:lnTo>
                  <a:lnTo>
                    <a:pt x="3508" y="1389"/>
                  </a:lnTo>
                  <a:lnTo>
                    <a:pt x="3459" y="1218"/>
                  </a:lnTo>
                  <a:lnTo>
                    <a:pt x="3410" y="1072"/>
                  </a:lnTo>
                  <a:lnTo>
                    <a:pt x="3337" y="902"/>
                  </a:lnTo>
                  <a:lnTo>
                    <a:pt x="3240" y="756"/>
                  </a:lnTo>
                  <a:lnTo>
                    <a:pt x="3142" y="634"/>
                  </a:lnTo>
                  <a:lnTo>
                    <a:pt x="3021" y="512"/>
                  </a:lnTo>
                  <a:lnTo>
                    <a:pt x="2899" y="390"/>
                  </a:lnTo>
                  <a:lnTo>
                    <a:pt x="2753" y="293"/>
                  </a:lnTo>
                  <a:lnTo>
                    <a:pt x="2606" y="196"/>
                  </a:lnTo>
                  <a:lnTo>
                    <a:pt x="2436" y="122"/>
                  </a:lnTo>
                  <a:lnTo>
                    <a:pt x="2266" y="74"/>
                  </a:lnTo>
                  <a:lnTo>
                    <a:pt x="2095" y="25"/>
                  </a:lnTo>
                  <a:lnTo>
                    <a:pt x="2095" y="25"/>
                  </a:lnTo>
                  <a:lnTo>
                    <a:pt x="1925" y="1"/>
                  </a:lnTo>
                  <a:lnTo>
                    <a:pt x="1730" y="1"/>
                  </a:lnTo>
                  <a:lnTo>
                    <a:pt x="1559" y="1"/>
                  </a:lnTo>
                  <a:lnTo>
                    <a:pt x="1389" y="25"/>
                  </a:lnTo>
                  <a:lnTo>
                    <a:pt x="1218" y="74"/>
                  </a:lnTo>
                  <a:lnTo>
                    <a:pt x="1072" y="147"/>
                  </a:lnTo>
                  <a:lnTo>
                    <a:pt x="902" y="220"/>
                  </a:lnTo>
                  <a:lnTo>
                    <a:pt x="756" y="317"/>
                  </a:lnTo>
                  <a:lnTo>
                    <a:pt x="634" y="415"/>
                  </a:lnTo>
                  <a:lnTo>
                    <a:pt x="512" y="537"/>
                  </a:lnTo>
                  <a:lnTo>
                    <a:pt x="390" y="658"/>
                  </a:lnTo>
                  <a:lnTo>
                    <a:pt x="293" y="804"/>
                  </a:lnTo>
                  <a:lnTo>
                    <a:pt x="195" y="951"/>
                  </a:lnTo>
                  <a:lnTo>
                    <a:pt x="122" y="1097"/>
                  </a:lnTo>
                  <a:lnTo>
                    <a:pt x="74" y="1267"/>
                  </a:lnTo>
                  <a:lnTo>
                    <a:pt x="25" y="1462"/>
                  </a:lnTo>
                  <a:lnTo>
                    <a:pt x="25" y="1462"/>
                  </a:lnTo>
                  <a:lnTo>
                    <a:pt x="1" y="1633"/>
                  </a:lnTo>
                  <a:lnTo>
                    <a:pt x="1" y="1803"/>
                  </a:lnTo>
                  <a:lnTo>
                    <a:pt x="1" y="1998"/>
                  </a:lnTo>
                  <a:lnTo>
                    <a:pt x="25" y="2168"/>
                  </a:lnTo>
                  <a:lnTo>
                    <a:pt x="74" y="2339"/>
                  </a:lnTo>
                  <a:lnTo>
                    <a:pt x="147" y="2485"/>
                  </a:lnTo>
                  <a:lnTo>
                    <a:pt x="220" y="2655"/>
                  </a:lnTo>
                  <a:lnTo>
                    <a:pt x="317" y="2777"/>
                  </a:lnTo>
                  <a:lnTo>
                    <a:pt x="415" y="2923"/>
                  </a:lnTo>
                  <a:lnTo>
                    <a:pt x="536" y="3045"/>
                  </a:lnTo>
                  <a:lnTo>
                    <a:pt x="658" y="3167"/>
                  </a:lnTo>
                  <a:lnTo>
                    <a:pt x="804" y="3264"/>
                  </a:lnTo>
                  <a:lnTo>
                    <a:pt x="950" y="3362"/>
                  </a:lnTo>
                  <a:lnTo>
                    <a:pt x="1096" y="3435"/>
                  </a:lnTo>
                  <a:lnTo>
                    <a:pt x="1267" y="3483"/>
                  </a:lnTo>
                  <a:lnTo>
                    <a:pt x="1462" y="3532"/>
                  </a:lnTo>
                  <a:lnTo>
                    <a:pt x="1462" y="3532"/>
                  </a:lnTo>
                  <a:lnTo>
                    <a:pt x="1705" y="3557"/>
                  </a:lnTo>
                  <a:lnTo>
                    <a:pt x="1973" y="3557"/>
                  </a:lnTo>
                  <a:lnTo>
                    <a:pt x="2217" y="3508"/>
                  </a:lnTo>
                  <a:lnTo>
                    <a:pt x="2460" y="3435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6" name="Google Shape;396;p20"/>
            <p:cNvSpPr/>
            <p:nvPr/>
          </p:nvSpPr>
          <p:spPr>
            <a:xfrm>
              <a:off x="5233525" y="5255225"/>
              <a:ext cx="89525" cy="89525"/>
            </a:xfrm>
            <a:custGeom>
              <a:rect b="b" l="l" r="r" t="t"/>
              <a:pathLst>
                <a:path extrusionOk="0" fill="none" h="3581" w="3581">
                  <a:moveTo>
                    <a:pt x="3215" y="707"/>
                  </a:moveTo>
                  <a:lnTo>
                    <a:pt x="3215" y="707"/>
                  </a:lnTo>
                  <a:lnTo>
                    <a:pt x="3093" y="585"/>
                  </a:lnTo>
                  <a:lnTo>
                    <a:pt x="2972" y="464"/>
                  </a:lnTo>
                  <a:lnTo>
                    <a:pt x="2850" y="342"/>
                  </a:lnTo>
                  <a:lnTo>
                    <a:pt x="2679" y="244"/>
                  </a:lnTo>
                  <a:lnTo>
                    <a:pt x="2679" y="244"/>
                  </a:lnTo>
                  <a:lnTo>
                    <a:pt x="2533" y="171"/>
                  </a:lnTo>
                  <a:lnTo>
                    <a:pt x="2363" y="98"/>
                  </a:lnTo>
                  <a:lnTo>
                    <a:pt x="2192" y="50"/>
                  </a:lnTo>
                  <a:lnTo>
                    <a:pt x="2022" y="25"/>
                  </a:lnTo>
                  <a:lnTo>
                    <a:pt x="1851" y="1"/>
                  </a:lnTo>
                  <a:lnTo>
                    <a:pt x="1681" y="25"/>
                  </a:lnTo>
                  <a:lnTo>
                    <a:pt x="1510" y="25"/>
                  </a:lnTo>
                  <a:lnTo>
                    <a:pt x="1340" y="74"/>
                  </a:lnTo>
                  <a:lnTo>
                    <a:pt x="1169" y="123"/>
                  </a:lnTo>
                  <a:lnTo>
                    <a:pt x="1023" y="196"/>
                  </a:lnTo>
                  <a:lnTo>
                    <a:pt x="877" y="269"/>
                  </a:lnTo>
                  <a:lnTo>
                    <a:pt x="731" y="366"/>
                  </a:lnTo>
                  <a:lnTo>
                    <a:pt x="585" y="488"/>
                  </a:lnTo>
                  <a:lnTo>
                    <a:pt x="463" y="610"/>
                  </a:lnTo>
                  <a:lnTo>
                    <a:pt x="341" y="731"/>
                  </a:lnTo>
                  <a:lnTo>
                    <a:pt x="244" y="902"/>
                  </a:lnTo>
                  <a:lnTo>
                    <a:pt x="244" y="902"/>
                  </a:lnTo>
                  <a:lnTo>
                    <a:pt x="171" y="1048"/>
                  </a:lnTo>
                  <a:lnTo>
                    <a:pt x="98" y="1219"/>
                  </a:lnTo>
                  <a:lnTo>
                    <a:pt x="49" y="1389"/>
                  </a:lnTo>
                  <a:lnTo>
                    <a:pt x="25" y="1560"/>
                  </a:lnTo>
                  <a:lnTo>
                    <a:pt x="0" y="1730"/>
                  </a:lnTo>
                  <a:lnTo>
                    <a:pt x="0" y="1900"/>
                  </a:lnTo>
                  <a:lnTo>
                    <a:pt x="25" y="2071"/>
                  </a:lnTo>
                  <a:lnTo>
                    <a:pt x="73" y="2241"/>
                  </a:lnTo>
                  <a:lnTo>
                    <a:pt x="122" y="2412"/>
                  </a:lnTo>
                  <a:lnTo>
                    <a:pt x="195" y="2558"/>
                  </a:lnTo>
                  <a:lnTo>
                    <a:pt x="268" y="2729"/>
                  </a:lnTo>
                  <a:lnTo>
                    <a:pt x="366" y="2850"/>
                  </a:lnTo>
                  <a:lnTo>
                    <a:pt x="463" y="2996"/>
                  </a:lnTo>
                  <a:lnTo>
                    <a:pt x="609" y="3118"/>
                  </a:lnTo>
                  <a:lnTo>
                    <a:pt x="731" y="3240"/>
                  </a:lnTo>
                  <a:lnTo>
                    <a:pt x="901" y="3337"/>
                  </a:lnTo>
                  <a:lnTo>
                    <a:pt x="901" y="3337"/>
                  </a:lnTo>
                  <a:lnTo>
                    <a:pt x="1048" y="3410"/>
                  </a:lnTo>
                  <a:lnTo>
                    <a:pt x="1218" y="3484"/>
                  </a:lnTo>
                  <a:lnTo>
                    <a:pt x="1389" y="3532"/>
                  </a:lnTo>
                  <a:lnTo>
                    <a:pt x="1559" y="3557"/>
                  </a:lnTo>
                  <a:lnTo>
                    <a:pt x="1730" y="3581"/>
                  </a:lnTo>
                  <a:lnTo>
                    <a:pt x="1900" y="3581"/>
                  </a:lnTo>
                  <a:lnTo>
                    <a:pt x="2071" y="3557"/>
                  </a:lnTo>
                  <a:lnTo>
                    <a:pt x="2241" y="3508"/>
                  </a:lnTo>
                  <a:lnTo>
                    <a:pt x="2411" y="3459"/>
                  </a:lnTo>
                  <a:lnTo>
                    <a:pt x="2558" y="3410"/>
                  </a:lnTo>
                  <a:lnTo>
                    <a:pt x="2704" y="3313"/>
                  </a:lnTo>
                  <a:lnTo>
                    <a:pt x="2850" y="3216"/>
                  </a:lnTo>
                  <a:lnTo>
                    <a:pt x="2996" y="3118"/>
                  </a:lnTo>
                  <a:lnTo>
                    <a:pt x="3118" y="2996"/>
                  </a:lnTo>
                  <a:lnTo>
                    <a:pt x="3240" y="2850"/>
                  </a:lnTo>
                  <a:lnTo>
                    <a:pt x="3337" y="2704"/>
                  </a:lnTo>
                  <a:lnTo>
                    <a:pt x="3337" y="2704"/>
                  </a:lnTo>
                  <a:lnTo>
                    <a:pt x="3459" y="2412"/>
                  </a:lnTo>
                  <a:lnTo>
                    <a:pt x="3532" y="2144"/>
                  </a:lnTo>
                  <a:lnTo>
                    <a:pt x="3581" y="1852"/>
                  </a:lnTo>
                  <a:lnTo>
                    <a:pt x="3556" y="1560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7" name="Google Shape;397;p20"/>
            <p:cNvSpPr/>
            <p:nvPr/>
          </p:nvSpPr>
          <p:spPr>
            <a:xfrm>
              <a:off x="5453325" y="5382475"/>
              <a:ext cx="88925" cy="88325"/>
            </a:xfrm>
            <a:custGeom>
              <a:rect b="b" l="l" r="r" t="t"/>
              <a:pathLst>
                <a:path extrusionOk="0" fill="none" h="3533" w="3557">
                  <a:moveTo>
                    <a:pt x="1389" y="1"/>
                  </a:moveTo>
                  <a:lnTo>
                    <a:pt x="1389" y="1"/>
                  </a:lnTo>
                  <a:lnTo>
                    <a:pt x="1194" y="50"/>
                  </a:lnTo>
                  <a:lnTo>
                    <a:pt x="999" y="147"/>
                  </a:lnTo>
                  <a:lnTo>
                    <a:pt x="804" y="245"/>
                  </a:lnTo>
                  <a:lnTo>
                    <a:pt x="634" y="366"/>
                  </a:lnTo>
                  <a:lnTo>
                    <a:pt x="634" y="366"/>
                  </a:lnTo>
                  <a:lnTo>
                    <a:pt x="488" y="488"/>
                  </a:lnTo>
                  <a:lnTo>
                    <a:pt x="390" y="634"/>
                  </a:lnTo>
                  <a:lnTo>
                    <a:pt x="268" y="780"/>
                  </a:lnTo>
                  <a:lnTo>
                    <a:pt x="195" y="926"/>
                  </a:lnTo>
                  <a:lnTo>
                    <a:pt x="122" y="1073"/>
                  </a:lnTo>
                  <a:lnTo>
                    <a:pt x="74" y="1243"/>
                  </a:lnTo>
                  <a:lnTo>
                    <a:pt x="25" y="1414"/>
                  </a:lnTo>
                  <a:lnTo>
                    <a:pt x="0" y="1584"/>
                  </a:lnTo>
                  <a:lnTo>
                    <a:pt x="0" y="1755"/>
                  </a:lnTo>
                  <a:lnTo>
                    <a:pt x="0" y="1925"/>
                  </a:lnTo>
                  <a:lnTo>
                    <a:pt x="25" y="2096"/>
                  </a:lnTo>
                  <a:lnTo>
                    <a:pt x="74" y="2266"/>
                  </a:lnTo>
                  <a:lnTo>
                    <a:pt x="122" y="2412"/>
                  </a:lnTo>
                  <a:lnTo>
                    <a:pt x="195" y="2583"/>
                  </a:lnTo>
                  <a:lnTo>
                    <a:pt x="293" y="2729"/>
                  </a:lnTo>
                  <a:lnTo>
                    <a:pt x="415" y="2875"/>
                  </a:lnTo>
                  <a:lnTo>
                    <a:pt x="415" y="2875"/>
                  </a:lnTo>
                  <a:lnTo>
                    <a:pt x="536" y="3021"/>
                  </a:lnTo>
                  <a:lnTo>
                    <a:pt x="658" y="3143"/>
                  </a:lnTo>
                  <a:lnTo>
                    <a:pt x="804" y="3240"/>
                  </a:lnTo>
                  <a:lnTo>
                    <a:pt x="950" y="3313"/>
                  </a:lnTo>
                  <a:lnTo>
                    <a:pt x="1121" y="3386"/>
                  </a:lnTo>
                  <a:lnTo>
                    <a:pt x="1267" y="3459"/>
                  </a:lnTo>
                  <a:lnTo>
                    <a:pt x="1437" y="3484"/>
                  </a:lnTo>
                  <a:lnTo>
                    <a:pt x="1608" y="3508"/>
                  </a:lnTo>
                  <a:lnTo>
                    <a:pt x="1778" y="3532"/>
                  </a:lnTo>
                  <a:lnTo>
                    <a:pt x="1949" y="3508"/>
                  </a:lnTo>
                  <a:lnTo>
                    <a:pt x="2119" y="3484"/>
                  </a:lnTo>
                  <a:lnTo>
                    <a:pt x="2290" y="3435"/>
                  </a:lnTo>
                  <a:lnTo>
                    <a:pt x="2460" y="3386"/>
                  </a:lnTo>
                  <a:lnTo>
                    <a:pt x="2606" y="3313"/>
                  </a:lnTo>
                  <a:lnTo>
                    <a:pt x="2777" y="3216"/>
                  </a:lnTo>
                  <a:lnTo>
                    <a:pt x="2923" y="3118"/>
                  </a:lnTo>
                  <a:lnTo>
                    <a:pt x="2923" y="3118"/>
                  </a:lnTo>
                  <a:lnTo>
                    <a:pt x="3045" y="2997"/>
                  </a:lnTo>
                  <a:lnTo>
                    <a:pt x="3167" y="2851"/>
                  </a:lnTo>
                  <a:lnTo>
                    <a:pt x="3264" y="2704"/>
                  </a:lnTo>
                  <a:lnTo>
                    <a:pt x="3361" y="2558"/>
                  </a:lnTo>
                  <a:lnTo>
                    <a:pt x="3435" y="2412"/>
                  </a:lnTo>
                  <a:lnTo>
                    <a:pt x="3483" y="2242"/>
                  </a:lnTo>
                  <a:lnTo>
                    <a:pt x="3532" y="2071"/>
                  </a:lnTo>
                  <a:lnTo>
                    <a:pt x="3556" y="1901"/>
                  </a:lnTo>
                  <a:lnTo>
                    <a:pt x="3556" y="1730"/>
                  </a:lnTo>
                  <a:lnTo>
                    <a:pt x="3556" y="1560"/>
                  </a:lnTo>
                  <a:lnTo>
                    <a:pt x="3532" y="1389"/>
                  </a:lnTo>
                  <a:lnTo>
                    <a:pt x="3483" y="1219"/>
                  </a:lnTo>
                  <a:lnTo>
                    <a:pt x="3410" y="1048"/>
                  </a:lnTo>
                  <a:lnTo>
                    <a:pt x="3337" y="902"/>
                  </a:lnTo>
                  <a:lnTo>
                    <a:pt x="3264" y="756"/>
                  </a:lnTo>
                  <a:lnTo>
                    <a:pt x="3142" y="610"/>
                  </a:lnTo>
                  <a:lnTo>
                    <a:pt x="3142" y="610"/>
                  </a:lnTo>
                  <a:lnTo>
                    <a:pt x="2972" y="415"/>
                  </a:lnTo>
                  <a:lnTo>
                    <a:pt x="2753" y="245"/>
                  </a:lnTo>
                  <a:lnTo>
                    <a:pt x="2533" y="123"/>
                  </a:lnTo>
                  <a:lnTo>
                    <a:pt x="2314" y="50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8" name="Google Shape;398;p20"/>
            <p:cNvSpPr/>
            <p:nvPr/>
          </p:nvSpPr>
          <p:spPr>
            <a:xfrm>
              <a:off x="5682875" y="5188875"/>
              <a:ext cx="88925" cy="89525"/>
            </a:xfrm>
            <a:custGeom>
              <a:rect b="b" l="l" r="r" t="t"/>
              <a:pathLst>
                <a:path extrusionOk="0" fill="none" h="3581" w="3557">
                  <a:moveTo>
                    <a:pt x="0" y="2022"/>
                  </a:moveTo>
                  <a:lnTo>
                    <a:pt x="0" y="2022"/>
                  </a:lnTo>
                  <a:lnTo>
                    <a:pt x="25" y="2216"/>
                  </a:lnTo>
                  <a:lnTo>
                    <a:pt x="98" y="2411"/>
                  </a:lnTo>
                  <a:lnTo>
                    <a:pt x="98" y="2411"/>
                  </a:lnTo>
                  <a:lnTo>
                    <a:pt x="171" y="2557"/>
                  </a:lnTo>
                  <a:lnTo>
                    <a:pt x="244" y="2728"/>
                  </a:lnTo>
                  <a:lnTo>
                    <a:pt x="341" y="2874"/>
                  </a:lnTo>
                  <a:lnTo>
                    <a:pt x="463" y="2996"/>
                  </a:lnTo>
                  <a:lnTo>
                    <a:pt x="585" y="3118"/>
                  </a:lnTo>
                  <a:lnTo>
                    <a:pt x="707" y="3239"/>
                  </a:lnTo>
                  <a:lnTo>
                    <a:pt x="853" y="3337"/>
                  </a:lnTo>
                  <a:lnTo>
                    <a:pt x="999" y="3410"/>
                  </a:lnTo>
                  <a:lnTo>
                    <a:pt x="1169" y="3483"/>
                  </a:lnTo>
                  <a:lnTo>
                    <a:pt x="1340" y="3532"/>
                  </a:lnTo>
                  <a:lnTo>
                    <a:pt x="1510" y="3556"/>
                  </a:lnTo>
                  <a:lnTo>
                    <a:pt x="1681" y="3580"/>
                  </a:lnTo>
                  <a:lnTo>
                    <a:pt x="1851" y="3580"/>
                  </a:lnTo>
                  <a:lnTo>
                    <a:pt x="2022" y="3556"/>
                  </a:lnTo>
                  <a:lnTo>
                    <a:pt x="2192" y="3532"/>
                  </a:lnTo>
                  <a:lnTo>
                    <a:pt x="2363" y="3459"/>
                  </a:lnTo>
                  <a:lnTo>
                    <a:pt x="2363" y="3459"/>
                  </a:lnTo>
                  <a:lnTo>
                    <a:pt x="2533" y="3410"/>
                  </a:lnTo>
                  <a:lnTo>
                    <a:pt x="2704" y="3312"/>
                  </a:lnTo>
                  <a:lnTo>
                    <a:pt x="2850" y="3215"/>
                  </a:lnTo>
                  <a:lnTo>
                    <a:pt x="2972" y="3093"/>
                  </a:lnTo>
                  <a:lnTo>
                    <a:pt x="3093" y="2971"/>
                  </a:lnTo>
                  <a:lnTo>
                    <a:pt x="3215" y="2850"/>
                  </a:lnTo>
                  <a:lnTo>
                    <a:pt x="3288" y="2704"/>
                  </a:lnTo>
                  <a:lnTo>
                    <a:pt x="3386" y="2557"/>
                  </a:lnTo>
                  <a:lnTo>
                    <a:pt x="3434" y="2387"/>
                  </a:lnTo>
                  <a:lnTo>
                    <a:pt x="3483" y="2216"/>
                  </a:lnTo>
                  <a:lnTo>
                    <a:pt x="3532" y="2070"/>
                  </a:lnTo>
                  <a:lnTo>
                    <a:pt x="3556" y="1875"/>
                  </a:lnTo>
                  <a:lnTo>
                    <a:pt x="3556" y="1705"/>
                  </a:lnTo>
                  <a:lnTo>
                    <a:pt x="3532" y="1534"/>
                  </a:lnTo>
                  <a:lnTo>
                    <a:pt x="3507" y="1364"/>
                  </a:lnTo>
                  <a:lnTo>
                    <a:pt x="3434" y="1194"/>
                  </a:lnTo>
                  <a:lnTo>
                    <a:pt x="3434" y="1194"/>
                  </a:lnTo>
                  <a:lnTo>
                    <a:pt x="3361" y="1023"/>
                  </a:lnTo>
                  <a:lnTo>
                    <a:pt x="3288" y="853"/>
                  </a:lnTo>
                  <a:lnTo>
                    <a:pt x="3191" y="706"/>
                  </a:lnTo>
                  <a:lnTo>
                    <a:pt x="3069" y="585"/>
                  </a:lnTo>
                  <a:lnTo>
                    <a:pt x="2947" y="463"/>
                  </a:lnTo>
                  <a:lnTo>
                    <a:pt x="2825" y="341"/>
                  </a:lnTo>
                  <a:lnTo>
                    <a:pt x="2679" y="268"/>
                  </a:lnTo>
                  <a:lnTo>
                    <a:pt x="2533" y="171"/>
                  </a:lnTo>
                  <a:lnTo>
                    <a:pt x="2363" y="122"/>
                  </a:lnTo>
                  <a:lnTo>
                    <a:pt x="2192" y="73"/>
                  </a:lnTo>
                  <a:lnTo>
                    <a:pt x="2022" y="24"/>
                  </a:lnTo>
                  <a:lnTo>
                    <a:pt x="1851" y="24"/>
                  </a:lnTo>
                  <a:lnTo>
                    <a:pt x="1681" y="0"/>
                  </a:lnTo>
                  <a:lnTo>
                    <a:pt x="1510" y="24"/>
                  </a:lnTo>
                  <a:lnTo>
                    <a:pt x="1340" y="73"/>
                  </a:lnTo>
                  <a:lnTo>
                    <a:pt x="1169" y="122"/>
                  </a:lnTo>
                  <a:lnTo>
                    <a:pt x="1169" y="122"/>
                  </a:lnTo>
                  <a:lnTo>
                    <a:pt x="974" y="195"/>
                  </a:lnTo>
                  <a:lnTo>
                    <a:pt x="804" y="292"/>
                  </a:lnTo>
                  <a:lnTo>
                    <a:pt x="658" y="390"/>
                  </a:lnTo>
                  <a:lnTo>
                    <a:pt x="512" y="512"/>
                  </a:lnTo>
                  <a:lnTo>
                    <a:pt x="390" y="658"/>
                  </a:lnTo>
                  <a:lnTo>
                    <a:pt x="293" y="804"/>
                  </a:lnTo>
                  <a:lnTo>
                    <a:pt x="195" y="950"/>
                  </a:lnTo>
                  <a:lnTo>
                    <a:pt x="122" y="1120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9" name="Google Shape;399;p20"/>
            <p:cNvSpPr/>
            <p:nvPr/>
          </p:nvSpPr>
          <p:spPr>
            <a:xfrm>
              <a:off x="5411925" y="5110925"/>
              <a:ext cx="188775" cy="189400"/>
            </a:xfrm>
            <a:custGeom>
              <a:rect b="b" l="l" r="r" t="t"/>
              <a:pathLst>
                <a:path extrusionOk="0" fill="none" h="7576" w="7551">
                  <a:moveTo>
                    <a:pt x="0" y="3776"/>
                  </a:moveTo>
                  <a:lnTo>
                    <a:pt x="0" y="3776"/>
                  </a:lnTo>
                  <a:lnTo>
                    <a:pt x="25" y="3410"/>
                  </a:lnTo>
                  <a:lnTo>
                    <a:pt x="73" y="3021"/>
                  </a:lnTo>
                  <a:lnTo>
                    <a:pt x="171" y="2655"/>
                  </a:lnTo>
                  <a:lnTo>
                    <a:pt x="293" y="2314"/>
                  </a:lnTo>
                  <a:lnTo>
                    <a:pt x="463" y="1973"/>
                  </a:lnTo>
                  <a:lnTo>
                    <a:pt x="658" y="1681"/>
                  </a:lnTo>
                  <a:lnTo>
                    <a:pt x="877" y="1389"/>
                  </a:lnTo>
                  <a:lnTo>
                    <a:pt x="1121" y="1121"/>
                  </a:lnTo>
                  <a:lnTo>
                    <a:pt x="1389" y="877"/>
                  </a:lnTo>
                  <a:lnTo>
                    <a:pt x="1656" y="658"/>
                  </a:lnTo>
                  <a:lnTo>
                    <a:pt x="1973" y="463"/>
                  </a:lnTo>
                  <a:lnTo>
                    <a:pt x="2314" y="293"/>
                  </a:lnTo>
                  <a:lnTo>
                    <a:pt x="2655" y="171"/>
                  </a:lnTo>
                  <a:lnTo>
                    <a:pt x="3020" y="74"/>
                  </a:lnTo>
                  <a:lnTo>
                    <a:pt x="3386" y="25"/>
                  </a:lnTo>
                  <a:lnTo>
                    <a:pt x="3775" y="1"/>
                  </a:lnTo>
                  <a:lnTo>
                    <a:pt x="3775" y="1"/>
                  </a:lnTo>
                  <a:lnTo>
                    <a:pt x="4165" y="25"/>
                  </a:lnTo>
                  <a:lnTo>
                    <a:pt x="4555" y="74"/>
                  </a:lnTo>
                  <a:lnTo>
                    <a:pt x="4896" y="171"/>
                  </a:lnTo>
                  <a:lnTo>
                    <a:pt x="5261" y="293"/>
                  </a:lnTo>
                  <a:lnTo>
                    <a:pt x="5578" y="463"/>
                  </a:lnTo>
                  <a:lnTo>
                    <a:pt x="5894" y="658"/>
                  </a:lnTo>
                  <a:lnTo>
                    <a:pt x="6186" y="877"/>
                  </a:lnTo>
                  <a:lnTo>
                    <a:pt x="6454" y="1121"/>
                  </a:lnTo>
                  <a:lnTo>
                    <a:pt x="6698" y="1389"/>
                  </a:lnTo>
                  <a:lnTo>
                    <a:pt x="6917" y="1681"/>
                  </a:lnTo>
                  <a:lnTo>
                    <a:pt x="7112" y="1973"/>
                  </a:lnTo>
                  <a:lnTo>
                    <a:pt x="7258" y="2314"/>
                  </a:lnTo>
                  <a:lnTo>
                    <a:pt x="7404" y="2655"/>
                  </a:lnTo>
                  <a:lnTo>
                    <a:pt x="7477" y="3021"/>
                  </a:lnTo>
                  <a:lnTo>
                    <a:pt x="7550" y="3410"/>
                  </a:lnTo>
                  <a:lnTo>
                    <a:pt x="7550" y="3776"/>
                  </a:lnTo>
                  <a:lnTo>
                    <a:pt x="7550" y="3776"/>
                  </a:lnTo>
                  <a:lnTo>
                    <a:pt x="7550" y="4165"/>
                  </a:lnTo>
                  <a:lnTo>
                    <a:pt x="7477" y="4555"/>
                  </a:lnTo>
                  <a:lnTo>
                    <a:pt x="7404" y="4920"/>
                  </a:lnTo>
                  <a:lnTo>
                    <a:pt x="7258" y="5261"/>
                  </a:lnTo>
                  <a:lnTo>
                    <a:pt x="7112" y="5578"/>
                  </a:lnTo>
                  <a:lnTo>
                    <a:pt x="6917" y="5895"/>
                  </a:lnTo>
                  <a:lnTo>
                    <a:pt x="6698" y="6187"/>
                  </a:lnTo>
                  <a:lnTo>
                    <a:pt x="6454" y="6455"/>
                  </a:lnTo>
                  <a:lnTo>
                    <a:pt x="6186" y="6698"/>
                  </a:lnTo>
                  <a:lnTo>
                    <a:pt x="5894" y="6917"/>
                  </a:lnTo>
                  <a:lnTo>
                    <a:pt x="5578" y="7112"/>
                  </a:lnTo>
                  <a:lnTo>
                    <a:pt x="5261" y="7258"/>
                  </a:lnTo>
                  <a:lnTo>
                    <a:pt x="4896" y="7405"/>
                  </a:lnTo>
                  <a:lnTo>
                    <a:pt x="4555" y="7478"/>
                  </a:lnTo>
                  <a:lnTo>
                    <a:pt x="4165" y="7551"/>
                  </a:lnTo>
                  <a:lnTo>
                    <a:pt x="3775" y="7575"/>
                  </a:lnTo>
                  <a:lnTo>
                    <a:pt x="3775" y="7575"/>
                  </a:lnTo>
                  <a:lnTo>
                    <a:pt x="3386" y="7551"/>
                  </a:lnTo>
                  <a:lnTo>
                    <a:pt x="3020" y="7478"/>
                  </a:lnTo>
                  <a:lnTo>
                    <a:pt x="2655" y="7405"/>
                  </a:lnTo>
                  <a:lnTo>
                    <a:pt x="2314" y="7258"/>
                  </a:lnTo>
                  <a:lnTo>
                    <a:pt x="1973" y="7112"/>
                  </a:lnTo>
                  <a:lnTo>
                    <a:pt x="1656" y="6917"/>
                  </a:lnTo>
                  <a:lnTo>
                    <a:pt x="1389" y="6698"/>
                  </a:lnTo>
                  <a:lnTo>
                    <a:pt x="1121" y="6455"/>
                  </a:lnTo>
                  <a:lnTo>
                    <a:pt x="877" y="6187"/>
                  </a:lnTo>
                  <a:lnTo>
                    <a:pt x="658" y="5895"/>
                  </a:lnTo>
                  <a:lnTo>
                    <a:pt x="463" y="5578"/>
                  </a:lnTo>
                  <a:lnTo>
                    <a:pt x="293" y="5261"/>
                  </a:lnTo>
                  <a:lnTo>
                    <a:pt x="171" y="4920"/>
                  </a:lnTo>
                  <a:lnTo>
                    <a:pt x="73" y="4555"/>
                  </a:lnTo>
                  <a:lnTo>
                    <a:pt x="25" y="4165"/>
                  </a:lnTo>
                  <a:lnTo>
                    <a:pt x="0" y="3776"/>
                  </a:lnTo>
                  <a:lnTo>
                    <a:pt x="0" y="3776"/>
                  </a:lnTo>
                  <a:close/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" name="Google Shape;400;p20"/>
            <p:cNvSpPr/>
            <p:nvPr/>
          </p:nvSpPr>
          <p:spPr>
            <a:xfrm>
              <a:off x="5367475" y="5025075"/>
              <a:ext cx="81600" cy="105975"/>
            </a:xfrm>
            <a:custGeom>
              <a:rect b="b" l="l" r="r" t="t"/>
              <a:pathLst>
                <a:path extrusionOk="0" fill="none" h="4239" w="3264">
                  <a:moveTo>
                    <a:pt x="0" y="1"/>
                  </a:moveTo>
                  <a:lnTo>
                    <a:pt x="3264" y="4238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1" name="Google Shape;401;p20"/>
            <p:cNvSpPr/>
            <p:nvPr/>
          </p:nvSpPr>
          <p:spPr>
            <a:xfrm>
              <a:off x="5567800" y="4999500"/>
              <a:ext cx="115100" cy="133975"/>
            </a:xfrm>
            <a:custGeom>
              <a:rect b="b" l="l" r="r" t="t"/>
              <a:pathLst>
                <a:path extrusionOk="0" fill="none" h="5359" w="4604">
                  <a:moveTo>
                    <a:pt x="0" y="5359"/>
                  </a:moveTo>
                  <a:lnTo>
                    <a:pt x="4603" y="1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2" name="Google Shape;402;p20"/>
            <p:cNvSpPr/>
            <p:nvPr/>
          </p:nvSpPr>
          <p:spPr>
            <a:xfrm>
              <a:off x="5600075" y="5217475"/>
              <a:ext cx="127275" cy="16475"/>
            </a:xfrm>
            <a:custGeom>
              <a:rect b="b" l="l" r="r" t="t"/>
              <a:pathLst>
                <a:path extrusionOk="0" fill="none" h="659" w="5091">
                  <a:moveTo>
                    <a:pt x="5090" y="658"/>
                  </a:move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3" name="Google Shape;403;p20"/>
            <p:cNvSpPr/>
            <p:nvPr/>
          </p:nvSpPr>
          <p:spPr>
            <a:xfrm>
              <a:off x="5497775" y="5299675"/>
              <a:ext cx="4900" cy="126675"/>
            </a:xfrm>
            <a:custGeom>
              <a:rect b="b" l="l" r="r" t="t"/>
              <a:pathLst>
                <a:path extrusionOk="0" fill="none" h="5067" w="196">
                  <a:moveTo>
                    <a:pt x="0" y="5067"/>
                  </a:moveTo>
                  <a:lnTo>
                    <a:pt x="195" y="1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" name="Google Shape;404;p20"/>
            <p:cNvSpPr/>
            <p:nvPr/>
          </p:nvSpPr>
          <p:spPr>
            <a:xfrm>
              <a:off x="5277975" y="5241825"/>
              <a:ext cx="141275" cy="58500"/>
            </a:xfrm>
            <a:custGeom>
              <a:rect b="b" l="l" r="r" t="t"/>
              <a:pathLst>
                <a:path extrusionOk="0" fill="none" h="2340" w="5651">
                  <a:moveTo>
                    <a:pt x="0" y="2339"/>
                  </a:moveTo>
                  <a:lnTo>
                    <a:pt x="5651" y="1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05" name="Google Shape;40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21706" y="135466"/>
            <a:ext cx="2116765" cy="1058383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20"/>
          <p:cNvSpPr txBox="1"/>
          <p:nvPr/>
        </p:nvSpPr>
        <p:spPr>
          <a:xfrm>
            <a:off x="4592729" y="4865440"/>
            <a:ext cx="7445742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s-CL" sz="6000" u="none" cap="none" strike="noStrike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Estequiometría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1893">
            <a:alpha val="54509"/>
          </a:srgbClr>
        </a:solidFill>
      </p:bgPr>
    </p:bg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21"/>
          <p:cNvSpPr txBox="1"/>
          <p:nvPr>
            <p:ph idx="12" type="sldNum"/>
          </p:nvPr>
        </p:nvSpPr>
        <p:spPr>
          <a:xfrm>
            <a:off x="11390968" y="6333135"/>
            <a:ext cx="897909" cy="5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ucida Sans"/>
              <a:buNone/>
            </a:pPr>
            <a:fld id="{00000000-1234-1234-1234-123412341234}" type="slidenum">
              <a:rPr lang="es-CL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‹#›</a:t>
            </a:fld>
            <a:endParaRPr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412" name="Google Shape;41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79280" y="132951"/>
            <a:ext cx="2597954" cy="1058383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21"/>
          <p:cNvSpPr txBox="1"/>
          <p:nvPr/>
        </p:nvSpPr>
        <p:spPr>
          <a:xfrm>
            <a:off x="309136" y="483640"/>
            <a:ext cx="747891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400"/>
              <a:buFont typeface="Arial"/>
              <a:buNone/>
            </a:pPr>
            <a:r>
              <a:rPr b="1" i="0" lang="es-CL" sz="24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1.- </a:t>
            </a:r>
            <a:r>
              <a:rPr b="0" i="0" lang="es-CL" sz="24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Balancea las siguientes ecuaciones químicas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21"/>
          <p:cNvSpPr/>
          <p:nvPr/>
        </p:nvSpPr>
        <p:spPr>
          <a:xfrm>
            <a:off x="488951" y="1719262"/>
            <a:ext cx="9328817" cy="3112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3200"/>
              <a:buFont typeface="Arial"/>
              <a:buNone/>
            </a:pPr>
            <a:r>
              <a:rPr b="0" i="0" lang="es-CL" sz="32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CH</a:t>
            </a:r>
            <a:r>
              <a:rPr b="0" baseline="-25000" i="0" lang="es-CL" sz="32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3</a:t>
            </a:r>
            <a:r>
              <a:rPr b="0" i="0" lang="es-CL" sz="32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OH + O</a:t>
            </a:r>
            <a:r>
              <a:rPr b="0" baseline="-25000" i="0" lang="es-CL" sz="32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2</a:t>
            </a:r>
            <a:r>
              <a:rPr b="0" i="0" lang="es-CL" sz="32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 → CO</a:t>
            </a:r>
            <a:r>
              <a:rPr b="0" baseline="-25000" i="0" lang="es-CL" sz="32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2</a:t>
            </a:r>
            <a:r>
              <a:rPr b="0" i="0" lang="es-CL" sz="32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 + H</a:t>
            </a:r>
            <a:r>
              <a:rPr b="0" baseline="-25000" i="0" lang="es-CL" sz="32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2</a:t>
            </a:r>
            <a:r>
              <a:rPr b="0" i="0" lang="es-CL" sz="32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2F5496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800"/>
              </a:spcBef>
              <a:spcAft>
                <a:spcPts val="0"/>
              </a:spcAft>
              <a:buClr>
                <a:srgbClr val="2F5496"/>
              </a:buClr>
              <a:buSzPts val="3200"/>
              <a:buFont typeface="Arial"/>
              <a:buNone/>
            </a:pPr>
            <a:r>
              <a:rPr b="0" i="0" lang="es-CL" sz="32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Na</a:t>
            </a:r>
            <a:r>
              <a:rPr b="0" baseline="-25000" i="0" lang="es-CL" sz="32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3</a:t>
            </a:r>
            <a:r>
              <a:rPr b="0" i="0" lang="es-CL" sz="32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PO</a:t>
            </a:r>
            <a:r>
              <a:rPr b="0" baseline="-25000" i="0" lang="es-CL" sz="32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4</a:t>
            </a:r>
            <a:r>
              <a:rPr b="0" i="0" lang="es-CL" sz="32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  + Ba (NO</a:t>
            </a:r>
            <a:r>
              <a:rPr b="0" baseline="-25000" i="0" lang="es-CL" sz="32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3</a:t>
            </a:r>
            <a:r>
              <a:rPr b="0" i="0" lang="es-CL" sz="32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)</a:t>
            </a:r>
            <a:r>
              <a:rPr b="0" baseline="-25000" i="0" lang="es-CL" sz="32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2</a:t>
            </a:r>
            <a:r>
              <a:rPr b="0" i="0" lang="es-CL" sz="32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  → Ba</a:t>
            </a:r>
            <a:r>
              <a:rPr b="0" baseline="-25000" i="0" lang="es-CL" sz="32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3</a:t>
            </a:r>
            <a:r>
              <a:rPr b="0" i="0" lang="es-CL" sz="32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(PO</a:t>
            </a:r>
            <a:r>
              <a:rPr b="0" baseline="-25000" i="0" lang="es-CL" sz="32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4</a:t>
            </a:r>
            <a:r>
              <a:rPr b="0" i="0" lang="es-CL" sz="32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)</a:t>
            </a:r>
            <a:r>
              <a:rPr b="0" baseline="-25000" i="0" lang="es-CL" sz="32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2</a:t>
            </a:r>
            <a:r>
              <a:rPr b="0" i="0" lang="es-CL" sz="32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 + NaNO</a:t>
            </a:r>
            <a:r>
              <a:rPr b="0" baseline="-25000" i="0" lang="es-CL" sz="32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2F5496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800"/>
              </a:spcBef>
              <a:spcAft>
                <a:spcPts val="0"/>
              </a:spcAft>
              <a:buClr>
                <a:srgbClr val="2F5496"/>
              </a:buClr>
              <a:buSzPts val="3200"/>
              <a:buFont typeface="Arial"/>
              <a:buNone/>
            </a:pPr>
            <a:r>
              <a:rPr b="0" i="0" lang="es-CL" sz="32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C</a:t>
            </a:r>
            <a:r>
              <a:rPr b="0" baseline="-25000" i="0" lang="es-CL" sz="32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6</a:t>
            </a:r>
            <a:r>
              <a:rPr b="0" i="0" lang="es-CL" sz="32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H</a:t>
            </a:r>
            <a:r>
              <a:rPr b="0" baseline="-25000" i="0" lang="es-CL" sz="32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12 </a:t>
            </a:r>
            <a:r>
              <a:rPr b="0" i="0" lang="es-CL" sz="32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+ O</a:t>
            </a:r>
            <a:r>
              <a:rPr b="0" baseline="-25000" i="0" lang="es-CL" sz="32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2</a:t>
            </a:r>
            <a:r>
              <a:rPr b="0" i="0" lang="es-CL" sz="32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 → H</a:t>
            </a:r>
            <a:r>
              <a:rPr b="0" baseline="-25000" i="0" lang="es-CL" sz="32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2</a:t>
            </a:r>
            <a:r>
              <a:rPr b="0" i="0" lang="es-CL" sz="32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C</a:t>
            </a:r>
            <a:r>
              <a:rPr b="0" baseline="-25000" i="0" lang="es-CL" sz="32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6</a:t>
            </a:r>
            <a:r>
              <a:rPr b="0" i="0" lang="es-CL" sz="32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H</a:t>
            </a:r>
            <a:r>
              <a:rPr b="0" baseline="-25000" i="0" lang="es-CL" sz="32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8</a:t>
            </a:r>
            <a:r>
              <a:rPr b="0" i="0" lang="es-CL" sz="32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O</a:t>
            </a:r>
            <a:r>
              <a:rPr b="0" baseline="-25000" i="0" lang="es-CL" sz="32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4</a:t>
            </a:r>
            <a:r>
              <a:rPr b="0" i="0" lang="es-CL" sz="32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 + H</a:t>
            </a:r>
            <a:r>
              <a:rPr b="0" baseline="-25000" i="0" lang="es-CL" sz="32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2</a:t>
            </a:r>
            <a:r>
              <a:rPr b="0" i="0" lang="es-CL" sz="32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9300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217eded2196_0_0"/>
          <p:cNvSpPr txBox="1"/>
          <p:nvPr>
            <p:ph idx="12" type="sldNum"/>
          </p:nvPr>
        </p:nvSpPr>
        <p:spPr>
          <a:xfrm>
            <a:off x="11390969" y="6333135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Lucida Sans"/>
              <a:buNone/>
            </a:pPr>
            <a:fld id="{00000000-1234-1234-1234-123412341234}" type="slidenum">
              <a:rPr b="0" i="0" lang="es-CL" sz="2000" u="none" cap="none" strike="noStrike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rPr>
              <a:t>‹#›</a:t>
            </a:fld>
            <a:endParaRPr b="0" i="0" sz="2000" u="none" cap="none" strike="noStrike">
              <a:solidFill>
                <a:srgbClr val="FFFFFF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420" name="Google Shape;420;g217eded2196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79280" y="132951"/>
            <a:ext cx="2116762" cy="1058385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g217eded2196_0_0"/>
          <p:cNvSpPr txBox="1"/>
          <p:nvPr/>
        </p:nvSpPr>
        <p:spPr>
          <a:xfrm>
            <a:off x="4567397" y="5237922"/>
            <a:ext cx="74457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Karla"/>
              <a:buNone/>
            </a:pPr>
            <a:r>
              <a:rPr b="1" i="0" lang="es-CL" sz="6000" u="none" cap="none" strike="noStrike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Estequiometría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2" name="Google Shape;422;g217eded2196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9058" y="1908675"/>
            <a:ext cx="6400801" cy="28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9300">
            <a:alpha val="54509"/>
          </a:srgbClr>
        </a:solidFill>
      </p:bgPr>
    </p:bg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23"/>
          <p:cNvSpPr txBox="1"/>
          <p:nvPr>
            <p:ph idx="12" type="sldNum"/>
          </p:nvPr>
        </p:nvSpPr>
        <p:spPr>
          <a:xfrm>
            <a:off x="11390969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Lucida Sans"/>
              <a:buNone/>
            </a:pPr>
            <a:fld id="{00000000-1234-1234-1234-123412341234}" type="slidenum">
              <a:rPr lang="es-CL">
                <a:latin typeface="Lucida Sans"/>
                <a:ea typeface="Lucida Sans"/>
                <a:cs typeface="Lucida Sans"/>
                <a:sym typeface="Lucida Sans"/>
              </a:rPr>
              <a:t>‹#›</a:t>
            </a:fld>
            <a:endParaRPr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428" name="Google Shape;42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79280" y="132951"/>
            <a:ext cx="2116765" cy="1058383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23"/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FF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430" name="Google Shape;430;p23"/>
          <p:cNvSpPr txBox="1"/>
          <p:nvPr/>
        </p:nvSpPr>
        <p:spPr>
          <a:xfrm>
            <a:off x="254000" y="263944"/>
            <a:ext cx="9725279" cy="36009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2F92"/>
              </a:buClr>
              <a:buSzPts val="3200"/>
              <a:buFont typeface="Arial"/>
              <a:buNone/>
            </a:pPr>
            <a:r>
              <a:rPr b="1" i="0" lang="es-CL" sz="3200" u="none" cap="none" strike="noStrike">
                <a:solidFill>
                  <a:srgbClr val="FF2F92"/>
                </a:solidFill>
                <a:latin typeface="Lucida Sans"/>
                <a:ea typeface="Lucida Sans"/>
                <a:cs typeface="Lucida Sans"/>
                <a:sym typeface="Lucida Sans"/>
              </a:rPr>
              <a:t>Cálculos Estequiométricos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2F5496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400"/>
              <a:buFont typeface="Arial"/>
              <a:buNone/>
            </a:pPr>
            <a:r>
              <a:rPr b="0" i="0" lang="es-CL" sz="24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Los coeficientes de una ecuación química balanceada se pueden interpretar tanto como los números relativos de moléculas comprendidas en la reacción y como los números relativos de moles.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2F5496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800"/>
              <a:buFont typeface="Arial"/>
              <a:buNone/>
            </a:pPr>
            <a:r>
              <a:rPr b="1" i="0" lang="es-CL" sz="28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                  </a:t>
            </a:r>
            <a:endParaRPr b="0" i="0" sz="2400" u="none" cap="none" strike="noStrike">
              <a:solidFill>
                <a:srgbClr val="2F5496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2F5496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431" name="Google Shape;431;p23"/>
          <p:cNvSpPr txBox="1"/>
          <p:nvPr/>
        </p:nvSpPr>
        <p:spPr>
          <a:xfrm>
            <a:off x="1269698" y="3472244"/>
            <a:ext cx="2066537" cy="83574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100"/>
              <a:buFont typeface="Arial"/>
              <a:buNone/>
            </a:pPr>
            <a:r>
              <a:rPr b="1" i="0" lang="es-CL" sz="11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2 moléculas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800"/>
              </a:spcBef>
              <a:spcAft>
                <a:spcPts val="0"/>
              </a:spcAft>
              <a:buClr>
                <a:srgbClr val="2F5496"/>
              </a:buClr>
              <a:buSzPts val="1100"/>
              <a:buFont typeface="Arial"/>
              <a:buNone/>
            </a:pPr>
            <a:r>
              <a:rPr b="1" i="0" lang="es-CL" sz="11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2 (6,02 × 10</a:t>
            </a:r>
            <a:r>
              <a:rPr b="1" baseline="30000" i="0" lang="es-CL" sz="11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23</a:t>
            </a:r>
            <a:r>
              <a:rPr b="1" i="0" lang="es-CL" sz="11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 moléculas)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800"/>
              </a:spcBef>
              <a:spcAft>
                <a:spcPts val="0"/>
              </a:spcAft>
              <a:buClr>
                <a:srgbClr val="2F5496"/>
              </a:buClr>
              <a:buSzPts val="1100"/>
              <a:buFont typeface="Arial"/>
              <a:buNone/>
            </a:pPr>
            <a:r>
              <a:rPr b="1" i="0" lang="es-CL" sz="11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2 mol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23"/>
          <p:cNvSpPr txBox="1"/>
          <p:nvPr/>
        </p:nvSpPr>
        <p:spPr>
          <a:xfrm>
            <a:off x="4534663" y="3472244"/>
            <a:ext cx="1860762" cy="83574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100"/>
              <a:buFont typeface="Arial"/>
              <a:buNone/>
            </a:pPr>
            <a:r>
              <a:rPr b="1" i="0" lang="es-CL" sz="11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1 moléculas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800"/>
              </a:spcBef>
              <a:spcAft>
                <a:spcPts val="0"/>
              </a:spcAft>
              <a:buClr>
                <a:srgbClr val="2F5496"/>
              </a:buClr>
              <a:buSzPts val="1100"/>
              <a:buFont typeface="Arial"/>
              <a:buNone/>
            </a:pPr>
            <a:r>
              <a:rPr b="1" i="0" lang="es-CL" sz="11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6,02 × 10</a:t>
            </a:r>
            <a:r>
              <a:rPr b="1" baseline="30000" i="0" lang="es-CL" sz="11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23</a:t>
            </a:r>
            <a:r>
              <a:rPr b="1" i="0" lang="es-CL" sz="11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 moléculas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800"/>
              </a:spcBef>
              <a:spcAft>
                <a:spcPts val="0"/>
              </a:spcAft>
              <a:buClr>
                <a:srgbClr val="2F5496"/>
              </a:buClr>
              <a:buSzPts val="1100"/>
              <a:buFont typeface="Arial"/>
              <a:buNone/>
            </a:pPr>
            <a:r>
              <a:rPr b="1" i="0" lang="es-CL" sz="11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1 mol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23"/>
          <p:cNvSpPr txBox="1"/>
          <p:nvPr/>
        </p:nvSpPr>
        <p:spPr>
          <a:xfrm>
            <a:off x="7657338" y="3472244"/>
            <a:ext cx="1860761" cy="83574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100"/>
              <a:buFont typeface="Arial"/>
              <a:buNone/>
            </a:pPr>
            <a:r>
              <a:rPr b="1" i="0" lang="es-CL" sz="11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2 moléculas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800"/>
              </a:spcBef>
              <a:spcAft>
                <a:spcPts val="0"/>
              </a:spcAft>
              <a:buClr>
                <a:srgbClr val="2F5496"/>
              </a:buClr>
              <a:buSzPts val="1100"/>
              <a:buFont typeface="Arial"/>
              <a:buNone/>
            </a:pPr>
            <a:r>
              <a:rPr b="1" i="0" lang="es-CL" sz="11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2(6,02 × 10</a:t>
            </a:r>
            <a:r>
              <a:rPr b="1" baseline="30000" i="0" lang="es-CL" sz="11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23</a:t>
            </a:r>
            <a:r>
              <a:rPr b="1" i="0" lang="es-CL" sz="11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) moléculas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800"/>
              </a:spcBef>
              <a:spcAft>
                <a:spcPts val="0"/>
              </a:spcAft>
              <a:buClr>
                <a:srgbClr val="2F5496"/>
              </a:buClr>
              <a:buSzPts val="1100"/>
              <a:buFont typeface="Arial"/>
              <a:buNone/>
            </a:pPr>
            <a:r>
              <a:rPr b="1" i="0" lang="es-CL" sz="11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2 mol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23"/>
          <p:cNvSpPr txBox="1"/>
          <p:nvPr/>
        </p:nvSpPr>
        <p:spPr>
          <a:xfrm>
            <a:off x="254000" y="4592259"/>
            <a:ext cx="7797799" cy="2126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Las ecuaciones permiten hacer diferentes relaciones.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	Ejemplo: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4605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2 mol de Hidrógeno reacciona con 1 mol de Oxígeno.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4605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1 mol de Oxígeno produce 2 mol de Agua.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4605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2 mol de Hidrógeno produce 2 mol de Agua.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23"/>
          <p:cNvSpPr/>
          <p:nvPr/>
        </p:nvSpPr>
        <p:spPr>
          <a:xfrm>
            <a:off x="1269698" y="2636652"/>
            <a:ext cx="853548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3600"/>
              <a:buFont typeface="Lucida Sans"/>
              <a:buNone/>
            </a:pPr>
            <a:r>
              <a:rPr b="1" i="0" lang="es-CL" sz="36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2 H</a:t>
            </a:r>
            <a:r>
              <a:rPr b="1" baseline="-25000" i="0" lang="es-CL" sz="36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2      </a:t>
            </a:r>
            <a:r>
              <a:rPr b="1" i="0" lang="es-CL" sz="36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    +       O</a:t>
            </a:r>
            <a:r>
              <a:rPr b="1" baseline="-25000" i="0" lang="es-CL" sz="36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2          </a:t>
            </a:r>
            <a:r>
              <a:rPr b="1" i="0" lang="es-CL" sz="36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→      2 H</a:t>
            </a:r>
            <a:r>
              <a:rPr b="1" baseline="-25000" i="0" lang="es-CL" sz="36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2</a:t>
            </a:r>
            <a:r>
              <a:rPr b="1" i="0" lang="es-CL" sz="36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060"/>
        </a:solidFill>
      </p:bgPr>
    </p:bg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24"/>
          <p:cNvSpPr txBox="1"/>
          <p:nvPr>
            <p:ph idx="12" type="sldNum"/>
          </p:nvPr>
        </p:nvSpPr>
        <p:spPr>
          <a:xfrm>
            <a:off x="11390969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ucida Sans"/>
              <a:buNone/>
            </a:pPr>
            <a:fld id="{00000000-1234-1234-1234-123412341234}" type="slidenum">
              <a:rPr lang="es-CL" sz="20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‹#›</a:t>
            </a:fld>
            <a:endParaRPr sz="20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441" name="Google Shape;441;p24"/>
          <p:cNvSpPr txBox="1"/>
          <p:nvPr/>
        </p:nvSpPr>
        <p:spPr>
          <a:xfrm>
            <a:off x="2027436" y="2931560"/>
            <a:ext cx="7780961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s-CL" sz="6000" u="none" cap="none" strike="noStrike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Ejercicios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42" name="Google Shape;442;p24"/>
          <p:cNvGrpSpPr/>
          <p:nvPr/>
        </p:nvGrpSpPr>
        <p:grpSpPr>
          <a:xfrm>
            <a:off x="5125820" y="1447365"/>
            <a:ext cx="1171845" cy="1045591"/>
            <a:chOff x="5233525" y="4954450"/>
            <a:chExt cx="538275" cy="516350"/>
          </a:xfrm>
        </p:grpSpPr>
        <p:sp>
          <p:nvSpPr>
            <p:cNvPr id="443" name="Google Shape;443;p24"/>
            <p:cNvSpPr/>
            <p:nvPr/>
          </p:nvSpPr>
          <p:spPr>
            <a:xfrm>
              <a:off x="5637825" y="4954450"/>
              <a:ext cx="89525" cy="89525"/>
            </a:xfrm>
            <a:custGeom>
              <a:rect b="b" l="l" r="r" t="t"/>
              <a:pathLst>
                <a:path extrusionOk="0" fill="none" h="3581" w="3581">
                  <a:moveTo>
                    <a:pt x="1023" y="3410"/>
                  </a:moveTo>
                  <a:lnTo>
                    <a:pt x="1023" y="3410"/>
                  </a:lnTo>
                  <a:lnTo>
                    <a:pt x="1193" y="3483"/>
                  </a:lnTo>
                  <a:lnTo>
                    <a:pt x="1388" y="3532"/>
                  </a:lnTo>
                  <a:lnTo>
                    <a:pt x="1583" y="3556"/>
                  </a:lnTo>
                  <a:lnTo>
                    <a:pt x="1778" y="3581"/>
                  </a:lnTo>
                  <a:lnTo>
                    <a:pt x="1778" y="3581"/>
                  </a:lnTo>
                  <a:lnTo>
                    <a:pt x="1973" y="3556"/>
                  </a:lnTo>
                  <a:lnTo>
                    <a:pt x="2143" y="3532"/>
                  </a:lnTo>
                  <a:lnTo>
                    <a:pt x="2314" y="3508"/>
                  </a:lnTo>
                  <a:lnTo>
                    <a:pt x="2484" y="3435"/>
                  </a:lnTo>
                  <a:lnTo>
                    <a:pt x="2630" y="3361"/>
                  </a:lnTo>
                  <a:lnTo>
                    <a:pt x="2776" y="3264"/>
                  </a:lnTo>
                  <a:lnTo>
                    <a:pt x="2923" y="3167"/>
                  </a:lnTo>
                  <a:lnTo>
                    <a:pt x="3044" y="3045"/>
                  </a:lnTo>
                  <a:lnTo>
                    <a:pt x="3166" y="2923"/>
                  </a:lnTo>
                  <a:lnTo>
                    <a:pt x="3264" y="2801"/>
                  </a:lnTo>
                  <a:lnTo>
                    <a:pt x="3361" y="2631"/>
                  </a:lnTo>
                  <a:lnTo>
                    <a:pt x="3434" y="2485"/>
                  </a:lnTo>
                  <a:lnTo>
                    <a:pt x="3483" y="2314"/>
                  </a:lnTo>
                  <a:lnTo>
                    <a:pt x="3531" y="2144"/>
                  </a:lnTo>
                  <a:lnTo>
                    <a:pt x="3556" y="1973"/>
                  </a:lnTo>
                  <a:lnTo>
                    <a:pt x="3580" y="1803"/>
                  </a:lnTo>
                  <a:lnTo>
                    <a:pt x="3580" y="1803"/>
                  </a:lnTo>
                  <a:lnTo>
                    <a:pt x="3556" y="1608"/>
                  </a:lnTo>
                  <a:lnTo>
                    <a:pt x="3531" y="1437"/>
                  </a:lnTo>
                  <a:lnTo>
                    <a:pt x="3483" y="1267"/>
                  </a:lnTo>
                  <a:lnTo>
                    <a:pt x="3434" y="1096"/>
                  </a:lnTo>
                  <a:lnTo>
                    <a:pt x="3361" y="950"/>
                  </a:lnTo>
                  <a:lnTo>
                    <a:pt x="3264" y="804"/>
                  </a:lnTo>
                  <a:lnTo>
                    <a:pt x="3166" y="658"/>
                  </a:lnTo>
                  <a:lnTo>
                    <a:pt x="3044" y="536"/>
                  </a:lnTo>
                  <a:lnTo>
                    <a:pt x="2923" y="414"/>
                  </a:lnTo>
                  <a:lnTo>
                    <a:pt x="2776" y="317"/>
                  </a:lnTo>
                  <a:lnTo>
                    <a:pt x="2630" y="220"/>
                  </a:lnTo>
                  <a:lnTo>
                    <a:pt x="2484" y="147"/>
                  </a:lnTo>
                  <a:lnTo>
                    <a:pt x="2314" y="98"/>
                  </a:lnTo>
                  <a:lnTo>
                    <a:pt x="2143" y="49"/>
                  </a:lnTo>
                  <a:lnTo>
                    <a:pt x="1973" y="25"/>
                  </a:lnTo>
                  <a:lnTo>
                    <a:pt x="1778" y="0"/>
                  </a:lnTo>
                  <a:lnTo>
                    <a:pt x="1778" y="0"/>
                  </a:lnTo>
                  <a:lnTo>
                    <a:pt x="1607" y="25"/>
                  </a:lnTo>
                  <a:lnTo>
                    <a:pt x="1437" y="49"/>
                  </a:lnTo>
                  <a:lnTo>
                    <a:pt x="1266" y="98"/>
                  </a:lnTo>
                  <a:lnTo>
                    <a:pt x="1096" y="147"/>
                  </a:lnTo>
                  <a:lnTo>
                    <a:pt x="925" y="220"/>
                  </a:lnTo>
                  <a:lnTo>
                    <a:pt x="779" y="317"/>
                  </a:lnTo>
                  <a:lnTo>
                    <a:pt x="658" y="414"/>
                  </a:lnTo>
                  <a:lnTo>
                    <a:pt x="536" y="536"/>
                  </a:lnTo>
                  <a:lnTo>
                    <a:pt x="414" y="658"/>
                  </a:lnTo>
                  <a:lnTo>
                    <a:pt x="317" y="804"/>
                  </a:lnTo>
                  <a:lnTo>
                    <a:pt x="219" y="950"/>
                  </a:lnTo>
                  <a:lnTo>
                    <a:pt x="146" y="1096"/>
                  </a:lnTo>
                  <a:lnTo>
                    <a:pt x="73" y="1267"/>
                  </a:lnTo>
                  <a:lnTo>
                    <a:pt x="49" y="1437"/>
                  </a:lnTo>
                  <a:lnTo>
                    <a:pt x="24" y="1608"/>
                  </a:lnTo>
                  <a:lnTo>
                    <a:pt x="0" y="1803"/>
                  </a:lnTo>
                  <a:lnTo>
                    <a:pt x="0" y="1803"/>
                  </a:lnTo>
                  <a:lnTo>
                    <a:pt x="24" y="2071"/>
                  </a:lnTo>
                  <a:lnTo>
                    <a:pt x="97" y="2339"/>
                  </a:lnTo>
                  <a:lnTo>
                    <a:pt x="195" y="2582"/>
                  </a:lnTo>
                  <a:lnTo>
                    <a:pt x="317" y="2801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4" name="Google Shape;444;p24"/>
            <p:cNvSpPr/>
            <p:nvPr/>
          </p:nvSpPr>
          <p:spPr>
            <a:xfrm>
              <a:off x="5323025" y="4980625"/>
              <a:ext cx="88925" cy="88925"/>
            </a:xfrm>
            <a:custGeom>
              <a:rect b="b" l="l" r="r" t="t"/>
              <a:pathLst>
                <a:path extrusionOk="0" fill="none" h="3557" w="3557">
                  <a:moveTo>
                    <a:pt x="3191" y="2850"/>
                  </a:moveTo>
                  <a:lnTo>
                    <a:pt x="3191" y="2850"/>
                  </a:lnTo>
                  <a:lnTo>
                    <a:pt x="3313" y="2680"/>
                  </a:lnTo>
                  <a:lnTo>
                    <a:pt x="3410" y="2509"/>
                  </a:lnTo>
                  <a:lnTo>
                    <a:pt x="3483" y="2314"/>
                  </a:lnTo>
                  <a:lnTo>
                    <a:pt x="3532" y="2095"/>
                  </a:lnTo>
                  <a:lnTo>
                    <a:pt x="3532" y="2095"/>
                  </a:lnTo>
                  <a:lnTo>
                    <a:pt x="3556" y="1925"/>
                  </a:lnTo>
                  <a:lnTo>
                    <a:pt x="3556" y="1730"/>
                  </a:lnTo>
                  <a:lnTo>
                    <a:pt x="3556" y="1559"/>
                  </a:lnTo>
                  <a:lnTo>
                    <a:pt x="3508" y="1389"/>
                  </a:lnTo>
                  <a:lnTo>
                    <a:pt x="3459" y="1218"/>
                  </a:lnTo>
                  <a:lnTo>
                    <a:pt x="3410" y="1072"/>
                  </a:lnTo>
                  <a:lnTo>
                    <a:pt x="3337" y="902"/>
                  </a:lnTo>
                  <a:lnTo>
                    <a:pt x="3240" y="756"/>
                  </a:lnTo>
                  <a:lnTo>
                    <a:pt x="3142" y="634"/>
                  </a:lnTo>
                  <a:lnTo>
                    <a:pt x="3021" y="512"/>
                  </a:lnTo>
                  <a:lnTo>
                    <a:pt x="2899" y="390"/>
                  </a:lnTo>
                  <a:lnTo>
                    <a:pt x="2753" y="293"/>
                  </a:lnTo>
                  <a:lnTo>
                    <a:pt x="2606" y="196"/>
                  </a:lnTo>
                  <a:lnTo>
                    <a:pt x="2436" y="122"/>
                  </a:lnTo>
                  <a:lnTo>
                    <a:pt x="2266" y="74"/>
                  </a:lnTo>
                  <a:lnTo>
                    <a:pt x="2095" y="25"/>
                  </a:lnTo>
                  <a:lnTo>
                    <a:pt x="2095" y="25"/>
                  </a:lnTo>
                  <a:lnTo>
                    <a:pt x="1925" y="1"/>
                  </a:lnTo>
                  <a:lnTo>
                    <a:pt x="1730" y="1"/>
                  </a:lnTo>
                  <a:lnTo>
                    <a:pt x="1559" y="1"/>
                  </a:lnTo>
                  <a:lnTo>
                    <a:pt x="1389" y="25"/>
                  </a:lnTo>
                  <a:lnTo>
                    <a:pt x="1218" y="74"/>
                  </a:lnTo>
                  <a:lnTo>
                    <a:pt x="1072" y="147"/>
                  </a:lnTo>
                  <a:lnTo>
                    <a:pt x="902" y="220"/>
                  </a:lnTo>
                  <a:lnTo>
                    <a:pt x="756" y="317"/>
                  </a:lnTo>
                  <a:lnTo>
                    <a:pt x="634" y="415"/>
                  </a:lnTo>
                  <a:lnTo>
                    <a:pt x="512" y="537"/>
                  </a:lnTo>
                  <a:lnTo>
                    <a:pt x="390" y="658"/>
                  </a:lnTo>
                  <a:lnTo>
                    <a:pt x="293" y="804"/>
                  </a:lnTo>
                  <a:lnTo>
                    <a:pt x="195" y="951"/>
                  </a:lnTo>
                  <a:lnTo>
                    <a:pt x="122" y="1097"/>
                  </a:lnTo>
                  <a:lnTo>
                    <a:pt x="74" y="1267"/>
                  </a:lnTo>
                  <a:lnTo>
                    <a:pt x="25" y="1462"/>
                  </a:lnTo>
                  <a:lnTo>
                    <a:pt x="25" y="1462"/>
                  </a:lnTo>
                  <a:lnTo>
                    <a:pt x="1" y="1633"/>
                  </a:lnTo>
                  <a:lnTo>
                    <a:pt x="1" y="1803"/>
                  </a:lnTo>
                  <a:lnTo>
                    <a:pt x="1" y="1998"/>
                  </a:lnTo>
                  <a:lnTo>
                    <a:pt x="25" y="2168"/>
                  </a:lnTo>
                  <a:lnTo>
                    <a:pt x="74" y="2339"/>
                  </a:lnTo>
                  <a:lnTo>
                    <a:pt x="147" y="2485"/>
                  </a:lnTo>
                  <a:lnTo>
                    <a:pt x="220" y="2655"/>
                  </a:lnTo>
                  <a:lnTo>
                    <a:pt x="317" y="2777"/>
                  </a:lnTo>
                  <a:lnTo>
                    <a:pt x="415" y="2923"/>
                  </a:lnTo>
                  <a:lnTo>
                    <a:pt x="536" y="3045"/>
                  </a:lnTo>
                  <a:lnTo>
                    <a:pt x="658" y="3167"/>
                  </a:lnTo>
                  <a:lnTo>
                    <a:pt x="804" y="3264"/>
                  </a:lnTo>
                  <a:lnTo>
                    <a:pt x="950" y="3362"/>
                  </a:lnTo>
                  <a:lnTo>
                    <a:pt x="1096" y="3435"/>
                  </a:lnTo>
                  <a:lnTo>
                    <a:pt x="1267" y="3483"/>
                  </a:lnTo>
                  <a:lnTo>
                    <a:pt x="1462" y="3532"/>
                  </a:lnTo>
                  <a:lnTo>
                    <a:pt x="1462" y="3532"/>
                  </a:lnTo>
                  <a:lnTo>
                    <a:pt x="1705" y="3557"/>
                  </a:lnTo>
                  <a:lnTo>
                    <a:pt x="1973" y="3557"/>
                  </a:lnTo>
                  <a:lnTo>
                    <a:pt x="2217" y="3508"/>
                  </a:lnTo>
                  <a:lnTo>
                    <a:pt x="2460" y="3435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5" name="Google Shape;445;p24"/>
            <p:cNvSpPr/>
            <p:nvPr/>
          </p:nvSpPr>
          <p:spPr>
            <a:xfrm>
              <a:off x="5233525" y="5255225"/>
              <a:ext cx="89525" cy="89525"/>
            </a:xfrm>
            <a:custGeom>
              <a:rect b="b" l="l" r="r" t="t"/>
              <a:pathLst>
                <a:path extrusionOk="0" fill="none" h="3581" w="3581">
                  <a:moveTo>
                    <a:pt x="3215" y="707"/>
                  </a:moveTo>
                  <a:lnTo>
                    <a:pt x="3215" y="707"/>
                  </a:lnTo>
                  <a:lnTo>
                    <a:pt x="3093" y="585"/>
                  </a:lnTo>
                  <a:lnTo>
                    <a:pt x="2972" y="464"/>
                  </a:lnTo>
                  <a:lnTo>
                    <a:pt x="2850" y="342"/>
                  </a:lnTo>
                  <a:lnTo>
                    <a:pt x="2679" y="244"/>
                  </a:lnTo>
                  <a:lnTo>
                    <a:pt x="2679" y="244"/>
                  </a:lnTo>
                  <a:lnTo>
                    <a:pt x="2533" y="171"/>
                  </a:lnTo>
                  <a:lnTo>
                    <a:pt x="2363" y="98"/>
                  </a:lnTo>
                  <a:lnTo>
                    <a:pt x="2192" y="50"/>
                  </a:lnTo>
                  <a:lnTo>
                    <a:pt x="2022" y="25"/>
                  </a:lnTo>
                  <a:lnTo>
                    <a:pt x="1851" y="1"/>
                  </a:lnTo>
                  <a:lnTo>
                    <a:pt x="1681" y="25"/>
                  </a:lnTo>
                  <a:lnTo>
                    <a:pt x="1510" y="25"/>
                  </a:lnTo>
                  <a:lnTo>
                    <a:pt x="1340" y="74"/>
                  </a:lnTo>
                  <a:lnTo>
                    <a:pt x="1169" y="123"/>
                  </a:lnTo>
                  <a:lnTo>
                    <a:pt x="1023" y="196"/>
                  </a:lnTo>
                  <a:lnTo>
                    <a:pt x="877" y="269"/>
                  </a:lnTo>
                  <a:lnTo>
                    <a:pt x="731" y="366"/>
                  </a:lnTo>
                  <a:lnTo>
                    <a:pt x="585" y="488"/>
                  </a:lnTo>
                  <a:lnTo>
                    <a:pt x="463" y="610"/>
                  </a:lnTo>
                  <a:lnTo>
                    <a:pt x="341" y="731"/>
                  </a:lnTo>
                  <a:lnTo>
                    <a:pt x="244" y="902"/>
                  </a:lnTo>
                  <a:lnTo>
                    <a:pt x="244" y="902"/>
                  </a:lnTo>
                  <a:lnTo>
                    <a:pt x="171" y="1048"/>
                  </a:lnTo>
                  <a:lnTo>
                    <a:pt x="98" y="1219"/>
                  </a:lnTo>
                  <a:lnTo>
                    <a:pt x="49" y="1389"/>
                  </a:lnTo>
                  <a:lnTo>
                    <a:pt x="25" y="1560"/>
                  </a:lnTo>
                  <a:lnTo>
                    <a:pt x="0" y="1730"/>
                  </a:lnTo>
                  <a:lnTo>
                    <a:pt x="0" y="1900"/>
                  </a:lnTo>
                  <a:lnTo>
                    <a:pt x="25" y="2071"/>
                  </a:lnTo>
                  <a:lnTo>
                    <a:pt x="73" y="2241"/>
                  </a:lnTo>
                  <a:lnTo>
                    <a:pt x="122" y="2412"/>
                  </a:lnTo>
                  <a:lnTo>
                    <a:pt x="195" y="2558"/>
                  </a:lnTo>
                  <a:lnTo>
                    <a:pt x="268" y="2729"/>
                  </a:lnTo>
                  <a:lnTo>
                    <a:pt x="366" y="2850"/>
                  </a:lnTo>
                  <a:lnTo>
                    <a:pt x="463" y="2996"/>
                  </a:lnTo>
                  <a:lnTo>
                    <a:pt x="609" y="3118"/>
                  </a:lnTo>
                  <a:lnTo>
                    <a:pt x="731" y="3240"/>
                  </a:lnTo>
                  <a:lnTo>
                    <a:pt x="901" y="3337"/>
                  </a:lnTo>
                  <a:lnTo>
                    <a:pt x="901" y="3337"/>
                  </a:lnTo>
                  <a:lnTo>
                    <a:pt x="1048" y="3410"/>
                  </a:lnTo>
                  <a:lnTo>
                    <a:pt x="1218" y="3484"/>
                  </a:lnTo>
                  <a:lnTo>
                    <a:pt x="1389" y="3532"/>
                  </a:lnTo>
                  <a:lnTo>
                    <a:pt x="1559" y="3557"/>
                  </a:lnTo>
                  <a:lnTo>
                    <a:pt x="1730" y="3581"/>
                  </a:lnTo>
                  <a:lnTo>
                    <a:pt x="1900" y="3581"/>
                  </a:lnTo>
                  <a:lnTo>
                    <a:pt x="2071" y="3557"/>
                  </a:lnTo>
                  <a:lnTo>
                    <a:pt x="2241" y="3508"/>
                  </a:lnTo>
                  <a:lnTo>
                    <a:pt x="2411" y="3459"/>
                  </a:lnTo>
                  <a:lnTo>
                    <a:pt x="2558" y="3410"/>
                  </a:lnTo>
                  <a:lnTo>
                    <a:pt x="2704" y="3313"/>
                  </a:lnTo>
                  <a:lnTo>
                    <a:pt x="2850" y="3216"/>
                  </a:lnTo>
                  <a:lnTo>
                    <a:pt x="2996" y="3118"/>
                  </a:lnTo>
                  <a:lnTo>
                    <a:pt x="3118" y="2996"/>
                  </a:lnTo>
                  <a:lnTo>
                    <a:pt x="3240" y="2850"/>
                  </a:lnTo>
                  <a:lnTo>
                    <a:pt x="3337" y="2704"/>
                  </a:lnTo>
                  <a:lnTo>
                    <a:pt x="3337" y="2704"/>
                  </a:lnTo>
                  <a:lnTo>
                    <a:pt x="3459" y="2412"/>
                  </a:lnTo>
                  <a:lnTo>
                    <a:pt x="3532" y="2144"/>
                  </a:lnTo>
                  <a:lnTo>
                    <a:pt x="3581" y="1852"/>
                  </a:lnTo>
                  <a:lnTo>
                    <a:pt x="3556" y="1560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6" name="Google Shape;446;p24"/>
            <p:cNvSpPr/>
            <p:nvPr/>
          </p:nvSpPr>
          <p:spPr>
            <a:xfrm>
              <a:off x="5453325" y="5382475"/>
              <a:ext cx="88925" cy="88325"/>
            </a:xfrm>
            <a:custGeom>
              <a:rect b="b" l="l" r="r" t="t"/>
              <a:pathLst>
                <a:path extrusionOk="0" fill="none" h="3533" w="3557">
                  <a:moveTo>
                    <a:pt x="1389" y="1"/>
                  </a:moveTo>
                  <a:lnTo>
                    <a:pt x="1389" y="1"/>
                  </a:lnTo>
                  <a:lnTo>
                    <a:pt x="1194" y="50"/>
                  </a:lnTo>
                  <a:lnTo>
                    <a:pt x="999" y="147"/>
                  </a:lnTo>
                  <a:lnTo>
                    <a:pt x="804" y="245"/>
                  </a:lnTo>
                  <a:lnTo>
                    <a:pt x="634" y="366"/>
                  </a:lnTo>
                  <a:lnTo>
                    <a:pt x="634" y="366"/>
                  </a:lnTo>
                  <a:lnTo>
                    <a:pt x="488" y="488"/>
                  </a:lnTo>
                  <a:lnTo>
                    <a:pt x="390" y="634"/>
                  </a:lnTo>
                  <a:lnTo>
                    <a:pt x="268" y="780"/>
                  </a:lnTo>
                  <a:lnTo>
                    <a:pt x="195" y="926"/>
                  </a:lnTo>
                  <a:lnTo>
                    <a:pt x="122" y="1073"/>
                  </a:lnTo>
                  <a:lnTo>
                    <a:pt x="74" y="1243"/>
                  </a:lnTo>
                  <a:lnTo>
                    <a:pt x="25" y="1414"/>
                  </a:lnTo>
                  <a:lnTo>
                    <a:pt x="0" y="1584"/>
                  </a:lnTo>
                  <a:lnTo>
                    <a:pt x="0" y="1755"/>
                  </a:lnTo>
                  <a:lnTo>
                    <a:pt x="0" y="1925"/>
                  </a:lnTo>
                  <a:lnTo>
                    <a:pt x="25" y="2096"/>
                  </a:lnTo>
                  <a:lnTo>
                    <a:pt x="74" y="2266"/>
                  </a:lnTo>
                  <a:lnTo>
                    <a:pt x="122" y="2412"/>
                  </a:lnTo>
                  <a:lnTo>
                    <a:pt x="195" y="2583"/>
                  </a:lnTo>
                  <a:lnTo>
                    <a:pt x="293" y="2729"/>
                  </a:lnTo>
                  <a:lnTo>
                    <a:pt x="415" y="2875"/>
                  </a:lnTo>
                  <a:lnTo>
                    <a:pt x="415" y="2875"/>
                  </a:lnTo>
                  <a:lnTo>
                    <a:pt x="536" y="3021"/>
                  </a:lnTo>
                  <a:lnTo>
                    <a:pt x="658" y="3143"/>
                  </a:lnTo>
                  <a:lnTo>
                    <a:pt x="804" y="3240"/>
                  </a:lnTo>
                  <a:lnTo>
                    <a:pt x="950" y="3313"/>
                  </a:lnTo>
                  <a:lnTo>
                    <a:pt x="1121" y="3386"/>
                  </a:lnTo>
                  <a:lnTo>
                    <a:pt x="1267" y="3459"/>
                  </a:lnTo>
                  <a:lnTo>
                    <a:pt x="1437" y="3484"/>
                  </a:lnTo>
                  <a:lnTo>
                    <a:pt x="1608" y="3508"/>
                  </a:lnTo>
                  <a:lnTo>
                    <a:pt x="1778" y="3532"/>
                  </a:lnTo>
                  <a:lnTo>
                    <a:pt x="1949" y="3508"/>
                  </a:lnTo>
                  <a:lnTo>
                    <a:pt x="2119" y="3484"/>
                  </a:lnTo>
                  <a:lnTo>
                    <a:pt x="2290" y="3435"/>
                  </a:lnTo>
                  <a:lnTo>
                    <a:pt x="2460" y="3386"/>
                  </a:lnTo>
                  <a:lnTo>
                    <a:pt x="2606" y="3313"/>
                  </a:lnTo>
                  <a:lnTo>
                    <a:pt x="2777" y="3216"/>
                  </a:lnTo>
                  <a:lnTo>
                    <a:pt x="2923" y="3118"/>
                  </a:lnTo>
                  <a:lnTo>
                    <a:pt x="2923" y="3118"/>
                  </a:lnTo>
                  <a:lnTo>
                    <a:pt x="3045" y="2997"/>
                  </a:lnTo>
                  <a:lnTo>
                    <a:pt x="3167" y="2851"/>
                  </a:lnTo>
                  <a:lnTo>
                    <a:pt x="3264" y="2704"/>
                  </a:lnTo>
                  <a:lnTo>
                    <a:pt x="3361" y="2558"/>
                  </a:lnTo>
                  <a:lnTo>
                    <a:pt x="3435" y="2412"/>
                  </a:lnTo>
                  <a:lnTo>
                    <a:pt x="3483" y="2242"/>
                  </a:lnTo>
                  <a:lnTo>
                    <a:pt x="3532" y="2071"/>
                  </a:lnTo>
                  <a:lnTo>
                    <a:pt x="3556" y="1901"/>
                  </a:lnTo>
                  <a:lnTo>
                    <a:pt x="3556" y="1730"/>
                  </a:lnTo>
                  <a:lnTo>
                    <a:pt x="3556" y="1560"/>
                  </a:lnTo>
                  <a:lnTo>
                    <a:pt x="3532" y="1389"/>
                  </a:lnTo>
                  <a:lnTo>
                    <a:pt x="3483" y="1219"/>
                  </a:lnTo>
                  <a:lnTo>
                    <a:pt x="3410" y="1048"/>
                  </a:lnTo>
                  <a:lnTo>
                    <a:pt x="3337" y="902"/>
                  </a:lnTo>
                  <a:lnTo>
                    <a:pt x="3264" y="756"/>
                  </a:lnTo>
                  <a:lnTo>
                    <a:pt x="3142" y="610"/>
                  </a:lnTo>
                  <a:lnTo>
                    <a:pt x="3142" y="610"/>
                  </a:lnTo>
                  <a:lnTo>
                    <a:pt x="2972" y="415"/>
                  </a:lnTo>
                  <a:lnTo>
                    <a:pt x="2753" y="245"/>
                  </a:lnTo>
                  <a:lnTo>
                    <a:pt x="2533" y="123"/>
                  </a:lnTo>
                  <a:lnTo>
                    <a:pt x="2314" y="50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7" name="Google Shape;447;p24"/>
            <p:cNvSpPr/>
            <p:nvPr/>
          </p:nvSpPr>
          <p:spPr>
            <a:xfrm>
              <a:off x="5682875" y="5188875"/>
              <a:ext cx="88925" cy="89525"/>
            </a:xfrm>
            <a:custGeom>
              <a:rect b="b" l="l" r="r" t="t"/>
              <a:pathLst>
                <a:path extrusionOk="0" fill="none" h="3581" w="3557">
                  <a:moveTo>
                    <a:pt x="0" y="2022"/>
                  </a:moveTo>
                  <a:lnTo>
                    <a:pt x="0" y="2022"/>
                  </a:lnTo>
                  <a:lnTo>
                    <a:pt x="25" y="2216"/>
                  </a:lnTo>
                  <a:lnTo>
                    <a:pt x="98" y="2411"/>
                  </a:lnTo>
                  <a:lnTo>
                    <a:pt x="98" y="2411"/>
                  </a:lnTo>
                  <a:lnTo>
                    <a:pt x="171" y="2557"/>
                  </a:lnTo>
                  <a:lnTo>
                    <a:pt x="244" y="2728"/>
                  </a:lnTo>
                  <a:lnTo>
                    <a:pt x="341" y="2874"/>
                  </a:lnTo>
                  <a:lnTo>
                    <a:pt x="463" y="2996"/>
                  </a:lnTo>
                  <a:lnTo>
                    <a:pt x="585" y="3118"/>
                  </a:lnTo>
                  <a:lnTo>
                    <a:pt x="707" y="3239"/>
                  </a:lnTo>
                  <a:lnTo>
                    <a:pt x="853" y="3337"/>
                  </a:lnTo>
                  <a:lnTo>
                    <a:pt x="999" y="3410"/>
                  </a:lnTo>
                  <a:lnTo>
                    <a:pt x="1169" y="3483"/>
                  </a:lnTo>
                  <a:lnTo>
                    <a:pt x="1340" y="3532"/>
                  </a:lnTo>
                  <a:lnTo>
                    <a:pt x="1510" y="3556"/>
                  </a:lnTo>
                  <a:lnTo>
                    <a:pt x="1681" y="3580"/>
                  </a:lnTo>
                  <a:lnTo>
                    <a:pt x="1851" y="3580"/>
                  </a:lnTo>
                  <a:lnTo>
                    <a:pt x="2022" y="3556"/>
                  </a:lnTo>
                  <a:lnTo>
                    <a:pt x="2192" y="3532"/>
                  </a:lnTo>
                  <a:lnTo>
                    <a:pt x="2363" y="3459"/>
                  </a:lnTo>
                  <a:lnTo>
                    <a:pt x="2363" y="3459"/>
                  </a:lnTo>
                  <a:lnTo>
                    <a:pt x="2533" y="3410"/>
                  </a:lnTo>
                  <a:lnTo>
                    <a:pt x="2704" y="3312"/>
                  </a:lnTo>
                  <a:lnTo>
                    <a:pt x="2850" y="3215"/>
                  </a:lnTo>
                  <a:lnTo>
                    <a:pt x="2972" y="3093"/>
                  </a:lnTo>
                  <a:lnTo>
                    <a:pt x="3093" y="2971"/>
                  </a:lnTo>
                  <a:lnTo>
                    <a:pt x="3215" y="2850"/>
                  </a:lnTo>
                  <a:lnTo>
                    <a:pt x="3288" y="2704"/>
                  </a:lnTo>
                  <a:lnTo>
                    <a:pt x="3386" y="2557"/>
                  </a:lnTo>
                  <a:lnTo>
                    <a:pt x="3434" y="2387"/>
                  </a:lnTo>
                  <a:lnTo>
                    <a:pt x="3483" y="2216"/>
                  </a:lnTo>
                  <a:lnTo>
                    <a:pt x="3532" y="2070"/>
                  </a:lnTo>
                  <a:lnTo>
                    <a:pt x="3556" y="1875"/>
                  </a:lnTo>
                  <a:lnTo>
                    <a:pt x="3556" y="1705"/>
                  </a:lnTo>
                  <a:lnTo>
                    <a:pt x="3532" y="1534"/>
                  </a:lnTo>
                  <a:lnTo>
                    <a:pt x="3507" y="1364"/>
                  </a:lnTo>
                  <a:lnTo>
                    <a:pt x="3434" y="1194"/>
                  </a:lnTo>
                  <a:lnTo>
                    <a:pt x="3434" y="1194"/>
                  </a:lnTo>
                  <a:lnTo>
                    <a:pt x="3361" y="1023"/>
                  </a:lnTo>
                  <a:lnTo>
                    <a:pt x="3288" y="853"/>
                  </a:lnTo>
                  <a:lnTo>
                    <a:pt x="3191" y="706"/>
                  </a:lnTo>
                  <a:lnTo>
                    <a:pt x="3069" y="585"/>
                  </a:lnTo>
                  <a:lnTo>
                    <a:pt x="2947" y="463"/>
                  </a:lnTo>
                  <a:lnTo>
                    <a:pt x="2825" y="341"/>
                  </a:lnTo>
                  <a:lnTo>
                    <a:pt x="2679" y="268"/>
                  </a:lnTo>
                  <a:lnTo>
                    <a:pt x="2533" y="171"/>
                  </a:lnTo>
                  <a:lnTo>
                    <a:pt x="2363" y="122"/>
                  </a:lnTo>
                  <a:lnTo>
                    <a:pt x="2192" y="73"/>
                  </a:lnTo>
                  <a:lnTo>
                    <a:pt x="2022" y="24"/>
                  </a:lnTo>
                  <a:lnTo>
                    <a:pt x="1851" y="24"/>
                  </a:lnTo>
                  <a:lnTo>
                    <a:pt x="1681" y="0"/>
                  </a:lnTo>
                  <a:lnTo>
                    <a:pt x="1510" y="24"/>
                  </a:lnTo>
                  <a:lnTo>
                    <a:pt x="1340" y="73"/>
                  </a:lnTo>
                  <a:lnTo>
                    <a:pt x="1169" y="122"/>
                  </a:lnTo>
                  <a:lnTo>
                    <a:pt x="1169" y="122"/>
                  </a:lnTo>
                  <a:lnTo>
                    <a:pt x="974" y="195"/>
                  </a:lnTo>
                  <a:lnTo>
                    <a:pt x="804" y="292"/>
                  </a:lnTo>
                  <a:lnTo>
                    <a:pt x="658" y="390"/>
                  </a:lnTo>
                  <a:lnTo>
                    <a:pt x="512" y="512"/>
                  </a:lnTo>
                  <a:lnTo>
                    <a:pt x="390" y="658"/>
                  </a:lnTo>
                  <a:lnTo>
                    <a:pt x="293" y="804"/>
                  </a:lnTo>
                  <a:lnTo>
                    <a:pt x="195" y="950"/>
                  </a:lnTo>
                  <a:lnTo>
                    <a:pt x="122" y="1120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8" name="Google Shape;448;p24"/>
            <p:cNvSpPr/>
            <p:nvPr/>
          </p:nvSpPr>
          <p:spPr>
            <a:xfrm>
              <a:off x="5411925" y="5110925"/>
              <a:ext cx="188775" cy="189400"/>
            </a:xfrm>
            <a:custGeom>
              <a:rect b="b" l="l" r="r" t="t"/>
              <a:pathLst>
                <a:path extrusionOk="0" fill="none" h="7576" w="7551">
                  <a:moveTo>
                    <a:pt x="0" y="3776"/>
                  </a:moveTo>
                  <a:lnTo>
                    <a:pt x="0" y="3776"/>
                  </a:lnTo>
                  <a:lnTo>
                    <a:pt x="25" y="3410"/>
                  </a:lnTo>
                  <a:lnTo>
                    <a:pt x="73" y="3021"/>
                  </a:lnTo>
                  <a:lnTo>
                    <a:pt x="171" y="2655"/>
                  </a:lnTo>
                  <a:lnTo>
                    <a:pt x="293" y="2314"/>
                  </a:lnTo>
                  <a:lnTo>
                    <a:pt x="463" y="1973"/>
                  </a:lnTo>
                  <a:lnTo>
                    <a:pt x="658" y="1681"/>
                  </a:lnTo>
                  <a:lnTo>
                    <a:pt x="877" y="1389"/>
                  </a:lnTo>
                  <a:lnTo>
                    <a:pt x="1121" y="1121"/>
                  </a:lnTo>
                  <a:lnTo>
                    <a:pt x="1389" y="877"/>
                  </a:lnTo>
                  <a:lnTo>
                    <a:pt x="1656" y="658"/>
                  </a:lnTo>
                  <a:lnTo>
                    <a:pt x="1973" y="463"/>
                  </a:lnTo>
                  <a:lnTo>
                    <a:pt x="2314" y="293"/>
                  </a:lnTo>
                  <a:lnTo>
                    <a:pt x="2655" y="171"/>
                  </a:lnTo>
                  <a:lnTo>
                    <a:pt x="3020" y="74"/>
                  </a:lnTo>
                  <a:lnTo>
                    <a:pt x="3386" y="25"/>
                  </a:lnTo>
                  <a:lnTo>
                    <a:pt x="3775" y="1"/>
                  </a:lnTo>
                  <a:lnTo>
                    <a:pt x="3775" y="1"/>
                  </a:lnTo>
                  <a:lnTo>
                    <a:pt x="4165" y="25"/>
                  </a:lnTo>
                  <a:lnTo>
                    <a:pt x="4555" y="74"/>
                  </a:lnTo>
                  <a:lnTo>
                    <a:pt x="4896" y="171"/>
                  </a:lnTo>
                  <a:lnTo>
                    <a:pt x="5261" y="293"/>
                  </a:lnTo>
                  <a:lnTo>
                    <a:pt x="5578" y="463"/>
                  </a:lnTo>
                  <a:lnTo>
                    <a:pt x="5894" y="658"/>
                  </a:lnTo>
                  <a:lnTo>
                    <a:pt x="6186" y="877"/>
                  </a:lnTo>
                  <a:lnTo>
                    <a:pt x="6454" y="1121"/>
                  </a:lnTo>
                  <a:lnTo>
                    <a:pt x="6698" y="1389"/>
                  </a:lnTo>
                  <a:lnTo>
                    <a:pt x="6917" y="1681"/>
                  </a:lnTo>
                  <a:lnTo>
                    <a:pt x="7112" y="1973"/>
                  </a:lnTo>
                  <a:lnTo>
                    <a:pt x="7258" y="2314"/>
                  </a:lnTo>
                  <a:lnTo>
                    <a:pt x="7404" y="2655"/>
                  </a:lnTo>
                  <a:lnTo>
                    <a:pt x="7477" y="3021"/>
                  </a:lnTo>
                  <a:lnTo>
                    <a:pt x="7550" y="3410"/>
                  </a:lnTo>
                  <a:lnTo>
                    <a:pt x="7550" y="3776"/>
                  </a:lnTo>
                  <a:lnTo>
                    <a:pt x="7550" y="3776"/>
                  </a:lnTo>
                  <a:lnTo>
                    <a:pt x="7550" y="4165"/>
                  </a:lnTo>
                  <a:lnTo>
                    <a:pt x="7477" y="4555"/>
                  </a:lnTo>
                  <a:lnTo>
                    <a:pt x="7404" y="4920"/>
                  </a:lnTo>
                  <a:lnTo>
                    <a:pt x="7258" y="5261"/>
                  </a:lnTo>
                  <a:lnTo>
                    <a:pt x="7112" y="5578"/>
                  </a:lnTo>
                  <a:lnTo>
                    <a:pt x="6917" y="5895"/>
                  </a:lnTo>
                  <a:lnTo>
                    <a:pt x="6698" y="6187"/>
                  </a:lnTo>
                  <a:lnTo>
                    <a:pt x="6454" y="6455"/>
                  </a:lnTo>
                  <a:lnTo>
                    <a:pt x="6186" y="6698"/>
                  </a:lnTo>
                  <a:lnTo>
                    <a:pt x="5894" y="6917"/>
                  </a:lnTo>
                  <a:lnTo>
                    <a:pt x="5578" y="7112"/>
                  </a:lnTo>
                  <a:lnTo>
                    <a:pt x="5261" y="7258"/>
                  </a:lnTo>
                  <a:lnTo>
                    <a:pt x="4896" y="7405"/>
                  </a:lnTo>
                  <a:lnTo>
                    <a:pt x="4555" y="7478"/>
                  </a:lnTo>
                  <a:lnTo>
                    <a:pt x="4165" y="7551"/>
                  </a:lnTo>
                  <a:lnTo>
                    <a:pt x="3775" y="7575"/>
                  </a:lnTo>
                  <a:lnTo>
                    <a:pt x="3775" y="7575"/>
                  </a:lnTo>
                  <a:lnTo>
                    <a:pt x="3386" y="7551"/>
                  </a:lnTo>
                  <a:lnTo>
                    <a:pt x="3020" y="7478"/>
                  </a:lnTo>
                  <a:lnTo>
                    <a:pt x="2655" y="7405"/>
                  </a:lnTo>
                  <a:lnTo>
                    <a:pt x="2314" y="7258"/>
                  </a:lnTo>
                  <a:lnTo>
                    <a:pt x="1973" y="7112"/>
                  </a:lnTo>
                  <a:lnTo>
                    <a:pt x="1656" y="6917"/>
                  </a:lnTo>
                  <a:lnTo>
                    <a:pt x="1389" y="6698"/>
                  </a:lnTo>
                  <a:lnTo>
                    <a:pt x="1121" y="6455"/>
                  </a:lnTo>
                  <a:lnTo>
                    <a:pt x="877" y="6187"/>
                  </a:lnTo>
                  <a:lnTo>
                    <a:pt x="658" y="5895"/>
                  </a:lnTo>
                  <a:lnTo>
                    <a:pt x="463" y="5578"/>
                  </a:lnTo>
                  <a:lnTo>
                    <a:pt x="293" y="5261"/>
                  </a:lnTo>
                  <a:lnTo>
                    <a:pt x="171" y="4920"/>
                  </a:lnTo>
                  <a:lnTo>
                    <a:pt x="73" y="4555"/>
                  </a:lnTo>
                  <a:lnTo>
                    <a:pt x="25" y="4165"/>
                  </a:lnTo>
                  <a:lnTo>
                    <a:pt x="0" y="3776"/>
                  </a:lnTo>
                  <a:lnTo>
                    <a:pt x="0" y="3776"/>
                  </a:lnTo>
                  <a:close/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9" name="Google Shape;449;p24"/>
            <p:cNvSpPr/>
            <p:nvPr/>
          </p:nvSpPr>
          <p:spPr>
            <a:xfrm>
              <a:off x="5367475" y="5025075"/>
              <a:ext cx="81600" cy="105975"/>
            </a:xfrm>
            <a:custGeom>
              <a:rect b="b" l="l" r="r" t="t"/>
              <a:pathLst>
                <a:path extrusionOk="0" fill="none" h="4239" w="3264">
                  <a:moveTo>
                    <a:pt x="0" y="1"/>
                  </a:moveTo>
                  <a:lnTo>
                    <a:pt x="3264" y="4238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0" name="Google Shape;450;p24"/>
            <p:cNvSpPr/>
            <p:nvPr/>
          </p:nvSpPr>
          <p:spPr>
            <a:xfrm>
              <a:off x="5567800" y="4999500"/>
              <a:ext cx="115100" cy="133975"/>
            </a:xfrm>
            <a:custGeom>
              <a:rect b="b" l="l" r="r" t="t"/>
              <a:pathLst>
                <a:path extrusionOk="0" fill="none" h="5359" w="4604">
                  <a:moveTo>
                    <a:pt x="0" y="5359"/>
                  </a:moveTo>
                  <a:lnTo>
                    <a:pt x="4603" y="1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1" name="Google Shape;451;p24"/>
            <p:cNvSpPr/>
            <p:nvPr/>
          </p:nvSpPr>
          <p:spPr>
            <a:xfrm>
              <a:off x="5600075" y="5217475"/>
              <a:ext cx="127275" cy="16475"/>
            </a:xfrm>
            <a:custGeom>
              <a:rect b="b" l="l" r="r" t="t"/>
              <a:pathLst>
                <a:path extrusionOk="0" fill="none" h="659" w="5091">
                  <a:moveTo>
                    <a:pt x="5090" y="658"/>
                  </a:move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2" name="Google Shape;452;p24"/>
            <p:cNvSpPr/>
            <p:nvPr/>
          </p:nvSpPr>
          <p:spPr>
            <a:xfrm>
              <a:off x="5497775" y="5299675"/>
              <a:ext cx="4900" cy="126675"/>
            </a:xfrm>
            <a:custGeom>
              <a:rect b="b" l="l" r="r" t="t"/>
              <a:pathLst>
                <a:path extrusionOk="0" fill="none" h="5067" w="196">
                  <a:moveTo>
                    <a:pt x="0" y="5067"/>
                  </a:moveTo>
                  <a:lnTo>
                    <a:pt x="195" y="1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3" name="Google Shape;453;p24"/>
            <p:cNvSpPr/>
            <p:nvPr/>
          </p:nvSpPr>
          <p:spPr>
            <a:xfrm>
              <a:off x="5277975" y="5241825"/>
              <a:ext cx="141275" cy="58500"/>
            </a:xfrm>
            <a:custGeom>
              <a:rect b="b" l="l" r="r" t="t"/>
              <a:pathLst>
                <a:path extrusionOk="0" fill="none" h="2340" w="5651">
                  <a:moveTo>
                    <a:pt x="0" y="2339"/>
                  </a:moveTo>
                  <a:lnTo>
                    <a:pt x="5651" y="1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54" name="Google Shape;45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21706" y="135466"/>
            <a:ext cx="2116765" cy="1058383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24"/>
          <p:cNvSpPr txBox="1"/>
          <p:nvPr/>
        </p:nvSpPr>
        <p:spPr>
          <a:xfrm>
            <a:off x="4592729" y="4865440"/>
            <a:ext cx="7445742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s-CL" sz="6000" u="none" cap="none" strike="noStrike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6. Estequiometría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24"/>
          <p:cNvSpPr txBox="1"/>
          <p:nvPr/>
        </p:nvSpPr>
        <p:spPr>
          <a:xfrm>
            <a:off x="692211" y="431702"/>
            <a:ext cx="3508743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s-CL" sz="6000" u="none" cap="none" strike="noStrike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Unidad 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1893">
            <a:alpha val="54509"/>
          </a:srgbClr>
        </a:solidFill>
      </p:bgPr>
    </p:bg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25"/>
          <p:cNvSpPr txBox="1"/>
          <p:nvPr>
            <p:ph idx="12" type="sldNum"/>
          </p:nvPr>
        </p:nvSpPr>
        <p:spPr>
          <a:xfrm>
            <a:off x="11390969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ucida Sans"/>
              <a:buNone/>
            </a:pPr>
            <a:fld id="{00000000-1234-1234-1234-123412341234}" type="slidenum">
              <a:rPr lang="es-CL" sz="20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‹#›</a:t>
            </a:fld>
            <a:endParaRPr sz="20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462" name="Google Shape;46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79280" y="132951"/>
            <a:ext cx="2116765" cy="1058383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Google Shape;463;p25"/>
          <p:cNvSpPr/>
          <p:nvPr/>
        </p:nvSpPr>
        <p:spPr>
          <a:xfrm>
            <a:off x="7472607" y="152412"/>
            <a:ext cx="18473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FF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464" name="Google Shape;464;p25"/>
          <p:cNvSpPr/>
          <p:nvPr/>
        </p:nvSpPr>
        <p:spPr>
          <a:xfrm>
            <a:off x="5604455" y="114308"/>
            <a:ext cx="18473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FF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465" name="Google Shape;465;p25"/>
          <p:cNvSpPr txBox="1"/>
          <p:nvPr/>
        </p:nvSpPr>
        <p:spPr>
          <a:xfrm>
            <a:off x="160346" y="358163"/>
            <a:ext cx="9148754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1.- ¿Cuánta masa de agua se produce en la combustión de 1,00 g de glucosa, C</a:t>
            </a:r>
            <a:r>
              <a:rPr b="0" baseline="-25000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6</a:t>
            </a:r>
            <a:r>
              <a:rPr b="0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H</a:t>
            </a:r>
            <a:r>
              <a:rPr b="0" baseline="-25000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12</a:t>
            </a:r>
            <a:r>
              <a:rPr b="0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O</a:t>
            </a:r>
            <a:r>
              <a:rPr b="0" baseline="-25000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6</a:t>
            </a:r>
            <a:r>
              <a:rPr b="0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 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25"/>
          <p:cNvSpPr/>
          <p:nvPr/>
        </p:nvSpPr>
        <p:spPr>
          <a:xfrm>
            <a:off x="1906588" y="1207784"/>
            <a:ext cx="558197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C</a:t>
            </a:r>
            <a:r>
              <a:rPr b="1" baseline="-25000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6</a:t>
            </a:r>
            <a:r>
              <a:rPr b="1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H</a:t>
            </a:r>
            <a:r>
              <a:rPr b="1" baseline="-25000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12</a:t>
            </a:r>
            <a:r>
              <a:rPr b="1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O</a:t>
            </a:r>
            <a:r>
              <a:rPr b="1" baseline="-25000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6 (s)   </a:t>
            </a:r>
            <a:r>
              <a:rPr b="1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+   6 O</a:t>
            </a:r>
            <a:r>
              <a:rPr b="1" baseline="-25000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2</a:t>
            </a:r>
            <a:r>
              <a:rPr b="1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 </a:t>
            </a:r>
            <a:r>
              <a:rPr b="1" baseline="-25000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(g)  </a:t>
            </a:r>
            <a:r>
              <a:rPr b="1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→ 6 CO</a:t>
            </a:r>
            <a:r>
              <a:rPr b="1" baseline="-25000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2 (g) </a:t>
            </a:r>
            <a:r>
              <a:rPr b="1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+ 6H</a:t>
            </a:r>
            <a:r>
              <a:rPr b="1" baseline="-25000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2</a:t>
            </a:r>
            <a:r>
              <a:rPr b="1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O </a:t>
            </a:r>
            <a:r>
              <a:rPr b="1" baseline="-25000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(l)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25"/>
          <p:cNvSpPr txBox="1"/>
          <p:nvPr/>
        </p:nvSpPr>
        <p:spPr>
          <a:xfrm>
            <a:off x="160346" y="3223515"/>
            <a:ext cx="10571154" cy="1429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2F92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rgbClr val="FF2F92"/>
                </a:solidFill>
                <a:latin typeface="Lucida Sans"/>
                <a:ea typeface="Lucida Sans"/>
                <a:cs typeface="Lucida Sans"/>
                <a:sym typeface="Lucida Sans"/>
              </a:rPr>
              <a:t>Solución: </a:t>
            </a:r>
            <a:r>
              <a:rPr b="0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La ecuación química nos indica cuánta agua se obtendrá a partir de una de 1 mol de glucosa.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2F92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rgbClr val="FF2F92"/>
                </a:solidFill>
                <a:latin typeface="Lucida Sans"/>
                <a:ea typeface="Lucida Sans"/>
                <a:cs typeface="Lucida Sans"/>
                <a:sym typeface="Lucida Sans"/>
              </a:rPr>
              <a:t>Para realizar estos cálculos es mucho más fácil trabajar en moles que en gramos.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esultado de imagen de advertencia" id="468" name="Google Shape;468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6438" y="1868339"/>
            <a:ext cx="1200150" cy="1200150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25"/>
          <p:cNvSpPr txBox="1"/>
          <p:nvPr/>
        </p:nvSpPr>
        <p:spPr>
          <a:xfrm>
            <a:off x="2618040" y="2090993"/>
            <a:ext cx="4824413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Esta ecuación está equilibrada. Si no lo está debes hacerlo antes de comenzar con los cálculos.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esultado de imagen de advertencia" id="470" name="Google Shape;470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75588" y="1830743"/>
            <a:ext cx="1200150" cy="1201738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25"/>
          <p:cNvSpPr/>
          <p:nvPr/>
        </p:nvSpPr>
        <p:spPr>
          <a:xfrm>
            <a:off x="3440667" y="4648549"/>
            <a:ext cx="4327575" cy="1189556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25"/>
          <p:cNvSpPr/>
          <p:nvPr/>
        </p:nvSpPr>
        <p:spPr>
          <a:xfrm>
            <a:off x="1693680" y="5779990"/>
            <a:ext cx="8202674" cy="991553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1893">
            <a:alpha val="54509"/>
          </a:srgbClr>
        </a:solid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26"/>
          <p:cNvSpPr txBox="1"/>
          <p:nvPr>
            <p:ph idx="12" type="sldNum"/>
          </p:nvPr>
        </p:nvSpPr>
        <p:spPr>
          <a:xfrm>
            <a:off x="11390969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ucida Sans"/>
              <a:buNone/>
            </a:pPr>
            <a:fld id="{00000000-1234-1234-1234-123412341234}" type="slidenum">
              <a:rPr lang="es-CL" sz="20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‹#›</a:t>
            </a:fld>
            <a:endParaRPr sz="20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478" name="Google Shape;47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79280" y="132951"/>
            <a:ext cx="2116765" cy="1058383"/>
          </a:xfrm>
          <a:prstGeom prst="rect">
            <a:avLst/>
          </a:prstGeom>
          <a:noFill/>
          <a:ln>
            <a:noFill/>
          </a:ln>
        </p:spPr>
      </p:pic>
      <p:sp>
        <p:nvSpPr>
          <p:cNvPr id="479" name="Google Shape;479;p26"/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FF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480" name="Google Shape;480;p26"/>
          <p:cNvSpPr/>
          <p:nvPr/>
        </p:nvSpPr>
        <p:spPr>
          <a:xfrm>
            <a:off x="5604455" y="114308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FF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481" name="Google Shape;481;p26"/>
          <p:cNvSpPr txBox="1"/>
          <p:nvPr/>
        </p:nvSpPr>
        <p:spPr>
          <a:xfrm>
            <a:off x="129138" y="211698"/>
            <a:ext cx="9180511" cy="1592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Según la ecuación química, la relación entre glucosa y agua es: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2F5496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1 mol de glucosa produce 6 moles de agua, esto se puede escribir como una regla de tres y permitirá determinar los moles de agua.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26"/>
          <p:cNvSpPr txBox="1"/>
          <p:nvPr/>
        </p:nvSpPr>
        <p:spPr>
          <a:xfrm>
            <a:off x="129138" y="3670914"/>
            <a:ext cx="9796305" cy="9771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Como preguntan por la masa, debes pasar esta cantidad de moles a gramos, despejando en la fórmula de moles.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26"/>
          <p:cNvSpPr txBox="1"/>
          <p:nvPr/>
        </p:nvSpPr>
        <p:spPr>
          <a:xfrm>
            <a:off x="2382839" y="5084764"/>
            <a:ext cx="3743325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484" name="Google Shape;484;p26"/>
          <p:cNvSpPr txBox="1"/>
          <p:nvPr/>
        </p:nvSpPr>
        <p:spPr>
          <a:xfrm>
            <a:off x="417512" y="5491200"/>
            <a:ext cx="295275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Reemplazando</a:t>
            </a:r>
            <a:r>
              <a:rPr b="0" i="0" lang="es-CL" sz="18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26"/>
          <p:cNvSpPr/>
          <p:nvPr/>
        </p:nvSpPr>
        <p:spPr>
          <a:xfrm>
            <a:off x="995032" y="2518154"/>
            <a:ext cx="7472381" cy="4801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6038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L" sz="24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15,06 x 10</a:t>
            </a:r>
            <a:r>
              <a:rPr b="0" baseline="30000" i="0" lang="es-CL" sz="24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-3</a:t>
            </a:r>
            <a:r>
              <a:rPr b="0" i="0" lang="es-CL" sz="24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 mol de C</a:t>
            </a:r>
            <a:r>
              <a:rPr b="0" baseline="-25000" i="0" lang="es-CL" sz="24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6</a:t>
            </a:r>
            <a:r>
              <a:rPr b="0" i="0" lang="es-CL" sz="24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H</a:t>
            </a:r>
            <a:r>
              <a:rPr b="0" baseline="-25000" i="0" lang="es-CL" sz="24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12</a:t>
            </a:r>
            <a:r>
              <a:rPr b="0" i="0" lang="es-CL" sz="24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O</a:t>
            </a:r>
            <a:r>
              <a:rPr b="0" baseline="-25000" i="0" lang="es-CL" sz="24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6</a:t>
            </a:r>
            <a:r>
              <a:rPr b="0" i="0" lang="es-CL" sz="24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 →  X mol de H</a:t>
            </a:r>
            <a:r>
              <a:rPr b="0" baseline="-25000" i="0" lang="es-CL" sz="24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2</a:t>
            </a:r>
            <a:r>
              <a:rPr b="0" i="0" lang="es-CL" sz="24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O</a:t>
            </a:r>
            <a:endParaRPr b="0" baseline="-25000" i="0" sz="2400" u="none" cap="none" strike="noStrike">
              <a:solidFill>
                <a:srgbClr val="2F5496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486" name="Google Shape;486;p26"/>
          <p:cNvSpPr/>
          <p:nvPr/>
        </p:nvSpPr>
        <p:spPr>
          <a:xfrm>
            <a:off x="2710738" y="3118925"/>
            <a:ext cx="4962206" cy="4801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6038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CL" sz="24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X =   3,34 x 10</a:t>
            </a:r>
            <a:r>
              <a:rPr b="1" baseline="30000" i="0" lang="es-CL" sz="24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-5</a:t>
            </a:r>
            <a:r>
              <a:rPr b="1" i="0" lang="es-CL" sz="24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  mol de H</a:t>
            </a:r>
            <a:r>
              <a:rPr b="1" baseline="-25000" i="0" lang="es-CL" sz="24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2</a:t>
            </a:r>
            <a:r>
              <a:rPr b="1" i="0" lang="es-CL" sz="24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O</a:t>
            </a:r>
            <a:endParaRPr b="1" baseline="-25000" i="0" sz="2400" u="none" cap="none" strike="noStrike">
              <a:solidFill>
                <a:srgbClr val="008000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487" name="Google Shape;487;p26"/>
          <p:cNvSpPr/>
          <p:nvPr/>
        </p:nvSpPr>
        <p:spPr>
          <a:xfrm>
            <a:off x="2223575" y="1964388"/>
            <a:ext cx="6115251" cy="4801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6038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L" sz="24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1,0 mol de C</a:t>
            </a:r>
            <a:r>
              <a:rPr b="0" baseline="-25000" i="0" lang="es-CL" sz="24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6</a:t>
            </a:r>
            <a:r>
              <a:rPr b="0" i="0" lang="es-CL" sz="24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H</a:t>
            </a:r>
            <a:r>
              <a:rPr b="0" baseline="-25000" i="0" lang="es-CL" sz="24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12</a:t>
            </a:r>
            <a:r>
              <a:rPr b="0" i="0" lang="es-CL" sz="24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O</a:t>
            </a:r>
            <a:r>
              <a:rPr b="0" baseline="-25000" i="0" lang="es-CL" sz="24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6</a:t>
            </a:r>
            <a:r>
              <a:rPr b="0" i="0" lang="es-CL" sz="24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  →  6 mol de H</a:t>
            </a:r>
            <a:r>
              <a:rPr b="0" baseline="-25000" i="0" lang="es-CL" sz="24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2</a:t>
            </a:r>
            <a:r>
              <a:rPr b="0" i="0" lang="es-CL" sz="24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26"/>
          <p:cNvSpPr/>
          <p:nvPr/>
        </p:nvSpPr>
        <p:spPr>
          <a:xfrm>
            <a:off x="2760803" y="4743861"/>
            <a:ext cx="6056766" cy="67268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7545" l="-624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26"/>
          <p:cNvSpPr/>
          <p:nvPr/>
        </p:nvSpPr>
        <p:spPr>
          <a:xfrm>
            <a:off x="1936344" y="5841892"/>
            <a:ext cx="8593544" cy="672685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9256" l="-439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5A5A5"/>
        </a:solidFill>
      </p:bgPr>
    </p:bg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27"/>
          <p:cNvSpPr txBox="1"/>
          <p:nvPr>
            <p:ph idx="12" type="sldNum"/>
          </p:nvPr>
        </p:nvSpPr>
        <p:spPr>
          <a:xfrm>
            <a:off x="11390969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ucida Sans"/>
              <a:buNone/>
            </a:pPr>
            <a:fld id="{00000000-1234-1234-1234-123412341234}" type="slidenum">
              <a:rPr lang="es-CL" sz="20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‹#›</a:t>
            </a:fld>
            <a:endParaRPr sz="20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495" name="Google Shape;495;p27"/>
          <p:cNvSpPr txBox="1"/>
          <p:nvPr/>
        </p:nvSpPr>
        <p:spPr>
          <a:xfrm>
            <a:off x="1059119" y="3057902"/>
            <a:ext cx="10593823" cy="9952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67"/>
              <a:buFont typeface="Arial"/>
              <a:buNone/>
            </a:pPr>
            <a:r>
              <a:rPr b="0" i="0" lang="es-CL" sz="5867" u="none" cap="none" strike="noStrike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Ejercicios Propuestos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6" name="Google Shape;496;p27"/>
          <p:cNvGrpSpPr/>
          <p:nvPr/>
        </p:nvGrpSpPr>
        <p:grpSpPr>
          <a:xfrm>
            <a:off x="5623014" y="1377791"/>
            <a:ext cx="949919" cy="978720"/>
            <a:chOff x="3951850" y="2985350"/>
            <a:chExt cx="407950" cy="416500"/>
          </a:xfrm>
        </p:grpSpPr>
        <p:sp>
          <p:nvSpPr>
            <p:cNvPr id="497" name="Google Shape;497;p27"/>
            <p:cNvSpPr/>
            <p:nvPr/>
          </p:nvSpPr>
          <p:spPr>
            <a:xfrm>
              <a:off x="3951850" y="2985350"/>
              <a:ext cx="314800" cy="314825"/>
            </a:xfrm>
            <a:custGeom>
              <a:rect b="b" l="l" r="r" t="t"/>
              <a:pathLst>
                <a:path extrusionOk="0" fill="none" h="12593" w="12592">
                  <a:moveTo>
                    <a:pt x="6284" y="1"/>
                  </a:moveTo>
                  <a:lnTo>
                    <a:pt x="6284" y="1"/>
                  </a:lnTo>
                  <a:lnTo>
                    <a:pt x="5967" y="25"/>
                  </a:lnTo>
                  <a:lnTo>
                    <a:pt x="5651" y="49"/>
                  </a:lnTo>
                  <a:lnTo>
                    <a:pt x="5334" y="74"/>
                  </a:lnTo>
                  <a:lnTo>
                    <a:pt x="5017" y="147"/>
                  </a:lnTo>
                  <a:lnTo>
                    <a:pt x="4725" y="220"/>
                  </a:lnTo>
                  <a:lnTo>
                    <a:pt x="4433" y="293"/>
                  </a:lnTo>
                  <a:lnTo>
                    <a:pt x="4141" y="390"/>
                  </a:lnTo>
                  <a:lnTo>
                    <a:pt x="3848" y="512"/>
                  </a:lnTo>
                  <a:lnTo>
                    <a:pt x="3556" y="634"/>
                  </a:lnTo>
                  <a:lnTo>
                    <a:pt x="3288" y="780"/>
                  </a:lnTo>
                  <a:lnTo>
                    <a:pt x="3020" y="926"/>
                  </a:lnTo>
                  <a:lnTo>
                    <a:pt x="2777" y="1072"/>
                  </a:lnTo>
                  <a:lnTo>
                    <a:pt x="2290" y="1437"/>
                  </a:lnTo>
                  <a:lnTo>
                    <a:pt x="1851" y="1852"/>
                  </a:lnTo>
                  <a:lnTo>
                    <a:pt x="1437" y="2290"/>
                  </a:lnTo>
                  <a:lnTo>
                    <a:pt x="1072" y="2777"/>
                  </a:lnTo>
                  <a:lnTo>
                    <a:pt x="901" y="3045"/>
                  </a:lnTo>
                  <a:lnTo>
                    <a:pt x="755" y="3313"/>
                  </a:lnTo>
                  <a:lnTo>
                    <a:pt x="609" y="3581"/>
                  </a:lnTo>
                  <a:lnTo>
                    <a:pt x="487" y="3849"/>
                  </a:lnTo>
                  <a:lnTo>
                    <a:pt x="390" y="4141"/>
                  </a:lnTo>
                  <a:lnTo>
                    <a:pt x="292" y="4433"/>
                  </a:lnTo>
                  <a:lnTo>
                    <a:pt x="195" y="4725"/>
                  </a:lnTo>
                  <a:lnTo>
                    <a:pt x="122" y="5042"/>
                  </a:lnTo>
                  <a:lnTo>
                    <a:pt x="73" y="5334"/>
                  </a:lnTo>
                  <a:lnTo>
                    <a:pt x="25" y="5651"/>
                  </a:lnTo>
                  <a:lnTo>
                    <a:pt x="0" y="5968"/>
                  </a:lnTo>
                  <a:lnTo>
                    <a:pt x="0" y="6308"/>
                  </a:lnTo>
                  <a:lnTo>
                    <a:pt x="0" y="6308"/>
                  </a:lnTo>
                  <a:lnTo>
                    <a:pt x="0" y="6625"/>
                  </a:lnTo>
                  <a:lnTo>
                    <a:pt x="25" y="6942"/>
                  </a:lnTo>
                  <a:lnTo>
                    <a:pt x="73" y="7258"/>
                  </a:lnTo>
                  <a:lnTo>
                    <a:pt x="122" y="7575"/>
                  </a:lnTo>
                  <a:lnTo>
                    <a:pt x="195" y="7867"/>
                  </a:lnTo>
                  <a:lnTo>
                    <a:pt x="292" y="8184"/>
                  </a:lnTo>
                  <a:lnTo>
                    <a:pt x="390" y="8476"/>
                  </a:lnTo>
                  <a:lnTo>
                    <a:pt x="487" y="8744"/>
                  </a:lnTo>
                  <a:lnTo>
                    <a:pt x="609" y="9036"/>
                  </a:lnTo>
                  <a:lnTo>
                    <a:pt x="755" y="9304"/>
                  </a:lnTo>
                  <a:lnTo>
                    <a:pt x="901" y="9572"/>
                  </a:lnTo>
                  <a:lnTo>
                    <a:pt x="1072" y="9816"/>
                  </a:lnTo>
                  <a:lnTo>
                    <a:pt x="1437" y="10303"/>
                  </a:lnTo>
                  <a:lnTo>
                    <a:pt x="1851" y="10741"/>
                  </a:lnTo>
                  <a:lnTo>
                    <a:pt x="2290" y="11155"/>
                  </a:lnTo>
                  <a:lnTo>
                    <a:pt x="2777" y="11520"/>
                  </a:lnTo>
                  <a:lnTo>
                    <a:pt x="3020" y="11691"/>
                  </a:lnTo>
                  <a:lnTo>
                    <a:pt x="3288" y="11837"/>
                  </a:lnTo>
                  <a:lnTo>
                    <a:pt x="3556" y="11983"/>
                  </a:lnTo>
                  <a:lnTo>
                    <a:pt x="3848" y="12105"/>
                  </a:lnTo>
                  <a:lnTo>
                    <a:pt x="4141" y="12202"/>
                  </a:lnTo>
                  <a:lnTo>
                    <a:pt x="4433" y="12300"/>
                  </a:lnTo>
                  <a:lnTo>
                    <a:pt x="4725" y="12397"/>
                  </a:lnTo>
                  <a:lnTo>
                    <a:pt x="5017" y="12470"/>
                  </a:lnTo>
                  <a:lnTo>
                    <a:pt x="5334" y="12519"/>
                  </a:lnTo>
                  <a:lnTo>
                    <a:pt x="5651" y="12568"/>
                  </a:lnTo>
                  <a:lnTo>
                    <a:pt x="5967" y="12592"/>
                  </a:lnTo>
                  <a:lnTo>
                    <a:pt x="6284" y="12592"/>
                  </a:lnTo>
                  <a:lnTo>
                    <a:pt x="6284" y="12592"/>
                  </a:lnTo>
                  <a:lnTo>
                    <a:pt x="6625" y="12592"/>
                  </a:lnTo>
                  <a:lnTo>
                    <a:pt x="6941" y="12568"/>
                  </a:lnTo>
                  <a:lnTo>
                    <a:pt x="7258" y="12519"/>
                  </a:lnTo>
                  <a:lnTo>
                    <a:pt x="7550" y="12470"/>
                  </a:lnTo>
                  <a:lnTo>
                    <a:pt x="7867" y="12397"/>
                  </a:lnTo>
                  <a:lnTo>
                    <a:pt x="8159" y="12300"/>
                  </a:lnTo>
                  <a:lnTo>
                    <a:pt x="8451" y="12202"/>
                  </a:lnTo>
                  <a:lnTo>
                    <a:pt x="8744" y="12105"/>
                  </a:lnTo>
                  <a:lnTo>
                    <a:pt x="9012" y="11983"/>
                  </a:lnTo>
                  <a:lnTo>
                    <a:pt x="9279" y="11837"/>
                  </a:lnTo>
                  <a:lnTo>
                    <a:pt x="9547" y="11691"/>
                  </a:lnTo>
                  <a:lnTo>
                    <a:pt x="9815" y="11520"/>
                  </a:lnTo>
                  <a:lnTo>
                    <a:pt x="10302" y="11155"/>
                  </a:lnTo>
                  <a:lnTo>
                    <a:pt x="10741" y="10741"/>
                  </a:lnTo>
                  <a:lnTo>
                    <a:pt x="11155" y="10303"/>
                  </a:lnTo>
                  <a:lnTo>
                    <a:pt x="11520" y="9816"/>
                  </a:lnTo>
                  <a:lnTo>
                    <a:pt x="11666" y="9572"/>
                  </a:lnTo>
                  <a:lnTo>
                    <a:pt x="11812" y="9304"/>
                  </a:lnTo>
                  <a:lnTo>
                    <a:pt x="11958" y="9036"/>
                  </a:lnTo>
                  <a:lnTo>
                    <a:pt x="12080" y="8744"/>
                  </a:lnTo>
                  <a:lnTo>
                    <a:pt x="12202" y="8476"/>
                  </a:lnTo>
                  <a:lnTo>
                    <a:pt x="12299" y="8184"/>
                  </a:lnTo>
                  <a:lnTo>
                    <a:pt x="12397" y="7867"/>
                  </a:lnTo>
                  <a:lnTo>
                    <a:pt x="12446" y="7575"/>
                  </a:lnTo>
                  <a:lnTo>
                    <a:pt x="12519" y="7258"/>
                  </a:lnTo>
                  <a:lnTo>
                    <a:pt x="12543" y="6942"/>
                  </a:lnTo>
                  <a:lnTo>
                    <a:pt x="12567" y="6625"/>
                  </a:lnTo>
                  <a:lnTo>
                    <a:pt x="12592" y="6308"/>
                  </a:lnTo>
                  <a:lnTo>
                    <a:pt x="12592" y="6308"/>
                  </a:lnTo>
                  <a:lnTo>
                    <a:pt x="12567" y="5968"/>
                  </a:lnTo>
                  <a:lnTo>
                    <a:pt x="12543" y="5651"/>
                  </a:lnTo>
                  <a:lnTo>
                    <a:pt x="12519" y="5334"/>
                  </a:lnTo>
                  <a:lnTo>
                    <a:pt x="12446" y="5042"/>
                  </a:lnTo>
                  <a:lnTo>
                    <a:pt x="12397" y="4725"/>
                  </a:lnTo>
                  <a:lnTo>
                    <a:pt x="12299" y="4433"/>
                  </a:lnTo>
                  <a:lnTo>
                    <a:pt x="12202" y="4141"/>
                  </a:lnTo>
                  <a:lnTo>
                    <a:pt x="12080" y="3849"/>
                  </a:lnTo>
                  <a:lnTo>
                    <a:pt x="11958" y="3581"/>
                  </a:lnTo>
                  <a:lnTo>
                    <a:pt x="11812" y="3313"/>
                  </a:lnTo>
                  <a:lnTo>
                    <a:pt x="11666" y="3045"/>
                  </a:lnTo>
                  <a:lnTo>
                    <a:pt x="11520" y="2777"/>
                  </a:lnTo>
                  <a:lnTo>
                    <a:pt x="11155" y="2290"/>
                  </a:lnTo>
                  <a:lnTo>
                    <a:pt x="10741" y="1852"/>
                  </a:lnTo>
                  <a:lnTo>
                    <a:pt x="10302" y="1437"/>
                  </a:lnTo>
                  <a:lnTo>
                    <a:pt x="9815" y="1072"/>
                  </a:lnTo>
                  <a:lnTo>
                    <a:pt x="9547" y="926"/>
                  </a:lnTo>
                  <a:lnTo>
                    <a:pt x="9279" y="780"/>
                  </a:lnTo>
                  <a:lnTo>
                    <a:pt x="9012" y="634"/>
                  </a:lnTo>
                  <a:lnTo>
                    <a:pt x="8744" y="512"/>
                  </a:lnTo>
                  <a:lnTo>
                    <a:pt x="8451" y="390"/>
                  </a:lnTo>
                  <a:lnTo>
                    <a:pt x="8159" y="293"/>
                  </a:lnTo>
                  <a:lnTo>
                    <a:pt x="7867" y="220"/>
                  </a:lnTo>
                  <a:lnTo>
                    <a:pt x="7550" y="147"/>
                  </a:lnTo>
                  <a:lnTo>
                    <a:pt x="7258" y="74"/>
                  </a:lnTo>
                  <a:lnTo>
                    <a:pt x="6941" y="49"/>
                  </a:lnTo>
                  <a:lnTo>
                    <a:pt x="6625" y="25"/>
                  </a:lnTo>
                  <a:lnTo>
                    <a:pt x="6284" y="1"/>
                  </a:lnTo>
                  <a:lnTo>
                    <a:pt x="6284" y="1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8" name="Google Shape;498;p27"/>
            <p:cNvSpPr/>
            <p:nvPr/>
          </p:nvSpPr>
          <p:spPr>
            <a:xfrm>
              <a:off x="3988375" y="3021875"/>
              <a:ext cx="241750" cy="241750"/>
            </a:xfrm>
            <a:custGeom>
              <a:rect b="b" l="l" r="r" t="t"/>
              <a:pathLst>
                <a:path extrusionOk="0" fill="none" h="9670" w="9670">
                  <a:moveTo>
                    <a:pt x="4823" y="1"/>
                  </a:moveTo>
                  <a:lnTo>
                    <a:pt x="4823" y="1"/>
                  </a:lnTo>
                  <a:lnTo>
                    <a:pt x="4336" y="25"/>
                  </a:lnTo>
                  <a:lnTo>
                    <a:pt x="3849" y="98"/>
                  </a:lnTo>
                  <a:lnTo>
                    <a:pt x="3386" y="220"/>
                  </a:lnTo>
                  <a:lnTo>
                    <a:pt x="2947" y="391"/>
                  </a:lnTo>
                  <a:lnTo>
                    <a:pt x="2533" y="585"/>
                  </a:lnTo>
                  <a:lnTo>
                    <a:pt x="2144" y="829"/>
                  </a:lnTo>
                  <a:lnTo>
                    <a:pt x="1754" y="1121"/>
                  </a:lnTo>
                  <a:lnTo>
                    <a:pt x="1413" y="1438"/>
                  </a:lnTo>
                  <a:lnTo>
                    <a:pt x="1096" y="1779"/>
                  </a:lnTo>
                  <a:lnTo>
                    <a:pt x="829" y="2144"/>
                  </a:lnTo>
                  <a:lnTo>
                    <a:pt x="585" y="2534"/>
                  </a:lnTo>
                  <a:lnTo>
                    <a:pt x="390" y="2972"/>
                  </a:lnTo>
                  <a:lnTo>
                    <a:pt x="220" y="3411"/>
                  </a:lnTo>
                  <a:lnTo>
                    <a:pt x="98" y="3873"/>
                  </a:lnTo>
                  <a:lnTo>
                    <a:pt x="25" y="4336"/>
                  </a:lnTo>
                  <a:lnTo>
                    <a:pt x="1" y="4847"/>
                  </a:lnTo>
                  <a:lnTo>
                    <a:pt x="1" y="4847"/>
                  </a:lnTo>
                  <a:lnTo>
                    <a:pt x="25" y="5335"/>
                  </a:lnTo>
                  <a:lnTo>
                    <a:pt x="98" y="5822"/>
                  </a:lnTo>
                  <a:lnTo>
                    <a:pt x="220" y="6284"/>
                  </a:lnTo>
                  <a:lnTo>
                    <a:pt x="390" y="6723"/>
                  </a:lnTo>
                  <a:lnTo>
                    <a:pt x="585" y="7137"/>
                  </a:lnTo>
                  <a:lnTo>
                    <a:pt x="829" y="7527"/>
                  </a:lnTo>
                  <a:lnTo>
                    <a:pt x="1096" y="7916"/>
                  </a:lnTo>
                  <a:lnTo>
                    <a:pt x="1413" y="8257"/>
                  </a:lnTo>
                  <a:lnTo>
                    <a:pt x="1754" y="8574"/>
                  </a:lnTo>
                  <a:lnTo>
                    <a:pt x="2144" y="8842"/>
                  </a:lnTo>
                  <a:lnTo>
                    <a:pt x="2533" y="9085"/>
                  </a:lnTo>
                  <a:lnTo>
                    <a:pt x="2947" y="9280"/>
                  </a:lnTo>
                  <a:lnTo>
                    <a:pt x="3386" y="9451"/>
                  </a:lnTo>
                  <a:lnTo>
                    <a:pt x="3849" y="9572"/>
                  </a:lnTo>
                  <a:lnTo>
                    <a:pt x="4336" y="9645"/>
                  </a:lnTo>
                  <a:lnTo>
                    <a:pt x="4823" y="9670"/>
                  </a:lnTo>
                  <a:lnTo>
                    <a:pt x="4823" y="9670"/>
                  </a:lnTo>
                  <a:lnTo>
                    <a:pt x="5334" y="9645"/>
                  </a:lnTo>
                  <a:lnTo>
                    <a:pt x="5797" y="9572"/>
                  </a:lnTo>
                  <a:lnTo>
                    <a:pt x="6260" y="9451"/>
                  </a:lnTo>
                  <a:lnTo>
                    <a:pt x="6698" y="9280"/>
                  </a:lnTo>
                  <a:lnTo>
                    <a:pt x="7136" y="9085"/>
                  </a:lnTo>
                  <a:lnTo>
                    <a:pt x="7526" y="8842"/>
                  </a:lnTo>
                  <a:lnTo>
                    <a:pt x="7892" y="8574"/>
                  </a:lnTo>
                  <a:lnTo>
                    <a:pt x="8232" y="8257"/>
                  </a:lnTo>
                  <a:lnTo>
                    <a:pt x="8549" y="7916"/>
                  </a:lnTo>
                  <a:lnTo>
                    <a:pt x="8841" y="7527"/>
                  </a:lnTo>
                  <a:lnTo>
                    <a:pt x="9085" y="7137"/>
                  </a:lnTo>
                  <a:lnTo>
                    <a:pt x="9280" y="6723"/>
                  </a:lnTo>
                  <a:lnTo>
                    <a:pt x="9450" y="6284"/>
                  </a:lnTo>
                  <a:lnTo>
                    <a:pt x="9572" y="5822"/>
                  </a:lnTo>
                  <a:lnTo>
                    <a:pt x="9645" y="5335"/>
                  </a:lnTo>
                  <a:lnTo>
                    <a:pt x="9669" y="4847"/>
                  </a:lnTo>
                  <a:lnTo>
                    <a:pt x="9669" y="4847"/>
                  </a:lnTo>
                  <a:lnTo>
                    <a:pt x="9645" y="4336"/>
                  </a:lnTo>
                  <a:lnTo>
                    <a:pt x="9572" y="3873"/>
                  </a:lnTo>
                  <a:lnTo>
                    <a:pt x="9450" y="3411"/>
                  </a:lnTo>
                  <a:lnTo>
                    <a:pt x="9280" y="2972"/>
                  </a:lnTo>
                  <a:lnTo>
                    <a:pt x="9085" y="2534"/>
                  </a:lnTo>
                  <a:lnTo>
                    <a:pt x="8841" y="2144"/>
                  </a:lnTo>
                  <a:lnTo>
                    <a:pt x="8549" y="1779"/>
                  </a:lnTo>
                  <a:lnTo>
                    <a:pt x="8232" y="1438"/>
                  </a:lnTo>
                  <a:lnTo>
                    <a:pt x="7892" y="1121"/>
                  </a:lnTo>
                  <a:lnTo>
                    <a:pt x="7526" y="829"/>
                  </a:lnTo>
                  <a:lnTo>
                    <a:pt x="7136" y="585"/>
                  </a:lnTo>
                  <a:lnTo>
                    <a:pt x="6698" y="391"/>
                  </a:lnTo>
                  <a:lnTo>
                    <a:pt x="6260" y="220"/>
                  </a:lnTo>
                  <a:lnTo>
                    <a:pt x="5797" y="98"/>
                  </a:lnTo>
                  <a:lnTo>
                    <a:pt x="5334" y="25"/>
                  </a:lnTo>
                  <a:lnTo>
                    <a:pt x="4823" y="1"/>
                  </a:lnTo>
                  <a:lnTo>
                    <a:pt x="4823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9" name="Google Shape;499;p27"/>
            <p:cNvSpPr/>
            <p:nvPr/>
          </p:nvSpPr>
          <p:spPr>
            <a:xfrm>
              <a:off x="4024300" y="3058425"/>
              <a:ext cx="84650" cy="84650"/>
            </a:xfrm>
            <a:custGeom>
              <a:rect b="b" l="l" r="r" t="t"/>
              <a:pathLst>
                <a:path extrusionOk="0" fill="none" h="3386" w="3386">
                  <a:moveTo>
                    <a:pt x="0" y="3385"/>
                  </a:moveTo>
                  <a:lnTo>
                    <a:pt x="0" y="3385"/>
                  </a:lnTo>
                  <a:lnTo>
                    <a:pt x="25" y="3020"/>
                  </a:lnTo>
                  <a:lnTo>
                    <a:pt x="74" y="2704"/>
                  </a:lnTo>
                  <a:lnTo>
                    <a:pt x="147" y="2363"/>
                  </a:lnTo>
                  <a:lnTo>
                    <a:pt x="268" y="2070"/>
                  </a:lnTo>
                  <a:lnTo>
                    <a:pt x="414" y="1754"/>
                  </a:lnTo>
                  <a:lnTo>
                    <a:pt x="585" y="1486"/>
                  </a:lnTo>
                  <a:lnTo>
                    <a:pt x="780" y="1218"/>
                  </a:lnTo>
                  <a:lnTo>
                    <a:pt x="999" y="974"/>
                  </a:lnTo>
                  <a:lnTo>
                    <a:pt x="1243" y="755"/>
                  </a:lnTo>
                  <a:lnTo>
                    <a:pt x="1510" y="560"/>
                  </a:lnTo>
                  <a:lnTo>
                    <a:pt x="1778" y="390"/>
                  </a:lnTo>
                  <a:lnTo>
                    <a:pt x="2071" y="244"/>
                  </a:lnTo>
                  <a:lnTo>
                    <a:pt x="2387" y="146"/>
                  </a:lnTo>
                  <a:lnTo>
                    <a:pt x="2704" y="49"/>
                  </a:lnTo>
                  <a:lnTo>
                    <a:pt x="3045" y="0"/>
                  </a:lnTo>
                  <a:lnTo>
                    <a:pt x="3386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0" name="Google Shape;500;p27"/>
            <p:cNvSpPr/>
            <p:nvPr/>
          </p:nvSpPr>
          <p:spPr>
            <a:xfrm>
              <a:off x="4205750" y="3248375"/>
              <a:ext cx="154050" cy="153475"/>
            </a:xfrm>
            <a:custGeom>
              <a:rect b="b" l="l" r="r" t="t"/>
              <a:pathLst>
                <a:path extrusionOk="0" fill="none" h="6139" w="6162">
                  <a:moveTo>
                    <a:pt x="0" y="1024"/>
                  </a:moveTo>
                  <a:lnTo>
                    <a:pt x="4969" y="5992"/>
                  </a:lnTo>
                  <a:lnTo>
                    <a:pt x="4969" y="5992"/>
                  </a:lnTo>
                  <a:lnTo>
                    <a:pt x="5042" y="6041"/>
                  </a:lnTo>
                  <a:lnTo>
                    <a:pt x="5115" y="6090"/>
                  </a:lnTo>
                  <a:lnTo>
                    <a:pt x="5212" y="6114"/>
                  </a:lnTo>
                  <a:lnTo>
                    <a:pt x="5310" y="6138"/>
                  </a:lnTo>
                  <a:lnTo>
                    <a:pt x="5407" y="6114"/>
                  </a:lnTo>
                  <a:lnTo>
                    <a:pt x="5480" y="6090"/>
                  </a:lnTo>
                  <a:lnTo>
                    <a:pt x="5577" y="6041"/>
                  </a:lnTo>
                  <a:lnTo>
                    <a:pt x="5651" y="5992"/>
                  </a:lnTo>
                  <a:lnTo>
                    <a:pt x="6016" y="5627"/>
                  </a:lnTo>
                  <a:lnTo>
                    <a:pt x="6016" y="5627"/>
                  </a:lnTo>
                  <a:lnTo>
                    <a:pt x="6089" y="5554"/>
                  </a:lnTo>
                  <a:lnTo>
                    <a:pt x="6138" y="5456"/>
                  </a:lnTo>
                  <a:lnTo>
                    <a:pt x="6162" y="5359"/>
                  </a:lnTo>
                  <a:lnTo>
                    <a:pt x="6162" y="5286"/>
                  </a:lnTo>
                  <a:lnTo>
                    <a:pt x="6162" y="5188"/>
                  </a:lnTo>
                  <a:lnTo>
                    <a:pt x="6138" y="5091"/>
                  </a:lnTo>
                  <a:lnTo>
                    <a:pt x="6089" y="5018"/>
                  </a:lnTo>
                  <a:lnTo>
                    <a:pt x="6016" y="4921"/>
                  </a:lnTo>
                  <a:lnTo>
                    <a:pt x="1072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501" name="Google Shape;50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21706" y="135466"/>
            <a:ext cx="2116765" cy="1058383"/>
          </a:xfrm>
          <a:prstGeom prst="rect">
            <a:avLst/>
          </a:prstGeom>
          <a:noFill/>
          <a:ln>
            <a:noFill/>
          </a:ln>
        </p:spPr>
      </p:pic>
      <p:sp>
        <p:nvSpPr>
          <p:cNvPr id="502" name="Google Shape;502;p27"/>
          <p:cNvSpPr txBox="1"/>
          <p:nvPr/>
        </p:nvSpPr>
        <p:spPr>
          <a:xfrm>
            <a:off x="4507373" y="5308492"/>
            <a:ext cx="7445742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s-CL" sz="6000" u="none" cap="none" strike="noStrike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Estequiometría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97979"/>
        </a:solidFill>
      </p:bgPr>
    </p:bg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28"/>
          <p:cNvSpPr txBox="1"/>
          <p:nvPr>
            <p:ph idx="12" type="sldNum"/>
          </p:nvPr>
        </p:nvSpPr>
        <p:spPr>
          <a:xfrm>
            <a:off x="11390969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ucida Sans"/>
              <a:buNone/>
            </a:pPr>
            <a:fld id="{00000000-1234-1234-1234-123412341234}" type="slidenum">
              <a:rPr lang="es-CL" sz="20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‹#›</a:t>
            </a:fld>
            <a:endParaRPr sz="20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508" name="Google Shape;50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79280" y="132951"/>
            <a:ext cx="2116765" cy="1058383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p28"/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FF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510" name="Google Shape;510;p28"/>
          <p:cNvSpPr/>
          <p:nvPr/>
        </p:nvSpPr>
        <p:spPr>
          <a:xfrm>
            <a:off x="5604455" y="114308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FF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511" name="Google Shape;511;p28"/>
          <p:cNvSpPr txBox="1"/>
          <p:nvPr/>
        </p:nvSpPr>
        <p:spPr>
          <a:xfrm>
            <a:off x="367602" y="662142"/>
            <a:ext cx="8703583" cy="4393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97979"/>
              </a:buClr>
              <a:buSzPts val="2000"/>
              <a:buFont typeface="Lucida Sans"/>
              <a:buNone/>
            </a:pPr>
            <a:r>
              <a:rPr b="1" i="0" lang="es-CL" sz="2000" u="none" cap="none" strike="noStrike">
                <a:solidFill>
                  <a:srgbClr val="797979"/>
                </a:solidFill>
                <a:latin typeface="Lucida Sans"/>
                <a:ea typeface="Lucida Sans"/>
                <a:cs typeface="Lucida Sans"/>
                <a:sym typeface="Lucida Sans"/>
              </a:rPr>
              <a:t>1.- </a:t>
            </a:r>
            <a:r>
              <a:rPr b="0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Un método común de laboratorio para preparar cantidades pequeñas de oxígeno comprende la descomposición del clorato de potasio según la síguiente ecuación: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2F5496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800"/>
              <a:buFont typeface="Lucida Sans"/>
              <a:buNone/>
            </a:pPr>
            <a:r>
              <a:rPr b="1" i="0" lang="es-CL" sz="28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KClO</a:t>
            </a:r>
            <a:r>
              <a:rPr b="1" baseline="-25000" i="0" lang="es-CL" sz="28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3(s) </a:t>
            </a:r>
            <a:r>
              <a:rPr b="1" i="0" lang="es-CL" sz="28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→ KCl</a:t>
            </a:r>
            <a:r>
              <a:rPr b="1" baseline="-25000" i="0" lang="es-CL" sz="28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(s) </a:t>
            </a:r>
            <a:r>
              <a:rPr b="1" i="0" lang="es-CL" sz="28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+ O</a:t>
            </a:r>
            <a:r>
              <a:rPr b="1" baseline="-25000" i="0" lang="es-CL" sz="28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2(g)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2F5496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000"/>
              <a:buFont typeface="Lucida Sans"/>
              <a:buNone/>
            </a:pPr>
            <a:r>
              <a:rPr b="0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¿Cuántos gramos de oxígeno se pueden preparar a partir de 4,50 g de clorato?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512" name="Google Shape;512;p28"/>
          <p:cNvSpPr txBox="1"/>
          <p:nvPr/>
        </p:nvSpPr>
        <p:spPr>
          <a:xfrm>
            <a:off x="7564972" y="6290090"/>
            <a:ext cx="315342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797979"/>
                </a:solidFill>
                <a:latin typeface="Lucida Sans"/>
                <a:ea typeface="Lucida Sans"/>
                <a:cs typeface="Lucida Sans"/>
                <a:sym typeface="Lucida Sans"/>
              </a:rPr>
              <a:t>Respuesta =  1,77 gramos</a:t>
            </a:r>
            <a:endParaRPr b="0" i="0" sz="1800" u="none" cap="none" strike="noStrike">
              <a:solidFill>
                <a:srgbClr val="797979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9300"/>
        </a:solidFill>
      </p:bgPr>
    </p:bg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217eded2196_0_7"/>
          <p:cNvSpPr txBox="1"/>
          <p:nvPr>
            <p:ph idx="12" type="sldNum"/>
          </p:nvPr>
        </p:nvSpPr>
        <p:spPr>
          <a:xfrm>
            <a:off x="11390969" y="6333135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Lucida Sans"/>
              <a:buNone/>
            </a:pPr>
            <a:fld id="{00000000-1234-1234-1234-123412341234}" type="slidenum">
              <a:rPr b="0" i="0" lang="es-CL" sz="2000" u="none" cap="none" strike="noStrike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rPr>
              <a:t>‹#›</a:t>
            </a:fld>
            <a:endParaRPr b="0" i="0" sz="2000" u="none" cap="none" strike="noStrike">
              <a:solidFill>
                <a:srgbClr val="FFFFFF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518" name="Google Shape;518;g217eded2196_0_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79280" y="132951"/>
            <a:ext cx="2116762" cy="1058385"/>
          </a:xfrm>
          <a:prstGeom prst="rect">
            <a:avLst/>
          </a:prstGeom>
          <a:noFill/>
          <a:ln>
            <a:noFill/>
          </a:ln>
        </p:spPr>
      </p:pic>
      <p:sp>
        <p:nvSpPr>
          <p:cNvPr id="519" name="Google Shape;519;g217eded2196_0_7"/>
          <p:cNvSpPr txBox="1"/>
          <p:nvPr/>
        </p:nvSpPr>
        <p:spPr>
          <a:xfrm>
            <a:off x="4567397" y="5237922"/>
            <a:ext cx="74457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Karla"/>
              <a:buNone/>
            </a:pPr>
            <a:r>
              <a:rPr b="1" i="0" lang="es-CL" sz="6000" u="none" cap="none" strike="noStrike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Estequiometría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0" name="Google Shape;520;g217eded2196_0_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9058" y="1908675"/>
            <a:ext cx="6400801" cy="28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9300">
            <a:alpha val="54509"/>
          </a:srgbClr>
        </a:solidFill>
      </p:bgPr>
    </p:bg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30"/>
          <p:cNvSpPr txBox="1"/>
          <p:nvPr>
            <p:ph idx="12" type="sldNum"/>
          </p:nvPr>
        </p:nvSpPr>
        <p:spPr>
          <a:xfrm>
            <a:off x="11340169" y="6200184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97979"/>
              </a:buClr>
              <a:buSzPts val="2000"/>
              <a:buFont typeface="Lucida Sans"/>
              <a:buNone/>
            </a:pPr>
            <a:fld id="{00000000-1234-1234-1234-123412341234}" type="slidenum">
              <a:rPr lang="es-CL" sz="2000">
                <a:solidFill>
                  <a:srgbClr val="797979"/>
                </a:solidFill>
                <a:latin typeface="Lucida Sans"/>
                <a:ea typeface="Lucida Sans"/>
                <a:cs typeface="Lucida Sans"/>
                <a:sym typeface="Lucida Sans"/>
              </a:rPr>
              <a:t>‹#›</a:t>
            </a:fld>
            <a:endParaRPr sz="2000">
              <a:solidFill>
                <a:srgbClr val="797979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526" name="Google Shape;526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28480" y="0"/>
            <a:ext cx="2116765" cy="1058383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30"/>
          <p:cNvSpPr/>
          <p:nvPr/>
        </p:nvSpPr>
        <p:spPr>
          <a:xfrm>
            <a:off x="7421807" y="19461"/>
            <a:ext cx="18473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FF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528" name="Google Shape;528;p30"/>
          <p:cNvSpPr txBox="1"/>
          <p:nvPr/>
        </p:nvSpPr>
        <p:spPr>
          <a:xfrm>
            <a:off x="146754" y="231952"/>
            <a:ext cx="968714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2F92"/>
              </a:buClr>
              <a:buSzPts val="2800"/>
              <a:buFont typeface="Arial"/>
              <a:buNone/>
            </a:pPr>
            <a:r>
              <a:rPr b="1" i="0" lang="es-CL" sz="2800" u="none" cap="none" strike="noStrike">
                <a:solidFill>
                  <a:srgbClr val="FF2F92"/>
                </a:solidFill>
                <a:latin typeface="Lucida Sans"/>
                <a:ea typeface="Lucida Sans"/>
                <a:cs typeface="Lucida Sans"/>
                <a:sym typeface="Lucida Sans"/>
              </a:rPr>
              <a:t>Estequiometría con Reactivo Limitante y en Exceso</a:t>
            </a:r>
            <a:endParaRPr b="1" i="0" sz="2800" u="none" cap="none" strike="noStrike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529" name="Google Shape;529;p30"/>
          <p:cNvSpPr txBox="1"/>
          <p:nvPr/>
        </p:nvSpPr>
        <p:spPr>
          <a:xfrm>
            <a:off x="146755" y="732619"/>
            <a:ext cx="10600962" cy="36009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ts val="2400"/>
              <a:buFont typeface="Arial"/>
              <a:buNone/>
            </a:pPr>
            <a:r>
              <a:rPr b="1" i="0" lang="es-CL" sz="24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Reactivo limitante: </a:t>
            </a:r>
            <a:r>
              <a:rPr b="0" i="0" lang="es-CL" sz="24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Es el reactivo que se consume primero y totalmente en la reacción química.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400"/>
              <a:buFont typeface="Arial"/>
              <a:buNone/>
            </a:pPr>
            <a:r>
              <a:rPr b="0" i="0" lang="es-CL" sz="24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Los otros reactivos, presentes en cantidades mayores que aquellas requeridas para reaccionar con la cantidad de reactivo limitante, se llaman  </a:t>
            </a:r>
            <a:r>
              <a:rPr b="1" i="0" lang="es-CL" sz="24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reactivo en exceso</a:t>
            </a:r>
            <a:r>
              <a:rPr b="0" i="0" lang="es-CL" sz="24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200"/>
              <a:buFont typeface="Arial"/>
              <a:buNone/>
            </a:pPr>
            <a:r>
              <a:rPr b="0" i="0" lang="es-CL" sz="22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Para que te quede más claro piensa en la siguiente situación: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200"/>
              <a:buFont typeface="Arial"/>
              <a:buNone/>
            </a:pPr>
            <a:r>
              <a:rPr b="0" i="0" lang="es-CL" sz="22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Tienes 5 salchichas y 4 panes de completo ¿Cuántos completos puedes formar?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descr="Resultado de imagen de ejemplo de reactivo limitante y exceso" id="530" name="Google Shape;530;p30"/>
          <p:cNvPicPr preferRelativeResize="0"/>
          <p:nvPr/>
        </p:nvPicPr>
        <p:blipFill rotWithShape="1">
          <a:blip r:embed="rId4">
            <a:alphaModFix/>
          </a:blip>
          <a:srcRect b="3955" l="0" r="923" t="8642"/>
          <a:stretch/>
        </p:blipFill>
        <p:spPr>
          <a:xfrm>
            <a:off x="4055401" y="4271061"/>
            <a:ext cx="5778501" cy="2508585"/>
          </a:xfrm>
          <a:prstGeom prst="rect">
            <a:avLst/>
          </a:prstGeom>
          <a:noFill/>
          <a:ln>
            <a:noFill/>
          </a:ln>
        </p:spPr>
      </p:pic>
      <p:sp>
        <p:nvSpPr>
          <p:cNvPr id="531" name="Google Shape;531;p30"/>
          <p:cNvSpPr txBox="1"/>
          <p:nvPr/>
        </p:nvSpPr>
        <p:spPr>
          <a:xfrm>
            <a:off x="419534" y="4871722"/>
            <a:ext cx="3071811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Puedes hacer 4 hot dog, el pan se consume todo, </a:t>
            </a:r>
            <a:r>
              <a:rPr b="1" i="0" lang="es-CL" sz="1800" u="none" cap="none" strike="noStrike">
                <a:solidFill>
                  <a:srgbClr val="FF2F92"/>
                </a:solidFill>
                <a:latin typeface="Lucida Sans"/>
                <a:ea typeface="Lucida Sans"/>
                <a:cs typeface="Lucida Sans"/>
                <a:sym typeface="Lucida Sans"/>
              </a:rPr>
              <a:t>reactivo limitante</a:t>
            </a:r>
            <a:r>
              <a:rPr b="0" i="0" lang="es-CL" sz="18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. En cambio te queda 1 salchicha, </a:t>
            </a:r>
            <a:r>
              <a:rPr b="1" i="0" lang="es-CL" sz="1800" u="none" cap="none" strike="noStrike">
                <a:solidFill>
                  <a:srgbClr val="FF2F92"/>
                </a:solidFill>
                <a:latin typeface="Lucida Sans"/>
                <a:ea typeface="Lucida Sans"/>
                <a:cs typeface="Lucida Sans"/>
                <a:sym typeface="Lucida Sans"/>
              </a:rPr>
              <a:t>reactivo en exceso</a:t>
            </a:r>
            <a:r>
              <a:rPr b="0" i="0" lang="es-CL" sz="18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30"/>
          <p:cNvSpPr txBox="1"/>
          <p:nvPr/>
        </p:nvSpPr>
        <p:spPr>
          <a:xfrm>
            <a:off x="3975741" y="3862020"/>
            <a:ext cx="595273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L" sz="1800" u="none" cap="none" strike="noStrike">
                <a:solidFill>
                  <a:srgbClr val="FF9300"/>
                </a:solidFill>
                <a:latin typeface="Lucida Sans"/>
                <a:ea typeface="Lucida Sans"/>
                <a:cs typeface="Lucida Sans"/>
                <a:sym typeface="Lucida Sans"/>
              </a:rPr>
              <a:t>Salchichas        Pan               Hot dog      Salchichas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060"/>
        </a:solidFill>
      </p:bgPr>
    </p:bg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31"/>
          <p:cNvSpPr txBox="1"/>
          <p:nvPr>
            <p:ph idx="12" type="sldNum"/>
          </p:nvPr>
        </p:nvSpPr>
        <p:spPr>
          <a:xfrm>
            <a:off x="11390969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ucida Sans"/>
              <a:buNone/>
            </a:pPr>
            <a:fld id="{00000000-1234-1234-1234-123412341234}" type="slidenum">
              <a:rPr lang="es-CL" sz="20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‹#›</a:t>
            </a:fld>
            <a:endParaRPr sz="20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538" name="Google Shape;538;p31"/>
          <p:cNvSpPr txBox="1"/>
          <p:nvPr/>
        </p:nvSpPr>
        <p:spPr>
          <a:xfrm>
            <a:off x="2027436" y="2931560"/>
            <a:ext cx="7780961" cy="9952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67"/>
              <a:buFont typeface="Arial"/>
              <a:buNone/>
            </a:pPr>
            <a:r>
              <a:rPr b="0" i="0" lang="es-CL" sz="5867" u="none" cap="none" strike="noStrike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Ejercicios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39" name="Google Shape;539;p31"/>
          <p:cNvGrpSpPr/>
          <p:nvPr/>
        </p:nvGrpSpPr>
        <p:grpSpPr>
          <a:xfrm>
            <a:off x="5125820" y="1447365"/>
            <a:ext cx="1171845" cy="1045591"/>
            <a:chOff x="5233525" y="4954450"/>
            <a:chExt cx="538275" cy="516350"/>
          </a:xfrm>
        </p:grpSpPr>
        <p:sp>
          <p:nvSpPr>
            <p:cNvPr id="540" name="Google Shape;540;p31"/>
            <p:cNvSpPr/>
            <p:nvPr/>
          </p:nvSpPr>
          <p:spPr>
            <a:xfrm>
              <a:off x="5637825" y="4954450"/>
              <a:ext cx="89525" cy="89525"/>
            </a:xfrm>
            <a:custGeom>
              <a:rect b="b" l="l" r="r" t="t"/>
              <a:pathLst>
                <a:path extrusionOk="0" fill="none" h="3581" w="3581">
                  <a:moveTo>
                    <a:pt x="1023" y="3410"/>
                  </a:moveTo>
                  <a:lnTo>
                    <a:pt x="1023" y="3410"/>
                  </a:lnTo>
                  <a:lnTo>
                    <a:pt x="1193" y="3483"/>
                  </a:lnTo>
                  <a:lnTo>
                    <a:pt x="1388" y="3532"/>
                  </a:lnTo>
                  <a:lnTo>
                    <a:pt x="1583" y="3556"/>
                  </a:lnTo>
                  <a:lnTo>
                    <a:pt x="1778" y="3581"/>
                  </a:lnTo>
                  <a:lnTo>
                    <a:pt x="1778" y="3581"/>
                  </a:lnTo>
                  <a:lnTo>
                    <a:pt x="1973" y="3556"/>
                  </a:lnTo>
                  <a:lnTo>
                    <a:pt x="2143" y="3532"/>
                  </a:lnTo>
                  <a:lnTo>
                    <a:pt x="2314" y="3508"/>
                  </a:lnTo>
                  <a:lnTo>
                    <a:pt x="2484" y="3435"/>
                  </a:lnTo>
                  <a:lnTo>
                    <a:pt x="2630" y="3361"/>
                  </a:lnTo>
                  <a:lnTo>
                    <a:pt x="2776" y="3264"/>
                  </a:lnTo>
                  <a:lnTo>
                    <a:pt x="2923" y="3167"/>
                  </a:lnTo>
                  <a:lnTo>
                    <a:pt x="3044" y="3045"/>
                  </a:lnTo>
                  <a:lnTo>
                    <a:pt x="3166" y="2923"/>
                  </a:lnTo>
                  <a:lnTo>
                    <a:pt x="3264" y="2801"/>
                  </a:lnTo>
                  <a:lnTo>
                    <a:pt x="3361" y="2631"/>
                  </a:lnTo>
                  <a:lnTo>
                    <a:pt x="3434" y="2485"/>
                  </a:lnTo>
                  <a:lnTo>
                    <a:pt x="3483" y="2314"/>
                  </a:lnTo>
                  <a:lnTo>
                    <a:pt x="3531" y="2144"/>
                  </a:lnTo>
                  <a:lnTo>
                    <a:pt x="3556" y="1973"/>
                  </a:lnTo>
                  <a:lnTo>
                    <a:pt x="3580" y="1803"/>
                  </a:lnTo>
                  <a:lnTo>
                    <a:pt x="3580" y="1803"/>
                  </a:lnTo>
                  <a:lnTo>
                    <a:pt x="3556" y="1608"/>
                  </a:lnTo>
                  <a:lnTo>
                    <a:pt x="3531" y="1437"/>
                  </a:lnTo>
                  <a:lnTo>
                    <a:pt x="3483" y="1267"/>
                  </a:lnTo>
                  <a:lnTo>
                    <a:pt x="3434" y="1096"/>
                  </a:lnTo>
                  <a:lnTo>
                    <a:pt x="3361" y="950"/>
                  </a:lnTo>
                  <a:lnTo>
                    <a:pt x="3264" y="804"/>
                  </a:lnTo>
                  <a:lnTo>
                    <a:pt x="3166" y="658"/>
                  </a:lnTo>
                  <a:lnTo>
                    <a:pt x="3044" y="536"/>
                  </a:lnTo>
                  <a:lnTo>
                    <a:pt x="2923" y="414"/>
                  </a:lnTo>
                  <a:lnTo>
                    <a:pt x="2776" y="317"/>
                  </a:lnTo>
                  <a:lnTo>
                    <a:pt x="2630" y="220"/>
                  </a:lnTo>
                  <a:lnTo>
                    <a:pt x="2484" y="147"/>
                  </a:lnTo>
                  <a:lnTo>
                    <a:pt x="2314" y="98"/>
                  </a:lnTo>
                  <a:lnTo>
                    <a:pt x="2143" y="49"/>
                  </a:lnTo>
                  <a:lnTo>
                    <a:pt x="1973" y="25"/>
                  </a:lnTo>
                  <a:lnTo>
                    <a:pt x="1778" y="0"/>
                  </a:lnTo>
                  <a:lnTo>
                    <a:pt x="1778" y="0"/>
                  </a:lnTo>
                  <a:lnTo>
                    <a:pt x="1607" y="25"/>
                  </a:lnTo>
                  <a:lnTo>
                    <a:pt x="1437" y="49"/>
                  </a:lnTo>
                  <a:lnTo>
                    <a:pt x="1266" y="98"/>
                  </a:lnTo>
                  <a:lnTo>
                    <a:pt x="1096" y="147"/>
                  </a:lnTo>
                  <a:lnTo>
                    <a:pt x="925" y="220"/>
                  </a:lnTo>
                  <a:lnTo>
                    <a:pt x="779" y="317"/>
                  </a:lnTo>
                  <a:lnTo>
                    <a:pt x="658" y="414"/>
                  </a:lnTo>
                  <a:lnTo>
                    <a:pt x="536" y="536"/>
                  </a:lnTo>
                  <a:lnTo>
                    <a:pt x="414" y="658"/>
                  </a:lnTo>
                  <a:lnTo>
                    <a:pt x="317" y="804"/>
                  </a:lnTo>
                  <a:lnTo>
                    <a:pt x="219" y="950"/>
                  </a:lnTo>
                  <a:lnTo>
                    <a:pt x="146" y="1096"/>
                  </a:lnTo>
                  <a:lnTo>
                    <a:pt x="73" y="1267"/>
                  </a:lnTo>
                  <a:lnTo>
                    <a:pt x="49" y="1437"/>
                  </a:lnTo>
                  <a:lnTo>
                    <a:pt x="24" y="1608"/>
                  </a:lnTo>
                  <a:lnTo>
                    <a:pt x="0" y="1803"/>
                  </a:lnTo>
                  <a:lnTo>
                    <a:pt x="0" y="1803"/>
                  </a:lnTo>
                  <a:lnTo>
                    <a:pt x="24" y="2071"/>
                  </a:lnTo>
                  <a:lnTo>
                    <a:pt x="97" y="2339"/>
                  </a:lnTo>
                  <a:lnTo>
                    <a:pt x="195" y="2582"/>
                  </a:lnTo>
                  <a:lnTo>
                    <a:pt x="317" y="2801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1" name="Google Shape;541;p31"/>
            <p:cNvSpPr/>
            <p:nvPr/>
          </p:nvSpPr>
          <p:spPr>
            <a:xfrm>
              <a:off x="5323025" y="4980625"/>
              <a:ext cx="88925" cy="88925"/>
            </a:xfrm>
            <a:custGeom>
              <a:rect b="b" l="l" r="r" t="t"/>
              <a:pathLst>
                <a:path extrusionOk="0" fill="none" h="3557" w="3557">
                  <a:moveTo>
                    <a:pt x="3191" y="2850"/>
                  </a:moveTo>
                  <a:lnTo>
                    <a:pt x="3191" y="2850"/>
                  </a:lnTo>
                  <a:lnTo>
                    <a:pt x="3313" y="2680"/>
                  </a:lnTo>
                  <a:lnTo>
                    <a:pt x="3410" y="2509"/>
                  </a:lnTo>
                  <a:lnTo>
                    <a:pt x="3483" y="2314"/>
                  </a:lnTo>
                  <a:lnTo>
                    <a:pt x="3532" y="2095"/>
                  </a:lnTo>
                  <a:lnTo>
                    <a:pt x="3532" y="2095"/>
                  </a:lnTo>
                  <a:lnTo>
                    <a:pt x="3556" y="1925"/>
                  </a:lnTo>
                  <a:lnTo>
                    <a:pt x="3556" y="1730"/>
                  </a:lnTo>
                  <a:lnTo>
                    <a:pt x="3556" y="1559"/>
                  </a:lnTo>
                  <a:lnTo>
                    <a:pt x="3508" y="1389"/>
                  </a:lnTo>
                  <a:lnTo>
                    <a:pt x="3459" y="1218"/>
                  </a:lnTo>
                  <a:lnTo>
                    <a:pt x="3410" y="1072"/>
                  </a:lnTo>
                  <a:lnTo>
                    <a:pt x="3337" y="902"/>
                  </a:lnTo>
                  <a:lnTo>
                    <a:pt x="3240" y="756"/>
                  </a:lnTo>
                  <a:lnTo>
                    <a:pt x="3142" y="634"/>
                  </a:lnTo>
                  <a:lnTo>
                    <a:pt x="3021" y="512"/>
                  </a:lnTo>
                  <a:lnTo>
                    <a:pt x="2899" y="390"/>
                  </a:lnTo>
                  <a:lnTo>
                    <a:pt x="2753" y="293"/>
                  </a:lnTo>
                  <a:lnTo>
                    <a:pt x="2606" y="196"/>
                  </a:lnTo>
                  <a:lnTo>
                    <a:pt x="2436" y="122"/>
                  </a:lnTo>
                  <a:lnTo>
                    <a:pt x="2266" y="74"/>
                  </a:lnTo>
                  <a:lnTo>
                    <a:pt x="2095" y="25"/>
                  </a:lnTo>
                  <a:lnTo>
                    <a:pt x="2095" y="25"/>
                  </a:lnTo>
                  <a:lnTo>
                    <a:pt x="1925" y="1"/>
                  </a:lnTo>
                  <a:lnTo>
                    <a:pt x="1730" y="1"/>
                  </a:lnTo>
                  <a:lnTo>
                    <a:pt x="1559" y="1"/>
                  </a:lnTo>
                  <a:lnTo>
                    <a:pt x="1389" y="25"/>
                  </a:lnTo>
                  <a:lnTo>
                    <a:pt x="1218" y="74"/>
                  </a:lnTo>
                  <a:lnTo>
                    <a:pt x="1072" y="147"/>
                  </a:lnTo>
                  <a:lnTo>
                    <a:pt x="902" y="220"/>
                  </a:lnTo>
                  <a:lnTo>
                    <a:pt x="756" y="317"/>
                  </a:lnTo>
                  <a:lnTo>
                    <a:pt x="634" y="415"/>
                  </a:lnTo>
                  <a:lnTo>
                    <a:pt x="512" y="537"/>
                  </a:lnTo>
                  <a:lnTo>
                    <a:pt x="390" y="658"/>
                  </a:lnTo>
                  <a:lnTo>
                    <a:pt x="293" y="804"/>
                  </a:lnTo>
                  <a:lnTo>
                    <a:pt x="195" y="951"/>
                  </a:lnTo>
                  <a:lnTo>
                    <a:pt x="122" y="1097"/>
                  </a:lnTo>
                  <a:lnTo>
                    <a:pt x="74" y="1267"/>
                  </a:lnTo>
                  <a:lnTo>
                    <a:pt x="25" y="1462"/>
                  </a:lnTo>
                  <a:lnTo>
                    <a:pt x="25" y="1462"/>
                  </a:lnTo>
                  <a:lnTo>
                    <a:pt x="1" y="1633"/>
                  </a:lnTo>
                  <a:lnTo>
                    <a:pt x="1" y="1803"/>
                  </a:lnTo>
                  <a:lnTo>
                    <a:pt x="1" y="1998"/>
                  </a:lnTo>
                  <a:lnTo>
                    <a:pt x="25" y="2168"/>
                  </a:lnTo>
                  <a:lnTo>
                    <a:pt x="74" y="2339"/>
                  </a:lnTo>
                  <a:lnTo>
                    <a:pt x="147" y="2485"/>
                  </a:lnTo>
                  <a:lnTo>
                    <a:pt x="220" y="2655"/>
                  </a:lnTo>
                  <a:lnTo>
                    <a:pt x="317" y="2777"/>
                  </a:lnTo>
                  <a:lnTo>
                    <a:pt x="415" y="2923"/>
                  </a:lnTo>
                  <a:lnTo>
                    <a:pt x="536" y="3045"/>
                  </a:lnTo>
                  <a:lnTo>
                    <a:pt x="658" y="3167"/>
                  </a:lnTo>
                  <a:lnTo>
                    <a:pt x="804" y="3264"/>
                  </a:lnTo>
                  <a:lnTo>
                    <a:pt x="950" y="3362"/>
                  </a:lnTo>
                  <a:lnTo>
                    <a:pt x="1096" y="3435"/>
                  </a:lnTo>
                  <a:lnTo>
                    <a:pt x="1267" y="3483"/>
                  </a:lnTo>
                  <a:lnTo>
                    <a:pt x="1462" y="3532"/>
                  </a:lnTo>
                  <a:lnTo>
                    <a:pt x="1462" y="3532"/>
                  </a:lnTo>
                  <a:lnTo>
                    <a:pt x="1705" y="3557"/>
                  </a:lnTo>
                  <a:lnTo>
                    <a:pt x="1973" y="3557"/>
                  </a:lnTo>
                  <a:lnTo>
                    <a:pt x="2217" y="3508"/>
                  </a:lnTo>
                  <a:lnTo>
                    <a:pt x="2460" y="3435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2" name="Google Shape;542;p31"/>
            <p:cNvSpPr/>
            <p:nvPr/>
          </p:nvSpPr>
          <p:spPr>
            <a:xfrm>
              <a:off x="5233525" y="5255225"/>
              <a:ext cx="89525" cy="89525"/>
            </a:xfrm>
            <a:custGeom>
              <a:rect b="b" l="l" r="r" t="t"/>
              <a:pathLst>
                <a:path extrusionOk="0" fill="none" h="3581" w="3581">
                  <a:moveTo>
                    <a:pt x="3215" y="707"/>
                  </a:moveTo>
                  <a:lnTo>
                    <a:pt x="3215" y="707"/>
                  </a:lnTo>
                  <a:lnTo>
                    <a:pt x="3093" y="585"/>
                  </a:lnTo>
                  <a:lnTo>
                    <a:pt x="2972" y="464"/>
                  </a:lnTo>
                  <a:lnTo>
                    <a:pt x="2850" y="342"/>
                  </a:lnTo>
                  <a:lnTo>
                    <a:pt x="2679" y="244"/>
                  </a:lnTo>
                  <a:lnTo>
                    <a:pt x="2679" y="244"/>
                  </a:lnTo>
                  <a:lnTo>
                    <a:pt x="2533" y="171"/>
                  </a:lnTo>
                  <a:lnTo>
                    <a:pt x="2363" y="98"/>
                  </a:lnTo>
                  <a:lnTo>
                    <a:pt x="2192" y="50"/>
                  </a:lnTo>
                  <a:lnTo>
                    <a:pt x="2022" y="25"/>
                  </a:lnTo>
                  <a:lnTo>
                    <a:pt x="1851" y="1"/>
                  </a:lnTo>
                  <a:lnTo>
                    <a:pt x="1681" y="25"/>
                  </a:lnTo>
                  <a:lnTo>
                    <a:pt x="1510" y="25"/>
                  </a:lnTo>
                  <a:lnTo>
                    <a:pt x="1340" y="74"/>
                  </a:lnTo>
                  <a:lnTo>
                    <a:pt x="1169" y="123"/>
                  </a:lnTo>
                  <a:lnTo>
                    <a:pt x="1023" y="196"/>
                  </a:lnTo>
                  <a:lnTo>
                    <a:pt x="877" y="269"/>
                  </a:lnTo>
                  <a:lnTo>
                    <a:pt x="731" y="366"/>
                  </a:lnTo>
                  <a:lnTo>
                    <a:pt x="585" y="488"/>
                  </a:lnTo>
                  <a:lnTo>
                    <a:pt x="463" y="610"/>
                  </a:lnTo>
                  <a:lnTo>
                    <a:pt x="341" y="731"/>
                  </a:lnTo>
                  <a:lnTo>
                    <a:pt x="244" y="902"/>
                  </a:lnTo>
                  <a:lnTo>
                    <a:pt x="244" y="902"/>
                  </a:lnTo>
                  <a:lnTo>
                    <a:pt x="171" y="1048"/>
                  </a:lnTo>
                  <a:lnTo>
                    <a:pt x="98" y="1219"/>
                  </a:lnTo>
                  <a:lnTo>
                    <a:pt x="49" y="1389"/>
                  </a:lnTo>
                  <a:lnTo>
                    <a:pt x="25" y="1560"/>
                  </a:lnTo>
                  <a:lnTo>
                    <a:pt x="0" y="1730"/>
                  </a:lnTo>
                  <a:lnTo>
                    <a:pt x="0" y="1900"/>
                  </a:lnTo>
                  <a:lnTo>
                    <a:pt x="25" y="2071"/>
                  </a:lnTo>
                  <a:lnTo>
                    <a:pt x="73" y="2241"/>
                  </a:lnTo>
                  <a:lnTo>
                    <a:pt x="122" y="2412"/>
                  </a:lnTo>
                  <a:lnTo>
                    <a:pt x="195" y="2558"/>
                  </a:lnTo>
                  <a:lnTo>
                    <a:pt x="268" y="2729"/>
                  </a:lnTo>
                  <a:lnTo>
                    <a:pt x="366" y="2850"/>
                  </a:lnTo>
                  <a:lnTo>
                    <a:pt x="463" y="2996"/>
                  </a:lnTo>
                  <a:lnTo>
                    <a:pt x="609" y="3118"/>
                  </a:lnTo>
                  <a:lnTo>
                    <a:pt x="731" y="3240"/>
                  </a:lnTo>
                  <a:lnTo>
                    <a:pt x="901" y="3337"/>
                  </a:lnTo>
                  <a:lnTo>
                    <a:pt x="901" y="3337"/>
                  </a:lnTo>
                  <a:lnTo>
                    <a:pt x="1048" y="3410"/>
                  </a:lnTo>
                  <a:lnTo>
                    <a:pt x="1218" y="3484"/>
                  </a:lnTo>
                  <a:lnTo>
                    <a:pt x="1389" y="3532"/>
                  </a:lnTo>
                  <a:lnTo>
                    <a:pt x="1559" y="3557"/>
                  </a:lnTo>
                  <a:lnTo>
                    <a:pt x="1730" y="3581"/>
                  </a:lnTo>
                  <a:lnTo>
                    <a:pt x="1900" y="3581"/>
                  </a:lnTo>
                  <a:lnTo>
                    <a:pt x="2071" y="3557"/>
                  </a:lnTo>
                  <a:lnTo>
                    <a:pt x="2241" y="3508"/>
                  </a:lnTo>
                  <a:lnTo>
                    <a:pt x="2411" y="3459"/>
                  </a:lnTo>
                  <a:lnTo>
                    <a:pt x="2558" y="3410"/>
                  </a:lnTo>
                  <a:lnTo>
                    <a:pt x="2704" y="3313"/>
                  </a:lnTo>
                  <a:lnTo>
                    <a:pt x="2850" y="3216"/>
                  </a:lnTo>
                  <a:lnTo>
                    <a:pt x="2996" y="3118"/>
                  </a:lnTo>
                  <a:lnTo>
                    <a:pt x="3118" y="2996"/>
                  </a:lnTo>
                  <a:lnTo>
                    <a:pt x="3240" y="2850"/>
                  </a:lnTo>
                  <a:lnTo>
                    <a:pt x="3337" y="2704"/>
                  </a:lnTo>
                  <a:lnTo>
                    <a:pt x="3337" y="2704"/>
                  </a:lnTo>
                  <a:lnTo>
                    <a:pt x="3459" y="2412"/>
                  </a:lnTo>
                  <a:lnTo>
                    <a:pt x="3532" y="2144"/>
                  </a:lnTo>
                  <a:lnTo>
                    <a:pt x="3581" y="1852"/>
                  </a:lnTo>
                  <a:lnTo>
                    <a:pt x="3556" y="1560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3" name="Google Shape;543;p31"/>
            <p:cNvSpPr/>
            <p:nvPr/>
          </p:nvSpPr>
          <p:spPr>
            <a:xfrm>
              <a:off x="5453325" y="5382475"/>
              <a:ext cx="88925" cy="88325"/>
            </a:xfrm>
            <a:custGeom>
              <a:rect b="b" l="l" r="r" t="t"/>
              <a:pathLst>
                <a:path extrusionOk="0" fill="none" h="3533" w="3557">
                  <a:moveTo>
                    <a:pt x="1389" y="1"/>
                  </a:moveTo>
                  <a:lnTo>
                    <a:pt x="1389" y="1"/>
                  </a:lnTo>
                  <a:lnTo>
                    <a:pt x="1194" y="50"/>
                  </a:lnTo>
                  <a:lnTo>
                    <a:pt x="999" y="147"/>
                  </a:lnTo>
                  <a:lnTo>
                    <a:pt x="804" y="245"/>
                  </a:lnTo>
                  <a:lnTo>
                    <a:pt x="634" y="366"/>
                  </a:lnTo>
                  <a:lnTo>
                    <a:pt x="634" y="366"/>
                  </a:lnTo>
                  <a:lnTo>
                    <a:pt x="488" y="488"/>
                  </a:lnTo>
                  <a:lnTo>
                    <a:pt x="390" y="634"/>
                  </a:lnTo>
                  <a:lnTo>
                    <a:pt x="268" y="780"/>
                  </a:lnTo>
                  <a:lnTo>
                    <a:pt x="195" y="926"/>
                  </a:lnTo>
                  <a:lnTo>
                    <a:pt x="122" y="1073"/>
                  </a:lnTo>
                  <a:lnTo>
                    <a:pt x="74" y="1243"/>
                  </a:lnTo>
                  <a:lnTo>
                    <a:pt x="25" y="1414"/>
                  </a:lnTo>
                  <a:lnTo>
                    <a:pt x="0" y="1584"/>
                  </a:lnTo>
                  <a:lnTo>
                    <a:pt x="0" y="1755"/>
                  </a:lnTo>
                  <a:lnTo>
                    <a:pt x="0" y="1925"/>
                  </a:lnTo>
                  <a:lnTo>
                    <a:pt x="25" y="2096"/>
                  </a:lnTo>
                  <a:lnTo>
                    <a:pt x="74" y="2266"/>
                  </a:lnTo>
                  <a:lnTo>
                    <a:pt x="122" y="2412"/>
                  </a:lnTo>
                  <a:lnTo>
                    <a:pt x="195" y="2583"/>
                  </a:lnTo>
                  <a:lnTo>
                    <a:pt x="293" y="2729"/>
                  </a:lnTo>
                  <a:lnTo>
                    <a:pt x="415" y="2875"/>
                  </a:lnTo>
                  <a:lnTo>
                    <a:pt x="415" y="2875"/>
                  </a:lnTo>
                  <a:lnTo>
                    <a:pt x="536" y="3021"/>
                  </a:lnTo>
                  <a:lnTo>
                    <a:pt x="658" y="3143"/>
                  </a:lnTo>
                  <a:lnTo>
                    <a:pt x="804" y="3240"/>
                  </a:lnTo>
                  <a:lnTo>
                    <a:pt x="950" y="3313"/>
                  </a:lnTo>
                  <a:lnTo>
                    <a:pt x="1121" y="3386"/>
                  </a:lnTo>
                  <a:lnTo>
                    <a:pt x="1267" y="3459"/>
                  </a:lnTo>
                  <a:lnTo>
                    <a:pt x="1437" y="3484"/>
                  </a:lnTo>
                  <a:lnTo>
                    <a:pt x="1608" y="3508"/>
                  </a:lnTo>
                  <a:lnTo>
                    <a:pt x="1778" y="3532"/>
                  </a:lnTo>
                  <a:lnTo>
                    <a:pt x="1949" y="3508"/>
                  </a:lnTo>
                  <a:lnTo>
                    <a:pt x="2119" y="3484"/>
                  </a:lnTo>
                  <a:lnTo>
                    <a:pt x="2290" y="3435"/>
                  </a:lnTo>
                  <a:lnTo>
                    <a:pt x="2460" y="3386"/>
                  </a:lnTo>
                  <a:lnTo>
                    <a:pt x="2606" y="3313"/>
                  </a:lnTo>
                  <a:lnTo>
                    <a:pt x="2777" y="3216"/>
                  </a:lnTo>
                  <a:lnTo>
                    <a:pt x="2923" y="3118"/>
                  </a:lnTo>
                  <a:lnTo>
                    <a:pt x="2923" y="3118"/>
                  </a:lnTo>
                  <a:lnTo>
                    <a:pt x="3045" y="2997"/>
                  </a:lnTo>
                  <a:lnTo>
                    <a:pt x="3167" y="2851"/>
                  </a:lnTo>
                  <a:lnTo>
                    <a:pt x="3264" y="2704"/>
                  </a:lnTo>
                  <a:lnTo>
                    <a:pt x="3361" y="2558"/>
                  </a:lnTo>
                  <a:lnTo>
                    <a:pt x="3435" y="2412"/>
                  </a:lnTo>
                  <a:lnTo>
                    <a:pt x="3483" y="2242"/>
                  </a:lnTo>
                  <a:lnTo>
                    <a:pt x="3532" y="2071"/>
                  </a:lnTo>
                  <a:lnTo>
                    <a:pt x="3556" y="1901"/>
                  </a:lnTo>
                  <a:lnTo>
                    <a:pt x="3556" y="1730"/>
                  </a:lnTo>
                  <a:lnTo>
                    <a:pt x="3556" y="1560"/>
                  </a:lnTo>
                  <a:lnTo>
                    <a:pt x="3532" y="1389"/>
                  </a:lnTo>
                  <a:lnTo>
                    <a:pt x="3483" y="1219"/>
                  </a:lnTo>
                  <a:lnTo>
                    <a:pt x="3410" y="1048"/>
                  </a:lnTo>
                  <a:lnTo>
                    <a:pt x="3337" y="902"/>
                  </a:lnTo>
                  <a:lnTo>
                    <a:pt x="3264" y="756"/>
                  </a:lnTo>
                  <a:lnTo>
                    <a:pt x="3142" y="610"/>
                  </a:lnTo>
                  <a:lnTo>
                    <a:pt x="3142" y="610"/>
                  </a:lnTo>
                  <a:lnTo>
                    <a:pt x="2972" y="415"/>
                  </a:lnTo>
                  <a:lnTo>
                    <a:pt x="2753" y="245"/>
                  </a:lnTo>
                  <a:lnTo>
                    <a:pt x="2533" y="123"/>
                  </a:lnTo>
                  <a:lnTo>
                    <a:pt x="2314" y="50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4" name="Google Shape;544;p31"/>
            <p:cNvSpPr/>
            <p:nvPr/>
          </p:nvSpPr>
          <p:spPr>
            <a:xfrm>
              <a:off x="5682875" y="5188875"/>
              <a:ext cx="88925" cy="89525"/>
            </a:xfrm>
            <a:custGeom>
              <a:rect b="b" l="l" r="r" t="t"/>
              <a:pathLst>
                <a:path extrusionOk="0" fill="none" h="3581" w="3557">
                  <a:moveTo>
                    <a:pt x="0" y="2022"/>
                  </a:moveTo>
                  <a:lnTo>
                    <a:pt x="0" y="2022"/>
                  </a:lnTo>
                  <a:lnTo>
                    <a:pt x="25" y="2216"/>
                  </a:lnTo>
                  <a:lnTo>
                    <a:pt x="98" y="2411"/>
                  </a:lnTo>
                  <a:lnTo>
                    <a:pt x="98" y="2411"/>
                  </a:lnTo>
                  <a:lnTo>
                    <a:pt x="171" y="2557"/>
                  </a:lnTo>
                  <a:lnTo>
                    <a:pt x="244" y="2728"/>
                  </a:lnTo>
                  <a:lnTo>
                    <a:pt x="341" y="2874"/>
                  </a:lnTo>
                  <a:lnTo>
                    <a:pt x="463" y="2996"/>
                  </a:lnTo>
                  <a:lnTo>
                    <a:pt x="585" y="3118"/>
                  </a:lnTo>
                  <a:lnTo>
                    <a:pt x="707" y="3239"/>
                  </a:lnTo>
                  <a:lnTo>
                    <a:pt x="853" y="3337"/>
                  </a:lnTo>
                  <a:lnTo>
                    <a:pt x="999" y="3410"/>
                  </a:lnTo>
                  <a:lnTo>
                    <a:pt x="1169" y="3483"/>
                  </a:lnTo>
                  <a:lnTo>
                    <a:pt x="1340" y="3532"/>
                  </a:lnTo>
                  <a:lnTo>
                    <a:pt x="1510" y="3556"/>
                  </a:lnTo>
                  <a:lnTo>
                    <a:pt x="1681" y="3580"/>
                  </a:lnTo>
                  <a:lnTo>
                    <a:pt x="1851" y="3580"/>
                  </a:lnTo>
                  <a:lnTo>
                    <a:pt x="2022" y="3556"/>
                  </a:lnTo>
                  <a:lnTo>
                    <a:pt x="2192" y="3532"/>
                  </a:lnTo>
                  <a:lnTo>
                    <a:pt x="2363" y="3459"/>
                  </a:lnTo>
                  <a:lnTo>
                    <a:pt x="2363" y="3459"/>
                  </a:lnTo>
                  <a:lnTo>
                    <a:pt x="2533" y="3410"/>
                  </a:lnTo>
                  <a:lnTo>
                    <a:pt x="2704" y="3312"/>
                  </a:lnTo>
                  <a:lnTo>
                    <a:pt x="2850" y="3215"/>
                  </a:lnTo>
                  <a:lnTo>
                    <a:pt x="2972" y="3093"/>
                  </a:lnTo>
                  <a:lnTo>
                    <a:pt x="3093" y="2971"/>
                  </a:lnTo>
                  <a:lnTo>
                    <a:pt x="3215" y="2850"/>
                  </a:lnTo>
                  <a:lnTo>
                    <a:pt x="3288" y="2704"/>
                  </a:lnTo>
                  <a:lnTo>
                    <a:pt x="3386" y="2557"/>
                  </a:lnTo>
                  <a:lnTo>
                    <a:pt x="3434" y="2387"/>
                  </a:lnTo>
                  <a:lnTo>
                    <a:pt x="3483" y="2216"/>
                  </a:lnTo>
                  <a:lnTo>
                    <a:pt x="3532" y="2070"/>
                  </a:lnTo>
                  <a:lnTo>
                    <a:pt x="3556" y="1875"/>
                  </a:lnTo>
                  <a:lnTo>
                    <a:pt x="3556" y="1705"/>
                  </a:lnTo>
                  <a:lnTo>
                    <a:pt x="3532" y="1534"/>
                  </a:lnTo>
                  <a:lnTo>
                    <a:pt x="3507" y="1364"/>
                  </a:lnTo>
                  <a:lnTo>
                    <a:pt x="3434" y="1194"/>
                  </a:lnTo>
                  <a:lnTo>
                    <a:pt x="3434" y="1194"/>
                  </a:lnTo>
                  <a:lnTo>
                    <a:pt x="3361" y="1023"/>
                  </a:lnTo>
                  <a:lnTo>
                    <a:pt x="3288" y="853"/>
                  </a:lnTo>
                  <a:lnTo>
                    <a:pt x="3191" y="706"/>
                  </a:lnTo>
                  <a:lnTo>
                    <a:pt x="3069" y="585"/>
                  </a:lnTo>
                  <a:lnTo>
                    <a:pt x="2947" y="463"/>
                  </a:lnTo>
                  <a:lnTo>
                    <a:pt x="2825" y="341"/>
                  </a:lnTo>
                  <a:lnTo>
                    <a:pt x="2679" y="268"/>
                  </a:lnTo>
                  <a:lnTo>
                    <a:pt x="2533" y="171"/>
                  </a:lnTo>
                  <a:lnTo>
                    <a:pt x="2363" y="122"/>
                  </a:lnTo>
                  <a:lnTo>
                    <a:pt x="2192" y="73"/>
                  </a:lnTo>
                  <a:lnTo>
                    <a:pt x="2022" y="24"/>
                  </a:lnTo>
                  <a:lnTo>
                    <a:pt x="1851" y="24"/>
                  </a:lnTo>
                  <a:lnTo>
                    <a:pt x="1681" y="0"/>
                  </a:lnTo>
                  <a:lnTo>
                    <a:pt x="1510" y="24"/>
                  </a:lnTo>
                  <a:lnTo>
                    <a:pt x="1340" y="73"/>
                  </a:lnTo>
                  <a:lnTo>
                    <a:pt x="1169" y="122"/>
                  </a:lnTo>
                  <a:lnTo>
                    <a:pt x="1169" y="122"/>
                  </a:lnTo>
                  <a:lnTo>
                    <a:pt x="974" y="195"/>
                  </a:lnTo>
                  <a:lnTo>
                    <a:pt x="804" y="292"/>
                  </a:lnTo>
                  <a:lnTo>
                    <a:pt x="658" y="390"/>
                  </a:lnTo>
                  <a:lnTo>
                    <a:pt x="512" y="512"/>
                  </a:lnTo>
                  <a:lnTo>
                    <a:pt x="390" y="658"/>
                  </a:lnTo>
                  <a:lnTo>
                    <a:pt x="293" y="804"/>
                  </a:lnTo>
                  <a:lnTo>
                    <a:pt x="195" y="950"/>
                  </a:lnTo>
                  <a:lnTo>
                    <a:pt x="122" y="1120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5" name="Google Shape;545;p31"/>
            <p:cNvSpPr/>
            <p:nvPr/>
          </p:nvSpPr>
          <p:spPr>
            <a:xfrm>
              <a:off x="5411925" y="5110925"/>
              <a:ext cx="188775" cy="189400"/>
            </a:xfrm>
            <a:custGeom>
              <a:rect b="b" l="l" r="r" t="t"/>
              <a:pathLst>
                <a:path extrusionOk="0" fill="none" h="7576" w="7551">
                  <a:moveTo>
                    <a:pt x="0" y="3776"/>
                  </a:moveTo>
                  <a:lnTo>
                    <a:pt x="0" y="3776"/>
                  </a:lnTo>
                  <a:lnTo>
                    <a:pt x="25" y="3410"/>
                  </a:lnTo>
                  <a:lnTo>
                    <a:pt x="73" y="3021"/>
                  </a:lnTo>
                  <a:lnTo>
                    <a:pt x="171" y="2655"/>
                  </a:lnTo>
                  <a:lnTo>
                    <a:pt x="293" y="2314"/>
                  </a:lnTo>
                  <a:lnTo>
                    <a:pt x="463" y="1973"/>
                  </a:lnTo>
                  <a:lnTo>
                    <a:pt x="658" y="1681"/>
                  </a:lnTo>
                  <a:lnTo>
                    <a:pt x="877" y="1389"/>
                  </a:lnTo>
                  <a:lnTo>
                    <a:pt x="1121" y="1121"/>
                  </a:lnTo>
                  <a:lnTo>
                    <a:pt x="1389" y="877"/>
                  </a:lnTo>
                  <a:lnTo>
                    <a:pt x="1656" y="658"/>
                  </a:lnTo>
                  <a:lnTo>
                    <a:pt x="1973" y="463"/>
                  </a:lnTo>
                  <a:lnTo>
                    <a:pt x="2314" y="293"/>
                  </a:lnTo>
                  <a:lnTo>
                    <a:pt x="2655" y="171"/>
                  </a:lnTo>
                  <a:lnTo>
                    <a:pt x="3020" y="74"/>
                  </a:lnTo>
                  <a:lnTo>
                    <a:pt x="3386" y="25"/>
                  </a:lnTo>
                  <a:lnTo>
                    <a:pt x="3775" y="1"/>
                  </a:lnTo>
                  <a:lnTo>
                    <a:pt x="3775" y="1"/>
                  </a:lnTo>
                  <a:lnTo>
                    <a:pt x="4165" y="25"/>
                  </a:lnTo>
                  <a:lnTo>
                    <a:pt x="4555" y="74"/>
                  </a:lnTo>
                  <a:lnTo>
                    <a:pt x="4896" y="171"/>
                  </a:lnTo>
                  <a:lnTo>
                    <a:pt x="5261" y="293"/>
                  </a:lnTo>
                  <a:lnTo>
                    <a:pt x="5578" y="463"/>
                  </a:lnTo>
                  <a:lnTo>
                    <a:pt x="5894" y="658"/>
                  </a:lnTo>
                  <a:lnTo>
                    <a:pt x="6186" y="877"/>
                  </a:lnTo>
                  <a:lnTo>
                    <a:pt x="6454" y="1121"/>
                  </a:lnTo>
                  <a:lnTo>
                    <a:pt x="6698" y="1389"/>
                  </a:lnTo>
                  <a:lnTo>
                    <a:pt x="6917" y="1681"/>
                  </a:lnTo>
                  <a:lnTo>
                    <a:pt x="7112" y="1973"/>
                  </a:lnTo>
                  <a:lnTo>
                    <a:pt x="7258" y="2314"/>
                  </a:lnTo>
                  <a:lnTo>
                    <a:pt x="7404" y="2655"/>
                  </a:lnTo>
                  <a:lnTo>
                    <a:pt x="7477" y="3021"/>
                  </a:lnTo>
                  <a:lnTo>
                    <a:pt x="7550" y="3410"/>
                  </a:lnTo>
                  <a:lnTo>
                    <a:pt x="7550" y="3776"/>
                  </a:lnTo>
                  <a:lnTo>
                    <a:pt x="7550" y="3776"/>
                  </a:lnTo>
                  <a:lnTo>
                    <a:pt x="7550" y="4165"/>
                  </a:lnTo>
                  <a:lnTo>
                    <a:pt x="7477" y="4555"/>
                  </a:lnTo>
                  <a:lnTo>
                    <a:pt x="7404" y="4920"/>
                  </a:lnTo>
                  <a:lnTo>
                    <a:pt x="7258" y="5261"/>
                  </a:lnTo>
                  <a:lnTo>
                    <a:pt x="7112" y="5578"/>
                  </a:lnTo>
                  <a:lnTo>
                    <a:pt x="6917" y="5895"/>
                  </a:lnTo>
                  <a:lnTo>
                    <a:pt x="6698" y="6187"/>
                  </a:lnTo>
                  <a:lnTo>
                    <a:pt x="6454" y="6455"/>
                  </a:lnTo>
                  <a:lnTo>
                    <a:pt x="6186" y="6698"/>
                  </a:lnTo>
                  <a:lnTo>
                    <a:pt x="5894" y="6917"/>
                  </a:lnTo>
                  <a:lnTo>
                    <a:pt x="5578" y="7112"/>
                  </a:lnTo>
                  <a:lnTo>
                    <a:pt x="5261" y="7258"/>
                  </a:lnTo>
                  <a:lnTo>
                    <a:pt x="4896" y="7405"/>
                  </a:lnTo>
                  <a:lnTo>
                    <a:pt x="4555" y="7478"/>
                  </a:lnTo>
                  <a:lnTo>
                    <a:pt x="4165" y="7551"/>
                  </a:lnTo>
                  <a:lnTo>
                    <a:pt x="3775" y="7575"/>
                  </a:lnTo>
                  <a:lnTo>
                    <a:pt x="3775" y="7575"/>
                  </a:lnTo>
                  <a:lnTo>
                    <a:pt x="3386" y="7551"/>
                  </a:lnTo>
                  <a:lnTo>
                    <a:pt x="3020" y="7478"/>
                  </a:lnTo>
                  <a:lnTo>
                    <a:pt x="2655" y="7405"/>
                  </a:lnTo>
                  <a:lnTo>
                    <a:pt x="2314" y="7258"/>
                  </a:lnTo>
                  <a:lnTo>
                    <a:pt x="1973" y="7112"/>
                  </a:lnTo>
                  <a:lnTo>
                    <a:pt x="1656" y="6917"/>
                  </a:lnTo>
                  <a:lnTo>
                    <a:pt x="1389" y="6698"/>
                  </a:lnTo>
                  <a:lnTo>
                    <a:pt x="1121" y="6455"/>
                  </a:lnTo>
                  <a:lnTo>
                    <a:pt x="877" y="6187"/>
                  </a:lnTo>
                  <a:lnTo>
                    <a:pt x="658" y="5895"/>
                  </a:lnTo>
                  <a:lnTo>
                    <a:pt x="463" y="5578"/>
                  </a:lnTo>
                  <a:lnTo>
                    <a:pt x="293" y="5261"/>
                  </a:lnTo>
                  <a:lnTo>
                    <a:pt x="171" y="4920"/>
                  </a:lnTo>
                  <a:lnTo>
                    <a:pt x="73" y="4555"/>
                  </a:lnTo>
                  <a:lnTo>
                    <a:pt x="25" y="4165"/>
                  </a:lnTo>
                  <a:lnTo>
                    <a:pt x="0" y="3776"/>
                  </a:lnTo>
                  <a:lnTo>
                    <a:pt x="0" y="3776"/>
                  </a:lnTo>
                  <a:close/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6" name="Google Shape;546;p31"/>
            <p:cNvSpPr/>
            <p:nvPr/>
          </p:nvSpPr>
          <p:spPr>
            <a:xfrm>
              <a:off x="5367475" y="5025075"/>
              <a:ext cx="81600" cy="105975"/>
            </a:xfrm>
            <a:custGeom>
              <a:rect b="b" l="l" r="r" t="t"/>
              <a:pathLst>
                <a:path extrusionOk="0" fill="none" h="4239" w="3264">
                  <a:moveTo>
                    <a:pt x="0" y="1"/>
                  </a:moveTo>
                  <a:lnTo>
                    <a:pt x="3264" y="4238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7" name="Google Shape;547;p31"/>
            <p:cNvSpPr/>
            <p:nvPr/>
          </p:nvSpPr>
          <p:spPr>
            <a:xfrm>
              <a:off x="5567800" y="4999500"/>
              <a:ext cx="115100" cy="133975"/>
            </a:xfrm>
            <a:custGeom>
              <a:rect b="b" l="l" r="r" t="t"/>
              <a:pathLst>
                <a:path extrusionOk="0" fill="none" h="5359" w="4604">
                  <a:moveTo>
                    <a:pt x="0" y="5359"/>
                  </a:moveTo>
                  <a:lnTo>
                    <a:pt x="4603" y="1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8" name="Google Shape;548;p31"/>
            <p:cNvSpPr/>
            <p:nvPr/>
          </p:nvSpPr>
          <p:spPr>
            <a:xfrm>
              <a:off x="5600075" y="5217475"/>
              <a:ext cx="127275" cy="16475"/>
            </a:xfrm>
            <a:custGeom>
              <a:rect b="b" l="l" r="r" t="t"/>
              <a:pathLst>
                <a:path extrusionOk="0" fill="none" h="659" w="5091">
                  <a:moveTo>
                    <a:pt x="5090" y="658"/>
                  </a:move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9" name="Google Shape;549;p31"/>
            <p:cNvSpPr/>
            <p:nvPr/>
          </p:nvSpPr>
          <p:spPr>
            <a:xfrm>
              <a:off x="5497775" y="5299675"/>
              <a:ext cx="4900" cy="126675"/>
            </a:xfrm>
            <a:custGeom>
              <a:rect b="b" l="l" r="r" t="t"/>
              <a:pathLst>
                <a:path extrusionOk="0" fill="none" h="5067" w="196">
                  <a:moveTo>
                    <a:pt x="0" y="5067"/>
                  </a:moveTo>
                  <a:lnTo>
                    <a:pt x="195" y="1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0" name="Google Shape;550;p31"/>
            <p:cNvSpPr/>
            <p:nvPr/>
          </p:nvSpPr>
          <p:spPr>
            <a:xfrm>
              <a:off x="5277975" y="5241825"/>
              <a:ext cx="141275" cy="58500"/>
            </a:xfrm>
            <a:custGeom>
              <a:rect b="b" l="l" r="r" t="t"/>
              <a:pathLst>
                <a:path extrusionOk="0" fill="none" h="2340" w="5651">
                  <a:moveTo>
                    <a:pt x="0" y="2339"/>
                  </a:moveTo>
                  <a:lnTo>
                    <a:pt x="5651" y="1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551" name="Google Shape;55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21706" y="135466"/>
            <a:ext cx="2116765" cy="1058383"/>
          </a:xfrm>
          <a:prstGeom prst="rect">
            <a:avLst/>
          </a:prstGeom>
          <a:noFill/>
          <a:ln>
            <a:noFill/>
          </a:ln>
        </p:spPr>
      </p:pic>
      <p:sp>
        <p:nvSpPr>
          <p:cNvPr id="552" name="Google Shape;552;p31"/>
          <p:cNvSpPr txBox="1"/>
          <p:nvPr/>
        </p:nvSpPr>
        <p:spPr>
          <a:xfrm>
            <a:off x="4442484" y="4710580"/>
            <a:ext cx="7445742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s-CL" sz="6000" u="none" cap="none" strike="noStrike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Estequiometría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1893">
            <a:alpha val="54509"/>
          </a:srgbClr>
        </a:solidFill>
      </p:bgPr>
    </p:bg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32"/>
          <p:cNvSpPr txBox="1"/>
          <p:nvPr>
            <p:ph idx="12" type="sldNum"/>
          </p:nvPr>
        </p:nvSpPr>
        <p:spPr>
          <a:xfrm>
            <a:off x="11390969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000"/>
              <a:buFont typeface="Lucida Sans"/>
              <a:buNone/>
            </a:pPr>
            <a:fld id="{00000000-1234-1234-1234-123412341234}" type="slidenum">
              <a:rPr lang="es-CL" sz="2000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‹#›</a:t>
            </a:fld>
            <a:endParaRPr sz="2000">
              <a:solidFill>
                <a:srgbClr val="2F5496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558" name="Google Shape;558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79280" y="132951"/>
            <a:ext cx="2116765" cy="1058383"/>
          </a:xfrm>
          <a:prstGeom prst="rect">
            <a:avLst/>
          </a:prstGeom>
          <a:noFill/>
          <a:ln>
            <a:noFill/>
          </a:ln>
        </p:spPr>
      </p:pic>
      <p:sp>
        <p:nvSpPr>
          <p:cNvPr id="559" name="Google Shape;559;p32"/>
          <p:cNvSpPr/>
          <p:nvPr/>
        </p:nvSpPr>
        <p:spPr>
          <a:xfrm>
            <a:off x="352426" y="488003"/>
            <a:ext cx="8785225" cy="40457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1.- </a:t>
            </a:r>
            <a:r>
              <a:rPr b="0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Considere que la reacción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2F5496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2F5496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2F5496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2F5496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2F5496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2F5496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Se deja reaccionar una mezcla de 1,5 moles de Al y 3,0 moles de Cl</a:t>
            </a:r>
            <a:r>
              <a:rPr b="0" baseline="-25000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2F5496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a) </a:t>
            </a:r>
            <a:r>
              <a:rPr b="0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¿Cuál es el reactivo limitante?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b) </a:t>
            </a:r>
            <a:r>
              <a:rPr b="0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¿Cuántos moles de sal (AlCl</a:t>
            </a:r>
            <a:r>
              <a:rPr b="0" baseline="-25000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3</a:t>
            </a:r>
            <a:r>
              <a:rPr b="0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) se forman?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32"/>
          <p:cNvSpPr/>
          <p:nvPr/>
        </p:nvSpPr>
        <p:spPr>
          <a:xfrm>
            <a:off x="2321024" y="1521534"/>
            <a:ext cx="629371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s-CL" sz="36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Al</a:t>
            </a:r>
            <a:r>
              <a:rPr b="1" baseline="-25000" i="0" lang="es-CL" sz="36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(s)   </a:t>
            </a:r>
            <a:r>
              <a:rPr b="1" i="0" lang="es-CL" sz="36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+ 3 Cl</a:t>
            </a:r>
            <a:r>
              <a:rPr b="1" baseline="-25000" i="0" lang="es-CL" sz="36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2</a:t>
            </a:r>
            <a:r>
              <a:rPr b="1" i="0" lang="es-CL" sz="36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 </a:t>
            </a:r>
            <a:r>
              <a:rPr b="1" baseline="-25000" i="0" lang="es-CL" sz="36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(g) </a:t>
            </a:r>
            <a:r>
              <a:rPr b="1" i="0" lang="es-CL" sz="36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→ 2 AlCl</a:t>
            </a:r>
            <a:r>
              <a:rPr b="1" baseline="-25000" i="0" lang="es-CL" sz="36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3</a:t>
            </a:r>
            <a:r>
              <a:rPr b="1" i="0" lang="es-CL" sz="36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 </a:t>
            </a:r>
            <a:r>
              <a:rPr b="1" baseline="-25000" i="0" lang="es-CL" sz="36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(s)</a:t>
            </a:r>
            <a:r>
              <a:rPr b="1" i="0" lang="es-CL" sz="36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 </a:t>
            </a:r>
            <a:endParaRPr b="1" i="0" sz="3600" u="none" cap="none" strike="noStrike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1893">
            <a:alpha val="54509"/>
          </a:srgbClr>
        </a:soli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33"/>
          <p:cNvSpPr txBox="1"/>
          <p:nvPr>
            <p:ph idx="12" type="sldNum"/>
          </p:nvPr>
        </p:nvSpPr>
        <p:spPr>
          <a:xfrm>
            <a:off x="11390969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000"/>
              <a:buFont typeface="Lucida Sans"/>
              <a:buNone/>
            </a:pPr>
            <a:fld id="{00000000-1234-1234-1234-123412341234}" type="slidenum">
              <a:rPr lang="es-CL" sz="2000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‹#›</a:t>
            </a:fld>
            <a:endParaRPr sz="2000">
              <a:solidFill>
                <a:srgbClr val="2F5496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566" name="Google Shape;566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79280" y="132951"/>
            <a:ext cx="2116765" cy="1058383"/>
          </a:xfrm>
          <a:prstGeom prst="rect">
            <a:avLst/>
          </a:prstGeom>
          <a:noFill/>
          <a:ln>
            <a:noFill/>
          </a:ln>
        </p:spPr>
      </p:pic>
      <p:sp>
        <p:nvSpPr>
          <p:cNvPr id="567" name="Google Shape;567;p33"/>
          <p:cNvSpPr txBox="1"/>
          <p:nvPr/>
        </p:nvSpPr>
        <p:spPr>
          <a:xfrm>
            <a:off x="490637" y="662142"/>
            <a:ext cx="777557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Según la ecuación 1 mol de Al reacciona con 3 moles de Cl</a:t>
            </a:r>
            <a:r>
              <a:rPr b="0" baseline="-25000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2</a:t>
            </a:r>
            <a:r>
              <a:rPr b="0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33"/>
          <p:cNvSpPr txBox="1"/>
          <p:nvPr/>
        </p:nvSpPr>
        <p:spPr>
          <a:xfrm>
            <a:off x="188169" y="3262776"/>
            <a:ext cx="9791112" cy="9771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Si te fijas, para que reaccione todo el Al necesitas 4,5 moles de Cl, está cantidad no la tienes, por lo que debes hacer que reaccione todo el Cl.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33"/>
          <p:cNvSpPr/>
          <p:nvPr/>
        </p:nvSpPr>
        <p:spPr>
          <a:xfrm>
            <a:off x="2657476" y="1957539"/>
            <a:ext cx="5243512" cy="4801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6038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L" sz="24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1,5 mol de Al  →   X mol de Cl</a:t>
            </a:r>
            <a:r>
              <a:rPr b="0" baseline="-25000" i="0" lang="es-CL" sz="24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33"/>
          <p:cNvSpPr/>
          <p:nvPr/>
        </p:nvSpPr>
        <p:spPr>
          <a:xfrm>
            <a:off x="3496012" y="2563434"/>
            <a:ext cx="3566439" cy="4801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6038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CL" sz="24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X =   4,5 mol de Cl</a:t>
            </a:r>
            <a:r>
              <a:rPr b="1" baseline="-25000" i="0" lang="es-CL" sz="24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33"/>
          <p:cNvSpPr/>
          <p:nvPr/>
        </p:nvSpPr>
        <p:spPr>
          <a:xfrm>
            <a:off x="2657476" y="1341163"/>
            <a:ext cx="5086349" cy="4801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6038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L" sz="24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1,0 mol de Al  →  3 mol de Cl</a:t>
            </a:r>
            <a:r>
              <a:rPr b="0" baseline="-25000" i="0" lang="es-CL" sz="24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33"/>
          <p:cNvSpPr/>
          <p:nvPr/>
        </p:nvSpPr>
        <p:spPr>
          <a:xfrm>
            <a:off x="2500313" y="5111995"/>
            <a:ext cx="5243512" cy="4801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6038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L" sz="24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X    mol de Al  → 3,0 mol de Cl</a:t>
            </a:r>
            <a:r>
              <a:rPr b="0" baseline="-25000" i="0" lang="es-CL" sz="24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33"/>
          <p:cNvSpPr/>
          <p:nvPr/>
        </p:nvSpPr>
        <p:spPr>
          <a:xfrm>
            <a:off x="3338849" y="5812003"/>
            <a:ext cx="3566439" cy="4801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6038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CL" sz="24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X =   1,0 mol de Al</a:t>
            </a:r>
            <a:endParaRPr b="1" baseline="-25000" i="0" sz="2400" u="none" cap="none" strike="noStrike">
              <a:solidFill>
                <a:srgbClr val="008000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574" name="Google Shape;574;p33"/>
          <p:cNvSpPr/>
          <p:nvPr/>
        </p:nvSpPr>
        <p:spPr>
          <a:xfrm>
            <a:off x="2461969" y="4521925"/>
            <a:ext cx="5243512" cy="4801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6038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L" sz="24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1,0 mol de Al  →  3,0  mol de Cl</a:t>
            </a:r>
            <a:r>
              <a:rPr b="0" baseline="-25000" i="0" lang="es-CL" sz="24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1893">
            <a:alpha val="54509"/>
          </a:srgbClr>
        </a:solidFill>
      </p:bgPr>
    </p:bg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34"/>
          <p:cNvSpPr txBox="1"/>
          <p:nvPr>
            <p:ph idx="12" type="sldNum"/>
          </p:nvPr>
        </p:nvSpPr>
        <p:spPr>
          <a:xfrm>
            <a:off x="11390969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000"/>
              <a:buFont typeface="Lucida Sans"/>
              <a:buNone/>
            </a:pPr>
            <a:fld id="{00000000-1234-1234-1234-123412341234}" type="slidenum">
              <a:rPr lang="es-CL" sz="2000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‹#›</a:t>
            </a:fld>
            <a:endParaRPr sz="2000">
              <a:solidFill>
                <a:srgbClr val="2F5496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580" name="Google Shape;580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79280" y="132951"/>
            <a:ext cx="2116765" cy="1058383"/>
          </a:xfrm>
          <a:prstGeom prst="rect">
            <a:avLst/>
          </a:prstGeom>
          <a:noFill/>
          <a:ln>
            <a:noFill/>
          </a:ln>
        </p:spPr>
      </p:pic>
      <p:sp>
        <p:nvSpPr>
          <p:cNvPr id="581" name="Google Shape;581;p34"/>
          <p:cNvSpPr txBox="1"/>
          <p:nvPr/>
        </p:nvSpPr>
        <p:spPr>
          <a:xfrm>
            <a:off x="585789" y="476251"/>
            <a:ext cx="8137525" cy="2554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La última regla de tres se interpreta como: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2F5496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Para que reaccione todo el Cl, necesitas solo 1 mol de Al. Queda Al, ya que, tenías 1,5 moles iniciales.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2F5496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Reactivo limitante</a:t>
            </a:r>
            <a:r>
              <a:rPr b="0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: Cl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2F5496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Reactivo en exceso: </a:t>
            </a:r>
            <a:r>
              <a:rPr b="0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Al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34"/>
          <p:cNvSpPr txBox="1"/>
          <p:nvPr/>
        </p:nvSpPr>
        <p:spPr>
          <a:xfrm>
            <a:off x="585788" y="3357563"/>
            <a:ext cx="208915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b)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34"/>
          <p:cNvSpPr/>
          <p:nvPr/>
        </p:nvSpPr>
        <p:spPr>
          <a:xfrm>
            <a:off x="2674938" y="4524624"/>
            <a:ext cx="5978753" cy="4801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6038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L" sz="24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3,0 mol de Cl</a:t>
            </a:r>
            <a:r>
              <a:rPr b="0" baseline="-25000" i="0" lang="es-CL" sz="24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2</a:t>
            </a:r>
            <a:r>
              <a:rPr b="0" i="0" lang="es-CL" sz="24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  →   X mol de AlCl</a:t>
            </a:r>
            <a:r>
              <a:rPr b="0" baseline="-25000" i="0" lang="es-CL" sz="24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p34"/>
          <p:cNvSpPr/>
          <p:nvPr/>
        </p:nvSpPr>
        <p:spPr>
          <a:xfrm>
            <a:off x="3791624" y="5251501"/>
            <a:ext cx="3566439" cy="4801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6038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CL" sz="24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X=   2 mol de AlCl</a:t>
            </a:r>
            <a:r>
              <a:rPr b="1" baseline="-25000" i="0" lang="es-CL" sz="24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34"/>
          <p:cNvSpPr/>
          <p:nvPr/>
        </p:nvSpPr>
        <p:spPr>
          <a:xfrm>
            <a:off x="2657476" y="3844374"/>
            <a:ext cx="5803701" cy="4801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6038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L" sz="24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3,0 mol de Cl</a:t>
            </a:r>
            <a:r>
              <a:rPr b="0" baseline="-25000" i="0" lang="es-CL" sz="24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2</a:t>
            </a:r>
            <a:r>
              <a:rPr b="0" i="0" lang="es-CL" sz="24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  →  2 mol de AlCl</a:t>
            </a:r>
            <a:r>
              <a:rPr b="0" baseline="-25000" i="0" lang="es-CL" sz="24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5A5A5"/>
        </a:solidFill>
      </p:bgPr>
    </p:bg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35"/>
          <p:cNvSpPr txBox="1"/>
          <p:nvPr>
            <p:ph idx="12" type="sldNum"/>
          </p:nvPr>
        </p:nvSpPr>
        <p:spPr>
          <a:xfrm>
            <a:off x="11390969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ucida Sans"/>
              <a:buNone/>
            </a:pPr>
            <a:fld id="{00000000-1234-1234-1234-123412341234}" type="slidenum">
              <a:rPr lang="es-CL" sz="20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‹#›</a:t>
            </a:fld>
            <a:endParaRPr sz="20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591" name="Google Shape;591;p35"/>
          <p:cNvSpPr txBox="1"/>
          <p:nvPr/>
        </p:nvSpPr>
        <p:spPr>
          <a:xfrm>
            <a:off x="1059119" y="3057902"/>
            <a:ext cx="10593823" cy="9952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67"/>
              <a:buFont typeface="Arial"/>
              <a:buNone/>
            </a:pPr>
            <a:r>
              <a:rPr b="0" i="0" lang="es-CL" sz="5867" u="none" cap="none" strike="noStrike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Ejercicios Propuestos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92" name="Google Shape;592;p35"/>
          <p:cNvGrpSpPr/>
          <p:nvPr/>
        </p:nvGrpSpPr>
        <p:grpSpPr>
          <a:xfrm>
            <a:off x="5623014" y="1377791"/>
            <a:ext cx="949919" cy="978720"/>
            <a:chOff x="3951850" y="2985350"/>
            <a:chExt cx="407950" cy="416500"/>
          </a:xfrm>
        </p:grpSpPr>
        <p:sp>
          <p:nvSpPr>
            <p:cNvPr id="593" name="Google Shape;593;p35"/>
            <p:cNvSpPr/>
            <p:nvPr/>
          </p:nvSpPr>
          <p:spPr>
            <a:xfrm>
              <a:off x="3951850" y="2985350"/>
              <a:ext cx="314800" cy="314825"/>
            </a:xfrm>
            <a:custGeom>
              <a:rect b="b" l="l" r="r" t="t"/>
              <a:pathLst>
                <a:path extrusionOk="0" fill="none" h="12593" w="12592">
                  <a:moveTo>
                    <a:pt x="6284" y="1"/>
                  </a:moveTo>
                  <a:lnTo>
                    <a:pt x="6284" y="1"/>
                  </a:lnTo>
                  <a:lnTo>
                    <a:pt x="5967" y="25"/>
                  </a:lnTo>
                  <a:lnTo>
                    <a:pt x="5651" y="49"/>
                  </a:lnTo>
                  <a:lnTo>
                    <a:pt x="5334" y="74"/>
                  </a:lnTo>
                  <a:lnTo>
                    <a:pt x="5017" y="147"/>
                  </a:lnTo>
                  <a:lnTo>
                    <a:pt x="4725" y="220"/>
                  </a:lnTo>
                  <a:lnTo>
                    <a:pt x="4433" y="293"/>
                  </a:lnTo>
                  <a:lnTo>
                    <a:pt x="4141" y="390"/>
                  </a:lnTo>
                  <a:lnTo>
                    <a:pt x="3848" y="512"/>
                  </a:lnTo>
                  <a:lnTo>
                    <a:pt x="3556" y="634"/>
                  </a:lnTo>
                  <a:lnTo>
                    <a:pt x="3288" y="780"/>
                  </a:lnTo>
                  <a:lnTo>
                    <a:pt x="3020" y="926"/>
                  </a:lnTo>
                  <a:lnTo>
                    <a:pt x="2777" y="1072"/>
                  </a:lnTo>
                  <a:lnTo>
                    <a:pt x="2290" y="1437"/>
                  </a:lnTo>
                  <a:lnTo>
                    <a:pt x="1851" y="1852"/>
                  </a:lnTo>
                  <a:lnTo>
                    <a:pt x="1437" y="2290"/>
                  </a:lnTo>
                  <a:lnTo>
                    <a:pt x="1072" y="2777"/>
                  </a:lnTo>
                  <a:lnTo>
                    <a:pt x="901" y="3045"/>
                  </a:lnTo>
                  <a:lnTo>
                    <a:pt x="755" y="3313"/>
                  </a:lnTo>
                  <a:lnTo>
                    <a:pt x="609" y="3581"/>
                  </a:lnTo>
                  <a:lnTo>
                    <a:pt x="487" y="3849"/>
                  </a:lnTo>
                  <a:lnTo>
                    <a:pt x="390" y="4141"/>
                  </a:lnTo>
                  <a:lnTo>
                    <a:pt x="292" y="4433"/>
                  </a:lnTo>
                  <a:lnTo>
                    <a:pt x="195" y="4725"/>
                  </a:lnTo>
                  <a:lnTo>
                    <a:pt x="122" y="5042"/>
                  </a:lnTo>
                  <a:lnTo>
                    <a:pt x="73" y="5334"/>
                  </a:lnTo>
                  <a:lnTo>
                    <a:pt x="25" y="5651"/>
                  </a:lnTo>
                  <a:lnTo>
                    <a:pt x="0" y="5968"/>
                  </a:lnTo>
                  <a:lnTo>
                    <a:pt x="0" y="6308"/>
                  </a:lnTo>
                  <a:lnTo>
                    <a:pt x="0" y="6308"/>
                  </a:lnTo>
                  <a:lnTo>
                    <a:pt x="0" y="6625"/>
                  </a:lnTo>
                  <a:lnTo>
                    <a:pt x="25" y="6942"/>
                  </a:lnTo>
                  <a:lnTo>
                    <a:pt x="73" y="7258"/>
                  </a:lnTo>
                  <a:lnTo>
                    <a:pt x="122" y="7575"/>
                  </a:lnTo>
                  <a:lnTo>
                    <a:pt x="195" y="7867"/>
                  </a:lnTo>
                  <a:lnTo>
                    <a:pt x="292" y="8184"/>
                  </a:lnTo>
                  <a:lnTo>
                    <a:pt x="390" y="8476"/>
                  </a:lnTo>
                  <a:lnTo>
                    <a:pt x="487" y="8744"/>
                  </a:lnTo>
                  <a:lnTo>
                    <a:pt x="609" y="9036"/>
                  </a:lnTo>
                  <a:lnTo>
                    <a:pt x="755" y="9304"/>
                  </a:lnTo>
                  <a:lnTo>
                    <a:pt x="901" y="9572"/>
                  </a:lnTo>
                  <a:lnTo>
                    <a:pt x="1072" y="9816"/>
                  </a:lnTo>
                  <a:lnTo>
                    <a:pt x="1437" y="10303"/>
                  </a:lnTo>
                  <a:lnTo>
                    <a:pt x="1851" y="10741"/>
                  </a:lnTo>
                  <a:lnTo>
                    <a:pt x="2290" y="11155"/>
                  </a:lnTo>
                  <a:lnTo>
                    <a:pt x="2777" y="11520"/>
                  </a:lnTo>
                  <a:lnTo>
                    <a:pt x="3020" y="11691"/>
                  </a:lnTo>
                  <a:lnTo>
                    <a:pt x="3288" y="11837"/>
                  </a:lnTo>
                  <a:lnTo>
                    <a:pt x="3556" y="11983"/>
                  </a:lnTo>
                  <a:lnTo>
                    <a:pt x="3848" y="12105"/>
                  </a:lnTo>
                  <a:lnTo>
                    <a:pt x="4141" y="12202"/>
                  </a:lnTo>
                  <a:lnTo>
                    <a:pt x="4433" y="12300"/>
                  </a:lnTo>
                  <a:lnTo>
                    <a:pt x="4725" y="12397"/>
                  </a:lnTo>
                  <a:lnTo>
                    <a:pt x="5017" y="12470"/>
                  </a:lnTo>
                  <a:lnTo>
                    <a:pt x="5334" y="12519"/>
                  </a:lnTo>
                  <a:lnTo>
                    <a:pt x="5651" y="12568"/>
                  </a:lnTo>
                  <a:lnTo>
                    <a:pt x="5967" y="12592"/>
                  </a:lnTo>
                  <a:lnTo>
                    <a:pt x="6284" y="12592"/>
                  </a:lnTo>
                  <a:lnTo>
                    <a:pt x="6284" y="12592"/>
                  </a:lnTo>
                  <a:lnTo>
                    <a:pt x="6625" y="12592"/>
                  </a:lnTo>
                  <a:lnTo>
                    <a:pt x="6941" y="12568"/>
                  </a:lnTo>
                  <a:lnTo>
                    <a:pt x="7258" y="12519"/>
                  </a:lnTo>
                  <a:lnTo>
                    <a:pt x="7550" y="12470"/>
                  </a:lnTo>
                  <a:lnTo>
                    <a:pt x="7867" y="12397"/>
                  </a:lnTo>
                  <a:lnTo>
                    <a:pt x="8159" y="12300"/>
                  </a:lnTo>
                  <a:lnTo>
                    <a:pt x="8451" y="12202"/>
                  </a:lnTo>
                  <a:lnTo>
                    <a:pt x="8744" y="12105"/>
                  </a:lnTo>
                  <a:lnTo>
                    <a:pt x="9012" y="11983"/>
                  </a:lnTo>
                  <a:lnTo>
                    <a:pt x="9279" y="11837"/>
                  </a:lnTo>
                  <a:lnTo>
                    <a:pt x="9547" y="11691"/>
                  </a:lnTo>
                  <a:lnTo>
                    <a:pt x="9815" y="11520"/>
                  </a:lnTo>
                  <a:lnTo>
                    <a:pt x="10302" y="11155"/>
                  </a:lnTo>
                  <a:lnTo>
                    <a:pt x="10741" y="10741"/>
                  </a:lnTo>
                  <a:lnTo>
                    <a:pt x="11155" y="10303"/>
                  </a:lnTo>
                  <a:lnTo>
                    <a:pt x="11520" y="9816"/>
                  </a:lnTo>
                  <a:lnTo>
                    <a:pt x="11666" y="9572"/>
                  </a:lnTo>
                  <a:lnTo>
                    <a:pt x="11812" y="9304"/>
                  </a:lnTo>
                  <a:lnTo>
                    <a:pt x="11958" y="9036"/>
                  </a:lnTo>
                  <a:lnTo>
                    <a:pt x="12080" y="8744"/>
                  </a:lnTo>
                  <a:lnTo>
                    <a:pt x="12202" y="8476"/>
                  </a:lnTo>
                  <a:lnTo>
                    <a:pt x="12299" y="8184"/>
                  </a:lnTo>
                  <a:lnTo>
                    <a:pt x="12397" y="7867"/>
                  </a:lnTo>
                  <a:lnTo>
                    <a:pt x="12446" y="7575"/>
                  </a:lnTo>
                  <a:lnTo>
                    <a:pt x="12519" y="7258"/>
                  </a:lnTo>
                  <a:lnTo>
                    <a:pt x="12543" y="6942"/>
                  </a:lnTo>
                  <a:lnTo>
                    <a:pt x="12567" y="6625"/>
                  </a:lnTo>
                  <a:lnTo>
                    <a:pt x="12592" y="6308"/>
                  </a:lnTo>
                  <a:lnTo>
                    <a:pt x="12592" y="6308"/>
                  </a:lnTo>
                  <a:lnTo>
                    <a:pt x="12567" y="5968"/>
                  </a:lnTo>
                  <a:lnTo>
                    <a:pt x="12543" y="5651"/>
                  </a:lnTo>
                  <a:lnTo>
                    <a:pt x="12519" y="5334"/>
                  </a:lnTo>
                  <a:lnTo>
                    <a:pt x="12446" y="5042"/>
                  </a:lnTo>
                  <a:lnTo>
                    <a:pt x="12397" y="4725"/>
                  </a:lnTo>
                  <a:lnTo>
                    <a:pt x="12299" y="4433"/>
                  </a:lnTo>
                  <a:lnTo>
                    <a:pt x="12202" y="4141"/>
                  </a:lnTo>
                  <a:lnTo>
                    <a:pt x="12080" y="3849"/>
                  </a:lnTo>
                  <a:lnTo>
                    <a:pt x="11958" y="3581"/>
                  </a:lnTo>
                  <a:lnTo>
                    <a:pt x="11812" y="3313"/>
                  </a:lnTo>
                  <a:lnTo>
                    <a:pt x="11666" y="3045"/>
                  </a:lnTo>
                  <a:lnTo>
                    <a:pt x="11520" y="2777"/>
                  </a:lnTo>
                  <a:lnTo>
                    <a:pt x="11155" y="2290"/>
                  </a:lnTo>
                  <a:lnTo>
                    <a:pt x="10741" y="1852"/>
                  </a:lnTo>
                  <a:lnTo>
                    <a:pt x="10302" y="1437"/>
                  </a:lnTo>
                  <a:lnTo>
                    <a:pt x="9815" y="1072"/>
                  </a:lnTo>
                  <a:lnTo>
                    <a:pt x="9547" y="926"/>
                  </a:lnTo>
                  <a:lnTo>
                    <a:pt x="9279" y="780"/>
                  </a:lnTo>
                  <a:lnTo>
                    <a:pt x="9012" y="634"/>
                  </a:lnTo>
                  <a:lnTo>
                    <a:pt x="8744" y="512"/>
                  </a:lnTo>
                  <a:lnTo>
                    <a:pt x="8451" y="390"/>
                  </a:lnTo>
                  <a:lnTo>
                    <a:pt x="8159" y="293"/>
                  </a:lnTo>
                  <a:lnTo>
                    <a:pt x="7867" y="220"/>
                  </a:lnTo>
                  <a:lnTo>
                    <a:pt x="7550" y="147"/>
                  </a:lnTo>
                  <a:lnTo>
                    <a:pt x="7258" y="74"/>
                  </a:lnTo>
                  <a:lnTo>
                    <a:pt x="6941" y="49"/>
                  </a:lnTo>
                  <a:lnTo>
                    <a:pt x="6625" y="25"/>
                  </a:lnTo>
                  <a:lnTo>
                    <a:pt x="6284" y="1"/>
                  </a:lnTo>
                  <a:lnTo>
                    <a:pt x="6284" y="1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4" name="Google Shape;594;p35"/>
            <p:cNvSpPr/>
            <p:nvPr/>
          </p:nvSpPr>
          <p:spPr>
            <a:xfrm>
              <a:off x="3988375" y="3021875"/>
              <a:ext cx="241750" cy="241750"/>
            </a:xfrm>
            <a:custGeom>
              <a:rect b="b" l="l" r="r" t="t"/>
              <a:pathLst>
                <a:path extrusionOk="0" fill="none" h="9670" w="9670">
                  <a:moveTo>
                    <a:pt x="4823" y="1"/>
                  </a:moveTo>
                  <a:lnTo>
                    <a:pt x="4823" y="1"/>
                  </a:lnTo>
                  <a:lnTo>
                    <a:pt x="4336" y="25"/>
                  </a:lnTo>
                  <a:lnTo>
                    <a:pt x="3849" y="98"/>
                  </a:lnTo>
                  <a:lnTo>
                    <a:pt x="3386" y="220"/>
                  </a:lnTo>
                  <a:lnTo>
                    <a:pt x="2947" y="391"/>
                  </a:lnTo>
                  <a:lnTo>
                    <a:pt x="2533" y="585"/>
                  </a:lnTo>
                  <a:lnTo>
                    <a:pt x="2144" y="829"/>
                  </a:lnTo>
                  <a:lnTo>
                    <a:pt x="1754" y="1121"/>
                  </a:lnTo>
                  <a:lnTo>
                    <a:pt x="1413" y="1438"/>
                  </a:lnTo>
                  <a:lnTo>
                    <a:pt x="1096" y="1779"/>
                  </a:lnTo>
                  <a:lnTo>
                    <a:pt x="829" y="2144"/>
                  </a:lnTo>
                  <a:lnTo>
                    <a:pt x="585" y="2534"/>
                  </a:lnTo>
                  <a:lnTo>
                    <a:pt x="390" y="2972"/>
                  </a:lnTo>
                  <a:lnTo>
                    <a:pt x="220" y="3411"/>
                  </a:lnTo>
                  <a:lnTo>
                    <a:pt x="98" y="3873"/>
                  </a:lnTo>
                  <a:lnTo>
                    <a:pt x="25" y="4336"/>
                  </a:lnTo>
                  <a:lnTo>
                    <a:pt x="1" y="4847"/>
                  </a:lnTo>
                  <a:lnTo>
                    <a:pt x="1" y="4847"/>
                  </a:lnTo>
                  <a:lnTo>
                    <a:pt x="25" y="5335"/>
                  </a:lnTo>
                  <a:lnTo>
                    <a:pt x="98" y="5822"/>
                  </a:lnTo>
                  <a:lnTo>
                    <a:pt x="220" y="6284"/>
                  </a:lnTo>
                  <a:lnTo>
                    <a:pt x="390" y="6723"/>
                  </a:lnTo>
                  <a:lnTo>
                    <a:pt x="585" y="7137"/>
                  </a:lnTo>
                  <a:lnTo>
                    <a:pt x="829" y="7527"/>
                  </a:lnTo>
                  <a:lnTo>
                    <a:pt x="1096" y="7916"/>
                  </a:lnTo>
                  <a:lnTo>
                    <a:pt x="1413" y="8257"/>
                  </a:lnTo>
                  <a:lnTo>
                    <a:pt x="1754" y="8574"/>
                  </a:lnTo>
                  <a:lnTo>
                    <a:pt x="2144" y="8842"/>
                  </a:lnTo>
                  <a:lnTo>
                    <a:pt x="2533" y="9085"/>
                  </a:lnTo>
                  <a:lnTo>
                    <a:pt x="2947" y="9280"/>
                  </a:lnTo>
                  <a:lnTo>
                    <a:pt x="3386" y="9451"/>
                  </a:lnTo>
                  <a:lnTo>
                    <a:pt x="3849" y="9572"/>
                  </a:lnTo>
                  <a:lnTo>
                    <a:pt x="4336" y="9645"/>
                  </a:lnTo>
                  <a:lnTo>
                    <a:pt x="4823" y="9670"/>
                  </a:lnTo>
                  <a:lnTo>
                    <a:pt x="4823" y="9670"/>
                  </a:lnTo>
                  <a:lnTo>
                    <a:pt x="5334" y="9645"/>
                  </a:lnTo>
                  <a:lnTo>
                    <a:pt x="5797" y="9572"/>
                  </a:lnTo>
                  <a:lnTo>
                    <a:pt x="6260" y="9451"/>
                  </a:lnTo>
                  <a:lnTo>
                    <a:pt x="6698" y="9280"/>
                  </a:lnTo>
                  <a:lnTo>
                    <a:pt x="7136" y="9085"/>
                  </a:lnTo>
                  <a:lnTo>
                    <a:pt x="7526" y="8842"/>
                  </a:lnTo>
                  <a:lnTo>
                    <a:pt x="7892" y="8574"/>
                  </a:lnTo>
                  <a:lnTo>
                    <a:pt x="8232" y="8257"/>
                  </a:lnTo>
                  <a:lnTo>
                    <a:pt x="8549" y="7916"/>
                  </a:lnTo>
                  <a:lnTo>
                    <a:pt x="8841" y="7527"/>
                  </a:lnTo>
                  <a:lnTo>
                    <a:pt x="9085" y="7137"/>
                  </a:lnTo>
                  <a:lnTo>
                    <a:pt x="9280" y="6723"/>
                  </a:lnTo>
                  <a:lnTo>
                    <a:pt x="9450" y="6284"/>
                  </a:lnTo>
                  <a:lnTo>
                    <a:pt x="9572" y="5822"/>
                  </a:lnTo>
                  <a:lnTo>
                    <a:pt x="9645" y="5335"/>
                  </a:lnTo>
                  <a:lnTo>
                    <a:pt x="9669" y="4847"/>
                  </a:lnTo>
                  <a:lnTo>
                    <a:pt x="9669" y="4847"/>
                  </a:lnTo>
                  <a:lnTo>
                    <a:pt x="9645" y="4336"/>
                  </a:lnTo>
                  <a:lnTo>
                    <a:pt x="9572" y="3873"/>
                  </a:lnTo>
                  <a:lnTo>
                    <a:pt x="9450" y="3411"/>
                  </a:lnTo>
                  <a:lnTo>
                    <a:pt x="9280" y="2972"/>
                  </a:lnTo>
                  <a:lnTo>
                    <a:pt x="9085" y="2534"/>
                  </a:lnTo>
                  <a:lnTo>
                    <a:pt x="8841" y="2144"/>
                  </a:lnTo>
                  <a:lnTo>
                    <a:pt x="8549" y="1779"/>
                  </a:lnTo>
                  <a:lnTo>
                    <a:pt x="8232" y="1438"/>
                  </a:lnTo>
                  <a:lnTo>
                    <a:pt x="7892" y="1121"/>
                  </a:lnTo>
                  <a:lnTo>
                    <a:pt x="7526" y="829"/>
                  </a:lnTo>
                  <a:lnTo>
                    <a:pt x="7136" y="585"/>
                  </a:lnTo>
                  <a:lnTo>
                    <a:pt x="6698" y="391"/>
                  </a:lnTo>
                  <a:lnTo>
                    <a:pt x="6260" y="220"/>
                  </a:lnTo>
                  <a:lnTo>
                    <a:pt x="5797" y="98"/>
                  </a:lnTo>
                  <a:lnTo>
                    <a:pt x="5334" y="25"/>
                  </a:lnTo>
                  <a:lnTo>
                    <a:pt x="4823" y="1"/>
                  </a:lnTo>
                  <a:lnTo>
                    <a:pt x="4823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5" name="Google Shape;595;p35"/>
            <p:cNvSpPr/>
            <p:nvPr/>
          </p:nvSpPr>
          <p:spPr>
            <a:xfrm>
              <a:off x="4024300" y="3058425"/>
              <a:ext cx="84650" cy="84650"/>
            </a:xfrm>
            <a:custGeom>
              <a:rect b="b" l="l" r="r" t="t"/>
              <a:pathLst>
                <a:path extrusionOk="0" fill="none" h="3386" w="3386">
                  <a:moveTo>
                    <a:pt x="0" y="3385"/>
                  </a:moveTo>
                  <a:lnTo>
                    <a:pt x="0" y="3385"/>
                  </a:lnTo>
                  <a:lnTo>
                    <a:pt x="25" y="3020"/>
                  </a:lnTo>
                  <a:lnTo>
                    <a:pt x="74" y="2704"/>
                  </a:lnTo>
                  <a:lnTo>
                    <a:pt x="147" y="2363"/>
                  </a:lnTo>
                  <a:lnTo>
                    <a:pt x="268" y="2070"/>
                  </a:lnTo>
                  <a:lnTo>
                    <a:pt x="414" y="1754"/>
                  </a:lnTo>
                  <a:lnTo>
                    <a:pt x="585" y="1486"/>
                  </a:lnTo>
                  <a:lnTo>
                    <a:pt x="780" y="1218"/>
                  </a:lnTo>
                  <a:lnTo>
                    <a:pt x="999" y="974"/>
                  </a:lnTo>
                  <a:lnTo>
                    <a:pt x="1243" y="755"/>
                  </a:lnTo>
                  <a:lnTo>
                    <a:pt x="1510" y="560"/>
                  </a:lnTo>
                  <a:lnTo>
                    <a:pt x="1778" y="390"/>
                  </a:lnTo>
                  <a:lnTo>
                    <a:pt x="2071" y="244"/>
                  </a:lnTo>
                  <a:lnTo>
                    <a:pt x="2387" y="146"/>
                  </a:lnTo>
                  <a:lnTo>
                    <a:pt x="2704" y="49"/>
                  </a:lnTo>
                  <a:lnTo>
                    <a:pt x="3045" y="0"/>
                  </a:lnTo>
                  <a:lnTo>
                    <a:pt x="3386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6" name="Google Shape;596;p35"/>
            <p:cNvSpPr/>
            <p:nvPr/>
          </p:nvSpPr>
          <p:spPr>
            <a:xfrm>
              <a:off x="4205750" y="3248375"/>
              <a:ext cx="154050" cy="153475"/>
            </a:xfrm>
            <a:custGeom>
              <a:rect b="b" l="l" r="r" t="t"/>
              <a:pathLst>
                <a:path extrusionOk="0" fill="none" h="6139" w="6162">
                  <a:moveTo>
                    <a:pt x="0" y="1024"/>
                  </a:moveTo>
                  <a:lnTo>
                    <a:pt x="4969" y="5992"/>
                  </a:lnTo>
                  <a:lnTo>
                    <a:pt x="4969" y="5992"/>
                  </a:lnTo>
                  <a:lnTo>
                    <a:pt x="5042" y="6041"/>
                  </a:lnTo>
                  <a:lnTo>
                    <a:pt x="5115" y="6090"/>
                  </a:lnTo>
                  <a:lnTo>
                    <a:pt x="5212" y="6114"/>
                  </a:lnTo>
                  <a:lnTo>
                    <a:pt x="5310" y="6138"/>
                  </a:lnTo>
                  <a:lnTo>
                    <a:pt x="5407" y="6114"/>
                  </a:lnTo>
                  <a:lnTo>
                    <a:pt x="5480" y="6090"/>
                  </a:lnTo>
                  <a:lnTo>
                    <a:pt x="5577" y="6041"/>
                  </a:lnTo>
                  <a:lnTo>
                    <a:pt x="5651" y="5992"/>
                  </a:lnTo>
                  <a:lnTo>
                    <a:pt x="6016" y="5627"/>
                  </a:lnTo>
                  <a:lnTo>
                    <a:pt x="6016" y="5627"/>
                  </a:lnTo>
                  <a:lnTo>
                    <a:pt x="6089" y="5554"/>
                  </a:lnTo>
                  <a:lnTo>
                    <a:pt x="6138" y="5456"/>
                  </a:lnTo>
                  <a:lnTo>
                    <a:pt x="6162" y="5359"/>
                  </a:lnTo>
                  <a:lnTo>
                    <a:pt x="6162" y="5286"/>
                  </a:lnTo>
                  <a:lnTo>
                    <a:pt x="6162" y="5188"/>
                  </a:lnTo>
                  <a:lnTo>
                    <a:pt x="6138" y="5091"/>
                  </a:lnTo>
                  <a:lnTo>
                    <a:pt x="6089" y="5018"/>
                  </a:lnTo>
                  <a:lnTo>
                    <a:pt x="6016" y="4921"/>
                  </a:lnTo>
                  <a:lnTo>
                    <a:pt x="1072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597" name="Google Shape;597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21706" y="135466"/>
            <a:ext cx="2116765" cy="1058383"/>
          </a:xfrm>
          <a:prstGeom prst="rect">
            <a:avLst/>
          </a:prstGeom>
          <a:noFill/>
          <a:ln>
            <a:noFill/>
          </a:ln>
        </p:spPr>
      </p:pic>
      <p:sp>
        <p:nvSpPr>
          <p:cNvPr id="598" name="Google Shape;598;p35"/>
          <p:cNvSpPr txBox="1"/>
          <p:nvPr/>
        </p:nvSpPr>
        <p:spPr>
          <a:xfrm>
            <a:off x="4592729" y="4754502"/>
            <a:ext cx="7445742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s-CL" sz="6000" u="none" cap="none" strike="noStrike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Estequiometría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97979"/>
        </a:solidFill>
      </p:bgPr>
    </p:bg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36"/>
          <p:cNvSpPr txBox="1"/>
          <p:nvPr>
            <p:ph idx="12" type="sldNum"/>
          </p:nvPr>
        </p:nvSpPr>
        <p:spPr>
          <a:xfrm>
            <a:off x="11390969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ucida Sans"/>
              <a:buNone/>
            </a:pPr>
            <a:fld id="{00000000-1234-1234-1234-123412341234}" type="slidenum">
              <a:rPr lang="es-CL" sz="20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‹#›</a:t>
            </a:fld>
            <a:endParaRPr sz="20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604" name="Google Shape;604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79280" y="132951"/>
            <a:ext cx="2116765" cy="1058383"/>
          </a:xfrm>
          <a:prstGeom prst="rect">
            <a:avLst/>
          </a:prstGeom>
          <a:noFill/>
          <a:ln>
            <a:noFill/>
          </a:ln>
        </p:spPr>
      </p:pic>
      <p:sp>
        <p:nvSpPr>
          <p:cNvPr id="605" name="Google Shape;605;p36"/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FF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606" name="Google Shape;606;p36"/>
          <p:cNvSpPr/>
          <p:nvPr/>
        </p:nvSpPr>
        <p:spPr>
          <a:xfrm>
            <a:off x="5604455" y="114308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FF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607" name="Google Shape;607;p36"/>
          <p:cNvSpPr txBox="1"/>
          <p:nvPr/>
        </p:nvSpPr>
        <p:spPr>
          <a:xfrm>
            <a:off x="215202" y="662142"/>
            <a:ext cx="9131998" cy="5316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97979"/>
              </a:buClr>
              <a:buSzPts val="2000"/>
              <a:buFont typeface="Lucida Sans"/>
              <a:buNone/>
            </a:pPr>
            <a:r>
              <a:rPr b="1" i="0" lang="es-CL" sz="2000" u="none" cap="none" strike="noStrike">
                <a:solidFill>
                  <a:srgbClr val="797979"/>
                </a:solidFill>
                <a:latin typeface="Lucida Sans"/>
                <a:ea typeface="Lucida Sans"/>
                <a:cs typeface="Lucida Sans"/>
                <a:sym typeface="Lucida Sans"/>
              </a:rPr>
              <a:t>1.- </a:t>
            </a:r>
            <a:r>
              <a:rPr b="0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Uno de los pasos del proceso comercial para convertir el amoniaco en ácido nítrico, comprende la oxidación catalítica del NH</a:t>
            </a:r>
            <a:r>
              <a:rPr b="0" baseline="-25000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3</a:t>
            </a:r>
            <a:r>
              <a:rPr b="0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 a NO: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2F5496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800"/>
              <a:buFont typeface="Lucida Sans"/>
              <a:buNone/>
            </a:pPr>
            <a:r>
              <a:rPr b="1" i="0" lang="es-CL" sz="28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4 NH</a:t>
            </a:r>
            <a:r>
              <a:rPr b="1" baseline="-25000" i="0" lang="es-CL" sz="28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3(g) </a:t>
            </a:r>
            <a:r>
              <a:rPr b="1" i="0" lang="es-CL" sz="28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+ 5O</a:t>
            </a:r>
            <a:r>
              <a:rPr b="1" baseline="-25000" i="0" lang="es-CL" sz="28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2(g)</a:t>
            </a:r>
            <a:r>
              <a:rPr b="1" i="0" lang="es-CL" sz="28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   → 4NO</a:t>
            </a:r>
            <a:r>
              <a:rPr b="1" baseline="-25000" i="0" lang="es-CL" sz="28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(g) </a:t>
            </a:r>
            <a:r>
              <a:rPr b="1" i="0" lang="es-CL" sz="28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+ 6 H</a:t>
            </a:r>
            <a:r>
              <a:rPr b="1" baseline="-25000" i="0" lang="es-CL" sz="28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2</a:t>
            </a:r>
            <a:r>
              <a:rPr b="1" i="0" lang="es-CL" sz="28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O</a:t>
            </a:r>
            <a:r>
              <a:rPr b="1" baseline="-25000" i="0" lang="es-CL" sz="28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(g)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2F5496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000"/>
              <a:buFont typeface="Lucida Sans"/>
              <a:buNone/>
            </a:pPr>
            <a:r>
              <a:rPr b="1" i="0" lang="es-CL" sz="2000" u="none" cap="none" strike="noStrike">
                <a:solidFill>
                  <a:srgbClr val="A5A5A5"/>
                </a:solidFill>
                <a:latin typeface="Lucida Sans"/>
                <a:ea typeface="Lucida Sans"/>
                <a:cs typeface="Lucida Sans"/>
                <a:sym typeface="Lucida Sans"/>
              </a:rPr>
              <a:t>a) </a:t>
            </a:r>
            <a:r>
              <a:rPr b="0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¿Cuántos gramos de NO se forman por la reacción completa de 2,5 g de NH</a:t>
            </a:r>
            <a:r>
              <a:rPr b="0" baseline="-25000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3</a:t>
            </a:r>
            <a:r>
              <a:rPr b="0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000"/>
              <a:buFont typeface="Lucida Sans"/>
              <a:buNone/>
            </a:pPr>
            <a:r>
              <a:rPr b="1" i="0" lang="es-CL" sz="2000" u="none" cap="none" strike="noStrike">
                <a:solidFill>
                  <a:srgbClr val="A5A5A5"/>
                </a:solidFill>
                <a:latin typeface="Lucida Sans"/>
                <a:ea typeface="Lucida Sans"/>
                <a:cs typeface="Lucida Sans"/>
                <a:sym typeface="Lucida Sans"/>
              </a:rPr>
              <a:t>b) </a:t>
            </a:r>
            <a:r>
              <a:rPr b="0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¿Cuántos gramos de O</a:t>
            </a:r>
            <a:r>
              <a:rPr b="0" baseline="-25000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2</a:t>
            </a:r>
            <a:r>
              <a:rPr b="0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 se requieren para reaccionar con 2,5 g de NH</a:t>
            </a:r>
            <a:r>
              <a:rPr b="0" baseline="-25000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3</a:t>
            </a:r>
            <a:r>
              <a:rPr b="0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000"/>
              <a:buFont typeface="Lucida Sans"/>
              <a:buNone/>
            </a:pPr>
            <a:r>
              <a:rPr b="1" i="0" lang="es-CL" sz="2000" u="none" cap="none" strike="noStrike">
                <a:solidFill>
                  <a:srgbClr val="A5A5A5"/>
                </a:solidFill>
                <a:latin typeface="Lucida Sans"/>
                <a:ea typeface="Lucida Sans"/>
                <a:cs typeface="Lucida Sans"/>
                <a:sym typeface="Lucida Sans"/>
              </a:rPr>
              <a:t>c) </a:t>
            </a:r>
            <a:r>
              <a:rPr b="0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¿Cuántos gramos de NO se forman cuando 1,5 g de NH</a:t>
            </a:r>
            <a:r>
              <a:rPr b="0" baseline="-25000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3</a:t>
            </a:r>
            <a:r>
              <a:rPr b="0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 reaccionan con 1 g de NH</a:t>
            </a:r>
            <a:r>
              <a:rPr b="0" baseline="-25000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3</a:t>
            </a:r>
            <a:r>
              <a:rPr b="0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97979"/>
        </a:solidFill>
      </p:bgPr>
    </p:bg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37"/>
          <p:cNvSpPr txBox="1"/>
          <p:nvPr>
            <p:ph idx="12" type="sldNum"/>
          </p:nvPr>
        </p:nvSpPr>
        <p:spPr>
          <a:xfrm>
            <a:off x="11390969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ucida Sans"/>
              <a:buNone/>
            </a:pPr>
            <a:fld id="{00000000-1234-1234-1234-123412341234}" type="slidenum">
              <a:rPr lang="es-CL" sz="20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‹#›</a:t>
            </a:fld>
            <a:endParaRPr sz="20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613" name="Google Shape;613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79280" y="132951"/>
            <a:ext cx="2116765" cy="1058383"/>
          </a:xfrm>
          <a:prstGeom prst="rect">
            <a:avLst/>
          </a:prstGeom>
          <a:noFill/>
          <a:ln>
            <a:noFill/>
          </a:ln>
        </p:spPr>
      </p:pic>
      <p:sp>
        <p:nvSpPr>
          <p:cNvPr id="614" name="Google Shape;614;p37"/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FF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615" name="Google Shape;615;p37"/>
          <p:cNvSpPr/>
          <p:nvPr/>
        </p:nvSpPr>
        <p:spPr>
          <a:xfrm>
            <a:off x="5604455" y="114308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FF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616" name="Google Shape;616;p37"/>
          <p:cNvSpPr txBox="1"/>
          <p:nvPr/>
        </p:nvSpPr>
        <p:spPr>
          <a:xfrm>
            <a:off x="367602" y="662142"/>
            <a:ext cx="9284398" cy="1900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000"/>
              <a:buFont typeface="Lucida Sans"/>
              <a:buNone/>
            </a:pPr>
            <a:r>
              <a:rPr b="1" i="0" lang="es-CL" sz="2000" u="none" cap="none" strike="noStrike">
                <a:solidFill>
                  <a:srgbClr val="A5A5A5"/>
                </a:solidFill>
                <a:latin typeface="Lucida Sans"/>
                <a:ea typeface="Lucida Sans"/>
                <a:cs typeface="Lucida Sans"/>
                <a:sym typeface="Lucida Sans"/>
              </a:rPr>
              <a:t>d) </a:t>
            </a:r>
            <a:r>
              <a:rPr b="0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En la parte c) ¿Cuál de los reactivos es el limitante y cuál es el que está en exceso?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000"/>
              <a:buFont typeface="Lucida Sans"/>
              <a:buNone/>
            </a:pPr>
            <a:r>
              <a:rPr b="1" i="0" lang="es-CL" sz="2000" u="none" cap="none" strike="noStrike">
                <a:solidFill>
                  <a:srgbClr val="A5A5A5"/>
                </a:solidFill>
                <a:latin typeface="Lucida Sans"/>
                <a:ea typeface="Lucida Sans"/>
                <a:cs typeface="Lucida Sans"/>
                <a:sym typeface="Lucida Sans"/>
              </a:rPr>
              <a:t>e) </a:t>
            </a:r>
            <a:r>
              <a:rPr b="0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En la parte c) ¿Cuánto reactivo en exceso permanece después que el limitante se ha consumido completamente?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9300"/>
        </a:solidFill>
      </p:bgPr>
    </p:bg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38"/>
          <p:cNvSpPr txBox="1"/>
          <p:nvPr>
            <p:ph idx="12" type="sldNum"/>
          </p:nvPr>
        </p:nvSpPr>
        <p:spPr>
          <a:xfrm>
            <a:off x="11390969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ucida Sans"/>
              <a:buNone/>
            </a:pPr>
            <a:fld id="{00000000-1234-1234-1234-123412341234}" type="slidenum">
              <a:rPr lang="es-CL" sz="20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‹#›</a:t>
            </a:fld>
            <a:endParaRPr sz="20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622" name="Google Shape;622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79280" y="132951"/>
            <a:ext cx="2116765" cy="1058383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38"/>
          <p:cNvSpPr txBox="1"/>
          <p:nvPr/>
        </p:nvSpPr>
        <p:spPr>
          <a:xfrm>
            <a:off x="4650303" y="4786057"/>
            <a:ext cx="7445742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s-CL" sz="6000" u="none" cap="none" strike="noStrike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Estequiometría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4" name="Google Shape;624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9058" y="1908675"/>
            <a:ext cx="6400800" cy="28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9300">
            <a:alpha val="54509"/>
          </a:srgbClr>
        </a:solidFill>
      </p:bgPr>
    </p:bg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39"/>
          <p:cNvSpPr txBox="1"/>
          <p:nvPr>
            <p:ph idx="12" type="sldNum"/>
          </p:nvPr>
        </p:nvSpPr>
        <p:spPr>
          <a:xfrm>
            <a:off x="11390969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Lucida Sans"/>
              <a:buNone/>
            </a:pPr>
            <a:fld id="{00000000-1234-1234-1234-123412341234}" type="slidenum">
              <a:rPr lang="es-CL" sz="2000">
                <a:latin typeface="Lucida Sans"/>
                <a:ea typeface="Lucida Sans"/>
                <a:cs typeface="Lucida Sans"/>
                <a:sym typeface="Lucida Sans"/>
              </a:rPr>
              <a:t>‹#›</a:t>
            </a:fld>
            <a:endParaRPr sz="2000"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630" name="Google Shape;630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79280" y="132951"/>
            <a:ext cx="2116765" cy="1058383"/>
          </a:xfrm>
          <a:prstGeom prst="rect">
            <a:avLst/>
          </a:prstGeom>
          <a:noFill/>
          <a:ln>
            <a:noFill/>
          </a:ln>
        </p:spPr>
      </p:pic>
      <p:sp>
        <p:nvSpPr>
          <p:cNvPr id="631" name="Google Shape;631;p39"/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FF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632" name="Google Shape;632;p39"/>
          <p:cNvSpPr/>
          <p:nvPr/>
        </p:nvSpPr>
        <p:spPr>
          <a:xfrm>
            <a:off x="436319" y="383244"/>
            <a:ext cx="568136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2F92"/>
              </a:buClr>
              <a:buSzPts val="3200"/>
              <a:buFont typeface="Arial"/>
              <a:buNone/>
            </a:pPr>
            <a:r>
              <a:rPr b="1" i="0" lang="es-CL" sz="3200" u="none" cap="none" strike="noStrike">
                <a:solidFill>
                  <a:srgbClr val="FF2F92"/>
                </a:solidFill>
                <a:latin typeface="Lucida Sans"/>
                <a:ea typeface="Lucida Sans"/>
                <a:cs typeface="Lucida Sans"/>
                <a:sym typeface="Lucida Sans"/>
              </a:rPr>
              <a:t>Rendimiento de la Reacción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39"/>
          <p:cNvSpPr txBox="1"/>
          <p:nvPr/>
        </p:nvSpPr>
        <p:spPr>
          <a:xfrm>
            <a:off x="436319" y="1588419"/>
            <a:ext cx="9037881" cy="12958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La cantidad de producto que se calcula que se formará cuando todo el reactivo limitante ha reaccionado se denomina </a:t>
            </a:r>
            <a:r>
              <a:rPr b="1" i="0" lang="es-CL" sz="18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rendimiento teórico</a:t>
            </a:r>
            <a:r>
              <a:rPr b="0" i="0" lang="es-CL" sz="18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. La cantidad de producto que realmente se obtiene en una reacción se llama </a:t>
            </a:r>
            <a:r>
              <a:rPr b="1" i="0" lang="es-CL" sz="18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rendimiento rea</a:t>
            </a:r>
            <a:r>
              <a:rPr b="0" i="0" lang="es-CL" sz="18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39"/>
          <p:cNvSpPr/>
          <p:nvPr/>
        </p:nvSpPr>
        <p:spPr>
          <a:xfrm>
            <a:off x="436319" y="3858630"/>
            <a:ext cx="9577915" cy="75033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14995" l="-792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060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40"/>
          <p:cNvSpPr txBox="1"/>
          <p:nvPr>
            <p:ph idx="12" type="sldNum"/>
          </p:nvPr>
        </p:nvSpPr>
        <p:spPr>
          <a:xfrm>
            <a:off x="11390969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ucida Sans"/>
              <a:buNone/>
            </a:pPr>
            <a:fld id="{00000000-1234-1234-1234-123412341234}" type="slidenum">
              <a:rPr lang="es-CL" sz="20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‹#›</a:t>
            </a:fld>
            <a:endParaRPr sz="20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640" name="Google Shape;640;p40"/>
          <p:cNvSpPr txBox="1"/>
          <p:nvPr/>
        </p:nvSpPr>
        <p:spPr>
          <a:xfrm>
            <a:off x="2027436" y="2931560"/>
            <a:ext cx="7780961" cy="9952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67"/>
              <a:buFont typeface="Arial"/>
              <a:buNone/>
            </a:pPr>
            <a:r>
              <a:rPr b="0" i="0" lang="es-CL" sz="5867" u="none" cap="none" strike="noStrike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Ejercicios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41" name="Google Shape;641;p40"/>
          <p:cNvGrpSpPr/>
          <p:nvPr/>
        </p:nvGrpSpPr>
        <p:grpSpPr>
          <a:xfrm>
            <a:off x="5125820" y="1447365"/>
            <a:ext cx="1171845" cy="1045591"/>
            <a:chOff x="5233525" y="4954450"/>
            <a:chExt cx="538275" cy="516350"/>
          </a:xfrm>
        </p:grpSpPr>
        <p:sp>
          <p:nvSpPr>
            <p:cNvPr id="642" name="Google Shape;642;p40"/>
            <p:cNvSpPr/>
            <p:nvPr/>
          </p:nvSpPr>
          <p:spPr>
            <a:xfrm>
              <a:off x="5637825" y="4954450"/>
              <a:ext cx="89525" cy="89525"/>
            </a:xfrm>
            <a:custGeom>
              <a:rect b="b" l="l" r="r" t="t"/>
              <a:pathLst>
                <a:path extrusionOk="0" fill="none" h="3581" w="3581">
                  <a:moveTo>
                    <a:pt x="1023" y="3410"/>
                  </a:moveTo>
                  <a:lnTo>
                    <a:pt x="1023" y="3410"/>
                  </a:lnTo>
                  <a:lnTo>
                    <a:pt x="1193" y="3483"/>
                  </a:lnTo>
                  <a:lnTo>
                    <a:pt x="1388" y="3532"/>
                  </a:lnTo>
                  <a:lnTo>
                    <a:pt x="1583" y="3556"/>
                  </a:lnTo>
                  <a:lnTo>
                    <a:pt x="1778" y="3581"/>
                  </a:lnTo>
                  <a:lnTo>
                    <a:pt x="1778" y="3581"/>
                  </a:lnTo>
                  <a:lnTo>
                    <a:pt x="1973" y="3556"/>
                  </a:lnTo>
                  <a:lnTo>
                    <a:pt x="2143" y="3532"/>
                  </a:lnTo>
                  <a:lnTo>
                    <a:pt x="2314" y="3508"/>
                  </a:lnTo>
                  <a:lnTo>
                    <a:pt x="2484" y="3435"/>
                  </a:lnTo>
                  <a:lnTo>
                    <a:pt x="2630" y="3361"/>
                  </a:lnTo>
                  <a:lnTo>
                    <a:pt x="2776" y="3264"/>
                  </a:lnTo>
                  <a:lnTo>
                    <a:pt x="2923" y="3167"/>
                  </a:lnTo>
                  <a:lnTo>
                    <a:pt x="3044" y="3045"/>
                  </a:lnTo>
                  <a:lnTo>
                    <a:pt x="3166" y="2923"/>
                  </a:lnTo>
                  <a:lnTo>
                    <a:pt x="3264" y="2801"/>
                  </a:lnTo>
                  <a:lnTo>
                    <a:pt x="3361" y="2631"/>
                  </a:lnTo>
                  <a:lnTo>
                    <a:pt x="3434" y="2485"/>
                  </a:lnTo>
                  <a:lnTo>
                    <a:pt x="3483" y="2314"/>
                  </a:lnTo>
                  <a:lnTo>
                    <a:pt x="3531" y="2144"/>
                  </a:lnTo>
                  <a:lnTo>
                    <a:pt x="3556" y="1973"/>
                  </a:lnTo>
                  <a:lnTo>
                    <a:pt x="3580" y="1803"/>
                  </a:lnTo>
                  <a:lnTo>
                    <a:pt x="3580" y="1803"/>
                  </a:lnTo>
                  <a:lnTo>
                    <a:pt x="3556" y="1608"/>
                  </a:lnTo>
                  <a:lnTo>
                    <a:pt x="3531" y="1437"/>
                  </a:lnTo>
                  <a:lnTo>
                    <a:pt x="3483" y="1267"/>
                  </a:lnTo>
                  <a:lnTo>
                    <a:pt x="3434" y="1096"/>
                  </a:lnTo>
                  <a:lnTo>
                    <a:pt x="3361" y="950"/>
                  </a:lnTo>
                  <a:lnTo>
                    <a:pt x="3264" y="804"/>
                  </a:lnTo>
                  <a:lnTo>
                    <a:pt x="3166" y="658"/>
                  </a:lnTo>
                  <a:lnTo>
                    <a:pt x="3044" y="536"/>
                  </a:lnTo>
                  <a:lnTo>
                    <a:pt x="2923" y="414"/>
                  </a:lnTo>
                  <a:lnTo>
                    <a:pt x="2776" y="317"/>
                  </a:lnTo>
                  <a:lnTo>
                    <a:pt x="2630" y="220"/>
                  </a:lnTo>
                  <a:lnTo>
                    <a:pt x="2484" y="147"/>
                  </a:lnTo>
                  <a:lnTo>
                    <a:pt x="2314" y="98"/>
                  </a:lnTo>
                  <a:lnTo>
                    <a:pt x="2143" y="49"/>
                  </a:lnTo>
                  <a:lnTo>
                    <a:pt x="1973" y="25"/>
                  </a:lnTo>
                  <a:lnTo>
                    <a:pt x="1778" y="0"/>
                  </a:lnTo>
                  <a:lnTo>
                    <a:pt x="1778" y="0"/>
                  </a:lnTo>
                  <a:lnTo>
                    <a:pt x="1607" y="25"/>
                  </a:lnTo>
                  <a:lnTo>
                    <a:pt x="1437" y="49"/>
                  </a:lnTo>
                  <a:lnTo>
                    <a:pt x="1266" y="98"/>
                  </a:lnTo>
                  <a:lnTo>
                    <a:pt x="1096" y="147"/>
                  </a:lnTo>
                  <a:lnTo>
                    <a:pt x="925" y="220"/>
                  </a:lnTo>
                  <a:lnTo>
                    <a:pt x="779" y="317"/>
                  </a:lnTo>
                  <a:lnTo>
                    <a:pt x="658" y="414"/>
                  </a:lnTo>
                  <a:lnTo>
                    <a:pt x="536" y="536"/>
                  </a:lnTo>
                  <a:lnTo>
                    <a:pt x="414" y="658"/>
                  </a:lnTo>
                  <a:lnTo>
                    <a:pt x="317" y="804"/>
                  </a:lnTo>
                  <a:lnTo>
                    <a:pt x="219" y="950"/>
                  </a:lnTo>
                  <a:lnTo>
                    <a:pt x="146" y="1096"/>
                  </a:lnTo>
                  <a:lnTo>
                    <a:pt x="73" y="1267"/>
                  </a:lnTo>
                  <a:lnTo>
                    <a:pt x="49" y="1437"/>
                  </a:lnTo>
                  <a:lnTo>
                    <a:pt x="24" y="1608"/>
                  </a:lnTo>
                  <a:lnTo>
                    <a:pt x="0" y="1803"/>
                  </a:lnTo>
                  <a:lnTo>
                    <a:pt x="0" y="1803"/>
                  </a:lnTo>
                  <a:lnTo>
                    <a:pt x="24" y="2071"/>
                  </a:lnTo>
                  <a:lnTo>
                    <a:pt x="97" y="2339"/>
                  </a:lnTo>
                  <a:lnTo>
                    <a:pt x="195" y="2582"/>
                  </a:lnTo>
                  <a:lnTo>
                    <a:pt x="317" y="2801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3" name="Google Shape;643;p40"/>
            <p:cNvSpPr/>
            <p:nvPr/>
          </p:nvSpPr>
          <p:spPr>
            <a:xfrm>
              <a:off x="5323025" y="4980625"/>
              <a:ext cx="88925" cy="88925"/>
            </a:xfrm>
            <a:custGeom>
              <a:rect b="b" l="l" r="r" t="t"/>
              <a:pathLst>
                <a:path extrusionOk="0" fill="none" h="3557" w="3557">
                  <a:moveTo>
                    <a:pt x="3191" y="2850"/>
                  </a:moveTo>
                  <a:lnTo>
                    <a:pt x="3191" y="2850"/>
                  </a:lnTo>
                  <a:lnTo>
                    <a:pt x="3313" y="2680"/>
                  </a:lnTo>
                  <a:lnTo>
                    <a:pt x="3410" y="2509"/>
                  </a:lnTo>
                  <a:lnTo>
                    <a:pt x="3483" y="2314"/>
                  </a:lnTo>
                  <a:lnTo>
                    <a:pt x="3532" y="2095"/>
                  </a:lnTo>
                  <a:lnTo>
                    <a:pt x="3532" y="2095"/>
                  </a:lnTo>
                  <a:lnTo>
                    <a:pt x="3556" y="1925"/>
                  </a:lnTo>
                  <a:lnTo>
                    <a:pt x="3556" y="1730"/>
                  </a:lnTo>
                  <a:lnTo>
                    <a:pt x="3556" y="1559"/>
                  </a:lnTo>
                  <a:lnTo>
                    <a:pt x="3508" y="1389"/>
                  </a:lnTo>
                  <a:lnTo>
                    <a:pt x="3459" y="1218"/>
                  </a:lnTo>
                  <a:lnTo>
                    <a:pt x="3410" y="1072"/>
                  </a:lnTo>
                  <a:lnTo>
                    <a:pt x="3337" y="902"/>
                  </a:lnTo>
                  <a:lnTo>
                    <a:pt x="3240" y="756"/>
                  </a:lnTo>
                  <a:lnTo>
                    <a:pt x="3142" y="634"/>
                  </a:lnTo>
                  <a:lnTo>
                    <a:pt x="3021" y="512"/>
                  </a:lnTo>
                  <a:lnTo>
                    <a:pt x="2899" y="390"/>
                  </a:lnTo>
                  <a:lnTo>
                    <a:pt x="2753" y="293"/>
                  </a:lnTo>
                  <a:lnTo>
                    <a:pt x="2606" y="196"/>
                  </a:lnTo>
                  <a:lnTo>
                    <a:pt x="2436" y="122"/>
                  </a:lnTo>
                  <a:lnTo>
                    <a:pt x="2266" y="74"/>
                  </a:lnTo>
                  <a:lnTo>
                    <a:pt x="2095" y="25"/>
                  </a:lnTo>
                  <a:lnTo>
                    <a:pt x="2095" y="25"/>
                  </a:lnTo>
                  <a:lnTo>
                    <a:pt x="1925" y="1"/>
                  </a:lnTo>
                  <a:lnTo>
                    <a:pt x="1730" y="1"/>
                  </a:lnTo>
                  <a:lnTo>
                    <a:pt x="1559" y="1"/>
                  </a:lnTo>
                  <a:lnTo>
                    <a:pt x="1389" y="25"/>
                  </a:lnTo>
                  <a:lnTo>
                    <a:pt x="1218" y="74"/>
                  </a:lnTo>
                  <a:lnTo>
                    <a:pt x="1072" y="147"/>
                  </a:lnTo>
                  <a:lnTo>
                    <a:pt x="902" y="220"/>
                  </a:lnTo>
                  <a:lnTo>
                    <a:pt x="756" y="317"/>
                  </a:lnTo>
                  <a:lnTo>
                    <a:pt x="634" y="415"/>
                  </a:lnTo>
                  <a:lnTo>
                    <a:pt x="512" y="537"/>
                  </a:lnTo>
                  <a:lnTo>
                    <a:pt x="390" y="658"/>
                  </a:lnTo>
                  <a:lnTo>
                    <a:pt x="293" y="804"/>
                  </a:lnTo>
                  <a:lnTo>
                    <a:pt x="195" y="951"/>
                  </a:lnTo>
                  <a:lnTo>
                    <a:pt x="122" y="1097"/>
                  </a:lnTo>
                  <a:lnTo>
                    <a:pt x="74" y="1267"/>
                  </a:lnTo>
                  <a:lnTo>
                    <a:pt x="25" y="1462"/>
                  </a:lnTo>
                  <a:lnTo>
                    <a:pt x="25" y="1462"/>
                  </a:lnTo>
                  <a:lnTo>
                    <a:pt x="1" y="1633"/>
                  </a:lnTo>
                  <a:lnTo>
                    <a:pt x="1" y="1803"/>
                  </a:lnTo>
                  <a:lnTo>
                    <a:pt x="1" y="1998"/>
                  </a:lnTo>
                  <a:lnTo>
                    <a:pt x="25" y="2168"/>
                  </a:lnTo>
                  <a:lnTo>
                    <a:pt x="74" y="2339"/>
                  </a:lnTo>
                  <a:lnTo>
                    <a:pt x="147" y="2485"/>
                  </a:lnTo>
                  <a:lnTo>
                    <a:pt x="220" y="2655"/>
                  </a:lnTo>
                  <a:lnTo>
                    <a:pt x="317" y="2777"/>
                  </a:lnTo>
                  <a:lnTo>
                    <a:pt x="415" y="2923"/>
                  </a:lnTo>
                  <a:lnTo>
                    <a:pt x="536" y="3045"/>
                  </a:lnTo>
                  <a:lnTo>
                    <a:pt x="658" y="3167"/>
                  </a:lnTo>
                  <a:lnTo>
                    <a:pt x="804" y="3264"/>
                  </a:lnTo>
                  <a:lnTo>
                    <a:pt x="950" y="3362"/>
                  </a:lnTo>
                  <a:lnTo>
                    <a:pt x="1096" y="3435"/>
                  </a:lnTo>
                  <a:lnTo>
                    <a:pt x="1267" y="3483"/>
                  </a:lnTo>
                  <a:lnTo>
                    <a:pt x="1462" y="3532"/>
                  </a:lnTo>
                  <a:lnTo>
                    <a:pt x="1462" y="3532"/>
                  </a:lnTo>
                  <a:lnTo>
                    <a:pt x="1705" y="3557"/>
                  </a:lnTo>
                  <a:lnTo>
                    <a:pt x="1973" y="3557"/>
                  </a:lnTo>
                  <a:lnTo>
                    <a:pt x="2217" y="3508"/>
                  </a:lnTo>
                  <a:lnTo>
                    <a:pt x="2460" y="3435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4" name="Google Shape;644;p40"/>
            <p:cNvSpPr/>
            <p:nvPr/>
          </p:nvSpPr>
          <p:spPr>
            <a:xfrm>
              <a:off x="5233525" y="5255225"/>
              <a:ext cx="89525" cy="89525"/>
            </a:xfrm>
            <a:custGeom>
              <a:rect b="b" l="l" r="r" t="t"/>
              <a:pathLst>
                <a:path extrusionOk="0" fill="none" h="3581" w="3581">
                  <a:moveTo>
                    <a:pt x="3215" y="707"/>
                  </a:moveTo>
                  <a:lnTo>
                    <a:pt x="3215" y="707"/>
                  </a:lnTo>
                  <a:lnTo>
                    <a:pt x="3093" y="585"/>
                  </a:lnTo>
                  <a:lnTo>
                    <a:pt x="2972" y="464"/>
                  </a:lnTo>
                  <a:lnTo>
                    <a:pt x="2850" y="342"/>
                  </a:lnTo>
                  <a:lnTo>
                    <a:pt x="2679" y="244"/>
                  </a:lnTo>
                  <a:lnTo>
                    <a:pt x="2679" y="244"/>
                  </a:lnTo>
                  <a:lnTo>
                    <a:pt x="2533" y="171"/>
                  </a:lnTo>
                  <a:lnTo>
                    <a:pt x="2363" y="98"/>
                  </a:lnTo>
                  <a:lnTo>
                    <a:pt x="2192" y="50"/>
                  </a:lnTo>
                  <a:lnTo>
                    <a:pt x="2022" y="25"/>
                  </a:lnTo>
                  <a:lnTo>
                    <a:pt x="1851" y="1"/>
                  </a:lnTo>
                  <a:lnTo>
                    <a:pt x="1681" y="25"/>
                  </a:lnTo>
                  <a:lnTo>
                    <a:pt x="1510" y="25"/>
                  </a:lnTo>
                  <a:lnTo>
                    <a:pt x="1340" y="74"/>
                  </a:lnTo>
                  <a:lnTo>
                    <a:pt x="1169" y="123"/>
                  </a:lnTo>
                  <a:lnTo>
                    <a:pt x="1023" y="196"/>
                  </a:lnTo>
                  <a:lnTo>
                    <a:pt x="877" y="269"/>
                  </a:lnTo>
                  <a:lnTo>
                    <a:pt x="731" y="366"/>
                  </a:lnTo>
                  <a:lnTo>
                    <a:pt x="585" y="488"/>
                  </a:lnTo>
                  <a:lnTo>
                    <a:pt x="463" y="610"/>
                  </a:lnTo>
                  <a:lnTo>
                    <a:pt x="341" y="731"/>
                  </a:lnTo>
                  <a:lnTo>
                    <a:pt x="244" y="902"/>
                  </a:lnTo>
                  <a:lnTo>
                    <a:pt x="244" y="902"/>
                  </a:lnTo>
                  <a:lnTo>
                    <a:pt x="171" y="1048"/>
                  </a:lnTo>
                  <a:lnTo>
                    <a:pt x="98" y="1219"/>
                  </a:lnTo>
                  <a:lnTo>
                    <a:pt x="49" y="1389"/>
                  </a:lnTo>
                  <a:lnTo>
                    <a:pt x="25" y="1560"/>
                  </a:lnTo>
                  <a:lnTo>
                    <a:pt x="0" y="1730"/>
                  </a:lnTo>
                  <a:lnTo>
                    <a:pt x="0" y="1900"/>
                  </a:lnTo>
                  <a:lnTo>
                    <a:pt x="25" y="2071"/>
                  </a:lnTo>
                  <a:lnTo>
                    <a:pt x="73" y="2241"/>
                  </a:lnTo>
                  <a:lnTo>
                    <a:pt x="122" y="2412"/>
                  </a:lnTo>
                  <a:lnTo>
                    <a:pt x="195" y="2558"/>
                  </a:lnTo>
                  <a:lnTo>
                    <a:pt x="268" y="2729"/>
                  </a:lnTo>
                  <a:lnTo>
                    <a:pt x="366" y="2850"/>
                  </a:lnTo>
                  <a:lnTo>
                    <a:pt x="463" y="2996"/>
                  </a:lnTo>
                  <a:lnTo>
                    <a:pt x="609" y="3118"/>
                  </a:lnTo>
                  <a:lnTo>
                    <a:pt x="731" y="3240"/>
                  </a:lnTo>
                  <a:lnTo>
                    <a:pt x="901" y="3337"/>
                  </a:lnTo>
                  <a:lnTo>
                    <a:pt x="901" y="3337"/>
                  </a:lnTo>
                  <a:lnTo>
                    <a:pt x="1048" y="3410"/>
                  </a:lnTo>
                  <a:lnTo>
                    <a:pt x="1218" y="3484"/>
                  </a:lnTo>
                  <a:lnTo>
                    <a:pt x="1389" y="3532"/>
                  </a:lnTo>
                  <a:lnTo>
                    <a:pt x="1559" y="3557"/>
                  </a:lnTo>
                  <a:lnTo>
                    <a:pt x="1730" y="3581"/>
                  </a:lnTo>
                  <a:lnTo>
                    <a:pt x="1900" y="3581"/>
                  </a:lnTo>
                  <a:lnTo>
                    <a:pt x="2071" y="3557"/>
                  </a:lnTo>
                  <a:lnTo>
                    <a:pt x="2241" y="3508"/>
                  </a:lnTo>
                  <a:lnTo>
                    <a:pt x="2411" y="3459"/>
                  </a:lnTo>
                  <a:lnTo>
                    <a:pt x="2558" y="3410"/>
                  </a:lnTo>
                  <a:lnTo>
                    <a:pt x="2704" y="3313"/>
                  </a:lnTo>
                  <a:lnTo>
                    <a:pt x="2850" y="3216"/>
                  </a:lnTo>
                  <a:lnTo>
                    <a:pt x="2996" y="3118"/>
                  </a:lnTo>
                  <a:lnTo>
                    <a:pt x="3118" y="2996"/>
                  </a:lnTo>
                  <a:lnTo>
                    <a:pt x="3240" y="2850"/>
                  </a:lnTo>
                  <a:lnTo>
                    <a:pt x="3337" y="2704"/>
                  </a:lnTo>
                  <a:lnTo>
                    <a:pt x="3337" y="2704"/>
                  </a:lnTo>
                  <a:lnTo>
                    <a:pt x="3459" y="2412"/>
                  </a:lnTo>
                  <a:lnTo>
                    <a:pt x="3532" y="2144"/>
                  </a:lnTo>
                  <a:lnTo>
                    <a:pt x="3581" y="1852"/>
                  </a:lnTo>
                  <a:lnTo>
                    <a:pt x="3556" y="1560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5" name="Google Shape;645;p40"/>
            <p:cNvSpPr/>
            <p:nvPr/>
          </p:nvSpPr>
          <p:spPr>
            <a:xfrm>
              <a:off x="5453325" y="5382475"/>
              <a:ext cx="88925" cy="88325"/>
            </a:xfrm>
            <a:custGeom>
              <a:rect b="b" l="l" r="r" t="t"/>
              <a:pathLst>
                <a:path extrusionOk="0" fill="none" h="3533" w="3557">
                  <a:moveTo>
                    <a:pt x="1389" y="1"/>
                  </a:moveTo>
                  <a:lnTo>
                    <a:pt x="1389" y="1"/>
                  </a:lnTo>
                  <a:lnTo>
                    <a:pt x="1194" y="50"/>
                  </a:lnTo>
                  <a:lnTo>
                    <a:pt x="999" y="147"/>
                  </a:lnTo>
                  <a:lnTo>
                    <a:pt x="804" y="245"/>
                  </a:lnTo>
                  <a:lnTo>
                    <a:pt x="634" y="366"/>
                  </a:lnTo>
                  <a:lnTo>
                    <a:pt x="634" y="366"/>
                  </a:lnTo>
                  <a:lnTo>
                    <a:pt x="488" y="488"/>
                  </a:lnTo>
                  <a:lnTo>
                    <a:pt x="390" y="634"/>
                  </a:lnTo>
                  <a:lnTo>
                    <a:pt x="268" y="780"/>
                  </a:lnTo>
                  <a:lnTo>
                    <a:pt x="195" y="926"/>
                  </a:lnTo>
                  <a:lnTo>
                    <a:pt x="122" y="1073"/>
                  </a:lnTo>
                  <a:lnTo>
                    <a:pt x="74" y="1243"/>
                  </a:lnTo>
                  <a:lnTo>
                    <a:pt x="25" y="1414"/>
                  </a:lnTo>
                  <a:lnTo>
                    <a:pt x="0" y="1584"/>
                  </a:lnTo>
                  <a:lnTo>
                    <a:pt x="0" y="1755"/>
                  </a:lnTo>
                  <a:lnTo>
                    <a:pt x="0" y="1925"/>
                  </a:lnTo>
                  <a:lnTo>
                    <a:pt x="25" y="2096"/>
                  </a:lnTo>
                  <a:lnTo>
                    <a:pt x="74" y="2266"/>
                  </a:lnTo>
                  <a:lnTo>
                    <a:pt x="122" y="2412"/>
                  </a:lnTo>
                  <a:lnTo>
                    <a:pt x="195" y="2583"/>
                  </a:lnTo>
                  <a:lnTo>
                    <a:pt x="293" y="2729"/>
                  </a:lnTo>
                  <a:lnTo>
                    <a:pt x="415" y="2875"/>
                  </a:lnTo>
                  <a:lnTo>
                    <a:pt x="415" y="2875"/>
                  </a:lnTo>
                  <a:lnTo>
                    <a:pt x="536" y="3021"/>
                  </a:lnTo>
                  <a:lnTo>
                    <a:pt x="658" y="3143"/>
                  </a:lnTo>
                  <a:lnTo>
                    <a:pt x="804" y="3240"/>
                  </a:lnTo>
                  <a:lnTo>
                    <a:pt x="950" y="3313"/>
                  </a:lnTo>
                  <a:lnTo>
                    <a:pt x="1121" y="3386"/>
                  </a:lnTo>
                  <a:lnTo>
                    <a:pt x="1267" y="3459"/>
                  </a:lnTo>
                  <a:lnTo>
                    <a:pt x="1437" y="3484"/>
                  </a:lnTo>
                  <a:lnTo>
                    <a:pt x="1608" y="3508"/>
                  </a:lnTo>
                  <a:lnTo>
                    <a:pt x="1778" y="3532"/>
                  </a:lnTo>
                  <a:lnTo>
                    <a:pt x="1949" y="3508"/>
                  </a:lnTo>
                  <a:lnTo>
                    <a:pt x="2119" y="3484"/>
                  </a:lnTo>
                  <a:lnTo>
                    <a:pt x="2290" y="3435"/>
                  </a:lnTo>
                  <a:lnTo>
                    <a:pt x="2460" y="3386"/>
                  </a:lnTo>
                  <a:lnTo>
                    <a:pt x="2606" y="3313"/>
                  </a:lnTo>
                  <a:lnTo>
                    <a:pt x="2777" y="3216"/>
                  </a:lnTo>
                  <a:lnTo>
                    <a:pt x="2923" y="3118"/>
                  </a:lnTo>
                  <a:lnTo>
                    <a:pt x="2923" y="3118"/>
                  </a:lnTo>
                  <a:lnTo>
                    <a:pt x="3045" y="2997"/>
                  </a:lnTo>
                  <a:lnTo>
                    <a:pt x="3167" y="2851"/>
                  </a:lnTo>
                  <a:lnTo>
                    <a:pt x="3264" y="2704"/>
                  </a:lnTo>
                  <a:lnTo>
                    <a:pt x="3361" y="2558"/>
                  </a:lnTo>
                  <a:lnTo>
                    <a:pt x="3435" y="2412"/>
                  </a:lnTo>
                  <a:lnTo>
                    <a:pt x="3483" y="2242"/>
                  </a:lnTo>
                  <a:lnTo>
                    <a:pt x="3532" y="2071"/>
                  </a:lnTo>
                  <a:lnTo>
                    <a:pt x="3556" y="1901"/>
                  </a:lnTo>
                  <a:lnTo>
                    <a:pt x="3556" y="1730"/>
                  </a:lnTo>
                  <a:lnTo>
                    <a:pt x="3556" y="1560"/>
                  </a:lnTo>
                  <a:lnTo>
                    <a:pt x="3532" y="1389"/>
                  </a:lnTo>
                  <a:lnTo>
                    <a:pt x="3483" y="1219"/>
                  </a:lnTo>
                  <a:lnTo>
                    <a:pt x="3410" y="1048"/>
                  </a:lnTo>
                  <a:lnTo>
                    <a:pt x="3337" y="902"/>
                  </a:lnTo>
                  <a:lnTo>
                    <a:pt x="3264" y="756"/>
                  </a:lnTo>
                  <a:lnTo>
                    <a:pt x="3142" y="610"/>
                  </a:lnTo>
                  <a:lnTo>
                    <a:pt x="3142" y="610"/>
                  </a:lnTo>
                  <a:lnTo>
                    <a:pt x="2972" y="415"/>
                  </a:lnTo>
                  <a:lnTo>
                    <a:pt x="2753" y="245"/>
                  </a:lnTo>
                  <a:lnTo>
                    <a:pt x="2533" y="123"/>
                  </a:lnTo>
                  <a:lnTo>
                    <a:pt x="2314" y="50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6" name="Google Shape;646;p40"/>
            <p:cNvSpPr/>
            <p:nvPr/>
          </p:nvSpPr>
          <p:spPr>
            <a:xfrm>
              <a:off x="5682875" y="5188875"/>
              <a:ext cx="88925" cy="89525"/>
            </a:xfrm>
            <a:custGeom>
              <a:rect b="b" l="l" r="r" t="t"/>
              <a:pathLst>
                <a:path extrusionOk="0" fill="none" h="3581" w="3557">
                  <a:moveTo>
                    <a:pt x="0" y="2022"/>
                  </a:moveTo>
                  <a:lnTo>
                    <a:pt x="0" y="2022"/>
                  </a:lnTo>
                  <a:lnTo>
                    <a:pt x="25" y="2216"/>
                  </a:lnTo>
                  <a:lnTo>
                    <a:pt x="98" y="2411"/>
                  </a:lnTo>
                  <a:lnTo>
                    <a:pt x="98" y="2411"/>
                  </a:lnTo>
                  <a:lnTo>
                    <a:pt x="171" y="2557"/>
                  </a:lnTo>
                  <a:lnTo>
                    <a:pt x="244" y="2728"/>
                  </a:lnTo>
                  <a:lnTo>
                    <a:pt x="341" y="2874"/>
                  </a:lnTo>
                  <a:lnTo>
                    <a:pt x="463" y="2996"/>
                  </a:lnTo>
                  <a:lnTo>
                    <a:pt x="585" y="3118"/>
                  </a:lnTo>
                  <a:lnTo>
                    <a:pt x="707" y="3239"/>
                  </a:lnTo>
                  <a:lnTo>
                    <a:pt x="853" y="3337"/>
                  </a:lnTo>
                  <a:lnTo>
                    <a:pt x="999" y="3410"/>
                  </a:lnTo>
                  <a:lnTo>
                    <a:pt x="1169" y="3483"/>
                  </a:lnTo>
                  <a:lnTo>
                    <a:pt x="1340" y="3532"/>
                  </a:lnTo>
                  <a:lnTo>
                    <a:pt x="1510" y="3556"/>
                  </a:lnTo>
                  <a:lnTo>
                    <a:pt x="1681" y="3580"/>
                  </a:lnTo>
                  <a:lnTo>
                    <a:pt x="1851" y="3580"/>
                  </a:lnTo>
                  <a:lnTo>
                    <a:pt x="2022" y="3556"/>
                  </a:lnTo>
                  <a:lnTo>
                    <a:pt x="2192" y="3532"/>
                  </a:lnTo>
                  <a:lnTo>
                    <a:pt x="2363" y="3459"/>
                  </a:lnTo>
                  <a:lnTo>
                    <a:pt x="2363" y="3459"/>
                  </a:lnTo>
                  <a:lnTo>
                    <a:pt x="2533" y="3410"/>
                  </a:lnTo>
                  <a:lnTo>
                    <a:pt x="2704" y="3312"/>
                  </a:lnTo>
                  <a:lnTo>
                    <a:pt x="2850" y="3215"/>
                  </a:lnTo>
                  <a:lnTo>
                    <a:pt x="2972" y="3093"/>
                  </a:lnTo>
                  <a:lnTo>
                    <a:pt x="3093" y="2971"/>
                  </a:lnTo>
                  <a:lnTo>
                    <a:pt x="3215" y="2850"/>
                  </a:lnTo>
                  <a:lnTo>
                    <a:pt x="3288" y="2704"/>
                  </a:lnTo>
                  <a:lnTo>
                    <a:pt x="3386" y="2557"/>
                  </a:lnTo>
                  <a:lnTo>
                    <a:pt x="3434" y="2387"/>
                  </a:lnTo>
                  <a:lnTo>
                    <a:pt x="3483" y="2216"/>
                  </a:lnTo>
                  <a:lnTo>
                    <a:pt x="3532" y="2070"/>
                  </a:lnTo>
                  <a:lnTo>
                    <a:pt x="3556" y="1875"/>
                  </a:lnTo>
                  <a:lnTo>
                    <a:pt x="3556" y="1705"/>
                  </a:lnTo>
                  <a:lnTo>
                    <a:pt x="3532" y="1534"/>
                  </a:lnTo>
                  <a:lnTo>
                    <a:pt x="3507" y="1364"/>
                  </a:lnTo>
                  <a:lnTo>
                    <a:pt x="3434" y="1194"/>
                  </a:lnTo>
                  <a:lnTo>
                    <a:pt x="3434" y="1194"/>
                  </a:lnTo>
                  <a:lnTo>
                    <a:pt x="3361" y="1023"/>
                  </a:lnTo>
                  <a:lnTo>
                    <a:pt x="3288" y="853"/>
                  </a:lnTo>
                  <a:lnTo>
                    <a:pt x="3191" y="706"/>
                  </a:lnTo>
                  <a:lnTo>
                    <a:pt x="3069" y="585"/>
                  </a:lnTo>
                  <a:lnTo>
                    <a:pt x="2947" y="463"/>
                  </a:lnTo>
                  <a:lnTo>
                    <a:pt x="2825" y="341"/>
                  </a:lnTo>
                  <a:lnTo>
                    <a:pt x="2679" y="268"/>
                  </a:lnTo>
                  <a:lnTo>
                    <a:pt x="2533" y="171"/>
                  </a:lnTo>
                  <a:lnTo>
                    <a:pt x="2363" y="122"/>
                  </a:lnTo>
                  <a:lnTo>
                    <a:pt x="2192" y="73"/>
                  </a:lnTo>
                  <a:lnTo>
                    <a:pt x="2022" y="24"/>
                  </a:lnTo>
                  <a:lnTo>
                    <a:pt x="1851" y="24"/>
                  </a:lnTo>
                  <a:lnTo>
                    <a:pt x="1681" y="0"/>
                  </a:lnTo>
                  <a:lnTo>
                    <a:pt x="1510" y="24"/>
                  </a:lnTo>
                  <a:lnTo>
                    <a:pt x="1340" y="73"/>
                  </a:lnTo>
                  <a:lnTo>
                    <a:pt x="1169" y="122"/>
                  </a:lnTo>
                  <a:lnTo>
                    <a:pt x="1169" y="122"/>
                  </a:lnTo>
                  <a:lnTo>
                    <a:pt x="974" y="195"/>
                  </a:lnTo>
                  <a:lnTo>
                    <a:pt x="804" y="292"/>
                  </a:lnTo>
                  <a:lnTo>
                    <a:pt x="658" y="390"/>
                  </a:lnTo>
                  <a:lnTo>
                    <a:pt x="512" y="512"/>
                  </a:lnTo>
                  <a:lnTo>
                    <a:pt x="390" y="658"/>
                  </a:lnTo>
                  <a:lnTo>
                    <a:pt x="293" y="804"/>
                  </a:lnTo>
                  <a:lnTo>
                    <a:pt x="195" y="950"/>
                  </a:lnTo>
                  <a:lnTo>
                    <a:pt x="122" y="1120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7" name="Google Shape;647;p40"/>
            <p:cNvSpPr/>
            <p:nvPr/>
          </p:nvSpPr>
          <p:spPr>
            <a:xfrm>
              <a:off x="5411925" y="5110925"/>
              <a:ext cx="188775" cy="189400"/>
            </a:xfrm>
            <a:custGeom>
              <a:rect b="b" l="l" r="r" t="t"/>
              <a:pathLst>
                <a:path extrusionOk="0" fill="none" h="7576" w="7551">
                  <a:moveTo>
                    <a:pt x="0" y="3776"/>
                  </a:moveTo>
                  <a:lnTo>
                    <a:pt x="0" y="3776"/>
                  </a:lnTo>
                  <a:lnTo>
                    <a:pt x="25" y="3410"/>
                  </a:lnTo>
                  <a:lnTo>
                    <a:pt x="73" y="3021"/>
                  </a:lnTo>
                  <a:lnTo>
                    <a:pt x="171" y="2655"/>
                  </a:lnTo>
                  <a:lnTo>
                    <a:pt x="293" y="2314"/>
                  </a:lnTo>
                  <a:lnTo>
                    <a:pt x="463" y="1973"/>
                  </a:lnTo>
                  <a:lnTo>
                    <a:pt x="658" y="1681"/>
                  </a:lnTo>
                  <a:lnTo>
                    <a:pt x="877" y="1389"/>
                  </a:lnTo>
                  <a:lnTo>
                    <a:pt x="1121" y="1121"/>
                  </a:lnTo>
                  <a:lnTo>
                    <a:pt x="1389" y="877"/>
                  </a:lnTo>
                  <a:lnTo>
                    <a:pt x="1656" y="658"/>
                  </a:lnTo>
                  <a:lnTo>
                    <a:pt x="1973" y="463"/>
                  </a:lnTo>
                  <a:lnTo>
                    <a:pt x="2314" y="293"/>
                  </a:lnTo>
                  <a:lnTo>
                    <a:pt x="2655" y="171"/>
                  </a:lnTo>
                  <a:lnTo>
                    <a:pt x="3020" y="74"/>
                  </a:lnTo>
                  <a:lnTo>
                    <a:pt x="3386" y="25"/>
                  </a:lnTo>
                  <a:lnTo>
                    <a:pt x="3775" y="1"/>
                  </a:lnTo>
                  <a:lnTo>
                    <a:pt x="3775" y="1"/>
                  </a:lnTo>
                  <a:lnTo>
                    <a:pt x="4165" y="25"/>
                  </a:lnTo>
                  <a:lnTo>
                    <a:pt x="4555" y="74"/>
                  </a:lnTo>
                  <a:lnTo>
                    <a:pt x="4896" y="171"/>
                  </a:lnTo>
                  <a:lnTo>
                    <a:pt x="5261" y="293"/>
                  </a:lnTo>
                  <a:lnTo>
                    <a:pt x="5578" y="463"/>
                  </a:lnTo>
                  <a:lnTo>
                    <a:pt x="5894" y="658"/>
                  </a:lnTo>
                  <a:lnTo>
                    <a:pt x="6186" y="877"/>
                  </a:lnTo>
                  <a:lnTo>
                    <a:pt x="6454" y="1121"/>
                  </a:lnTo>
                  <a:lnTo>
                    <a:pt x="6698" y="1389"/>
                  </a:lnTo>
                  <a:lnTo>
                    <a:pt x="6917" y="1681"/>
                  </a:lnTo>
                  <a:lnTo>
                    <a:pt x="7112" y="1973"/>
                  </a:lnTo>
                  <a:lnTo>
                    <a:pt x="7258" y="2314"/>
                  </a:lnTo>
                  <a:lnTo>
                    <a:pt x="7404" y="2655"/>
                  </a:lnTo>
                  <a:lnTo>
                    <a:pt x="7477" y="3021"/>
                  </a:lnTo>
                  <a:lnTo>
                    <a:pt x="7550" y="3410"/>
                  </a:lnTo>
                  <a:lnTo>
                    <a:pt x="7550" y="3776"/>
                  </a:lnTo>
                  <a:lnTo>
                    <a:pt x="7550" y="3776"/>
                  </a:lnTo>
                  <a:lnTo>
                    <a:pt x="7550" y="4165"/>
                  </a:lnTo>
                  <a:lnTo>
                    <a:pt x="7477" y="4555"/>
                  </a:lnTo>
                  <a:lnTo>
                    <a:pt x="7404" y="4920"/>
                  </a:lnTo>
                  <a:lnTo>
                    <a:pt x="7258" y="5261"/>
                  </a:lnTo>
                  <a:lnTo>
                    <a:pt x="7112" y="5578"/>
                  </a:lnTo>
                  <a:lnTo>
                    <a:pt x="6917" y="5895"/>
                  </a:lnTo>
                  <a:lnTo>
                    <a:pt x="6698" y="6187"/>
                  </a:lnTo>
                  <a:lnTo>
                    <a:pt x="6454" y="6455"/>
                  </a:lnTo>
                  <a:lnTo>
                    <a:pt x="6186" y="6698"/>
                  </a:lnTo>
                  <a:lnTo>
                    <a:pt x="5894" y="6917"/>
                  </a:lnTo>
                  <a:lnTo>
                    <a:pt x="5578" y="7112"/>
                  </a:lnTo>
                  <a:lnTo>
                    <a:pt x="5261" y="7258"/>
                  </a:lnTo>
                  <a:lnTo>
                    <a:pt x="4896" y="7405"/>
                  </a:lnTo>
                  <a:lnTo>
                    <a:pt x="4555" y="7478"/>
                  </a:lnTo>
                  <a:lnTo>
                    <a:pt x="4165" y="7551"/>
                  </a:lnTo>
                  <a:lnTo>
                    <a:pt x="3775" y="7575"/>
                  </a:lnTo>
                  <a:lnTo>
                    <a:pt x="3775" y="7575"/>
                  </a:lnTo>
                  <a:lnTo>
                    <a:pt x="3386" y="7551"/>
                  </a:lnTo>
                  <a:lnTo>
                    <a:pt x="3020" y="7478"/>
                  </a:lnTo>
                  <a:lnTo>
                    <a:pt x="2655" y="7405"/>
                  </a:lnTo>
                  <a:lnTo>
                    <a:pt x="2314" y="7258"/>
                  </a:lnTo>
                  <a:lnTo>
                    <a:pt x="1973" y="7112"/>
                  </a:lnTo>
                  <a:lnTo>
                    <a:pt x="1656" y="6917"/>
                  </a:lnTo>
                  <a:lnTo>
                    <a:pt x="1389" y="6698"/>
                  </a:lnTo>
                  <a:lnTo>
                    <a:pt x="1121" y="6455"/>
                  </a:lnTo>
                  <a:lnTo>
                    <a:pt x="877" y="6187"/>
                  </a:lnTo>
                  <a:lnTo>
                    <a:pt x="658" y="5895"/>
                  </a:lnTo>
                  <a:lnTo>
                    <a:pt x="463" y="5578"/>
                  </a:lnTo>
                  <a:lnTo>
                    <a:pt x="293" y="5261"/>
                  </a:lnTo>
                  <a:lnTo>
                    <a:pt x="171" y="4920"/>
                  </a:lnTo>
                  <a:lnTo>
                    <a:pt x="73" y="4555"/>
                  </a:lnTo>
                  <a:lnTo>
                    <a:pt x="25" y="4165"/>
                  </a:lnTo>
                  <a:lnTo>
                    <a:pt x="0" y="3776"/>
                  </a:lnTo>
                  <a:lnTo>
                    <a:pt x="0" y="3776"/>
                  </a:lnTo>
                  <a:close/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8" name="Google Shape;648;p40"/>
            <p:cNvSpPr/>
            <p:nvPr/>
          </p:nvSpPr>
          <p:spPr>
            <a:xfrm>
              <a:off x="5367475" y="5025075"/>
              <a:ext cx="81600" cy="105975"/>
            </a:xfrm>
            <a:custGeom>
              <a:rect b="b" l="l" r="r" t="t"/>
              <a:pathLst>
                <a:path extrusionOk="0" fill="none" h="4239" w="3264">
                  <a:moveTo>
                    <a:pt x="0" y="1"/>
                  </a:moveTo>
                  <a:lnTo>
                    <a:pt x="3264" y="4238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9" name="Google Shape;649;p40"/>
            <p:cNvSpPr/>
            <p:nvPr/>
          </p:nvSpPr>
          <p:spPr>
            <a:xfrm>
              <a:off x="5567800" y="4999500"/>
              <a:ext cx="115100" cy="133975"/>
            </a:xfrm>
            <a:custGeom>
              <a:rect b="b" l="l" r="r" t="t"/>
              <a:pathLst>
                <a:path extrusionOk="0" fill="none" h="5359" w="4604">
                  <a:moveTo>
                    <a:pt x="0" y="5359"/>
                  </a:moveTo>
                  <a:lnTo>
                    <a:pt x="4603" y="1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0" name="Google Shape;650;p40"/>
            <p:cNvSpPr/>
            <p:nvPr/>
          </p:nvSpPr>
          <p:spPr>
            <a:xfrm>
              <a:off x="5600075" y="5217475"/>
              <a:ext cx="127275" cy="16475"/>
            </a:xfrm>
            <a:custGeom>
              <a:rect b="b" l="l" r="r" t="t"/>
              <a:pathLst>
                <a:path extrusionOk="0" fill="none" h="659" w="5091">
                  <a:moveTo>
                    <a:pt x="5090" y="658"/>
                  </a:move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1" name="Google Shape;651;p40"/>
            <p:cNvSpPr/>
            <p:nvPr/>
          </p:nvSpPr>
          <p:spPr>
            <a:xfrm>
              <a:off x="5497775" y="5299675"/>
              <a:ext cx="4900" cy="126675"/>
            </a:xfrm>
            <a:custGeom>
              <a:rect b="b" l="l" r="r" t="t"/>
              <a:pathLst>
                <a:path extrusionOk="0" fill="none" h="5067" w="196">
                  <a:moveTo>
                    <a:pt x="0" y="5067"/>
                  </a:moveTo>
                  <a:lnTo>
                    <a:pt x="195" y="1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2" name="Google Shape;652;p40"/>
            <p:cNvSpPr/>
            <p:nvPr/>
          </p:nvSpPr>
          <p:spPr>
            <a:xfrm>
              <a:off x="5277975" y="5241825"/>
              <a:ext cx="141275" cy="58500"/>
            </a:xfrm>
            <a:custGeom>
              <a:rect b="b" l="l" r="r" t="t"/>
              <a:pathLst>
                <a:path extrusionOk="0" fill="none" h="2340" w="5651">
                  <a:moveTo>
                    <a:pt x="0" y="2339"/>
                  </a:moveTo>
                  <a:lnTo>
                    <a:pt x="5651" y="1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653" name="Google Shape;653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21706" y="135466"/>
            <a:ext cx="2116765" cy="1058383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40"/>
          <p:cNvSpPr txBox="1"/>
          <p:nvPr/>
        </p:nvSpPr>
        <p:spPr>
          <a:xfrm>
            <a:off x="4592729" y="4828944"/>
            <a:ext cx="7445742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s-CL" sz="6000" u="none" cap="none" strike="noStrike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Estequiometría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1893">
            <a:alpha val="54509"/>
          </a:srgbClr>
        </a:solidFill>
      </p:bgPr>
    </p:bg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41"/>
          <p:cNvSpPr txBox="1"/>
          <p:nvPr>
            <p:ph idx="12" type="sldNum"/>
          </p:nvPr>
        </p:nvSpPr>
        <p:spPr>
          <a:xfrm>
            <a:off x="11390969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  <p:pic>
        <p:nvPicPr>
          <p:cNvPr id="660" name="Google Shape;660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79280" y="132951"/>
            <a:ext cx="2116765" cy="1058383"/>
          </a:xfrm>
          <a:prstGeom prst="rect">
            <a:avLst/>
          </a:prstGeom>
          <a:noFill/>
          <a:ln>
            <a:noFill/>
          </a:ln>
        </p:spPr>
      </p:pic>
      <p:sp>
        <p:nvSpPr>
          <p:cNvPr id="661" name="Google Shape;661;p41"/>
          <p:cNvSpPr/>
          <p:nvPr/>
        </p:nvSpPr>
        <p:spPr>
          <a:xfrm>
            <a:off x="5604455" y="114308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FF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662" name="Google Shape;662;p41"/>
          <p:cNvSpPr/>
          <p:nvPr/>
        </p:nvSpPr>
        <p:spPr>
          <a:xfrm>
            <a:off x="444572" y="483640"/>
            <a:ext cx="8685211" cy="49782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1.- </a:t>
            </a:r>
            <a:r>
              <a:rPr b="0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Comercialmente se fabrica por oxidación del ciclohexano, C</a:t>
            </a:r>
            <a:r>
              <a:rPr b="0" baseline="-25000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6</a:t>
            </a:r>
            <a:r>
              <a:rPr b="0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H</a:t>
            </a:r>
            <a:r>
              <a:rPr b="0" baseline="-25000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12</a:t>
            </a:r>
            <a:r>
              <a:rPr b="0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2F5496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2F5496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a) </a:t>
            </a:r>
            <a:r>
              <a:rPr b="0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Suponga que se lleva a cabo esta reacción partiendo de 25,0 g de ciclohexano y que éste es el reactivo limitante. ¿Cuál es el rendimiento teórico de ácido adípico?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2F5496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b) </a:t>
            </a:r>
            <a:r>
              <a:rPr b="0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Si se obtienen 33,5 g de ácido adípico en la reacción, ¿Cuál es el rendimiento real de ácido adípico?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p41"/>
          <p:cNvSpPr/>
          <p:nvPr/>
        </p:nvSpPr>
        <p:spPr>
          <a:xfrm>
            <a:off x="1015277" y="1540450"/>
            <a:ext cx="7543800" cy="6546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s-CL" sz="36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2 C</a:t>
            </a:r>
            <a:r>
              <a:rPr b="1" baseline="-25000" i="0" lang="es-CL" sz="36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r>
              <a:rPr b="1" i="0" lang="es-CL" sz="36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b="1" baseline="-25000" i="0" lang="es-CL" sz="36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r>
              <a:rPr b="1" i="0" lang="es-CL" sz="36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 + 5 O </a:t>
            </a:r>
            <a:r>
              <a:rPr b="1" baseline="-25000" i="0" lang="es-CL" sz="36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i="0" lang="es-CL" sz="36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 → 2 H</a:t>
            </a:r>
            <a:r>
              <a:rPr b="1" baseline="-25000" i="0" lang="es-CL" sz="36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i="0" lang="es-CL" sz="36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1" baseline="-25000" i="0" lang="es-CL" sz="36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r>
              <a:rPr b="1" i="0" lang="es-CL" sz="36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b="1" baseline="-25000" i="0" lang="es-CL" sz="36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r>
              <a:rPr b="1" i="0" lang="es-CL" sz="36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b="1" baseline="-25000" i="0" lang="es-CL" sz="36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1" i="0" lang="es-CL" sz="36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 + 2 H</a:t>
            </a:r>
            <a:r>
              <a:rPr b="1" baseline="-25000" i="0" lang="es-CL" sz="36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i="0" lang="es-CL" sz="36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p41"/>
          <p:cNvSpPr txBox="1"/>
          <p:nvPr/>
        </p:nvSpPr>
        <p:spPr>
          <a:xfrm>
            <a:off x="11543369" y="64855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000"/>
              <a:buFont typeface="Lucida Sans"/>
              <a:buNone/>
            </a:pPr>
            <a:fld id="{00000000-1234-1234-1234-123412341234}" type="slidenum">
              <a:rPr b="0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‹#›</a:t>
            </a:fld>
            <a:endParaRPr b="0" i="0" sz="2000" u="none" cap="none" strike="noStrike">
              <a:solidFill>
                <a:srgbClr val="2F5496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1893">
            <a:alpha val="54509"/>
          </a:srgbClr>
        </a:solidFill>
      </p:bgPr>
    </p:bg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42"/>
          <p:cNvSpPr txBox="1"/>
          <p:nvPr>
            <p:ph idx="12" type="sldNum"/>
          </p:nvPr>
        </p:nvSpPr>
        <p:spPr>
          <a:xfrm>
            <a:off x="11390969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000"/>
              <a:buFont typeface="Lucida Sans"/>
              <a:buNone/>
            </a:pPr>
            <a:fld id="{00000000-1234-1234-1234-123412341234}" type="slidenum">
              <a:rPr lang="es-CL" sz="2000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‹#›</a:t>
            </a:fld>
            <a:endParaRPr sz="2000">
              <a:solidFill>
                <a:srgbClr val="2F5496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670" name="Google Shape;670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79280" y="132951"/>
            <a:ext cx="2116765" cy="1058383"/>
          </a:xfrm>
          <a:prstGeom prst="rect">
            <a:avLst/>
          </a:prstGeom>
          <a:noFill/>
          <a:ln>
            <a:noFill/>
          </a:ln>
        </p:spPr>
      </p:pic>
      <p:sp>
        <p:nvSpPr>
          <p:cNvPr id="671" name="Google Shape;671;p42"/>
          <p:cNvSpPr/>
          <p:nvPr/>
        </p:nvSpPr>
        <p:spPr>
          <a:xfrm>
            <a:off x="5604455" y="114308"/>
            <a:ext cx="18473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2F5496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672" name="Google Shape;672;p42"/>
          <p:cNvSpPr/>
          <p:nvPr/>
        </p:nvSpPr>
        <p:spPr>
          <a:xfrm>
            <a:off x="0" y="1987798"/>
            <a:ext cx="9731375" cy="222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446088" lvl="0" marL="11113" marR="0" rtl="0" algn="just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Como la relación estequiométrica entre C</a:t>
            </a:r>
            <a:r>
              <a:rPr b="0" baseline="-25000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6</a:t>
            </a:r>
            <a:r>
              <a:rPr b="0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H</a:t>
            </a:r>
            <a:r>
              <a:rPr b="0" baseline="-25000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12</a:t>
            </a:r>
            <a:r>
              <a:rPr b="0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 y H</a:t>
            </a:r>
            <a:r>
              <a:rPr b="0" baseline="-25000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2</a:t>
            </a:r>
            <a:r>
              <a:rPr b="0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C</a:t>
            </a:r>
            <a:r>
              <a:rPr b="0" baseline="-25000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6</a:t>
            </a:r>
            <a:r>
              <a:rPr b="0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H</a:t>
            </a:r>
            <a:r>
              <a:rPr b="0" baseline="-25000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8</a:t>
            </a:r>
            <a:r>
              <a:rPr b="0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O</a:t>
            </a:r>
            <a:r>
              <a:rPr b="0" baseline="-25000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4</a:t>
            </a:r>
            <a:r>
              <a:rPr b="0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 es igual, los moles del primero serán iguales a los moles del segundo.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2F5496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457200" marR="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Por lo tanto, se tienen 0,3 moles de H</a:t>
            </a:r>
            <a:r>
              <a:rPr b="0" baseline="-25000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2</a:t>
            </a:r>
            <a:r>
              <a:rPr b="0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C</a:t>
            </a:r>
            <a:r>
              <a:rPr b="0" baseline="-25000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6</a:t>
            </a:r>
            <a:r>
              <a:rPr b="0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H</a:t>
            </a:r>
            <a:r>
              <a:rPr b="0" baseline="-25000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8</a:t>
            </a:r>
            <a:r>
              <a:rPr b="0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O</a:t>
            </a:r>
            <a:r>
              <a:rPr b="0" baseline="-25000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baseline="-25000" i="0" sz="2000" u="none" cap="none" strike="noStrike">
              <a:solidFill>
                <a:srgbClr val="2F5496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457200" marR="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baseline="-25000" i="0" sz="2000" u="none" cap="none" strike="noStrike">
              <a:solidFill>
                <a:srgbClr val="2F5496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673" name="Google Shape;673;p42"/>
          <p:cNvSpPr txBox="1"/>
          <p:nvPr/>
        </p:nvSpPr>
        <p:spPr>
          <a:xfrm>
            <a:off x="493753" y="4083810"/>
            <a:ext cx="293039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Cálculo de la masa: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4" name="Google Shape;674;p42"/>
          <p:cNvSpPr txBox="1"/>
          <p:nvPr/>
        </p:nvSpPr>
        <p:spPr>
          <a:xfrm>
            <a:off x="752288" y="415984"/>
            <a:ext cx="53437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Debes calcular los moles de C</a:t>
            </a:r>
            <a:r>
              <a:rPr b="0" baseline="-25000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6</a:t>
            </a:r>
            <a:r>
              <a:rPr b="0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H</a:t>
            </a:r>
            <a:r>
              <a:rPr b="0" baseline="-25000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12</a:t>
            </a:r>
            <a:r>
              <a:rPr b="0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5" name="Google Shape;675;p42"/>
          <p:cNvSpPr/>
          <p:nvPr/>
        </p:nvSpPr>
        <p:spPr>
          <a:xfrm>
            <a:off x="3121740" y="918605"/>
            <a:ext cx="5773845" cy="999376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6" name="Google Shape;676;p42"/>
          <p:cNvSpPr/>
          <p:nvPr/>
        </p:nvSpPr>
        <p:spPr>
          <a:xfrm>
            <a:off x="3690302" y="4397271"/>
            <a:ext cx="5205283" cy="611258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8159" l="-973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" name="Google Shape;677;p42"/>
          <p:cNvSpPr/>
          <p:nvPr/>
        </p:nvSpPr>
        <p:spPr>
          <a:xfrm>
            <a:off x="493753" y="5649491"/>
            <a:ext cx="9577915" cy="792525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7934" l="-394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5A5A5"/>
        </a:solidFill>
      </p:bgPr>
    </p:bg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43"/>
          <p:cNvSpPr txBox="1"/>
          <p:nvPr>
            <p:ph idx="12" type="sldNum"/>
          </p:nvPr>
        </p:nvSpPr>
        <p:spPr>
          <a:xfrm>
            <a:off x="11390969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ucida Sans"/>
              <a:buNone/>
            </a:pPr>
            <a:fld id="{00000000-1234-1234-1234-123412341234}" type="slidenum">
              <a:rPr lang="es-CL" sz="20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‹#›</a:t>
            </a:fld>
            <a:endParaRPr sz="20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683" name="Google Shape;683;p43"/>
          <p:cNvSpPr txBox="1"/>
          <p:nvPr/>
        </p:nvSpPr>
        <p:spPr>
          <a:xfrm>
            <a:off x="1059119" y="3057902"/>
            <a:ext cx="10593823" cy="9952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67"/>
              <a:buFont typeface="Arial"/>
              <a:buNone/>
            </a:pPr>
            <a:r>
              <a:rPr b="0" i="0" lang="es-CL" sz="5867" u="none" cap="none" strike="noStrike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Ejercicios Propuestos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84" name="Google Shape;684;p43"/>
          <p:cNvGrpSpPr/>
          <p:nvPr/>
        </p:nvGrpSpPr>
        <p:grpSpPr>
          <a:xfrm>
            <a:off x="5623014" y="1377791"/>
            <a:ext cx="949919" cy="978720"/>
            <a:chOff x="3951850" y="2985350"/>
            <a:chExt cx="407950" cy="416500"/>
          </a:xfrm>
        </p:grpSpPr>
        <p:sp>
          <p:nvSpPr>
            <p:cNvPr id="685" name="Google Shape;685;p43"/>
            <p:cNvSpPr/>
            <p:nvPr/>
          </p:nvSpPr>
          <p:spPr>
            <a:xfrm>
              <a:off x="3951850" y="2985350"/>
              <a:ext cx="314800" cy="314825"/>
            </a:xfrm>
            <a:custGeom>
              <a:rect b="b" l="l" r="r" t="t"/>
              <a:pathLst>
                <a:path extrusionOk="0" fill="none" h="12593" w="12592">
                  <a:moveTo>
                    <a:pt x="6284" y="1"/>
                  </a:moveTo>
                  <a:lnTo>
                    <a:pt x="6284" y="1"/>
                  </a:lnTo>
                  <a:lnTo>
                    <a:pt x="5967" y="25"/>
                  </a:lnTo>
                  <a:lnTo>
                    <a:pt x="5651" y="49"/>
                  </a:lnTo>
                  <a:lnTo>
                    <a:pt x="5334" y="74"/>
                  </a:lnTo>
                  <a:lnTo>
                    <a:pt x="5017" y="147"/>
                  </a:lnTo>
                  <a:lnTo>
                    <a:pt x="4725" y="220"/>
                  </a:lnTo>
                  <a:lnTo>
                    <a:pt x="4433" y="293"/>
                  </a:lnTo>
                  <a:lnTo>
                    <a:pt x="4141" y="390"/>
                  </a:lnTo>
                  <a:lnTo>
                    <a:pt x="3848" y="512"/>
                  </a:lnTo>
                  <a:lnTo>
                    <a:pt x="3556" y="634"/>
                  </a:lnTo>
                  <a:lnTo>
                    <a:pt x="3288" y="780"/>
                  </a:lnTo>
                  <a:lnTo>
                    <a:pt x="3020" y="926"/>
                  </a:lnTo>
                  <a:lnTo>
                    <a:pt x="2777" y="1072"/>
                  </a:lnTo>
                  <a:lnTo>
                    <a:pt x="2290" y="1437"/>
                  </a:lnTo>
                  <a:lnTo>
                    <a:pt x="1851" y="1852"/>
                  </a:lnTo>
                  <a:lnTo>
                    <a:pt x="1437" y="2290"/>
                  </a:lnTo>
                  <a:lnTo>
                    <a:pt x="1072" y="2777"/>
                  </a:lnTo>
                  <a:lnTo>
                    <a:pt x="901" y="3045"/>
                  </a:lnTo>
                  <a:lnTo>
                    <a:pt x="755" y="3313"/>
                  </a:lnTo>
                  <a:lnTo>
                    <a:pt x="609" y="3581"/>
                  </a:lnTo>
                  <a:lnTo>
                    <a:pt x="487" y="3849"/>
                  </a:lnTo>
                  <a:lnTo>
                    <a:pt x="390" y="4141"/>
                  </a:lnTo>
                  <a:lnTo>
                    <a:pt x="292" y="4433"/>
                  </a:lnTo>
                  <a:lnTo>
                    <a:pt x="195" y="4725"/>
                  </a:lnTo>
                  <a:lnTo>
                    <a:pt x="122" y="5042"/>
                  </a:lnTo>
                  <a:lnTo>
                    <a:pt x="73" y="5334"/>
                  </a:lnTo>
                  <a:lnTo>
                    <a:pt x="25" y="5651"/>
                  </a:lnTo>
                  <a:lnTo>
                    <a:pt x="0" y="5968"/>
                  </a:lnTo>
                  <a:lnTo>
                    <a:pt x="0" y="6308"/>
                  </a:lnTo>
                  <a:lnTo>
                    <a:pt x="0" y="6308"/>
                  </a:lnTo>
                  <a:lnTo>
                    <a:pt x="0" y="6625"/>
                  </a:lnTo>
                  <a:lnTo>
                    <a:pt x="25" y="6942"/>
                  </a:lnTo>
                  <a:lnTo>
                    <a:pt x="73" y="7258"/>
                  </a:lnTo>
                  <a:lnTo>
                    <a:pt x="122" y="7575"/>
                  </a:lnTo>
                  <a:lnTo>
                    <a:pt x="195" y="7867"/>
                  </a:lnTo>
                  <a:lnTo>
                    <a:pt x="292" y="8184"/>
                  </a:lnTo>
                  <a:lnTo>
                    <a:pt x="390" y="8476"/>
                  </a:lnTo>
                  <a:lnTo>
                    <a:pt x="487" y="8744"/>
                  </a:lnTo>
                  <a:lnTo>
                    <a:pt x="609" y="9036"/>
                  </a:lnTo>
                  <a:lnTo>
                    <a:pt x="755" y="9304"/>
                  </a:lnTo>
                  <a:lnTo>
                    <a:pt x="901" y="9572"/>
                  </a:lnTo>
                  <a:lnTo>
                    <a:pt x="1072" y="9816"/>
                  </a:lnTo>
                  <a:lnTo>
                    <a:pt x="1437" y="10303"/>
                  </a:lnTo>
                  <a:lnTo>
                    <a:pt x="1851" y="10741"/>
                  </a:lnTo>
                  <a:lnTo>
                    <a:pt x="2290" y="11155"/>
                  </a:lnTo>
                  <a:lnTo>
                    <a:pt x="2777" y="11520"/>
                  </a:lnTo>
                  <a:lnTo>
                    <a:pt x="3020" y="11691"/>
                  </a:lnTo>
                  <a:lnTo>
                    <a:pt x="3288" y="11837"/>
                  </a:lnTo>
                  <a:lnTo>
                    <a:pt x="3556" y="11983"/>
                  </a:lnTo>
                  <a:lnTo>
                    <a:pt x="3848" y="12105"/>
                  </a:lnTo>
                  <a:lnTo>
                    <a:pt x="4141" y="12202"/>
                  </a:lnTo>
                  <a:lnTo>
                    <a:pt x="4433" y="12300"/>
                  </a:lnTo>
                  <a:lnTo>
                    <a:pt x="4725" y="12397"/>
                  </a:lnTo>
                  <a:lnTo>
                    <a:pt x="5017" y="12470"/>
                  </a:lnTo>
                  <a:lnTo>
                    <a:pt x="5334" y="12519"/>
                  </a:lnTo>
                  <a:lnTo>
                    <a:pt x="5651" y="12568"/>
                  </a:lnTo>
                  <a:lnTo>
                    <a:pt x="5967" y="12592"/>
                  </a:lnTo>
                  <a:lnTo>
                    <a:pt x="6284" y="12592"/>
                  </a:lnTo>
                  <a:lnTo>
                    <a:pt x="6284" y="12592"/>
                  </a:lnTo>
                  <a:lnTo>
                    <a:pt x="6625" y="12592"/>
                  </a:lnTo>
                  <a:lnTo>
                    <a:pt x="6941" y="12568"/>
                  </a:lnTo>
                  <a:lnTo>
                    <a:pt x="7258" y="12519"/>
                  </a:lnTo>
                  <a:lnTo>
                    <a:pt x="7550" y="12470"/>
                  </a:lnTo>
                  <a:lnTo>
                    <a:pt x="7867" y="12397"/>
                  </a:lnTo>
                  <a:lnTo>
                    <a:pt x="8159" y="12300"/>
                  </a:lnTo>
                  <a:lnTo>
                    <a:pt x="8451" y="12202"/>
                  </a:lnTo>
                  <a:lnTo>
                    <a:pt x="8744" y="12105"/>
                  </a:lnTo>
                  <a:lnTo>
                    <a:pt x="9012" y="11983"/>
                  </a:lnTo>
                  <a:lnTo>
                    <a:pt x="9279" y="11837"/>
                  </a:lnTo>
                  <a:lnTo>
                    <a:pt x="9547" y="11691"/>
                  </a:lnTo>
                  <a:lnTo>
                    <a:pt x="9815" y="11520"/>
                  </a:lnTo>
                  <a:lnTo>
                    <a:pt x="10302" y="11155"/>
                  </a:lnTo>
                  <a:lnTo>
                    <a:pt x="10741" y="10741"/>
                  </a:lnTo>
                  <a:lnTo>
                    <a:pt x="11155" y="10303"/>
                  </a:lnTo>
                  <a:lnTo>
                    <a:pt x="11520" y="9816"/>
                  </a:lnTo>
                  <a:lnTo>
                    <a:pt x="11666" y="9572"/>
                  </a:lnTo>
                  <a:lnTo>
                    <a:pt x="11812" y="9304"/>
                  </a:lnTo>
                  <a:lnTo>
                    <a:pt x="11958" y="9036"/>
                  </a:lnTo>
                  <a:lnTo>
                    <a:pt x="12080" y="8744"/>
                  </a:lnTo>
                  <a:lnTo>
                    <a:pt x="12202" y="8476"/>
                  </a:lnTo>
                  <a:lnTo>
                    <a:pt x="12299" y="8184"/>
                  </a:lnTo>
                  <a:lnTo>
                    <a:pt x="12397" y="7867"/>
                  </a:lnTo>
                  <a:lnTo>
                    <a:pt x="12446" y="7575"/>
                  </a:lnTo>
                  <a:lnTo>
                    <a:pt x="12519" y="7258"/>
                  </a:lnTo>
                  <a:lnTo>
                    <a:pt x="12543" y="6942"/>
                  </a:lnTo>
                  <a:lnTo>
                    <a:pt x="12567" y="6625"/>
                  </a:lnTo>
                  <a:lnTo>
                    <a:pt x="12592" y="6308"/>
                  </a:lnTo>
                  <a:lnTo>
                    <a:pt x="12592" y="6308"/>
                  </a:lnTo>
                  <a:lnTo>
                    <a:pt x="12567" y="5968"/>
                  </a:lnTo>
                  <a:lnTo>
                    <a:pt x="12543" y="5651"/>
                  </a:lnTo>
                  <a:lnTo>
                    <a:pt x="12519" y="5334"/>
                  </a:lnTo>
                  <a:lnTo>
                    <a:pt x="12446" y="5042"/>
                  </a:lnTo>
                  <a:lnTo>
                    <a:pt x="12397" y="4725"/>
                  </a:lnTo>
                  <a:lnTo>
                    <a:pt x="12299" y="4433"/>
                  </a:lnTo>
                  <a:lnTo>
                    <a:pt x="12202" y="4141"/>
                  </a:lnTo>
                  <a:lnTo>
                    <a:pt x="12080" y="3849"/>
                  </a:lnTo>
                  <a:lnTo>
                    <a:pt x="11958" y="3581"/>
                  </a:lnTo>
                  <a:lnTo>
                    <a:pt x="11812" y="3313"/>
                  </a:lnTo>
                  <a:lnTo>
                    <a:pt x="11666" y="3045"/>
                  </a:lnTo>
                  <a:lnTo>
                    <a:pt x="11520" y="2777"/>
                  </a:lnTo>
                  <a:lnTo>
                    <a:pt x="11155" y="2290"/>
                  </a:lnTo>
                  <a:lnTo>
                    <a:pt x="10741" y="1852"/>
                  </a:lnTo>
                  <a:lnTo>
                    <a:pt x="10302" y="1437"/>
                  </a:lnTo>
                  <a:lnTo>
                    <a:pt x="9815" y="1072"/>
                  </a:lnTo>
                  <a:lnTo>
                    <a:pt x="9547" y="926"/>
                  </a:lnTo>
                  <a:lnTo>
                    <a:pt x="9279" y="780"/>
                  </a:lnTo>
                  <a:lnTo>
                    <a:pt x="9012" y="634"/>
                  </a:lnTo>
                  <a:lnTo>
                    <a:pt x="8744" y="512"/>
                  </a:lnTo>
                  <a:lnTo>
                    <a:pt x="8451" y="390"/>
                  </a:lnTo>
                  <a:lnTo>
                    <a:pt x="8159" y="293"/>
                  </a:lnTo>
                  <a:lnTo>
                    <a:pt x="7867" y="220"/>
                  </a:lnTo>
                  <a:lnTo>
                    <a:pt x="7550" y="147"/>
                  </a:lnTo>
                  <a:lnTo>
                    <a:pt x="7258" y="74"/>
                  </a:lnTo>
                  <a:lnTo>
                    <a:pt x="6941" y="49"/>
                  </a:lnTo>
                  <a:lnTo>
                    <a:pt x="6625" y="25"/>
                  </a:lnTo>
                  <a:lnTo>
                    <a:pt x="6284" y="1"/>
                  </a:lnTo>
                  <a:lnTo>
                    <a:pt x="6284" y="1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6" name="Google Shape;686;p43"/>
            <p:cNvSpPr/>
            <p:nvPr/>
          </p:nvSpPr>
          <p:spPr>
            <a:xfrm>
              <a:off x="3988375" y="3021875"/>
              <a:ext cx="241750" cy="241750"/>
            </a:xfrm>
            <a:custGeom>
              <a:rect b="b" l="l" r="r" t="t"/>
              <a:pathLst>
                <a:path extrusionOk="0" fill="none" h="9670" w="9670">
                  <a:moveTo>
                    <a:pt x="4823" y="1"/>
                  </a:moveTo>
                  <a:lnTo>
                    <a:pt x="4823" y="1"/>
                  </a:lnTo>
                  <a:lnTo>
                    <a:pt x="4336" y="25"/>
                  </a:lnTo>
                  <a:lnTo>
                    <a:pt x="3849" y="98"/>
                  </a:lnTo>
                  <a:lnTo>
                    <a:pt x="3386" y="220"/>
                  </a:lnTo>
                  <a:lnTo>
                    <a:pt x="2947" y="391"/>
                  </a:lnTo>
                  <a:lnTo>
                    <a:pt x="2533" y="585"/>
                  </a:lnTo>
                  <a:lnTo>
                    <a:pt x="2144" y="829"/>
                  </a:lnTo>
                  <a:lnTo>
                    <a:pt x="1754" y="1121"/>
                  </a:lnTo>
                  <a:lnTo>
                    <a:pt x="1413" y="1438"/>
                  </a:lnTo>
                  <a:lnTo>
                    <a:pt x="1096" y="1779"/>
                  </a:lnTo>
                  <a:lnTo>
                    <a:pt x="829" y="2144"/>
                  </a:lnTo>
                  <a:lnTo>
                    <a:pt x="585" y="2534"/>
                  </a:lnTo>
                  <a:lnTo>
                    <a:pt x="390" y="2972"/>
                  </a:lnTo>
                  <a:lnTo>
                    <a:pt x="220" y="3411"/>
                  </a:lnTo>
                  <a:lnTo>
                    <a:pt x="98" y="3873"/>
                  </a:lnTo>
                  <a:lnTo>
                    <a:pt x="25" y="4336"/>
                  </a:lnTo>
                  <a:lnTo>
                    <a:pt x="1" y="4847"/>
                  </a:lnTo>
                  <a:lnTo>
                    <a:pt x="1" y="4847"/>
                  </a:lnTo>
                  <a:lnTo>
                    <a:pt x="25" y="5335"/>
                  </a:lnTo>
                  <a:lnTo>
                    <a:pt x="98" y="5822"/>
                  </a:lnTo>
                  <a:lnTo>
                    <a:pt x="220" y="6284"/>
                  </a:lnTo>
                  <a:lnTo>
                    <a:pt x="390" y="6723"/>
                  </a:lnTo>
                  <a:lnTo>
                    <a:pt x="585" y="7137"/>
                  </a:lnTo>
                  <a:lnTo>
                    <a:pt x="829" y="7527"/>
                  </a:lnTo>
                  <a:lnTo>
                    <a:pt x="1096" y="7916"/>
                  </a:lnTo>
                  <a:lnTo>
                    <a:pt x="1413" y="8257"/>
                  </a:lnTo>
                  <a:lnTo>
                    <a:pt x="1754" y="8574"/>
                  </a:lnTo>
                  <a:lnTo>
                    <a:pt x="2144" y="8842"/>
                  </a:lnTo>
                  <a:lnTo>
                    <a:pt x="2533" y="9085"/>
                  </a:lnTo>
                  <a:lnTo>
                    <a:pt x="2947" y="9280"/>
                  </a:lnTo>
                  <a:lnTo>
                    <a:pt x="3386" y="9451"/>
                  </a:lnTo>
                  <a:lnTo>
                    <a:pt x="3849" y="9572"/>
                  </a:lnTo>
                  <a:lnTo>
                    <a:pt x="4336" y="9645"/>
                  </a:lnTo>
                  <a:lnTo>
                    <a:pt x="4823" y="9670"/>
                  </a:lnTo>
                  <a:lnTo>
                    <a:pt x="4823" y="9670"/>
                  </a:lnTo>
                  <a:lnTo>
                    <a:pt x="5334" y="9645"/>
                  </a:lnTo>
                  <a:lnTo>
                    <a:pt x="5797" y="9572"/>
                  </a:lnTo>
                  <a:lnTo>
                    <a:pt x="6260" y="9451"/>
                  </a:lnTo>
                  <a:lnTo>
                    <a:pt x="6698" y="9280"/>
                  </a:lnTo>
                  <a:lnTo>
                    <a:pt x="7136" y="9085"/>
                  </a:lnTo>
                  <a:lnTo>
                    <a:pt x="7526" y="8842"/>
                  </a:lnTo>
                  <a:lnTo>
                    <a:pt x="7892" y="8574"/>
                  </a:lnTo>
                  <a:lnTo>
                    <a:pt x="8232" y="8257"/>
                  </a:lnTo>
                  <a:lnTo>
                    <a:pt x="8549" y="7916"/>
                  </a:lnTo>
                  <a:lnTo>
                    <a:pt x="8841" y="7527"/>
                  </a:lnTo>
                  <a:lnTo>
                    <a:pt x="9085" y="7137"/>
                  </a:lnTo>
                  <a:lnTo>
                    <a:pt x="9280" y="6723"/>
                  </a:lnTo>
                  <a:lnTo>
                    <a:pt x="9450" y="6284"/>
                  </a:lnTo>
                  <a:lnTo>
                    <a:pt x="9572" y="5822"/>
                  </a:lnTo>
                  <a:lnTo>
                    <a:pt x="9645" y="5335"/>
                  </a:lnTo>
                  <a:lnTo>
                    <a:pt x="9669" y="4847"/>
                  </a:lnTo>
                  <a:lnTo>
                    <a:pt x="9669" y="4847"/>
                  </a:lnTo>
                  <a:lnTo>
                    <a:pt x="9645" y="4336"/>
                  </a:lnTo>
                  <a:lnTo>
                    <a:pt x="9572" y="3873"/>
                  </a:lnTo>
                  <a:lnTo>
                    <a:pt x="9450" y="3411"/>
                  </a:lnTo>
                  <a:lnTo>
                    <a:pt x="9280" y="2972"/>
                  </a:lnTo>
                  <a:lnTo>
                    <a:pt x="9085" y="2534"/>
                  </a:lnTo>
                  <a:lnTo>
                    <a:pt x="8841" y="2144"/>
                  </a:lnTo>
                  <a:lnTo>
                    <a:pt x="8549" y="1779"/>
                  </a:lnTo>
                  <a:lnTo>
                    <a:pt x="8232" y="1438"/>
                  </a:lnTo>
                  <a:lnTo>
                    <a:pt x="7892" y="1121"/>
                  </a:lnTo>
                  <a:lnTo>
                    <a:pt x="7526" y="829"/>
                  </a:lnTo>
                  <a:lnTo>
                    <a:pt x="7136" y="585"/>
                  </a:lnTo>
                  <a:lnTo>
                    <a:pt x="6698" y="391"/>
                  </a:lnTo>
                  <a:lnTo>
                    <a:pt x="6260" y="220"/>
                  </a:lnTo>
                  <a:lnTo>
                    <a:pt x="5797" y="98"/>
                  </a:lnTo>
                  <a:lnTo>
                    <a:pt x="5334" y="25"/>
                  </a:lnTo>
                  <a:lnTo>
                    <a:pt x="4823" y="1"/>
                  </a:lnTo>
                  <a:lnTo>
                    <a:pt x="4823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7" name="Google Shape;687;p43"/>
            <p:cNvSpPr/>
            <p:nvPr/>
          </p:nvSpPr>
          <p:spPr>
            <a:xfrm>
              <a:off x="4024300" y="3058425"/>
              <a:ext cx="84650" cy="84650"/>
            </a:xfrm>
            <a:custGeom>
              <a:rect b="b" l="l" r="r" t="t"/>
              <a:pathLst>
                <a:path extrusionOk="0" fill="none" h="3386" w="3386">
                  <a:moveTo>
                    <a:pt x="0" y="3385"/>
                  </a:moveTo>
                  <a:lnTo>
                    <a:pt x="0" y="3385"/>
                  </a:lnTo>
                  <a:lnTo>
                    <a:pt x="25" y="3020"/>
                  </a:lnTo>
                  <a:lnTo>
                    <a:pt x="74" y="2704"/>
                  </a:lnTo>
                  <a:lnTo>
                    <a:pt x="147" y="2363"/>
                  </a:lnTo>
                  <a:lnTo>
                    <a:pt x="268" y="2070"/>
                  </a:lnTo>
                  <a:lnTo>
                    <a:pt x="414" y="1754"/>
                  </a:lnTo>
                  <a:lnTo>
                    <a:pt x="585" y="1486"/>
                  </a:lnTo>
                  <a:lnTo>
                    <a:pt x="780" y="1218"/>
                  </a:lnTo>
                  <a:lnTo>
                    <a:pt x="999" y="974"/>
                  </a:lnTo>
                  <a:lnTo>
                    <a:pt x="1243" y="755"/>
                  </a:lnTo>
                  <a:lnTo>
                    <a:pt x="1510" y="560"/>
                  </a:lnTo>
                  <a:lnTo>
                    <a:pt x="1778" y="390"/>
                  </a:lnTo>
                  <a:lnTo>
                    <a:pt x="2071" y="244"/>
                  </a:lnTo>
                  <a:lnTo>
                    <a:pt x="2387" y="146"/>
                  </a:lnTo>
                  <a:lnTo>
                    <a:pt x="2704" y="49"/>
                  </a:lnTo>
                  <a:lnTo>
                    <a:pt x="3045" y="0"/>
                  </a:lnTo>
                  <a:lnTo>
                    <a:pt x="3386" y="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8" name="Google Shape;688;p43"/>
            <p:cNvSpPr/>
            <p:nvPr/>
          </p:nvSpPr>
          <p:spPr>
            <a:xfrm>
              <a:off x="4205750" y="3248375"/>
              <a:ext cx="154050" cy="153475"/>
            </a:xfrm>
            <a:custGeom>
              <a:rect b="b" l="l" r="r" t="t"/>
              <a:pathLst>
                <a:path extrusionOk="0" fill="none" h="6139" w="6162">
                  <a:moveTo>
                    <a:pt x="0" y="1024"/>
                  </a:moveTo>
                  <a:lnTo>
                    <a:pt x="4969" y="5992"/>
                  </a:lnTo>
                  <a:lnTo>
                    <a:pt x="4969" y="5992"/>
                  </a:lnTo>
                  <a:lnTo>
                    <a:pt x="5042" y="6041"/>
                  </a:lnTo>
                  <a:lnTo>
                    <a:pt x="5115" y="6090"/>
                  </a:lnTo>
                  <a:lnTo>
                    <a:pt x="5212" y="6114"/>
                  </a:lnTo>
                  <a:lnTo>
                    <a:pt x="5310" y="6138"/>
                  </a:lnTo>
                  <a:lnTo>
                    <a:pt x="5407" y="6114"/>
                  </a:lnTo>
                  <a:lnTo>
                    <a:pt x="5480" y="6090"/>
                  </a:lnTo>
                  <a:lnTo>
                    <a:pt x="5577" y="6041"/>
                  </a:lnTo>
                  <a:lnTo>
                    <a:pt x="5651" y="5992"/>
                  </a:lnTo>
                  <a:lnTo>
                    <a:pt x="6016" y="5627"/>
                  </a:lnTo>
                  <a:lnTo>
                    <a:pt x="6016" y="5627"/>
                  </a:lnTo>
                  <a:lnTo>
                    <a:pt x="6089" y="5554"/>
                  </a:lnTo>
                  <a:lnTo>
                    <a:pt x="6138" y="5456"/>
                  </a:lnTo>
                  <a:lnTo>
                    <a:pt x="6162" y="5359"/>
                  </a:lnTo>
                  <a:lnTo>
                    <a:pt x="6162" y="5286"/>
                  </a:lnTo>
                  <a:lnTo>
                    <a:pt x="6162" y="5188"/>
                  </a:lnTo>
                  <a:lnTo>
                    <a:pt x="6138" y="5091"/>
                  </a:lnTo>
                  <a:lnTo>
                    <a:pt x="6089" y="5018"/>
                  </a:lnTo>
                  <a:lnTo>
                    <a:pt x="6016" y="4921"/>
                  </a:lnTo>
                  <a:lnTo>
                    <a:pt x="1072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689" name="Google Shape;689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21706" y="135466"/>
            <a:ext cx="2116765" cy="1058383"/>
          </a:xfrm>
          <a:prstGeom prst="rect">
            <a:avLst/>
          </a:prstGeom>
          <a:noFill/>
          <a:ln>
            <a:noFill/>
          </a:ln>
        </p:spPr>
      </p:pic>
      <p:sp>
        <p:nvSpPr>
          <p:cNvPr id="690" name="Google Shape;690;p43"/>
          <p:cNvSpPr txBox="1"/>
          <p:nvPr/>
        </p:nvSpPr>
        <p:spPr>
          <a:xfrm>
            <a:off x="4311027" y="4754502"/>
            <a:ext cx="7445742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s-CL" sz="6000" u="none" cap="none" strike="noStrike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Estequiometría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97979"/>
        </a:solidFill>
      </p:bgPr>
    </p:bg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44"/>
          <p:cNvSpPr txBox="1"/>
          <p:nvPr>
            <p:ph idx="12" type="sldNum"/>
          </p:nvPr>
        </p:nvSpPr>
        <p:spPr>
          <a:xfrm>
            <a:off x="11390969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ucida Sans"/>
              <a:buNone/>
            </a:pPr>
            <a:fld id="{00000000-1234-1234-1234-123412341234}" type="slidenum">
              <a:rPr lang="es-CL" sz="20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‹#›</a:t>
            </a:fld>
            <a:endParaRPr sz="20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696" name="Google Shape;696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79280" y="132951"/>
            <a:ext cx="2116765" cy="1058383"/>
          </a:xfrm>
          <a:prstGeom prst="rect">
            <a:avLst/>
          </a:prstGeom>
          <a:noFill/>
          <a:ln>
            <a:noFill/>
          </a:ln>
        </p:spPr>
      </p:pic>
      <p:sp>
        <p:nvSpPr>
          <p:cNvPr id="697" name="Google Shape;697;p44"/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FF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698" name="Google Shape;698;p44"/>
          <p:cNvSpPr/>
          <p:nvPr/>
        </p:nvSpPr>
        <p:spPr>
          <a:xfrm>
            <a:off x="5604455" y="114308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FF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699" name="Google Shape;699;p44"/>
          <p:cNvSpPr txBox="1"/>
          <p:nvPr/>
        </p:nvSpPr>
        <p:spPr>
          <a:xfrm>
            <a:off x="317500" y="483640"/>
            <a:ext cx="9118600" cy="46281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L" sz="1800" u="none" cap="none" strike="noStrike">
                <a:solidFill>
                  <a:srgbClr val="797979"/>
                </a:solidFill>
                <a:latin typeface="Lucida Sans"/>
                <a:ea typeface="Lucida Sans"/>
                <a:cs typeface="Lucida Sans"/>
                <a:sym typeface="Lucida Sans"/>
              </a:rPr>
              <a:t>1.- </a:t>
            </a:r>
            <a:r>
              <a:rPr b="0" i="0" lang="es-CL" sz="18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Imagine que está trabajando sobre la forma de mejorar el proceso mediante el cual el mineral de hierro, que contiene Fe</a:t>
            </a:r>
            <a:r>
              <a:rPr b="0" baseline="-25000" i="0" lang="es-CL" sz="18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2</a:t>
            </a:r>
            <a:r>
              <a:rPr b="0" i="0" lang="es-CL" sz="18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O</a:t>
            </a:r>
            <a:r>
              <a:rPr b="0" baseline="-25000" i="0" lang="es-CL" sz="18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3</a:t>
            </a:r>
            <a:r>
              <a:rPr b="0" i="0" lang="es-CL" sz="18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 se convierte en hierro. En sus ensayos, realiza la reacción siguiente a pequeña escala.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2F5496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2F5496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2F5496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2F5496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Si la parte de 150 g de Fe</a:t>
            </a:r>
            <a:r>
              <a:rPr b="0" baseline="-25000" i="0" lang="es-CL" sz="18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2</a:t>
            </a:r>
            <a:r>
              <a:rPr b="0" i="0" lang="es-CL" sz="18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O</a:t>
            </a:r>
            <a:r>
              <a:rPr b="0" baseline="-25000" i="0" lang="es-CL" sz="18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3</a:t>
            </a:r>
            <a:r>
              <a:rPr b="0" i="0" lang="es-CL" sz="18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 como reactivo limitante, ¿Cuál es el rendimiento teórico de Fe?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Si el rendimiento real de Fe en su ensayo fue de 87,9 g ¿Cuál fue el porcentaje de rendimiento?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p44"/>
          <p:cNvSpPr/>
          <p:nvPr/>
        </p:nvSpPr>
        <p:spPr>
          <a:xfrm>
            <a:off x="1223420" y="2320692"/>
            <a:ext cx="7710765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s-CL" sz="32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Fe</a:t>
            </a:r>
            <a:r>
              <a:rPr b="1" baseline="-25000" i="0" lang="es-CL" sz="32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2</a:t>
            </a:r>
            <a:r>
              <a:rPr b="1" i="0" lang="es-CL" sz="32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O</a:t>
            </a:r>
            <a:r>
              <a:rPr b="1" baseline="-25000" i="0" lang="es-CL" sz="32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3(s)  </a:t>
            </a:r>
            <a:r>
              <a:rPr b="1" i="0" lang="es-CL" sz="32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+ 3CO</a:t>
            </a:r>
            <a:r>
              <a:rPr b="1" baseline="-25000" i="0" lang="es-CL" sz="32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(g)  </a:t>
            </a:r>
            <a:r>
              <a:rPr b="1" i="0" lang="es-CL" sz="32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→ 2 Fe</a:t>
            </a:r>
            <a:r>
              <a:rPr b="1" baseline="-25000" i="0" lang="es-CL" sz="32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(s)  </a:t>
            </a:r>
            <a:r>
              <a:rPr b="1" i="0" lang="es-CL" sz="32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+  3 CO</a:t>
            </a:r>
            <a:r>
              <a:rPr b="1" baseline="-25000" i="0" lang="es-CL" sz="32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2(g)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9300"/>
        </a:solidFill>
      </p:bgPr>
    </p:bg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g217eded2196_0_14"/>
          <p:cNvSpPr txBox="1"/>
          <p:nvPr>
            <p:ph idx="12" type="sldNum"/>
          </p:nvPr>
        </p:nvSpPr>
        <p:spPr>
          <a:xfrm>
            <a:off x="11390969" y="6333135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Lucida Sans"/>
              <a:buNone/>
            </a:pPr>
            <a:fld id="{00000000-1234-1234-1234-123412341234}" type="slidenum">
              <a:rPr b="0" i="0" lang="es-CL" sz="2000" u="none" cap="none" strike="noStrike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rPr>
              <a:t>‹#›</a:t>
            </a:fld>
            <a:endParaRPr b="0" i="0" sz="2000" u="none" cap="none" strike="noStrike">
              <a:solidFill>
                <a:srgbClr val="FFFFFF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706" name="Google Shape;706;g217eded2196_0_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79280" y="132951"/>
            <a:ext cx="2116762" cy="1058385"/>
          </a:xfrm>
          <a:prstGeom prst="rect">
            <a:avLst/>
          </a:prstGeom>
          <a:noFill/>
          <a:ln>
            <a:noFill/>
          </a:ln>
        </p:spPr>
      </p:pic>
      <p:sp>
        <p:nvSpPr>
          <p:cNvPr id="707" name="Google Shape;707;g217eded2196_0_14"/>
          <p:cNvSpPr txBox="1"/>
          <p:nvPr/>
        </p:nvSpPr>
        <p:spPr>
          <a:xfrm>
            <a:off x="4567397" y="5237922"/>
            <a:ext cx="74457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Karla"/>
              <a:buNone/>
            </a:pPr>
            <a:r>
              <a:rPr b="1" i="0" lang="es-CL" sz="6000" u="none" cap="none" strike="noStrike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Estequiometría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08" name="Google Shape;708;g217eded2196_0_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9058" y="1908675"/>
            <a:ext cx="6400801" cy="28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9300">
            <a:alpha val="54509"/>
          </a:srgbClr>
        </a:solidFill>
      </p:bgPr>
    </p:bg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46"/>
          <p:cNvSpPr txBox="1"/>
          <p:nvPr>
            <p:ph idx="12" type="sldNum"/>
          </p:nvPr>
        </p:nvSpPr>
        <p:spPr>
          <a:xfrm>
            <a:off x="11390969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Lucida Sans"/>
              <a:buNone/>
            </a:pPr>
            <a:fld id="{00000000-1234-1234-1234-123412341234}" type="slidenum">
              <a:rPr lang="es-CL" sz="2000">
                <a:latin typeface="Lucida Sans"/>
                <a:ea typeface="Lucida Sans"/>
                <a:cs typeface="Lucida Sans"/>
                <a:sym typeface="Lucida Sans"/>
              </a:rPr>
              <a:t>‹#›</a:t>
            </a:fld>
            <a:endParaRPr sz="2000"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714" name="Google Shape;714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79280" y="132951"/>
            <a:ext cx="2116765" cy="1058383"/>
          </a:xfrm>
          <a:prstGeom prst="rect">
            <a:avLst/>
          </a:prstGeom>
          <a:noFill/>
          <a:ln>
            <a:noFill/>
          </a:ln>
        </p:spPr>
      </p:pic>
      <p:sp>
        <p:nvSpPr>
          <p:cNvPr id="715" name="Google Shape;715;p46"/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FF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716" name="Google Shape;716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8823" y="933109"/>
            <a:ext cx="5847177" cy="3654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7" name="Google Shape;717;p46"/>
          <p:cNvSpPr/>
          <p:nvPr/>
        </p:nvSpPr>
        <p:spPr>
          <a:xfrm>
            <a:off x="95955" y="152424"/>
            <a:ext cx="414889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2F92"/>
              </a:buClr>
              <a:buSzPts val="3200"/>
              <a:buFont typeface="Arial"/>
              <a:buNone/>
            </a:pPr>
            <a:r>
              <a:rPr b="1" i="0" lang="es-CL" sz="3200" u="none" cap="none" strike="noStrike">
                <a:solidFill>
                  <a:srgbClr val="FF2F92"/>
                </a:solidFill>
                <a:latin typeface="Lucida Sans"/>
                <a:ea typeface="Lucida Sans"/>
                <a:cs typeface="Lucida Sans"/>
                <a:sym typeface="Lucida Sans"/>
              </a:rPr>
              <a:t>Pureza de Reactivos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8" name="Google Shape;718;p46"/>
          <p:cNvSpPr txBox="1"/>
          <p:nvPr/>
        </p:nvSpPr>
        <p:spPr>
          <a:xfrm>
            <a:off x="6267452" y="1175410"/>
            <a:ext cx="3196691" cy="3477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La caliza es la base para la obtención del oxido de calcio, componente esencial del cemento.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Está formada en un 90% de carbonato de calcio, además de otras sustancias que no reaccionan y que por lo tanto, no son de nuestro interés.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esultado de imagen de anillo de oro" id="719" name="Google Shape;719;p46"/>
          <p:cNvPicPr preferRelativeResize="0"/>
          <p:nvPr/>
        </p:nvPicPr>
        <p:blipFill rotWithShape="1">
          <a:blip r:embed="rId5">
            <a:alphaModFix/>
          </a:blip>
          <a:srcRect b="8983" l="10151" r="9169" t="2672"/>
          <a:stretch/>
        </p:blipFill>
        <p:spPr>
          <a:xfrm>
            <a:off x="8269608" y="4521797"/>
            <a:ext cx="1955800" cy="2141526"/>
          </a:xfrm>
          <a:prstGeom prst="rect">
            <a:avLst/>
          </a:prstGeom>
          <a:noFill/>
          <a:ln>
            <a:noFill/>
          </a:ln>
        </p:spPr>
      </p:pic>
      <p:sp>
        <p:nvSpPr>
          <p:cNvPr id="720" name="Google Shape;720;p46"/>
          <p:cNvSpPr txBox="1"/>
          <p:nvPr/>
        </p:nvSpPr>
        <p:spPr>
          <a:xfrm>
            <a:off x="1212586" y="5452517"/>
            <a:ext cx="6653211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2F92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rgbClr val="FF2F92"/>
                </a:solidFill>
                <a:latin typeface="Lucida Sans"/>
                <a:ea typeface="Lucida Sans"/>
                <a:cs typeface="Lucida Sans"/>
                <a:sym typeface="Lucida Sans"/>
              </a:rPr>
              <a:t>Otra forma de expresar la pureza en el caso del oro, es mediante su ley o sus quilates. 24 quilates significa oro puro.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060"/>
        </a:solidFill>
      </p:bgPr>
    </p:bg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47"/>
          <p:cNvSpPr txBox="1"/>
          <p:nvPr>
            <p:ph idx="12" type="sldNum"/>
          </p:nvPr>
        </p:nvSpPr>
        <p:spPr>
          <a:xfrm>
            <a:off x="11390969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ucida Sans"/>
              <a:buNone/>
            </a:pPr>
            <a:fld id="{00000000-1234-1234-1234-123412341234}" type="slidenum">
              <a:rPr lang="es-CL" sz="20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‹#›</a:t>
            </a:fld>
            <a:endParaRPr sz="20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726" name="Google Shape;726;p47"/>
          <p:cNvSpPr txBox="1"/>
          <p:nvPr/>
        </p:nvSpPr>
        <p:spPr>
          <a:xfrm>
            <a:off x="2027436" y="2931560"/>
            <a:ext cx="7780961" cy="9952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67"/>
              <a:buFont typeface="Arial"/>
              <a:buNone/>
            </a:pPr>
            <a:r>
              <a:rPr b="0" i="0" lang="es-CL" sz="5867" u="none" cap="none" strike="noStrike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Ejercicios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27" name="Google Shape;727;p47"/>
          <p:cNvGrpSpPr/>
          <p:nvPr/>
        </p:nvGrpSpPr>
        <p:grpSpPr>
          <a:xfrm>
            <a:off x="5125820" y="1447365"/>
            <a:ext cx="1171845" cy="1045591"/>
            <a:chOff x="5233525" y="4954450"/>
            <a:chExt cx="538275" cy="516350"/>
          </a:xfrm>
        </p:grpSpPr>
        <p:sp>
          <p:nvSpPr>
            <p:cNvPr id="728" name="Google Shape;728;p47"/>
            <p:cNvSpPr/>
            <p:nvPr/>
          </p:nvSpPr>
          <p:spPr>
            <a:xfrm>
              <a:off x="5637825" y="4954450"/>
              <a:ext cx="89525" cy="89525"/>
            </a:xfrm>
            <a:custGeom>
              <a:rect b="b" l="l" r="r" t="t"/>
              <a:pathLst>
                <a:path extrusionOk="0" fill="none" h="3581" w="3581">
                  <a:moveTo>
                    <a:pt x="1023" y="3410"/>
                  </a:moveTo>
                  <a:lnTo>
                    <a:pt x="1023" y="3410"/>
                  </a:lnTo>
                  <a:lnTo>
                    <a:pt x="1193" y="3483"/>
                  </a:lnTo>
                  <a:lnTo>
                    <a:pt x="1388" y="3532"/>
                  </a:lnTo>
                  <a:lnTo>
                    <a:pt x="1583" y="3556"/>
                  </a:lnTo>
                  <a:lnTo>
                    <a:pt x="1778" y="3581"/>
                  </a:lnTo>
                  <a:lnTo>
                    <a:pt x="1778" y="3581"/>
                  </a:lnTo>
                  <a:lnTo>
                    <a:pt x="1973" y="3556"/>
                  </a:lnTo>
                  <a:lnTo>
                    <a:pt x="2143" y="3532"/>
                  </a:lnTo>
                  <a:lnTo>
                    <a:pt x="2314" y="3508"/>
                  </a:lnTo>
                  <a:lnTo>
                    <a:pt x="2484" y="3435"/>
                  </a:lnTo>
                  <a:lnTo>
                    <a:pt x="2630" y="3361"/>
                  </a:lnTo>
                  <a:lnTo>
                    <a:pt x="2776" y="3264"/>
                  </a:lnTo>
                  <a:lnTo>
                    <a:pt x="2923" y="3167"/>
                  </a:lnTo>
                  <a:lnTo>
                    <a:pt x="3044" y="3045"/>
                  </a:lnTo>
                  <a:lnTo>
                    <a:pt x="3166" y="2923"/>
                  </a:lnTo>
                  <a:lnTo>
                    <a:pt x="3264" y="2801"/>
                  </a:lnTo>
                  <a:lnTo>
                    <a:pt x="3361" y="2631"/>
                  </a:lnTo>
                  <a:lnTo>
                    <a:pt x="3434" y="2485"/>
                  </a:lnTo>
                  <a:lnTo>
                    <a:pt x="3483" y="2314"/>
                  </a:lnTo>
                  <a:lnTo>
                    <a:pt x="3531" y="2144"/>
                  </a:lnTo>
                  <a:lnTo>
                    <a:pt x="3556" y="1973"/>
                  </a:lnTo>
                  <a:lnTo>
                    <a:pt x="3580" y="1803"/>
                  </a:lnTo>
                  <a:lnTo>
                    <a:pt x="3580" y="1803"/>
                  </a:lnTo>
                  <a:lnTo>
                    <a:pt x="3556" y="1608"/>
                  </a:lnTo>
                  <a:lnTo>
                    <a:pt x="3531" y="1437"/>
                  </a:lnTo>
                  <a:lnTo>
                    <a:pt x="3483" y="1267"/>
                  </a:lnTo>
                  <a:lnTo>
                    <a:pt x="3434" y="1096"/>
                  </a:lnTo>
                  <a:lnTo>
                    <a:pt x="3361" y="950"/>
                  </a:lnTo>
                  <a:lnTo>
                    <a:pt x="3264" y="804"/>
                  </a:lnTo>
                  <a:lnTo>
                    <a:pt x="3166" y="658"/>
                  </a:lnTo>
                  <a:lnTo>
                    <a:pt x="3044" y="536"/>
                  </a:lnTo>
                  <a:lnTo>
                    <a:pt x="2923" y="414"/>
                  </a:lnTo>
                  <a:lnTo>
                    <a:pt x="2776" y="317"/>
                  </a:lnTo>
                  <a:lnTo>
                    <a:pt x="2630" y="220"/>
                  </a:lnTo>
                  <a:lnTo>
                    <a:pt x="2484" y="147"/>
                  </a:lnTo>
                  <a:lnTo>
                    <a:pt x="2314" y="98"/>
                  </a:lnTo>
                  <a:lnTo>
                    <a:pt x="2143" y="49"/>
                  </a:lnTo>
                  <a:lnTo>
                    <a:pt x="1973" y="25"/>
                  </a:lnTo>
                  <a:lnTo>
                    <a:pt x="1778" y="0"/>
                  </a:lnTo>
                  <a:lnTo>
                    <a:pt x="1778" y="0"/>
                  </a:lnTo>
                  <a:lnTo>
                    <a:pt x="1607" y="25"/>
                  </a:lnTo>
                  <a:lnTo>
                    <a:pt x="1437" y="49"/>
                  </a:lnTo>
                  <a:lnTo>
                    <a:pt x="1266" y="98"/>
                  </a:lnTo>
                  <a:lnTo>
                    <a:pt x="1096" y="147"/>
                  </a:lnTo>
                  <a:lnTo>
                    <a:pt x="925" y="220"/>
                  </a:lnTo>
                  <a:lnTo>
                    <a:pt x="779" y="317"/>
                  </a:lnTo>
                  <a:lnTo>
                    <a:pt x="658" y="414"/>
                  </a:lnTo>
                  <a:lnTo>
                    <a:pt x="536" y="536"/>
                  </a:lnTo>
                  <a:lnTo>
                    <a:pt x="414" y="658"/>
                  </a:lnTo>
                  <a:lnTo>
                    <a:pt x="317" y="804"/>
                  </a:lnTo>
                  <a:lnTo>
                    <a:pt x="219" y="950"/>
                  </a:lnTo>
                  <a:lnTo>
                    <a:pt x="146" y="1096"/>
                  </a:lnTo>
                  <a:lnTo>
                    <a:pt x="73" y="1267"/>
                  </a:lnTo>
                  <a:lnTo>
                    <a:pt x="49" y="1437"/>
                  </a:lnTo>
                  <a:lnTo>
                    <a:pt x="24" y="1608"/>
                  </a:lnTo>
                  <a:lnTo>
                    <a:pt x="0" y="1803"/>
                  </a:lnTo>
                  <a:lnTo>
                    <a:pt x="0" y="1803"/>
                  </a:lnTo>
                  <a:lnTo>
                    <a:pt x="24" y="2071"/>
                  </a:lnTo>
                  <a:lnTo>
                    <a:pt x="97" y="2339"/>
                  </a:lnTo>
                  <a:lnTo>
                    <a:pt x="195" y="2582"/>
                  </a:lnTo>
                  <a:lnTo>
                    <a:pt x="317" y="2801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9" name="Google Shape;729;p47"/>
            <p:cNvSpPr/>
            <p:nvPr/>
          </p:nvSpPr>
          <p:spPr>
            <a:xfrm>
              <a:off x="5323025" y="4980625"/>
              <a:ext cx="88925" cy="88925"/>
            </a:xfrm>
            <a:custGeom>
              <a:rect b="b" l="l" r="r" t="t"/>
              <a:pathLst>
                <a:path extrusionOk="0" fill="none" h="3557" w="3557">
                  <a:moveTo>
                    <a:pt x="3191" y="2850"/>
                  </a:moveTo>
                  <a:lnTo>
                    <a:pt x="3191" y="2850"/>
                  </a:lnTo>
                  <a:lnTo>
                    <a:pt x="3313" y="2680"/>
                  </a:lnTo>
                  <a:lnTo>
                    <a:pt x="3410" y="2509"/>
                  </a:lnTo>
                  <a:lnTo>
                    <a:pt x="3483" y="2314"/>
                  </a:lnTo>
                  <a:lnTo>
                    <a:pt x="3532" y="2095"/>
                  </a:lnTo>
                  <a:lnTo>
                    <a:pt x="3532" y="2095"/>
                  </a:lnTo>
                  <a:lnTo>
                    <a:pt x="3556" y="1925"/>
                  </a:lnTo>
                  <a:lnTo>
                    <a:pt x="3556" y="1730"/>
                  </a:lnTo>
                  <a:lnTo>
                    <a:pt x="3556" y="1559"/>
                  </a:lnTo>
                  <a:lnTo>
                    <a:pt x="3508" y="1389"/>
                  </a:lnTo>
                  <a:lnTo>
                    <a:pt x="3459" y="1218"/>
                  </a:lnTo>
                  <a:lnTo>
                    <a:pt x="3410" y="1072"/>
                  </a:lnTo>
                  <a:lnTo>
                    <a:pt x="3337" y="902"/>
                  </a:lnTo>
                  <a:lnTo>
                    <a:pt x="3240" y="756"/>
                  </a:lnTo>
                  <a:lnTo>
                    <a:pt x="3142" y="634"/>
                  </a:lnTo>
                  <a:lnTo>
                    <a:pt x="3021" y="512"/>
                  </a:lnTo>
                  <a:lnTo>
                    <a:pt x="2899" y="390"/>
                  </a:lnTo>
                  <a:lnTo>
                    <a:pt x="2753" y="293"/>
                  </a:lnTo>
                  <a:lnTo>
                    <a:pt x="2606" y="196"/>
                  </a:lnTo>
                  <a:lnTo>
                    <a:pt x="2436" y="122"/>
                  </a:lnTo>
                  <a:lnTo>
                    <a:pt x="2266" y="74"/>
                  </a:lnTo>
                  <a:lnTo>
                    <a:pt x="2095" y="25"/>
                  </a:lnTo>
                  <a:lnTo>
                    <a:pt x="2095" y="25"/>
                  </a:lnTo>
                  <a:lnTo>
                    <a:pt x="1925" y="1"/>
                  </a:lnTo>
                  <a:lnTo>
                    <a:pt x="1730" y="1"/>
                  </a:lnTo>
                  <a:lnTo>
                    <a:pt x="1559" y="1"/>
                  </a:lnTo>
                  <a:lnTo>
                    <a:pt x="1389" y="25"/>
                  </a:lnTo>
                  <a:lnTo>
                    <a:pt x="1218" y="74"/>
                  </a:lnTo>
                  <a:lnTo>
                    <a:pt x="1072" y="147"/>
                  </a:lnTo>
                  <a:lnTo>
                    <a:pt x="902" y="220"/>
                  </a:lnTo>
                  <a:lnTo>
                    <a:pt x="756" y="317"/>
                  </a:lnTo>
                  <a:lnTo>
                    <a:pt x="634" y="415"/>
                  </a:lnTo>
                  <a:lnTo>
                    <a:pt x="512" y="537"/>
                  </a:lnTo>
                  <a:lnTo>
                    <a:pt x="390" y="658"/>
                  </a:lnTo>
                  <a:lnTo>
                    <a:pt x="293" y="804"/>
                  </a:lnTo>
                  <a:lnTo>
                    <a:pt x="195" y="951"/>
                  </a:lnTo>
                  <a:lnTo>
                    <a:pt x="122" y="1097"/>
                  </a:lnTo>
                  <a:lnTo>
                    <a:pt x="74" y="1267"/>
                  </a:lnTo>
                  <a:lnTo>
                    <a:pt x="25" y="1462"/>
                  </a:lnTo>
                  <a:lnTo>
                    <a:pt x="25" y="1462"/>
                  </a:lnTo>
                  <a:lnTo>
                    <a:pt x="1" y="1633"/>
                  </a:lnTo>
                  <a:lnTo>
                    <a:pt x="1" y="1803"/>
                  </a:lnTo>
                  <a:lnTo>
                    <a:pt x="1" y="1998"/>
                  </a:lnTo>
                  <a:lnTo>
                    <a:pt x="25" y="2168"/>
                  </a:lnTo>
                  <a:lnTo>
                    <a:pt x="74" y="2339"/>
                  </a:lnTo>
                  <a:lnTo>
                    <a:pt x="147" y="2485"/>
                  </a:lnTo>
                  <a:lnTo>
                    <a:pt x="220" y="2655"/>
                  </a:lnTo>
                  <a:lnTo>
                    <a:pt x="317" y="2777"/>
                  </a:lnTo>
                  <a:lnTo>
                    <a:pt x="415" y="2923"/>
                  </a:lnTo>
                  <a:lnTo>
                    <a:pt x="536" y="3045"/>
                  </a:lnTo>
                  <a:lnTo>
                    <a:pt x="658" y="3167"/>
                  </a:lnTo>
                  <a:lnTo>
                    <a:pt x="804" y="3264"/>
                  </a:lnTo>
                  <a:lnTo>
                    <a:pt x="950" y="3362"/>
                  </a:lnTo>
                  <a:lnTo>
                    <a:pt x="1096" y="3435"/>
                  </a:lnTo>
                  <a:lnTo>
                    <a:pt x="1267" y="3483"/>
                  </a:lnTo>
                  <a:lnTo>
                    <a:pt x="1462" y="3532"/>
                  </a:lnTo>
                  <a:lnTo>
                    <a:pt x="1462" y="3532"/>
                  </a:lnTo>
                  <a:lnTo>
                    <a:pt x="1705" y="3557"/>
                  </a:lnTo>
                  <a:lnTo>
                    <a:pt x="1973" y="3557"/>
                  </a:lnTo>
                  <a:lnTo>
                    <a:pt x="2217" y="3508"/>
                  </a:lnTo>
                  <a:lnTo>
                    <a:pt x="2460" y="3435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0" name="Google Shape;730;p47"/>
            <p:cNvSpPr/>
            <p:nvPr/>
          </p:nvSpPr>
          <p:spPr>
            <a:xfrm>
              <a:off x="5233525" y="5255225"/>
              <a:ext cx="89525" cy="89525"/>
            </a:xfrm>
            <a:custGeom>
              <a:rect b="b" l="l" r="r" t="t"/>
              <a:pathLst>
                <a:path extrusionOk="0" fill="none" h="3581" w="3581">
                  <a:moveTo>
                    <a:pt x="3215" y="707"/>
                  </a:moveTo>
                  <a:lnTo>
                    <a:pt x="3215" y="707"/>
                  </a:lnTo>
                  <a:lnTo>
                    <a:pt x="3093" y="585"/>
                  </a:lnTo>
                  <a:lnTo>
                    <a:pt x="2972" y="464"/>
                  </a:lnTo>
                  <a:lnTo>
                    <a:pt x="2850" y="342"/>
                  </a:lnTo>
                  <a:lnTo>
                    <a:pt x="2679" y="244"/>
                  </a:lnTo>
                  <a:lnTo>
                    <a:pt x="2679" y="244"/>
                  </a:lnTo>
                  <a:lnTo>
                    <a:pt x="2533" y="171"/>
                  </a:lnTo>
                  <a:lnTo>
                    <a:pt x="2363" y="98"/>
                  </a:lnTo>
                  <a:lnTo>
                    <a:pt x="2192" y="50"/>
                  </a:lnTo>
                  <a:lnTo>
                    <a:pt x="2022" y="25"/>
                  </a:lnTo>
                  <a:lnTo>
                    <a:pt x="1851" y="1"/>
                  </a:lnTo>
                  <a:lnTo>
                    <a:pt x="1681" y="25"/>
                  </a:lnTo>
                  <a:lnTo>
                    <a:pt x="1510" y="25"/>
                  </a:lnTo>
                  <a:lnTo>
                    <a:pt x="1340" y="74"/>
                  </a:lnTo>
                  <a:lnTo>
                    <a:pt x="1169" y="123"/>
                  </a:lnTo>
                  <a:lnTo>
                    <a:pt x="1023" y="196"/>
                  </a:lnTo>
                  <a:lnTo>
                    <a:pt x="877" y="269"/>
                  </a:lnTo>
                  <a:lnTo>
                    <a:pt x="731" y="366"/>
                  </a:lnTo>
                  <a:lnTo>
                    <a:pt x="585" y="488"/>
                  </a:lnTo>
                  <a:lnTo>
                    <a:pt x="463" y="610"/>
                  </a:lnTo>
                  <a:lnTo>
                    <a:pt x="341" y="731"/>
                  </a:lnTo>
                  <a:lnTo>
                    <a:pt x="244" y="902"/>
                  </a:lnTo>
                  <a:lnTo>
                    <a:pt x="244" y="902"/>
                  </a:lnTo>
                  <a:lnTo>
                    <a:pt x="171" y="1048"/>
                  </a:lnTo>
                  <a:lnTo>
                    <a:pt x="98" y="1219"/>
                  </a:lnTo>
                  <a:lnTo>
                    <a:pt x="49" y="1389"/>
                  </a:lnTo>
                  <a:lnTo>
                    <a:pt x="25" y="1560"/>
                  </a:lnTo>
                  <a:lnTo>
                    <a:pt x="0" y="1730"/>
                  </a:lnTo>
                  <a:lnTo>
                    <a:pt x="0" y="1900"/>
                  </a:lnTo>
                  <a:lnTo>
                    <a:pt x="25" y="2071"/>
                  </a:lnTo>
                  <a:lnTo>
                    <a:pt x="73" y="2241"/>
                  </a:lnTo>
                  <a:lnTo>
                    <a:pt x="122" y="2412"/>
                  </a:lnTo>
                  <a:lnTo>
                    <a:pt x="195" y="2558"/>
                  </a:lnTo>
                  <a:lnTo>
                    <a:pt x="268" y="2729"/>
                  </a:lnTo>
                  <a:lnTo>
                    <a:pt x="366" y="2850"/>
                  </a:lnTo>
                  <a:lnTo>
                    <a:pt x="463" y="2996"/>
                  </a:lnTo>
                  <a:lnTo>
                    <a:pt x="609" y="3118"/>
                  </a:lnTo>
                  <a:lnTo>
                    <a:pt x="731" y="3240"/>
                  </a:lnTo>
                  <a:lnTo>
                    <a:pt x="901" y="3337"/>
                  </a:lnTo>
                  <a:lnTo>
                    <a:pt x="901" y="3337"/>
                  </a:lnTo>
                  <a:lnTo>
                    <a:pt x="1048" y="3410"/>
                  </a:lnTo>
                  <a:lnTo>
                    <a:pt x="1218" y="3484"/>
                  </a:lnTo>
                  <a:lnTo>
                    <a:pt x="1389" y="3532"/>
                  </a:lnTo>
                  <a:lnTo>
                    <a:pt x="1559" y="3557"/>
                  </a:lnTo>
                  <a:lnTo>
                    <a:pt x="1730" y="3581"/>
                  </a:lnTo>
                  <a:lnTo>
                    <a:pt x="1900" y="3581"/>
                  </a:lnTo>
                  <a:lnTo>
                    <a:pt x="2071" y="3557"/>
                  </a:lnTo>
                  <a:lnTo>
                    <a:pt x="2241" y="3508"/>
                  </a:lnTo>
                  <a:lnTo>
                    <a:pt x="2411" y="3459"/>
                  </a:lnTo>
                  <a:lnTo>
                    <a:pt x="2558" y="3410"/>
                  </a:lnTo>
                  <a:lnTo>
                    <a:pt x="2704" y="3313"/>
                  </a:lnTo>
                  <a:lnTo>
                    <a:pt x="2850" y="3216"/>
                  </a:lnTo>
                  <a:lnTo>
                    <a:pt x="2996" y="3118"/>
                  </a:lnTo>
                  <a:lnTo>
                    <a:pt x="3118" y="2996"/>
                  </a:lnTo>
                  <a:lnTo>
                    <a:pt x="3240" y="2850"/>
                  </a:lnTo>
                  <a:lnTo>
                    <a:pt x="3337" y="2704"/>
                  </a:lnTo>
                  <a:lnTo>
                    <a:pt x="3337" y="2704"/>
                  </a:lnTo>
                  <a:lnTo>
                    <a:pt x="3459" y="2412"/>
                  </a:lnTo>
                  <a:lnTo>
                    <a:pt x="3532" y="2144"/>
                  </a:lnTo>
                  <a:lnTo>
                    <a:pt x="3581" y="1852"/>
                  </a:lnTo>
                  <a:lnTo>
                    <a:pt x="3556" y="1560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1" name="Google Shape;731;p47"/>
            <p:cNvSpPr/>
            <p:nvPr/>
          </p:nvSpPr>
          <p:spPr>
            <a:xfrm>
              <a:off x="5453325" y="5382475"/>
              <a:ext cx="88925" cy="88325"/>
            </a:xfrm>
            <a:custGeom>
              <a:rect b="b" l="l" r="r" t="t"/>
              <a:pathLst>
                <a:path extrusionOk="0" fill="none" h="3533" w="3557">
                  <a:moveTo>
                    <a:pt x="1389" y="1"/>
                  </a:moveTo>
                  <a:lnTo>
                    <a:pt x="1389" y="1"/>
                  </a:lnTo>
                  <a:lnTo>
                    <a:pt x="1194" y="50"/>
                  </a:lnTo>
                  <a:lnTo>
                    <a:pt x="999" y="147"/>
                  </a:lnTo>
                  <a:lnTo>
                    <a:pt x="804" y="245"/>
                  </a:lnTo>
                  <a:lnTo>
                    <a:pt x="634" y="366"/>
                  </a:lnTo>
                  <a:lnTo>
                    <a:pt x="634" y="366"/>
                  </a:lnTo>
                  <a:lnTo>
                    <a:pt x="488" y="488"/>
                  </a:lnTo>
                  <a:lnTo>
                    <a:pt x="390" y="634"/>
                  </a:lnTo>
                  <a:lnTo>
                    <a:pt x="268" y="780"/>
                  </a:lnTo>
                  <a:lnTo>
                    <a:pt x="195" y="926"/>
                  </a:lnTo>
                  <a:lnTo>
                    <a:pt x="122" y="1073"/>
                  </a:lnTo>
                  <a:lnTo>
                    <a:pt x="74" y="1243"/>
                  </a:lnTo>
                  <a:lnTo>
                    <a:pt x="25" y="1414"/>
                  </a:lnTo>
                  <a:lnTo>
                    <a:pt x="0" y="1584"/>
                  </a:lnTo>
                  <a:lnTo>
                    <a:pt x="0" y="1755"/>
                  </a:lnTo>
                  <a:lnTo>
                    <a:pt x="0" y="1925"/>
                  </a:lnTo>
                  <a:lnTo>
                    <a:pt x="25" y="2096"/>
                  </a:lnTo>
                  <a:lnTo>
                    <a:pt x="74" y="2266"/>
                  </a:lnTo>
                  <a:lnTo>
                    <a:pt x="122" y="2412"/>
                  </a:lnTo>
                  <a:lnTo>
                    <a:pt x="195" y="2583"/>
                  </a:lnTo>
                  <a:lnTo>
                    <a:pt x="293" y="2729"/>
                  </a:lnTo>
                  <a:lnTo>
                    <a:pt x="415" y="2875"/>
                  </a:lnTo>
                  <a:lnTo>
                    <a:pt x="415" y="2875"/>
                  </a:lnTo>
                  <a:lnTo>
                    <a:pt x="536" y="3021"/>
                  </a:lnTo>
                  <a:lnTo>
                    <a:pt x="658" y="3143"/>
                  </a:lnTo>
                  <a:lnTo>
                    <a:pt x="804" y="3240"/>
                  </a:lnTo>
                  <a:lnTo>
                    <a:pt x="950" y="3313"/>
                  </a:lnTo>
                  <a:lnTo>
                    <a:pt x="1121" y="3386"/>
                  </a:lnTo>
                  <a:lnTo>
                    <a:pt x="1267" y="3459"/>
                  </a:lnTo>
                  <a:lnTo>
                    <a:pt x="1437" y="3484"/>
                  </a:lnTo>
                  <a:lnTo>
                    <a:pt x="1608" y="3508"/>
                  </a:lnTo>
                  <a:lnTo>
                    <a:pt x="1778" y="3532"/>
                  </a:lnTo>
                  <a:lnTo>
                    <a:pt x="1949" y="3508"/>
                  </a:lnTo>
                  <a:lnTo>
                    <a:pt x="2119" y="3484"/>
                  </a:lnTo>
                  <a:lnTo>
                    <a:pt x="2290" y="3435"/>
                  </a:lnTo>
                  <a:lnTo>
                    <a:pt x="2460" y="3386"/>
                  </a:lnTo>
                  <a:lnTo>
                    <a:pt x="2606" y="3313"/>
                  </a:lnTo>
                  <a:lnTo>
                    <a:pt x="2777" y="3216"/>
                  </a:lnTo>
                  <a:lnTo>
                    <a:pt x="2923" y="3118"/>
                  </a:lnTo>
                  <a:lnTo>
                    <a:pt x="2923" y="3118"/>
                  </a:lnTo>
                  <a:lnTo>
                    <a:pt x="3045" y="2997"/>
                  </a:lnTo>
                  <a:lnTo>
                    <a:pt x="3167" y="2851"/>
                  </a:lnTo>
                  <a:lnTo>
                    <a:pt x="3264" y="2704"/>
                  </a:lnTo>
                  <a:lnTo>
                    <a:pt x="3361" y="2558"/>
                  </a:lnTo>
                  <a:lnTo>
                    <a:pt x="3435" y="2412"/>
                  </a:lnTo>
                  <a:lnTo>
                    <a:pt x="3483" y="2242"/>
                  </a:lnTo>
                  <a:lnTo>
                    <a:pt x="3532" y="2071"/>
                  </a:lnTo>
                  <a:lnTo>
                    <a:pt x="3556" y="1901"/>
                  </a:lnTo>
                  <a:lnTo>
                    <a:pt x="3556" y="1730"/>
                  </a:lnTo>
                  <a:lnTo>
                    <a:pt x="3556" y="1560"/>
                  </a:lnTo>
                  <a:lnTo>
                    <a:pt x="3532" y="1389"/>
                  </a:lnTo>
                  <a:lnTo>
                    <a:pt x="3483" y="1219"/>
                  </a:lnTo>
                  <a:lnTo>
                    <a:pt x="3410" y="1048"/>
                  </a:lnTo>
                  <a:lnTo>
                    <a:pt x="3337" y="902"/>
                  </a:lnTo>
                  <a:lnTo>
                    <a:pt x="3264" y="756"/>
                  </a:lnTo>
                  <a:lnTo>
                    <a:pt x="3142" y="610"/>
                  </a:lnTo>
                  <a:lnTo>
                    <a:pt x="3142" y="610"/>
                  </a:lnTo>
                  <a:lnTo>
                    <a:pt x="2972" y="415"/>
                  </a:lnTo>
                  <a:lnTo>
                    <a:pt x="2753" y="245"/>
                  </a:lnTo>
                  <a:lnTo>
                    <a:pt x="2533" y="123"/>
                  </a:lnTo>
                  <a:lnTo>
                    <a:pt x="2314" y="50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2" name="Google Shape;732;p47"/>
            <p:cNvSpPr/>
            <p:nvPr/>
          </p:nvSpPr>
          <p:spPr>
            <a:xfrm>
              <a:off x="5682875" y="5188875"/>
              <a:ext cx="88925" cy="89525"/>
            </a:xfrm>
            <a:custGeom>
              <a:rect b="b" l="l" r="r" t="t"/>
              <a:pathLst>
                <a:path extrusionOk="0" fill="none" h="3581" w="3557">
                  <a:moveTo>
                    <a:pt x="0" y="2022"/>
                  </a:moveTo>
                  <a:lnTo>
                    <a:pt x="0" y="2022"/>
                  </a:lnTo>
                  <a:lnTo>
                    <a:pt x="25" y="2216"/>
                  </a:lnTo>
                  <a:lnTo>
                    <a:pt x="98" y="2411"/>
                  </a:lnTo>
                  <a:lnTo>
                    <a:pt x="98" y="2411"/>
                  </a:lnTo>
                  <a:lnTo>
                    <a:pt x="171" y="2557"/>
                  </a:lnTo>
                  <a:lnTo>
                    <a:pt x="244" y="2728"/>
                  </a:lnTo>
                  <a:lnTo>
                    <a:pt x="341" y="2874"/>
                  </a:lnTo>
                  <a:lnTo>
                    <a:pt x="463" y="2996"/>
                  </a:lnTo>
                  <a:lnTo>
                    <a:pt x="585" y="3118"/>
                  </a:lnTo>
                  <a:lnTo>
                    <a:pt x="707" y="3239"/>
                  </a:lnTo>
                  <a:lnTo>
                    <a:pt x="853" y="3337"/>
                  </a:lnTo>
                  <a:lnTo>
                    <a:pt x="999" y="3410"/>
                  </a:lnTo>
                  <a:lnTo>
                    <a:pt x="1169" y="3483"/>
                  </a:lnTo>
                  <a:lnTo>
                    <a:pt x="1340" y="3532"/>
                  </a:lnTo>
                  <a:lnTo>
                    <a:pt x="1510" y="3556"/>
                  </a:lnTo>
                  <a:lnTo>
                    <a:pt x="1681" y="3580"/>
                  </a:lnTo>
                  <a:lnTo>
                    <a:pt x="1851" y="3580"/>
                  </a:lnTo>
                  <a:lnTo>
                    <a:pt x="2022" y="3556"/>
                  </a:lnTo>
                  <a:lnTo>
                    <a:pt x="2192" y="3532"/>
                  </a:lnTo>
                  <a:lnTo>
                    <a:pt x="2363" y="3459"/>
                  </a:lnTo>
                  <a:lnTo>
                    <a:pt x="2363" y="3459"/>
                  </a:lnTo>
                  <a:lnTo>
                    <a:pt x="2533" y="3410"/>
                  </a:lnTo>
                  <a:lnTo>
                    <a:pt x="2704" y="3312"/>
                  </a:lnTo>
                  <a:lnTo>
                    <a:pt x="2850" y="3215"/>
                  </a:lnTo>
                  <a:lnTo>
                    <a:pt x="2972" y="3093"/>
                  </a:lnTo>
                  <a:lnTo>
                    <a:pt x="3093" y="2971"/>
                  </a:lnTo>
                  <a:lnTo>
                    <a:pt x="3215" y="2850"/>
                  </a:lnTo>
                  <a:lnTo>
                    <a:pt x="3288" y="2704"/>
                  </a:lnTo>
                  <a:lnTo>
                    <a:pt x="3386" y="2557"/>
                  </a:lnTo>
                  <a:lnTo>
                    <a:pt x="3434" y="2387"/>
                  </a:lnTo>
                  <a:lnTo>
                    <a:pt x="3483" y="2216"/>
                  </a:lnTo>
                  <a:lnTo>
                    <a:pt x="3532" y="2070"/>
                  </a:lnTo>
                  <a:lnTo>
                    <a:pt x="3556" y="1875"/>
                  </a:lnTo>
                  <a:lnTo>
                    <a:pt x="3556" y="1705"/>
                  </a:lnTo>
                  <a:lnTo>
                    <a:pt x="3532" y="1534"/>
                  </a:lnTo>
                  <a:lnTo>
                    <a:pt x="3507" y="1364"/>
                  </a:lnTo>
                  <a:lnTo>
                    <a:pt x="3434" y="1194"/>
                  </a:lnTo>
                  <a:lnTo>
                    <a:pt x="3434" y="1194"/>
                  </a:lnTo>
                  <a:lnTo>
                    <a:pt x="3361" y="1023"/>
                  </a:lnTo>
                  <a:lnTo>
                    <a:pt x="3288" y="853"/>
                  </a:lnTo>
                  <a:lnTo>
                    <a:pt x="3191" y="706"/>
                  </a:lnTo>
                  <a:lnTo>
                    <a:pt x="3069" y="585"/>
                  </a:lnTo>
                  <a:lnTo>
                    <a:pt x="2947" y="463"/>
                  </a:lnTo>
                  <a:lnTo>
                    <a:pt x="2825" y="341"/>
                  </a:lnTo>
                  <a:lnTo>
                    <a:pt x="2679" y="268"/>
                  </a:lnTo>
                  <a:lnTo>
                    <a:pt x="2533" y="171"/>
                  </a:lnTo>
                  <a:lnTo>
                    <a:pt x="2363" y="122"/>
                  </a:lnTo>
                  <a:lnTo>
                    <a:pt x="2192" y="73"/>
                  </a:lnTo>
                  <a:lnTo>
                    <a:pt x="2022" y="24"/>
                  </a:lnTo>
                  <a:lnTo>
                    <a:pt x="1851" y="24"/>
                  </a:lnTo>
                  <a:lnTo>
                    <a:pt x="1681" y="0"/>
                  </a:lnTo>
                  <a:lnTo>
                    <a:pt x="1510" y="24"/>
                  </a:lnTo>
                  <a:lnTo>
                    <a:pt x="1340" y="73"/>
                  </a:lnTo>
                  <a:lnTo>
                    <a:pt x="1169" y="122"/>
                  </a:lnTo>
                  <a:lnTo>
                    <a:pt x="1169" y="122"/>
                  </a:lnTo>
                  <a:lnTo>
                    <a:pt x="974" y="195"/>
                  </a:lnTo>
                  <a:lnTo>
                    <a:pt x="804" y="292"/>
                  </a:lnTo>
                  <a:lnTo>
                    <a:pt x="658" y="390"/>
                  </a:lnTo>
                  <a:lnTo>
                    <a:pt x="512" y="512"/>
                  </a:lnTo>
                  <a:lnTo>
                    <a:pt x="390" y="658"/>
                  </a:lnTo>
                  <a:lnTo>
                    <a:pt x="293" y="804"/>
                  </a:lnTo>
                  <a:lnTo>
                    <a:pt x="195" y="950"/>
                  </a:lnTo>
                  <a:lnTo>
                    <a:pt x="122" y="1120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3" name="Google Shape;733;p47"/>
            <p:cNvSpPr/>
            <p:nvPr/>
          </p:nvSpPr>
          <p:spPr>
            <a:xfrm>
              <a:off x="5411925" y="5110925"/>
              <a:ext cx="188775" cy="189400"/>
            </a:xfrm>
            <a:custGeom>
              <a:rect b="b" l="l" r="r" t="t"/>
              <a:pathLst>
                <a:path extrusionOk="0" fill="none" h="7576" w="7551">
                  <a:moveTo>
                    <a:pt x="0" y="3776"/>
                  </a:moveTo>
                  <a:lnTo>
                    <a:pt x="0" y="3776"/>
                  </a:lnTo>
                  <a:lnTo>
                    <a:pt x="25" y="3410"/>
                  </a:lnTo>
                  <a:lnTo>
                    <a:pt x="73" y="3021"/>
                  </a:lnTo>
                  <a:lnTo>
                    <a:pt x="171" y="2655"/>
                  </a:lnTo>
                  <a:lnTo>
                    <a:pt x="293" y="2314"/>
                  </a:lnTo>
                  <a:lnTo>
                    <a:pt x="463" y="1973"/>
                  </a:lnTo>
                  <a:lnTo>
                    <a:pt x="658" y="1681"/>
                  </a:lnTo>
                  <a:lnTo>
                    <a:pt x="877" y="1389"/>
                  </a:lnTo>
                  <a:lnTo>
                    <a:pt x="1121" y="1121"/>
                  </a:lnTo>
                  <a:lnTo>
                    <a:pt x="1389" y="877"/>
                  </a:lnTo>
                  <a:lnTo>
                    <a:pt x="1656" y="658"/>
                  </a:lnTo>
                  <a:lnTo>
                    <a:pt x="1973" y="463"/>
                  </a:lnTo>
                  <a:lnTo>
                    <a:pt x="2314" y="293"/>
                  </a:lnTo>
                  <a:lnTo>
                    <a:pt x="2655" y="171"/>
                  </a:lnTo>
                  <a:lnTo>
                    <a:pt x="3020" y="74"/>
                  </a:lnTo>
                  <a:lnTo>
                    <a:pt x="3386" y="25"/>
                  </a:lnTo>
                  <a:lnTo>
                    <a:pt x="3775" y="1"/>
                  </a:lnTo>
                  <a:lnTo>
                    <a:pt x="3775" y="1"/>
                  </a:lnTo>
                  <a:lnTo>
                    <a:pt x="4165" y="25"/>
                  </a:lnTo>
                  <a:lnTo>
                    <a:pt x="4555" y="74"/>
                  </a:lnTo>
                  <a:lnTo>
                    <a:pt x="4896" y="171"/>
                  </a:lnTo>
                  <a:lnTo>
                    <a:pt x="5261" y="293"/>
                  </a:lnTo>
                  <a:lnTo>
                    <a:pt x="5578" y="463"/>
                  </a:lnTo>
                  <a:lnTo>
                    <a:pt x="5894" y="658"/>
                  </a:lnTo>
                  <a:lnTo>
                    <a:pt x="6186" y="877"/>
                  </a:lnTo>
                  <a:lnTo>
                    <a:pt x="6454" y="1121"/>
                  </a:lnTo>
                  <a:lnTo>
                    <a:pt x="6698" y="1389"/>
                  </a:lnTo>
                  <a:lnTo>
                    <a:pt x="6917" y="1681"/>
                  </a:lnTo>
                  <a:lnTo>
                    <a:pt x="7112" y="1973"/>
                  </a:lnTo>
                  <a:lnTo>
                    <a:pt x="7258" y="2314"/>
                  </a:lnTo>
                  <a:lnTo>
                    <a:pt x="7404" y="2655"/>
                  </a:lnTo>
                  <a:lnTo>
                    <a:pt x="7477" y="3021"/>
                  </a:lnTo>
                  <a:lnTo>
                    <a:pt x="7550" y="3410"/>
                  </a:lnTo>
                  <a:lnTo>
                    <a:pt x="7550" y="3776"/>
                  </a:lnTo>
                  <a:lnTo>
                    <a:pt x="7550" y="3776"/>
                  </a:lnTo>
                  <a:lnTo>
                    <a:pt x="7550" y="4165"/>
                  </a:lnTo>
                  <a:lnTo>
                    <a:pt x="7477" y="4555"/>
                  </a:lnTo>
                  <a:lnTo>
                    <a:pt x="7404" y="4920"/>
                  </a:lnTo>
                  <a:lnTo>
                    <a:pt x="7258" y="5261"/>
                  </a:lnTo>
                  <a:lnTo>
                    <a:pt x="7112" y="5578"/>
                  </a:lnTo>
                  <a:lnTo>
                    <a:pt x="6917" y="5895"/>
                  </a:lnTo>
                  <a:lnTo>
                    <a:pt x="6698" y="6187"/>
                  </a:lnTo>
                  <a:lnTo>
                    <a:pt x="6454" y="6455"/>
                  </a:lnTo>
                  <a:lnTo>
                    <a:pt x="6186" y="6698"/>
                  </a:lnTo>
                  <a:lnTo>
                    <a:pt x="5894" y="6917"/>
                  </a:lnTo>
                  <a:lnTo>
                    <a:pt x="5578" y="7112"/>
                  </a:lnTo>
                  <a:lnTo>
                    <a:pt x="5261" y="7258"/>
                  </a:lnTo>
                  <a:lnTo>
                    <a:pt x="4896" y="7405"/>
                  </a:lnTo>
                  <a:lnTo>
                    <a:pt x="4555" y="7478"/>
                  </a:lnTo>
                  <a:lnTo>
                    <a:pt x="4165" y="7551"/>
                  </a:lnTo>
                  <a:lnTo>
                    <a:pt x="3775" y="7575"/>
                  </a:lnTo>
                  <a:lnTo>
                    <a:pt x="3775" y="7575"/>
                  </a:lnTo>
                  <a:lnTo>
                    <a:pt x="3386" y="7551"/>
                  </a:lnTo>
                  <a:lnTo>
                    <a:pt x="3020" y="7478"/>
                  </a:lnTo>
                  <a:lnTo>
                    <a:pt x="2655" y="7405"/>
                  </a:lnTo>
                  <a:lnTo>
                    <a:pt x="2314" y="7258"/>
                  </a:lnTo>
                  <a:lnTo>
                    <a:pt x="1973" y="7112"/>
                  </a:lnTo>
                  <a:lnTo>
                    <a:pt x="1656" y="6917"/>
                  </a:lnTo>
                  <a:lnTo>
                    <a:pt x="1389" y="6698"/>
                  </a:lnTo>
                  <a:lnTo>
                    <a:pt x="1121" y="6455"/>
                  </a:lnTo>
                  <a:lnTo>
                    <a:pt x="877" y="6187"/>
                  </a:lnTo>
                  <a:lnTo>
                    <a:pt x="658" y="5895"/>
                  </a:lnTo>
                  <a:lnTo>
                    <a:pt x="463" y="5578"/>
                  </a:lnTo>
                  <a:lnTo>
                    <a:pt x="293" y="5261"/>
                  </a:lnTo>
                  <a:lnTo>
                    <a:pt x="171" y="4920"/>
                  </a:lnTo>
                  <a:lnTo>
                    <a:pt x="73" y="4555"/>
                  </a:lnTo>
                  <a:lnTo>
                    <a:pt x="25" y="4165"/>
                  </a:lnTo>
                  <a:lnTo>
                    <a:pt x="0" y="3776"/>
                  </a:lnTo>
                  <a:lnTo>
                    <a:pt x="0" y="3776"/>
                  </a:lnTo>
                  <a:close/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4" name="Google Shape;734;p47"/>
            <p:cNvSpPr/>
            <p:nvPr/>
          </p:nvSpPr>
          <p:spPr>
            <a:xfrm>
              <a:off x="5367475" y="5025075"/>
              <a:ext cx="81600" cy="105975"/>
            </a:xfrm>
            <a:custGeom>
              <a:rect b="b" l="l" r="r" t="t"/>
              <a:pathLst>
                <a:path extrusionOk="0" fill="none" h="4239" w="3264">
                  <a:moveTo>
                    <a:pt x="0" y="1"/>
                  </a:moveTo>
                  <a:lnTo>
                    <a:pt x="3264" y="4238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5" name="Google Shape;735;p47"/>
            <p:cNvSpPr/>
            <p:nvPr/>
          </p:nvSpPr>
          <p:spPr>
            <a:xfrm>
              <a:off x="5567800" y="4999500"/>
              <a:ext cx="115100" cy="133975"/>
            </a:xfrm>
            <a:custGeom>
              <a:rect b="b" l="l" r="r" t="t"/>
              <a:pathLst>
                <a:path extrusionOk="0" fill="none" h="5359" w="4604">
                  <a:moveTo>
                    <a:pt x="0" y="5359"/>
                  </a:moveTo>
                  <a:lnTo>
                    <a:pt x="4603" y="1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6" name="Google Shape;736;p47"/>
            <p:cNvSpPr/>
            <p:nvPr/>
          </p:nvSpPr>
          <p:spPr>
            <a:xfrm>
              <a:off x="5600075" y="5217475"/>
              <a:ext cx="127275" cy="16475"/>
            </a:xfrm>
            <a:custGeom>
              <a:rect b="b" l="l" r="r" t="t"/>
              <a:pathLst>
                <a:path extrusionOk="0" fill="none" h="659" w="5091">
                  <a:moveTo>
                    <a:pt x="5090" y="658"/>
                  </a:move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7" name="Google Shape;737;p47"/>
            <p:cNvSpPr/>
            <p:nvPr/>
          </p:nvSpPr>
          <p:spPr>
            <a:xfrm>
              <a:off x="5497775" y="5299675"/>
              <a:ext cx="4900" cy="126675"/>
            </a:xfrm>
            <a:custGeom>
              <a:rect b="b" l="l" r="r" t="t"/>
              <a:pathLst>
                <a:path extrusionOk="0" fill="none" h="5067" w="196">
                  <a:moveTo>
                    <a:pt x="0" y="5067"/>
                  </a:moveTo>
                  <a:lnTo>
                    <a:pt x="195" y="1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8" name="Google Shape;738;p47"/>
            <p:cNvSpPr/>
            <p:nvPr/>
          </p:nvSpPr>
          <p:spPr>
            <a:xfrm>
              <a:off x="5277975" y="5241825"/>
              <a:ext cx="141275" cy="58500"/>
            </a:xfrm>
            <a:custGeom>
              <a:rect b="b" l="l" r="r" t="t"/>
              <a:pathLst>
                <a:path extrusionOk="0" fill="none" h="2340" w="5651">
                  <a:moveTo>
                    <a:pt x="0" y="2339"/>
                  </a:moveTo>
                  <a:lnTo>
                    <a:pt x="5651" y="1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739" name="Google Shape;739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21706" y="135466"/>
            <a:ext cx="2116765" cy="1058383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p47"/>
          <p:cNvSpPr txBox="1"/>
          <p:nvPr/>
        </p:nvSpPr>
        <p:spPr>
          <a:xfrm>
            <a:off x="4311027" y="4441139"/>
            <a:ext cx="7445742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s-CL" sz="6000" u="none" cap="none" strike="noStrike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Estequiometría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1893">
            <a:alpha val="54509"/>
          </a:srgbClr>
        </a:solidFill>
      </p:bgPr>
    </p:bg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48"/>
          <p:cNvSpPr txBox="1"/>
          <p:nvPr>
            <p:ph idx="12" type="sldNum"/>
          </p:nvPr>
        </p:nvSpPr>
        <p:spPr>
          <a:xfrm>
            <a:off x="11343550" y="6333135"/>
            <a:ext cx="779019" cy="5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000"/>
              <a:buFont typeface="Lucida Sans"/>
              <a:buNone/>
            </a:pPr>
            <a:fld id="{00000000-1234-1234-1234-123412341234}" type="slidenum">
              <a:rPr lang="es-CL" sz="2000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‹#›</a:t>
            </a:fld>
            <a:endParaRPr sz="2000">
              <a:solidFill>
                <a:srgbClr val="2F5496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746" name="Google Shape;746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42082" y="132951"/>
            <a:ext cx="2253963" cy="1058383"/>
          </a:xfrm>
          <a:prstGeom prst="rect">
            <a:avLst/>
          </a:prstGeom>
          <a:noFill/>
          <a:ln>
            <a:noFill/>
          </a:ln>
        </p:spPr>
      </p:pic>
      <p:sp>
        <p:nvSpPr>
          <p:cNvPr id="747" name="Google Shape;747;p48"/>
          <p:cNvSpPr/>
          <p:nvPr/>
        </p:nvSpPr>
        <p:spPr>
          <a:xfrm>
            <a:off x="5592483" y="114308"/>
            <a:ext cx="196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2F5496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748" name="Google Shape;748;p48"/>
          <p:cNvSpPr txBox="1"/>
          <p:nvPr/>
        </p:nvSpPr>
        <p:spPr>
          <a:xfrm>
            <a:off x="204347" y="498660"/>
            <a:ext cx="9156861" cy="14388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1.- </a:t>
            </a:r>
            <a:r>
              <a:rPr b="0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Un mineral de Zn tiene un 85% de pureza. Si usted tiene 25 g de este mineral. Determine la masa de plata obtenida, sabiendo que la reacción tiene un 70% de rendimiento. Según la siguiente reacción: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9" name="Google Shape;749;p48"/>
          <p:cNvSpPr/>
          <p:nvPr/>
        </p:nvSpPr>
        <p:spPr>
          <a:xfrm>
            <a:off x="-162" y="2820844"/>
            <a:ext cx="10350500" cy="674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 </a:t>
            </a:r>
            <a:r>
              <a:rPr b="0" i="0" lang="es-CL" sz="36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Zn </a:t>
            </a:r>
            <a:r>
              <a:rPr b="0" baseline="-25000" i="0" lang="es-CL" sz="36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(s) </a:t>
            </a:r>
            <a:r>
              <a:rPr b="0" i="0" lang="es-CL" sz="36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+ AgNO</a:t>
            </a:r>
            <a:r>
              <a:rPr b="0" baseline="-25000" i="0" lang="es-CL" sz="36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3</a:t>
            </a:r>
            <a:r>
              <a:rPr b="0" i="0" lang="es-CL" sz="36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 </a:t>
            </a:r>
            <a:r>
              <a:rPr b="0" baseline="-25000" i="0" lang="es-CL" sz="36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(ac)  </a:t>
            </a:r>
            <a:r>
              <a:rPr b="0" i="0" lang="es-CL" sz="36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→  Ag </a:t>
            </a:r>
            <a:r>
              <a:rPr b="0" baseline="-25000" i="0" lang="es-CL" sz="36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(s)</a:t>
            </a:r>
            <a:r>
              <a:rPr b="0" i="0" lang="es-CL" sz="36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 + Zn (NO</a:t>
            </a:r>
            <a:r>
              <a:rPr b="0" baseline="-25000" i="0" lang="es-CL" sz="36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3</a:t>
            </a:r>
            <a:r>
              <a:rPr b="0" i="0" lang="es-CL" sz="36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)</a:t>
            </a:r>
            <a:r>
              <a:rPr b="0" baseline="-25000" i="0" lang="es-CL" sz="36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2</a:t>
            </a:r>
            <a:r>
              <a:rPr b="0" i="0" lang="es-CL" sz="36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 </a:t>
            </a:r>
            <a:r>
              <a:rPr b="0" baseline="-25000" i="0" lang="es-CL" sz="36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(ac)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esultado de imagen de atención" id="750" name="Google Shape;750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969178">
            <a:off x="204347" y="4143939"/>
            <a:ext cx="2667441" cy="1552575"/>
          </a:xfrm>
          <a:prstGeom prst="rect">
            <a:avLst/>
          </a:prstGeom>
          <a:noFill/>
          <a:ln>
            <a:noFill/>
          </a:ln>
        </p:spPr>
      </p:pic>
      <p:sp>
        <p:nvSpPr>
          <p:cNvPr id="751" name="Google Shape;751;p48"/>
          <p:cNvSpPr txBox="1"/>
          <p:nvPr/>
        </p:nvSpPr>
        <p:spPr>
          <a:xfrm>
            <a:off x="1904137" y="6036913"/>
            <a:ext cx="838372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FF9300"/>
                </a:solidFill>
                <a:latin typeface="Lucida Sans"/>
                <a:ea typeface="Lucida Sans"/>
                <a:cs typeface="Lucida Sans"/>
                <a:sym typeface="Lucida Sans"/>
              </a:rPr>
              <a:t>La ecuación no está balanceada, es lo primero que debes hacer!!!!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1893">
            <a:alpha val="54509"/>
          </a:srgbClr>
        </a:solidFill>
      </p:bgPr>
    </p:bg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49"/>
          <p:cNvSpPr txBox="1"/>
          <p:nvPr>
            <p:ph idx="12" type="sldNum"/>
          </p:nvPr>
        </p:nvSpPr>
        <p:spPr>
          <a:xfrm>
            <a:off x="11390969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000"/>
              <a:buFont typeface="Calibri"/>
              <a:buNone/>
            </a:pPr>
            <a:fld id="{00000000-1234-1234-1234-123412341234}" type="slidenum">
              <a:rPr lang="es-CL" sz="2000">
                <a:solidFill>
                  <a:srgbClr val="2F5496"/>
                </a:solidFill>
              </a:rPr>
              <a:t>‹#›</a:t>
            </a:fld>
            <a:endParaRPr sz="2000">
              <a:solidFill>
                <a:srgbClr val="2F5496"/>
              </a:solidFill>
            </a:endParaRPr>
          </a:p>
        </p:txBody>
      </p:sp>
      <p:pic>
        <p:nvPicPr>
          <p:cNvPr id="757" name="Google Shape;757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79280" y="132951"/>
            <a:ext cx="2116765" cy="1058383"/>
          </a:xfrm>
          <a:prstGeom prst="rect">
            <a:avLst/>
          </a:prstGeom>
          <a:noFill/>
          <a:ln>
            <a:noFill/>
          </a:ln>
        </p:spPr>
      </p:pic>
      <p:sp>
        <p:nvSpPr>
          <p:cNvPr id="758" name="Google Shape;758;p49"/>
          <p:cNvSpPr/>
          <p:nvPr/>
        </p:nvSpPr>
        <p:spPr>
          <a:xfrm>
            <a:off x="5604455" y="114308"/>
            <a:ext cx="18473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49"/>
          <p:cNvSpPr/>
          <p:nvPr/>
        </p:nvSpPr>
        <p:spPr>
          <a:xfrm>
            <a:off x="211277" y="785877"/>
            <a:ext cx="3481298" cy="2371996"/>
          </a:xfrm>
          <a:prstGeom prst="cloud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49"/>
          <p:cNvSpPr txBox="1"/>
          <p:nvPr/>
        </p:nvSpPr>
        <p:spPr>
          <a:xfrm>
            <a:off x="779015" y="1150703"/>
            <a:ext cx="2345821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Una vez que la ecuación está balanceada. Debes calcular la masa de Zn puro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1" name="Google Shape;761;p49"/>
          <p:cNvSpPr/>
          <p:nvPr/>
        </p:nvSpPr>
        <p:spPr>
          <a:xfrm>
            <a:off x="6948687" y="5067403"/>
            <a:ext cx="3538137" cy="1159777"/>
          </a:xfrm>
          <a:prstGeom prst="bevel">
            <a:avLst>
              <a:gd fmla="val 12500" name="adj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49"/>
          <p:cNvSpPr txBox="1"/>
          <p:nvPr/>
        </p:nvSpPr>
        <p:spPr>
          <a:xfrm>
            <a:off x="7147476" y="5354903"/>
            <a:ext cx="3140558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CL" sz="16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Relación estequiométrica entre Zn y Ag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3" name="Google Shape;763;p49"/>
          <p:cNvSpPr/>
          <p:nvPr/>
        </p:nvSpPr>
        <p:spPr>
          <a:xfrm>
            <a:off x="292299" y="105981"/>
            <a:ext cx="8666757" cy="6093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6038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CL" sz="32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Zn</a:t>
            </a:r>
            <a:r>
              <a:rPr b="0" baseline="-25000" i="0" lang="es-CL" sz="32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(s) </a:t>
            </a:r>
            <a:r>
              <a:rPr b="0" i="0" lang="es-CL" sz="32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+ </a:t>
            </a:r>
            <a:r>
              <a:rPr b="0" i="0" lang="es-CL" sz="3200" u="none" cap="none" strike="noStrike">
                <a:solidFill>
                  <a:srgbClr val="FF2F92"/>
                </a:solidFill>
                <a:latin typeface="Lucida Sans"/>
                <a:ea typeface="Lucida Sans"/>
                <a:cs typeface="Lucida Sans"/>
                <a:sym typeface="Lucida Sans"/>
              </a:rPr>
              <a:t>2</a:t>
            </a:r>
            <a:r>
              <a:rPr b="0" i="0" lang="es-CL" sz="32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AgNO</a:t>
            </a:r>
            <a:r>
              <a:rPr b="0" baseline="-25000" i="0" lang="es-CL" sz="32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3(ac)  </a:t>
            </a:r>
            <a:r>
              <a:rPr b="0" i="0" lang="es-CL" sz="32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→  </a:t>
            </a:r>
            <a:r>
              <a:rPr b="0" i="0" lang="es-CL" sz="3200" u="none" cap="none" strike="noStrike">
                <a:solidFill>
                  <a:srgbClr val="FF2F92"/>
                </a:solidFill>
                <a:latin typeface="Lucida Sans"/>
                <a:ea typeface="Lucida Sans"/>
                <a:cs typeface="Lucida Sans"/>
                <a:sym typeface="Lucida Sans"/>
              </a:rPr>
              <a:t>2</a:t>
            </a:r>
            <a:r>
              <a:rPr b="0" i="0" lang="es-CL" sz="32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Ag</a:t>
            </a:r>
            <a:r>
              <a:rPr b="0" baseline="-25000" i="0" lang="es-CL" sz="32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(s)</a:t>
            </a:r>
            <a:r>
              <a:rPr b="0" i="0" lang="es-CL" sz="32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 + Zn (NO</a:t>
            </a:r>
            <a:r>
              <a:rPr b="0" baseline="-25000" i="0" lang="es-CL" sz="32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3</a:t>
            </a:r>
            <a:r>
              <a:rPr b="0" i="0" lang="es-CL" sz="32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)</a:t>
            </a:r>
            <a:r>
              <a:rPr b="0" baseline="-25000" i="0" lang="es-CL" sz="32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2(ac)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4" name="Google Shape;764;p49"/>
          <p:cNvSpPr/>
          <p:nvPr/>
        </p:nvSpPr>
        <p:spPr>
          <a:xfrm>
            <a:off x="2066725" y="3264070"/>
            <a:ext cx="7075459" cy="999376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5" name="Google Shape;765;p49"/>
          <p:cNvSpPr/>
          <p:nvPr/>
        </p:nvSpPr>
        <p:spPr>
          <a:xfrm>
            <a:off x="4155900" y="1590024"/>
            <a:ext cx="3633861" cy="4801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6038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L" sz="24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  X</a:t>
            </a:r>
            <a:r>
              <a:rPr b="0" baseline="-25000" i="0" lang="es-CL" sz="24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 g  </a:t>
            </a:r>
            <a:r>
              <a:rPr b="0" i="0" lang="es-CL" sz="24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→    85 %</a:t>
            </a:r>
            <a:endParaRPr b="0" baseline="-25000" i="0" sz="2400" u="none" cap="none" strike="noStrike">
              <a:solidFill>
                <a:srgbClr val="2F5496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766" name="Google Shape;766;p49"/>
          <p:cNvSpPr/>
          <p:nvPr/>
        </p:nvSpPr>
        <p:spPr>
          <a:xfrm>
            <a:off x="4032907" y="2254503"/>
            <a:ext cx="3237563" cy="4801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6038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CL" sz="24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  X</a:t>
            </a:r>
            <a:r>
              <a:rPr b="1" baseline="-25000" i="0" lang="es-CL" sz="24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 </a:t>
            </a:r>
            <a:r>
              <a:rPr b="1" i="0" lang="es-CL" sz="24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= 21,25 g </a:t>
            </a:r>
            <a:endParaRPr b="1" baseline="-25000" i="0" sz="2400" u="none" cap="none" strike="noStrike">
              <a:solidFill>
                <a:srgbClr val="008000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767" name="Google Shape;767;p49"/>
          <p:cNvSpPr/>
          <p:nvPr/>
        </p:nvSpPr>
        <p:spPr>
          <a:xfrm>
            <a:off x="7147476" y="2209615"/>
            <a:ext cx="2543515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6038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El mineral tiene esta masa de Zn</a:t>
            </a:r>
            <a:endParaRPr b="1" baseline="-25000" i="0" sz="2000" u="none" cap="none" strike="noStrike">
              <a:solidFill>
                <a:srgbClr val="008000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768" name="Google Shape;768;p49"/>
          <p:cNvSpPr/>
          <p:nvPr/>
        </p:nvSpPr>
        <p:spPr>
          <a:xfrm>
            <a:off x="241804" y="5173455"/>
            <a:ext cx="5978753" cy="4801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6038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L" sz="24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0,33 mol de Zn  →   X mol de Ag</a:t>
            </a:r>
            <a:endParaRPr b="0" baseline="-25000" i="0" sz="2400" u="none" cap="none" strike="noStrike">
              <a:solidFill>
                <a:srgbClr val="2F5496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769" name="Google Shape;769;p49"/>
          <p:cNvSpPr/>
          <p:nvPr/>
        </p:nvSpPr>
        <p:spPr>
          <a:xfrm>
            <a:off x="1174516" y="5796996"/>
            <a:ext cx="3884625" cy="4801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6038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CL" sz="24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X=   0,66 mol de Ag</a:t>
            </a:r>
            <a:endParaRPr b="1" baseline="-25000" i="0" sz="2400" u="none" cap="none" strike="noStrike">
              <a:solidFill>
                <a:srgbClr val="008000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770" name="Google Shape;770;p49"/>
          <p:cNvSpPr/>
          <p:nvPr/>
        </p:nvSpPr>
        <p:spPr>
          <a:xfrm>
            <a:off x="4226593" y="1004749"/>
            <a:ext cx="2365210" cy="4801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6038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L" sz="24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25</a:t>
            </a:r>
            <a:r>
              <a:rPr b="0" baseline="-25000" i="0" lang="es-CL" sz="24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g  </a:t>
            </a:r>
            <a:r>
              <a:rPr b="0" i="0" lang="es-CL" sz="24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→  100 %</a:t>
            </a:r>
            <a:endParaRPr b="0" baseline="-25000" i="0" sz="2400" u="none" cap="none" strike="noStrike">
              <a:solidFill>
                <a:srgbClr val="2F5496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771" name="Google Shape;771;p49"/>
          <p:cNvSpPr/>
          <p:nvPr/>
        </p:nvSpPr>
        <p:spPr>
          <a:xfrm>
            <a:off x="632896" y="4598418"/>
            <a:ext cx="5803701" cy="4801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6038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L" sz="2400" u="none" cap="none" strike="noStrike">
                <a:solidFill>
                  <a:srgbClr val="2F5496"/>
                </a:solidFill>
                <a:latin typeface="Lucida Sans"/>
                <a:ea typeface="Lucida Sans"/>
                <a:cs typeface="Lucida Sans"/>
                <a:sym typeface="Lucida Sans"/>
              </a:rPr>
              <a:t>1 mol de Zn    →  2 mol de Ag</a:t>
            </a:r>
            <a:endParaRPr b="0" baseline="-25000" i="0" sz="2400" u="none" cap="none" strike="noStrike">
              <a:solidFill>
                <a:srgbClr val="2F5496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50"/>
          <p:cNvSpPr txBox="1"/>
          <p:nvPr>
            <p:ph idx="12" type="sldNum"/>
          </p:nvPr>
        </p:nvSpPr>
        <p:spPr>
          <a:xfrm>
            <a:off x="11390969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  <p:pic>
        <p:nvPicPr>
          <p:cNvPr id="777" name="Google Shape;777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46684" y="1426351"/>
            <a:ext cx="6096000" cy="304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2020-03-18T21:42:36Z</dcterms:created>
  <dc:creator>Marlen  Gutierrez Cutino</dc:creator>
</cp:coreProperties>
</file>