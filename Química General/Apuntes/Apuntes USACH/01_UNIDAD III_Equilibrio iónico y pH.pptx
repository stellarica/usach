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7"/>
  </p:notesMasterIdLst>
  <p:sldIdLst>
    <p:sldId id="471" r:id="rId2"/>
    <p:sldId id="423" r:id="rId3"/>
    <p:sldId id="425" r:id="rId4"/>
    <p:sldId id="426" r:id="rId5"/>
    <p:sldId id="427" r:id="rId6"/>
    <p:sldId id="428" r:id="rId7"/>
    <p:sldId id="374" r:id="rId8"/>
    <p:sldId id="389" r:id="rId9"/>
    <p:sldId id="306" r:id="rId10"/>
    <p:sldId id="392" r:id="rId11"/>
    <p:sldId id="475" r:id="rId12"/>
    <p:sldId id="494" r:id="rId13"/>
    <p:sldId id="429" r:id="rId14"/>
    <p:sldId id="430" r:id="rId15"/>
    <p:sldId id="431" r:id="rId16"/>
    <p:sldId id="432" r:id="rId17"/>
    <p:sldId id="433" r:id="rId18"/>
    <p:sldId id="434" r:id="rId19"/>
    <p:sldId id="436" r:id="rId20"/>
    <p:sldId id="435" r:id="rId21"/>
    <p:sldId id="476" r:id="rId22"/>
    <p:sldId id="477" r:id="rId23"/>
    <p:sldId id="489" r:id="rId24"/>
    <p:sldId id="495" r:id="rId25"/>
    <p:sldId id="437" r:id="rId26"/>
    <p:sldId id="479" r:id="rId27"/>
    <p:sldId id="480" r:id="rId28"/>
    <p:sldId id="490" r:id="rId29"/>
    <p:sldId id="496" r:id="rId30"/>
    <p:sldId id="438" r:id="rId31"/>
    <p:sldId id="439" r:id="rId32"/>
    <p:sldId id="440" r:id="rId33"/>
    <p:sldId id="482" r:id="rId34"/>
    <p:sldId id="491" r:id="rId35"/>
    <p:sldId id="492" r:id="rId36"/>
    <p:sldId id="497" r:id="rId37"/>
    <p:sldId id="441" r:id="rId38"/>
    <p:sldId id="442" r:id="rId39"/>
    <p:sldId id="443" r:id="rId40"/>
    <p:sldId id="444" r:id="rId41"/>
    <p:sldId id="488" r:id="rId42"/>
    <p:sldId id="485" r:id="rId43"/>
    <p:sldId id="486" r:id="rId44"/>
    <p:sldId id="493" r:id="rId45"/>
    <p:sldId id="498" r:id="rId46"/>
    <p:sldId id="445" r:id="rId47"/>
    <p:sldId id="446" r:id="rId48"/>
    <p:sldId id="447" r:id="rId49"/>
    <p:sldId id="448" r:id="rId50"/>
    <p:sldId id="503" r:id="rId51"/>
    <p:sldId id="499" r:id="rId52"/>
    <p:sldId id="500" r:id="rId53"/>
    <p:sldId id="507" r:id="rId54"/>
    <p:sldId id="501" r:id="rId55"/>
    <p:sldId id="502" r:id="rId56"/>
    <p:sldId id="450" r:id="rId57"/>
    <p:sldId id="451" r:id="rId58"/>
    <p:sldId id="452" r:id="rId59"/>
    <p:sldId id="453" r:id="rId60"/>
    <p:sldId id="454" r:id="rId61"/>
    <p:sldId id="455" r:id="rId62"/>
    <p:sldId id="456" r:id="rId63"/>
    <p:sldId id="457" r:id="rId64"/>
    <p:sldId id="473" r:id="rId65"/>
    <p:sldId id="474" r:id="rId66"/>
    <p:sldId id="458" r:id="rId67"/>
    <p:sldId id="463" r:id="rId68"/>
    <p:sldId id="459" r:id="rId69"/>
    <p:sldId id="465" r:id="rId70"/>
    <p:sldId id="303" r:id="rId71"/>
    <p:sldId id="387" r:id="rId72"/>
    <p:sldId id="461" r:id="rId73"/>
    <p:sldId id="462" r:id="rId74"/>
    <p:sldId id="468" r:id="rId75"/>
    <p:sldId id="331" r:id="rId7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FF40FF"/>
    <a:srgbClr val="00FA00"/>
    <a:srgbClr val="0000FF"/>
    <a:srgbClr val="797979"/>
    <a:srgbClr val="011893"/>
    <a:srgbClr val="FF9300"/>
    <a:srgbClr val="008000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74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FB450-3C2F-444B-9D8A-00853E938C60}" type="datetimeFigureOut">
              <a:rPr lang="es-ES_tradnl" smtClean="0"/>
              <a:t>18/08/2020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8BF0D-A6A6-FD4D-A9E6-5DEC166F13E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734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1189-4162-4095-A72D-97D1D0A4C38F}" type="datetime1">
              <a:rPr lang="es-CL" smtClean="0"/>
              <a:t>18-08-2020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093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C988-3886-4209-952F-6F2351060C4F}" type="datetime1">
              <a:rPr lang="es-CL" smtClean="0"/>
              <a:t>18-08-2020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38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FF90-380B-4198-AAB4-EFE3F7E59A8E}" type="datetime1">
              <a:rPr lang="es-CL" smtClean="0"/>
              <a:t>18-08-2020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195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B498-9DDE-410B-8204-6F21FFA6E274}" type="datetime1">
              <a:rPr lang="es-CL" smtClean="0"/>
              <a:t>18-08-2020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754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F5E6-CD69-49CD-B7D6-2AEC969E30DA}" type="datetime1">
              <a:rPr lang="es-CL" smtClean="0"/>
              <a:t>18-08-2020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178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C499-432E-4F9C-A348-9F1EBD53816F}" type="datetime1">
              <a:rPr lang="es-CL" smtClean="0"/>
              <a:t>18-08-2020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18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2564-0253-46B2-8B97-04702F236E08}" type="datetime1">
              <a:rPr lang="es-CL" smtClean="0"/>
              <a:t>18-08-2020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94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5F27-AD8C-4F52-BAB6-7A4ECCF43A56}" type="datetime1">
              <a:rPr lang="es-CL" smtClean="0"/>
              <a:t>18-08-2020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93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418ED-4B89-441E-BDE8-0FDAD45DABC3}" type="datetime1">
              <a:rPr lang="es-CL" smtClean="0"/>
              <a:t>18-08-2020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733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73A9-F609-4366-8CB2-D4C393F6FD2B}" type="datetime1">
              <a:rPr lang="es-CL" smtClean="0"/>
              <a:t>18-08-2020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462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3A19F-DB7A-441A-B859-6E2BBEF27AD9}" type="datetime1">
              <a:rPr lang="es-CL" smtClean="0"/>
              <a:t>18-08-2020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36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7803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30480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17800" y="1191333"/>
            <a:ext cx="7098800" cy="64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17667" y="2006600"/>
            <a:ext cx="7098800" cy="3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▸"/>
              <a:defRPr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6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BC72F-1C79-4B24-AFC2-4A1995B30CAF}" type="datetime1">
              <a:rPr lang="es-CL" smtClean="0"/>
              <a:t>18-08-2020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214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2.png"/><Relationship Id="rId4" Type="http://schemas.openxmlformats.org/officeDocument/2006/relationships/oleObject" Target="../embeddings/oleObject1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3.png"/><Relationship Id="rId4" Type="http://schemas.openxmlformats.org/officeDocument/2006/relationships/oleObject" Target="../embeddings/oleObject2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3.png"/><Relationship Id="rId4" Type="http://schemas.openxmlformats.org/officeDocument/2006/relationships/oleObject" Target="../embeddings/oleObject2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0FA48BF-37C4-164E-8AD7-A2DF45D98D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" t="8794" r="4369" b="6163"/>
          <a:stretch/>
        </p:blipFill>
        <p:spPr>
          <a:xfrm>
            <a:off x="2743124" y="832562"/>
            <a:ext cx="5852311" cy="40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E1B7E156-5C3A-874B-A5F2-B2B4E0034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28" y="564317"/>
            <a:ext cx="8527777" cy="169020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457200" marR="0" lvl="0" indent="-457200" algn="just" defTabSz="1905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69B5"/>
              </a:buClr>
              <a:buSzTx/>
              <a:buFont typeface="Arial"/>
              <a:buChar char="•"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Es un equilibrio en solución acuosa.</a:t>
            </a:r>
          </a:p>
          <a:p>
            <a:pPr marL="457200" marR="0" lvl="0" indent="-457200" algn="just" defTabSz="1905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69B5"/>
              </a:buClr>
              <a:buSzTx/>
              <a:buFont typeface="Arial"/>
              <a:buChar char="•"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Existe disociación por parte de aquellas sustancias que se denominan </a:t>
            </a:r>
            <a:r>
              <a:rPr kumimoji="1" lang="es-ES_tradnl" sz="2800" b="1" i="1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electrolitos</a:t>
            </a:r>
            <a:r>
              <a:rPr kumimoji="1" lang="es-ES_tradnl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</a:t>
            </a: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3A764-FD2E-F449-91D5-DF89AD03A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28" y="2335200"/>
            <a:ext cx="8819991" cy="331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8900" marR="0" lvl="0" indent="-342900" algn="just" defTabSz="45720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2800" b="1" i="1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Electrolito</a:t>
            </a:r>
          </a:p>
          <a:p>
            <a:pPr marL="88900" marR="0" lvl="0" indent="-342900" algn="just" defTabSz="45720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Compuestos que al disolverse en agua liberan iones (se ionizan o disocian). Forman soluciones que conducen la electricidad.</a:t>
            </a:r>
          </a:p>
          <a:p>
            <a:pPr marL="88900" marR="0" lvl="0" indent="-342900" algn="just" defTabSz="45720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2800" b="1" i="1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No-electrolito</a:t>
            </a:r>
          </a:p>
          <a:p>
            <a:pPr marL="88900" marR="0" lvl="0" indent="-342900" algn="just" defTabSz="45720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Compuestos que forman soluciones acuosas y no conducen la electricidad.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3726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408AFAA-4364-3846-A217-4B3B73892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4" y="854876"/>
            <a:ext cx="8595997" cy="468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Electrolitos fuertes</a:t>
            </a: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: Se disocian totalmente, </a:t>
            </a:r>
            <a:r>
              <a:rPr kumimoji="0" lang="es-ES_tradnl" sz="3200" b="0" i="0" u="sng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no están en equilibrio</a:t>
            </a: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</a:t>
            </a:r>
          </a:p>
          <a:p>
            <a:pPr marL="742950" marR="0" lvl="1" indent="-28575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769B5"/>
              </a:buClr>
              <a:buSzPct val="90000"/>
              <a:buFontTx/>
              <a:buChar char="•"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ácidos fuertes</a:t>
            </a:r>
          </a:p>
          <a:p>
            <a:pPr marL="742950" marR="0" lvl="1" indent="-28575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769B5"/>
              </a:buClr>
              <a:buSzPct val="90000"/>
              <a:buFontTx/>
              <a:buChar char="•"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bases fuertes</a:t>
            </a:r>
          </a:p>
          <a:p>
            <a:pPr marL="742950" marR="0" lvl="1" indent="-28575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769B5"/>
              </a:buClr>
              <a:buSzPct val="90000"/>
              <a:buFontTx/>
              <a:buChar char="•"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sales solubles</a:t>
            </a:r>
          </a:p>
          <a:p>
            <a:pPr marL="342900" marR="0" lvl="0" indent="-34290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</a:p>
          <a:p>
            <a:pPr marL="342900" marR="0" lvl="0" indent="-34290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Electrolitos débiles:</a:t>
            </a: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Se disocian parcialmente,</a:t>
            </a: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s-ES_tradnl" sz="3200" b="0" i="0" u="sng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están en equilibrio</a:t>
            </a: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</a:t>
            </a:r>
            <a:endParaRPr kumimoji="0" lang="es-ES_tradnl" sz="32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914400" marR="0" lvl="1" indent="-45720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769B5"/>
              </a:buClr>
              <a:buSzPct val="90000"/>
              <a:buFont typeface="Arial"/>
              <a:buChar char="•"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ácidos débiles</a:t>
            </a:r>
          </a:p>
          <a:p>
            <a:pPr marL="914400" marR="0" lvl="1" indent="-45720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769B5"/>
              </a:buClr>
              <a:buSzPct val="90000"/>
              <a:buFont typeface="Arial"/>
              <a:buChar char="•"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bases débiles</a:t>
            </a:r>
            <a:endParaRPr kumimoji="0" lang="es-ES" sz="32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7955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71998874-B745-6749-AB9A-7135B255F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959" y="1322111"/>
            <a:ext cx="8993956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Teoría de Arrhenius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Char char="•"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Ácido	: sustancia que en solución acuosa libera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</a:t>
            </a:r>
            <a:r>
              <a:rPr kumimoji="0" lang="es-ES_tradnl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x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(ac)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 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   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xH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+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A</a:t>
            </a:r>
            <a:r>
              <a:rPr kumimoji="0" lang="es-ES_tradnl" sz="2800" b="1" i="0" u="none" strike="noStrike" kern="0" cap="none" spc="0" normalizeH="0" baseline="30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x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endParaRPr kumimoji="0" lang="es-ES_tradnl" sz="2800" b="1" i="0" u="none" strike="noStrike" kern="0" cap="none" spc="0" normalizeH="0" baseline="-25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Char char="•"/>
              <a:tabLst/>
              <a:defRPr/>
            </a:pP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Char char="•"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Base	: sustancia que en solución acuosa libera 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2057400" marR="0" lvl="4" indent="-2286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BOH 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(ac)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  B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+ OH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endParaRPr kumimoji="0" lang="es-ES_tradnl" sz="2800" b="1" i="0" u="none" strike="noStrike" kern="0" cap="none" spc="0" normalizeH="0" baseline="-25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Neutralización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Combinación de iones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y 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para formar 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	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+ OH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78D941-57BB-364E-866B-C14E41CEE30C}"/>
              </a:ext>
            </a:extLst>
          </p:cNvPr>
          <p:cNvSpPr/>
          <p:nvPr/>
        </p:nvSpPr>
        <p:spPr>
          <a:xfrm>
            <a:off x="1601560" y="544012"/>
            <a:ext cx="3787415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Concepto Ácido-Base</a:t>
            </a:r>
            <a:endParaRPr kumimoji="1" lang="es-ES" sz="32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82094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69751FF-B405-294D-A229-0CC7ED82B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21" y="1146462"/>
            <a:ext cx="9144000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0" lang="es-ES_tradnl" sz="2800" b="1" i="1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Teoría de Lewis</a:t>
            </a: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  <a:p>
            <a:pPr marL="742950" marR="0" lvl="1" indent="-28575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Char char="•"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Ácido	: acepta un par de electrones para formar un nuevo enlace.</a:t>
            </a:r>
            <a:endParaRPr kumimoji="0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742950" marR="0" lvl="1" indent="-28575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Char char="•"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Base	: dona un par de electrones para formar un nuevo enlace.</a:t>
            </a:r>
          </a:p>
          <a:p>
            <a:pPr marL="742950" marR="0" lvl="1" indent="-28575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A     +     B  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  BA</a:t>
            </a: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ácido       base            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aducto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o complejo</a:t>
            </a:r>
          </a:p>
          <a:p>
            <a:pPr marL="342900" marR="0" lvl="0" indent="-34290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Reacción Ácido-Base</a:t>
            </a:r>
          </a:p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Es la formación de un enlace covalente coordinado o dativo.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DDF765-F2EC-2D43-AF47-A92BFF9B6413}"/>
              </a:ext>
            </a:extLst>
          </p:cNvPr>
          <p:cNvSpPr/>
          <p:nvPr/>
        </p:nvSpPr>
        <p:spPr>
          <a:xfrm>
            <a:off x="787322" y="375647"/>
            <a:ext cx="3787415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Concepto Ácido-Base</a:t>
            </a:r>
            <a:endParaRPr kumimoji="1" lang="es-ES" sz="32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A74D035-C60E-F049-8530-0815AC959FCD}"/>
              </a:ext>
            </a:extLst>
          </p:cNvPr>
          <p:cNvCxnSpPr/>
          <p:nvPr/>
        </p:nvCxnSpPr>
        <p:spPr>
          <a:xfrm>
            <a:off x="3211638" y="3772352"/>
            <a:ext cx="1192696" cy="0"/>
          </a:xfrm>
          <a:prstGeom prst="straightConnector1">
            <a:avLst/>
          </a:prstGeom>
          <a:ln w="444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8D4F57D-2930-8644-B3BF-C9519EA489BB}"/>
              </a:ext>
            </a:extLst>
          </p:cNvPr>
          <p:cNvCxnSpPr>
            <a:cxnSpLocks/>
          </p:cNvCxnSpPr>
          <p:nvPr/>
        </p:nvCxnSpPr>
        <p:spPr>
          <a:xfrm flipH="1">
            <a:off x="3242381" y="3952461"/>
            <a:ext cx="1192696" cy="0"/>
          </a:xfrm>
          <a:prstGeom prst="straightConnector1">
            <a:avLst/>
          </a:prstGeom>
          <a:ln w="444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5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75B52CC1-FE4B-134C-9AC7-C5FFF9B08421}"/>
              </a:ext>
            </a:extLst>
          </p:cNvPr>
          <p:cNvSpPr/>
          <p:nvPr/>
        </p:nvSpPr>
        <p:spPr>
          <a:xfrm>
            <a:off x="3826455" y="-19049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9178BA1-599B-EC43-B125-0D515502E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21" y="859356"/>
            <a:ext cx="8750404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Teoría de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Brönsted-Lowry</a:t>
            </a: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  <a:p>
            <a:pPr marL="661988" marR="0" lvl="1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Ácido	: sustancia que dona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+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a otra sustancia</a:t>
            </a:r>
          </a:p>
          <a:p>
            <a:pPr marL="661988" marR="0" lvl="1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		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  <a:sym typeface="Symbol" charset="2"/>
              </a:rPr>
              <a:t>NH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  <a:sym typeface="Symbol" charset="2"/>
              </a:rPr>
              <a:t>4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  <a:sym typeface="Symbol" charset="2"/>
              </a:rPr>
              <a:t>  	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  <a:sym typeface="Symbol" charset="2"/>
              </a:rPr>
              <a:t>		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NH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3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(ac)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 + 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+</a:t>
            </a:r>
          </a:p>
          <a:p>
            <a:pPr marL="661988" marR="0" lvl="1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Char char="•"/>
              <a:tabLst/>
              <a:defRPr/>
            </a:pPr>
            <a:endParaRPr kumimoji="0" lang="es-ES_tradnl" sz="2800" b="1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661988" marR="0" lvl="1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Base	: sustancia que acepta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de otra sustancia</a:t>
            </a:r>
          </a:p>
          <a:p>
            <a:pPr marL="1882775" marR="0" lvl="3" indent="-2286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Cl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  +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+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Wingdings 3" panose="05040102010807070707" pitchFamily="18" charset="2"/>
              </a:rPr>
              <a:t>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		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HCl 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(ac)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E94EA0C6-12C9-C442-840B-B09E63B92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207" y="4042572"/>
            <a:ext cx="6436680" cy="209595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 lIns="0" rIns="0">
            <a:spAutoFit/>
          </a:bodyPr>
          <a:lstStyle/>
          <a:p>
            <a:pPr marL="0" marR="0" lvl="1" indent="0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NH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3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(ac)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+ 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  NH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4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+ 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endParaRPr kumimoji="0" lang="es-ES_tradnl" sz="2800" b="0" i="0" u="none" strike="noStrike" kern="0" cap="none" spc="0" normalizeH="0" baseline="-25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  <a:p>
            <a:pPr marL="0" marR="0" lvl="1" indent="0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Base               Ácido</a:t>
            </a:r>
          </a:p>
          <a:p>
            <a:pPr marL="0" marR="0" lvl="0" indent="0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HCl 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(ac)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+ 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 Cl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+ 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3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O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endParaRPr kumimoji="0" lang="es-ES_tradnl" sz="2800" b="0" i="0" u="none" strike="noStrike" kern="0" cap="none" spc="0" normalizeH="0" baseline="-25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  <a:p>
            <a:pPr marL="0" marR="0" lvl="0" indent="0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Ácido	        Base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7EF099-CA9D-9F4E-A8B8-645B1F774872}"/>
              </a:ext>
            </a:extLst>
          </p:cNvPr>
          <p:cNvSpPr/>
          <p:nvPr/>
        </p:nvSpPr>
        <p:spPr>
          <a:xfrm>
            <a:off x="781763" y="291236"/>
            <a:ext cx="3787415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Concepto Ácido-Base</a:t>
            </a:r>
            <a:endParaRPr kumimoji="1" lang="es-ES" sz="32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8835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9" name="14 Rectángulo">
            <a:extLst>
              <a:ext uri="{FF2B5EF4-FFF2-40B4-BE49-F238E27FC236}">
                <a16:creationId xmlns:a16="http://schemas.microsoft.com/office/drawing/2014/main" id="{66A3C72F-2A33-A944-B191-CE6888C438AA}"/>
              </a:ext>
            </a:extLst>
          </p:cNvPr>
          <p:cNvSpPr/>
          <p:nvPr/>
        </p:nvSpPr>
        <p:spPr>
          <a:xfrm>
            <a:off x="3828409" y="-16509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693EB9FA-2C88-2145-8649-CD43BF1E4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456" y="935706"/>
            <a:ext cx="8018219" cy="4859682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1DBE2BAB-4C4D-A645-974B-D612C2C3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457" y="315412"/>
            <a:ext cx="4199112" cy="566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Brönsted-Lowry</a:t>
            </a:r>
            <a:endParaRPr kumimoji="0" lang="es-ES_tradnl" sz="32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3342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851A11D0-A812-7643-8529-6F21C28AC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65" y="571022"/>
            <a:ext cx="5049773" cy="69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Pares Conjugados </a:t>
            </a:r>
            <a:r>
              <a:rPr kumimoji="0" lang="es-ES_tradnl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Brönsted</a:t>
            </a:r>
            <a:endParaRPr kumimoji="0" lang="es-ES_tradnl" sz="32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pic>
        <p:nvPicPr>
          <p:cNvPr id="34" name="Picture 3">
            <a:extLst>
              <a:ext uri="{FF2B5EF4-FFF2-40B4-BE49-F238E27FC236}">
                <a16:creationId xmlns:a16="http://schemas.microsoft.com/office/drawing/2014/main" id="{367F6497-F3C5-AE4E-8A97-524DB9AD1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8599" y="1522089"/>
            <a:ext cx="8489940" cy="415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3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9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5AC58C-CA85-A04E-AB28-F95A306EA336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10E622-B124-5642-92B5-57CEF525B2DB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375898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365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Clasifique cada una de las siguientes especies como un ácido o una base de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Brønsted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HBr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HCO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85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78B1609-8F5C-E845-AB40-9FE46D0694AA}"/>
              </a:ext>
            </a:extLst>
          </p:cNvPr>
          <p:cNvGrpSpPr/>
          <p:nvPr/>
        </p:nvGrpSpPr>
        <p:grpSpPr>
          <a:xfrm>
            <a:off x="208354" y="563243"/>
            <a:ext cx="9022080" cy="5934608"/>
            <a:chOff x="1798320" y="770947"/>
            <a:chExt cx="9022080" cy="5934608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DD6D913-A79E-5A4D-BC77-55E62E1FE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8320" y="770947"/>
              <a:ext cx="9022080" cy="5934608"/>
            </a:xfrm>
            <a:prstGeom prst="rect">
              <a:avLst/>
            </a:prstGeom>
          </p:spPr>
        </p:pic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0DDFFE2F-7EAA-B44A-8CAC-962B85CC73D8}"/>
                </a:ext>
              </a:extLst>
            </p:cNvPr>
            <p:cNvSpPr/>
            <p:nvPr/>
          </p:nvSpPr>
          <p:spPr>
            <a:xfrm>
              <a:off x="5188688" y="1729563"/>
              <a:ext cx="396949" cy="2339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70F3837-FC3F-D240-80F3-8990A542B630}"/>
                </a:ext>
              </a:extLst>
            </p:cNvPr>
            <p:cNvSpPr/>
            <p:nvPr/>
          </p:nvSpPr>
          <p:spPr>
            <a:xfrm>
              <a:off x="5227674" y="1729563"/>
              <a:ext cx="318976" cy="2339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1D2FCCB-31A7-A140-B2EF-F0BE3DD90C4F}"/>
                </a:ext>
              </a:extLst>
            </p:cNvPr>
            <p:cNvSpPr/>
            <p:nvPr/>
          </p:nvSpPr>
          <p:spPr>
            <a:xfrm>
              <a:off x="5188688" y="1688805"/>
              <a:ext cx="375684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8D855419-9767-CB4A-A46B-4195F15046F8}"/>
                </a:ext>
              </a:extLst>
            </p:cNvPr>
            <p:cNvSpPr/>
            <p:nvPr/>
          </p:nvSpPr>
          <p:spPr>
            <a:xfrm>
              <a:off x="6475552" y="1724542"/>
              <a:ext cx="488418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8725534-2245-7A45-AF6C-97B1B6BD0CAA}"/>
                </a:ext>
              </a:extLst>
            </p:cNvPr>
            <p:cNvSpPr/>
            <p:nvPr/>
          </p:nvSpPr>
          <p:spPr>
            <a:xfrm>
              <a:off x="7581161" y="1729563"/>
              <a:ext cx="396948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480E381F-ECC3-324A-89FC-FAD7E10EDB6C}"/>
                </a:ext>
              </a:extLst>
            </p:cNvPr>
            <p:cNvSpPr/>
            <p:nvPr/>
          </p:nvSpPr>
          <p:spPr>
            <a:xfrm>
              <a:off x="5092700" y="2869905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BFF96C2-1F36-A14A-B492-6259E0C372A4}"/>
                </a:ext>
              </a:extLst>
            </p:cNvPr>
            <p:cNvSpPr/>
            <p:nvPr/>
          </p:nvSpPr>
          <p:spPr>
            <a:xfrm>
              <a:off x="6096000" y="2867542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EE2A3A7-BF45-FD45-8C91-24186BA7D732}"/>
                </a:ext>
              </a:extLst>
            </p:cNvPr>
            <p:cNvSpPr/>
            <p:nvPr/>
          </p:nvSpPr>
          <p:spPr>
            <a:xfrm>
              <a:off x="7729575" y="2867542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3AC3FBB0-273A-F54F-8B27-34F2034C718E}"/>
                </a:ext>
              </a:extLst>
            </p:cNvPr>
            <p:cNvSpPr/>
            <p:nvPr/>
          </p:nvSpPr>
          <p:spPr>
            <a:xfrm>
              <a:off x="5188688" y="4381205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3C9D725A-C5F5-334C-950E-BB4335FFDC50}"/>
                </a:ext>
              </a:extLst>
            </p:cNvPr>
            <p:cNvSpPr/>
            <p:nvPr/>
          </p:nvSpPr>
          <p:spPr>
            <a:xfrm>
              <a:off x="6513120" y="4381205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710F76A5-923A-D445-A85F-32BCF142B582}"/>
                </a:ext>
              </a:extLst>
            </p:cNvPr>
            <p:cNvSpPr/>
            <p:nvPr/>
          </p:nvSpPr>
          <p:spPr>
            <a:xfrm>
              <a:off x="7764425" y="4381205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34C24CB0-5C06-D744-B3D0-2374BE58F444}"/>
                </a:ext>
              </a:extLst>
            </p:cNvPr>
            <p:cNvSpPr/>
            <p:nvPr/>
          </p:nvSpPr>
          <p:spPr>
            <a:xfrm>
              <a:off x="5160187" y="5551378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ED542A1-1DCD-2442-9193-249517332894}"/>
                </a:ext>
              </a:extLst>
            </p:cNvPr>
            <p:cNvSpPr/>
            <p:nvPr/>
          </p:nvSpPr>
          <p:spPr>
            <a:xfrm>
              <a:off x="6184900" y="5579436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838C575-38EC-C54E-A44E-5599AFFCC089}"/>
                </a:ext>
              </a:extLst>
            </p:cNvPr>
            <p:cNvSpPr/>
            <p:nvPr/>
          </p:nvSpPr>
          <p:spPr>
            <a:xfrm>
              <a:off x="7829195" y="5579436"/>
              <a:ext cx="453950" cy="3154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964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12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0FA48BF-37C4-164E-8AD7-A2DF45D98D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" t="8794" r="4369" b="6163"/>
          <a:stretch/>
        </p:blipFill>
        <p:spPr>
          <a:xfrm>
            <a:off x="2743124" y="832562"/>
            <a:ext cx="5852311" cy="40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3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B4B6ED6E-8E40-9D42-9A43-3E109ABA0594}"/>
              </a:ext>
            </a:extLst>
          </p:cNvPr>
          <p:cNvSpPr/>
          <p:nvPr/>
        </p:nvSpPr>
        <p:spPr>
          <a:xfrm>
            <a:off x="3572455" y="127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AE15552-B0DB-364C-AA3F-990FC3DBD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21" y="1130071"/>
            <a:ext cx="9144000" cy="44299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Reacción Ácido-Base. Ácidos y Bases Conjugadas.</a:t>
            </a:r>
          </a:p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Para que un ácido ceda un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, debe existir una base que lo acepte.</a:t>
            </a:r>
          </a:p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Cada interacción ácido-base que implica la transferencia de un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de un ácido a una base, contiene dos pares ácido-base conjugados.		</a:t>
            </a:r>
          </a:p>
          <a:p>
            <a:pPr marL="190500" marR="0" lvl="1" indent="0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HSO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4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O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		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SO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4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2-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+  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sym typeface="Symbol" charset="2"/>
              </a:rPr>
              <a:t>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sym typeface="Symbol" charset="2"/>
              </a:rPr>
              <a:t>3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sym typeface="Symbol" charset="2"/>
              </a:rPr>
              <a:t>O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sym typeface="Symbol" charset="2"/>
              </a:rPr>
              <a:t>+</a:t>
            </a:r>
            <a:endParaRPr kumimoji="0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  <a:p>
            <a:pPr marL="190500" marR="0" lvl="1" indent="0" defTabSz="457200" eaLnBrk="1" fontAlgn="auto" latinLnBrk="0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ácido 1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base 2                        base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  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ácido</a:t>
            </a:r>
          </a:p>
          <a:p>
            <a:pPr marL="190500" marR="0" lvl="1" indent="0" defTabSz="457200" eaLnBrk="1" fontAlgn="auto" latinLnBrk="0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	                                   </a:t>
            </a:r>
            <a:r>
              <a:rPr kumimoji="0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conjugada 1    </a:t>
            </a:r>
            <a:r>
              <a:rPr kumimoji="0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conjugado 2</a:t>
            </a:r>
            <a:endParaRPr kumimoji="0" lang="es-ES" sz="24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9244A3D0-74D0-3B49-8DAF-68A936090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21" y="5491708"/>
            <a:ext cx="9144000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A un ácido fuerte, le corresponde una base conjugada débil. 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 una base fuerte, le corresponde un ácido conjugado débil. 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B84D59-812D-3640-9FC7-EE5C567BF72A}"/>
              </a:ext>
            </a:extLst>
          </p:cNvPr>
          <p:cNvSpPr/>
          <p:nvPr/>
        </p:nvSpPr>
        <p:spPr>
          <a:xfrm>
            <a:off x="529921" y="407429"/>
            <a:ext cx="7388844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Concepto Ácido-Base de </a:t>
            </a:r>
            <a:r>
              <a:rPr kumimoji="1" lang="es-ES_tradnl" sz="32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Brönsted-Lowry</a:t>
            </a:r>
            <a:endParaRPr kumimoji="1" lang="es-ES" sz="32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4575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5A00261A-0F0A-6148-90F0-267899D42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661" y="1034930"/>
            <a:ext cx="9144000" cy="310854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Existen ácidos y bases fuertes como también ácidos y bases débiles.</a:t>
            </a:r>
          </a:p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Ácidos y Bases fuertes: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se encuentran totalmente disociados. No forman equilibrio.</a:t>
            </a:r>
          </a:p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Ácidos y Bases débiles: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se encuentran parcialmente disociados. 	Forman equilibrio.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9962E8AF-C80C-3B4D-9DF4-5B5431275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74" y="4290257"/>
            <a:ext cx="8216699" cy="214622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Ácidos Binarios fuertes (hidrácidos): 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HCl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, 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HBr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, HI, etc.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Ácidos Binarios débiles: 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S, HCN, HF, etc.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Bases fuertes: 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NaOH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, KOH, Ca(OH)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, etc. 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Bases débiles: NH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3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,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NH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4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OH, etc.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685B40-E7D3-2D4D-9AA2-6EFA2C998C12}"/>
              </a:ext>
            </a:extLst>
          </p:cNvPr>
          <p:cNvSpPr/>
          <p:nvPr/>
        </p:nvSpPr>
        <p:spPr>
          <a:xfrm>
            <a:off x="593661" y="290954"/>
            <a:ext cx="7388844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Concepto Ácido-Base</a:t>
            </a:r>
            <a:endParaRPr kumimoji="1" lang="es-ES" sz="32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000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40FE43-25B1-D948-8723-B1460D979351}"/>
              </a:ext>
            </a:extLst>
          </p:cNvPr>
          <p:cNvSpPr/>
          <p:nvPr/>
        </p:nvSpPr>
        <p:spPr>
          <a:xfrm>
            <a:off x="580721" y="364772"/>
            <a:ext cx="3983783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Concepto Ácido-Base</a:t>
            </a:r>
            <a:endParaRPr kumimoji="1" lang="es-ES" sz="32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853EB20-07BF-7946-8003-D6C255560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21" y="1034312"/>
            <a:ext cx="9144000" cy="35394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513" algn="l"/>
              </a:tabLst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Para determinar si un ácido ternario (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oxiácidos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) es fuerte o débil, se aplica la siguiente fórmula: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513" algn="l"/>
              </a:tabLst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</a:t>
            </a:r>
            <a:r>
              <a:rPr kumimoji="1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XO</a:t>
            </a:r>
            <a:r>
              <a:rPr kumimoji="1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n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513" algn="l"/>
              </a:tabLst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m = nº de átomos de H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513" algn="l"/>
              </a:tabLst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n = nº de átomos de O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513" algn="l"/>
              </a:tabLst>
              <a:defRPr/>
            </a:pP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513" algn="l"/>
              </a:tabLst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Si n-m				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2	ácido fuerte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513" algn="l"/>
              </a:tabLst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	Si n-m 			 1 	ácido débil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0B1F1779-E7AC-A14E-BA3A-DFFEB6FF4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5807" y="4527576"/>
            <a:ext cx="6383940" cy="181588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Ejercicios: 	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SO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3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			HClO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3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	HNO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3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			HClO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4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	HNO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			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SO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4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	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Cr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7</a:t>
            </a:r>
            <a:endParaRPr kumimoji="1" lang="es-ES" sz="2800" b="0" i="0" u="none" strike="noStrike" kern="0" cap="none" spc="0" normalizeH="0" baseline="-2500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7E295C6-16EB-CB4F-BAFF-8E277DD9EE97}"/>
              </a:ext>
            </a:extLst>
          </p:cNvPr>
          <p:cNvCxnSpPr/>
          <p:nvPr/>
        </p:nvCxnSpPr>
        <p:spPr>
          <a:xfrm>
            <a:off x="2877050" y="3892637"/>
            <a:ext cx="78284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FA3CFD9-3E86-4E42-B5C6-7509FCAF21B5}"/>
              </a:ext>
            </a:extLst>
          </p:cNvPr>
          <p:cNvCxnSpPr/>
          <p:nvPr/>
        </p:nvCxnSpPr>
        <p:spPr>
          <a:xfrm>
            <a:off x="2890282" y="4340752"/>
            <a:ext cx="78284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35031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3E98A0F-2487-0142-955F-60B9484A46D4}"/>
              </a:ext>
            </a:extLst>
          </p:cNvPr>
          <p:cNvSpPr/>
          <p:nvPr/>
        </p:nvSpPr>
        <p:spPr>
          <a:xfrm>
            <a:off x="4563055" y="-16509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F3B88FC-CBB0-434B-8B96-60D24C17E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200" y="315412"/>
            <a:ext cx="8305800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 (l)  + 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 (l)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3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+ OH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 </a:t>
            </a:r>
            <a:endParaRPr kumimoji="0" lang="es-ES_tradnl" sz="2800" b="1" i="0" u="none" strike="noStrike" kern="0" cap="none" spc="0" normalizeH="0" baseline="-16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1" i="0" u="none" strike="noStrike" kern="0" cap="none" spc="0" normalizeH="0" baseline="-16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        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 (l)    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+  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endParaRPr kumimoji="0" lang="es-ES_tradnl" sz="2800" b="0" i="0" u="none" strike="noStrike" kern="0" cap="none" spc="0" normalizeH="0" baseline="-16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-16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K’ = </a:t>
            </a:r>
            <a:r>
              <a:rPr kumimoji="0" lang="es-ES_tradnl" sz="2800" b="1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[H</a:t>
            </a:r>
            <a:r>
              <a:rPr kumimoji="0" lang="es-ES_tradnl" sz="2800" b="1" i="0" u="sng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[OH</a:t>
            </a:r>
            <a:r>
              <a:rPr kumimoji="0" lang="es-ES_tradnl" sz="2800" b="1" i="0" u="sng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1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</a:t>
            </a:r>
          </a:p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[H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O]</a:t>
            </a:r>
            <a:endParaRPr kumimoji="0" lang="es-ES_tradnl" sz="2800" b="1" i="0" u="sng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La concentración del agua se considera constante en soluciones diluidas (55,5 M), por lo tanto:</a:t>
            </a:r>
          </a:p>
          <a:p>
            <a:pPr marL="0" marR="0" lvl="0" indent="0" algn="ctr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0" lang="es-ES_tradnl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w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[H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[OH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1 x 10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-14</a:t>
            </a:r>
            <a:endParaRPr kumimoji="0" lang="es-ES_tradnl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ctr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Producto iónico del agua</a:t>
            </a: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2A0670FF-F9A5-EA4E-88B8-55641C785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0564" y="1844968"/>
            <a:ext cx="9144000" cy="14049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90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0517AED-0863-614D-ACB1-CCB6D78AA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56" y="964330"/>
            <a:ext cx="8352928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w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1 x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-14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w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1 x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-14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1 x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-7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w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-log K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w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- log 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+ (- log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]) 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pK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w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pH +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pOH</a:t>
            </a: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14 = 7 + 7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pH = - log [H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] 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</a:t>
            </a:r>
            <a:endParaRPr kumimoji="0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pOH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= - log [OH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-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]     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EDCA98C6-0331-1045-A41F-C482FB74E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137" y="443354"/>
            <a:ext cx="4753024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En agua pura se cumple que: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180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9FFF47E8-C8B2-9842-A919-27A4AC3B2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21" y="132951"/>
            <a:ext cx="8928992" cy="214622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En general: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Solución ácida	[H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] &gt; 1x10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-7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 M	[H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] &gt; [OH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]	    pH &lt; 7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Solución básica	[H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] &lt; 1x10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-7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M	[H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] &lt; [OH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]	    pH &gt; 7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Solución neutra	[H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] = 1x10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-7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M	[H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] = [OH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]	    pH = 7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D650616E-CF2D-EC40-8C13-13BEFD274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110" y="2674834"/>
            <a:ext cx="9540552" cy="406880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Escala de pH 		 		           [H</a:t>
            </a:r>
            <a:r>
              <a:rPr kumimoji="1" lang="es-ES_tradnl" sz="2400" b="1" i="0" u="none" strike="noStrike" kern="0" cap="none" spc="0" normalizeH="0" baseline="30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+</a:t>
            </a:r>
            <a:r>
              <a:rPr kumimoji="1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]			pH				[OH</a:t>
            </a:r>
            <a:r>
              <a:rPr kumimoji="1" lang="es-ES_tradnl" sz="2400" b="1" i="0" u="none" strike="noStrike" kern="0" cap="none" spc="0" normalizeH="0" baseline="30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-</a:t>
            </a:r>
            <a:r>
              <a:rPr kumimoji="1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]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Muy ácida		         		 	 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0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	         0	           	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-14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                                        	       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1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                1             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-13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</a:t>
            </a:r>
            <a:endParaRPr kumimoji="1" lang="es-ES_tradnl" sz="24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Débilmente ácido			   	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-5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	         5	 		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-9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			  		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-6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	         6	 		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-8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Solución neutra			   	  10</a:t>
            </a:r>
            <a:r>
              <a:rPr kumimoji="1" lang="es-ES_tradnl" sz="2400" b="1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-7</a:t>
            </a:r>
            <a:r>
              <a:rPr kumimoji="1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M	         7	 		10</a:t>
            </a:r>
            <a:r>
              <a:rPr kumimoji="1" lang="es-ES_tradnl" sz="2400" b="1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-7</a:t>
            </a:r>
            <a:r>
              <a:rPr kumimoji="1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M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Débilmente básica o alcalina	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-8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	         8	 		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-6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			   		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-9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	         9	 		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-5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Muy básica o alcalina	            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-14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	       14	             10</a:t>
            </a:r>
            <a:r>
              <a:rPr kumimoji="1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0</a:t>
            </a:r>
            <a:r>
              <a:rPr kumimoji="1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</p:txBody>
      </p:sp>
    </p:spTree>
    <p:extLst>
      <p:ext uri="{BB962C8B-B14F-4D97-AF65-F5344CB8AC3E}">
        <p14:creationId xmlns:p14="http://schemas.microsoft.com/office/powerpoint/2010/main" val="2294224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BB21F1B-EEBB-714F-AEB9-CF18A3170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261" y="2543946"/>
            <a:ext cx="8992008" cy="3169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1) Calcule el pH de una solución de ácido clorhídrico 0,01 M.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HCl (ac)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+  Cl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 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- log 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- log (0,01)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- (-2)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2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C017501-69CE-B14C-8440-9F3732A4F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61" y="473165"/>
            <a:ext cx="464923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Cálculo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de pH de Ácido Fuerte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 </a:t>
            </a:r>
            <a:endParaRPr kumimoji="1" lang="es-ES" sz="28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15AF2616-EBCD-E24A-91EB-D8A4BDB91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261" y="1040054"/>
            <a:ext cx="8772378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Un ácido fuerte está totalmente ionizado o disociado en solución, por lo tanto, la [H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[ácido] y no hay equilibrio.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1CE78A2-B558-934B-AB8C-758CB01991C5}"/>
              </a:ext>
            </a:extLst>
          </p:cNvPr>
          <p:cNvCxnSpPr/>
          <p:nvPr/>
        </p:nvCxnSpPr>
        <p:spPr>
          <a:xfrm>
            <a:off x="4576193" y="3881521"/>
            <a:ext cx="1088812" cy="0"/>
          </a:xfrm>
          <a:prstGeom prst="straightConnector1">
            <a:avLst/>
          </a:prstGeom>
          <a:noFill/>
          <a:ln w="25400" cap="flat" cmpd="sng" algn="ctr">
            <a:solidFill>
              <a:srgbClr val="1769B5"/>
            </a:solidFill>
            <a:prstDash val="solid"/>
            <a:headEnd type="none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519424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D660C06-D653-3C42-8613-41F53A2EB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548" y="531621"/>
            <a:ext cx="2875707" cy="58477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Medición de pH</a:t>
            </a:r>
            <a:endParaRPr kumimoji="1" lang="es-ES" sz="32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pic>
        <p:nvPicPr>
          <p:cNvPr id="6" name="Picture 9" descr="ph2">
            <a:extLst>
              <a:ext uri="{FF2B5EF4-FFF2-40B4-BE49-F238E27FC236}">
                <a16:creationId xmlns:a16="http://schemas.microsoft.com/office/drawing/2014/main" id="{71FD65D1-2A46-3A4B-A7AB-1EF585115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1124" y="1483897"/>
            <a:ext cx="3913188" cy="26352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</p:pic>
      <p:pic>
        <p:nvPicPr>
          <p:cNvPr id="7" name="Picture 10" descr="UISOL">
            <a:extLst>
              <a:ext uri="{FF2B5EF4-FFF2-40B4-BE49-F238E27FC236}">
                <a16:creationId xmlns:a16="http://schemas.microsoft.com/office/drawing/2014/main" id="{18E0894D-E03F-014B-8C9A-B2D6D7910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59324" y="1758535"/>
            <a:ext cx="2519363" cy="2055812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</p:pic>
      <p:pic>
        <p:nvPicPr>
          <p:cNvPr id="8" name="Picture 8" descr="ph3">
            <a:extLst>
              <a:ext uri="{FF2B5EF4-FFF2-40B4-BE49-F238E27FC236}">
                <a16:creationId xmlns:a16="http://schemas.microsoft.com/office/drawing/2014/main" id="{E3DB7EFA-2061-4340-A67B-9991056E7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30724" y="4423947"/>
            <a:ext cx="2905125" cy="190500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</p:pic>
      <p:pic>
        <p:nvPicPr>
          <p:cNvPr id="9" name="Picture 9" descr="17">
            <a:extLst>
              <a:ext uri="{FF2B5EF4-FFF2-40B4-BE49-F238E27FC236}">
                <a16:creationId xmlns:a16="http://schemas.microsoft.com/office/drawing/2014/main" id="{901E88F5-43B7-B147-8BC3-C22565E2B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49324" y="4347747"/>
            <a:ext cx="2438400" cy="1989138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3923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21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5AC58C-CA85-A04E-AB28-F95A306EA336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10E622-B124-5642-92B5-57CEF525B2DB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3993760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28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concentración de iones H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en una botella de vino de mesa, justo después de que se le removió el corcho, fue de 3,2 x 10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-4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M. Sólo se consumió la mitad del vino. Se encontró que la otra mitad, después de haber estado expuesta al aire durante un mes, tenía una concentración de iones H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igual a 1,0 x 10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M. Calcule el pH del vino en estas dos ocasiones.</a:t>
            </a:r>
          </a:p>
        </p:txBody>
      </p:sp>
    </p:spTree>
    <p:extLst>
      <p:ext uri="{BB962C8B-B14F-4D97-AF65-F5344CB8AC3E}">
        <p14:creationId xmlns:p14="http://schemas.microsoft.com/office/powerpoint/2010/main" val="1282288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28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concentración de iones H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en una botella de vino de mesa, justo después de que se le removió el corcho, fue de 3,2 x 10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-4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M. Sólo se consumió la mitad del vino. Se encontró que la otra mitad, después de haber estado expuesta al aire durante un mes, tenía una concentración de iones H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igual a 1,0 x 10</a:t>
            </a:r>
            <a:r>
              <a:rPr lang="es-ES" altLang="es-C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-3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M. Calcule el pH del vino en estas dos ocasiones.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9B86C6-4A62-0240-AE34-487075C1D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" y="3098553"/>
            <a:ext cx="8716200" cy="349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45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24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0FA48BF-37C4-164E-8AD7-A2DF45D98D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" t="8794" r="4369" b="6163"/>
          <a:stretch/>
        </p:blipFill>
        <p:spPr>
          <a:xfrm>
            <a:off x="2743124" y="832562"/>
            <a:ext cx="5852311" cy="40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63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DD00BE8-9EBD-E54B-9EB3-CF0C9DEC1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2" y="2170038"/>
            <a:ext cx="91440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2) Calcule el pH y la concentración de todas las especies presentes en una solución de hidróxido de sodio 0,01 M.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	NaOH (ac)    				 Na</a:t>
            </a:r>
            <a:r>
              <a:rPr kumimoji="0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 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+  OH</a:t>
            </a:r>
            <a:r>
              <a:rPr kumimoji="0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 </a:t>
            </a:r>
            <a:endParaRPr kumimoji="0" lang="es-ES_tradnl" sz="24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[</a:t>
            </a:r>
            <a:r>
              <a:rPr kumimoji="0" lang="es-ES_trad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NaOH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[OH</a:t>
            </a:r>
            <a:r>
              <a:rPr kumimoji="0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0,01 M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pOH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- log [OH</a:t>
            </a:r>
            <a:r>
              <a:rPr kumimoji="0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pOH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- log (0,01) = - (-2) = 2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+ </a:t>
            </a:r>
            <a:r>
              <a:rPr kumimoji="0" lang="es-ES_trad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pOH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14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14 – </a:t>
            </a:r>
            <a:r>
              <a:rPr kumimoji="0" lang="es-ES_trad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pOH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14 – 2 = 12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12</a:t>
            </a:r>
          </a:p>
          <a:p>
            <a:pPr marL="342900" marR="0" lvl="0" indent="-342900" algn="ctr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[Na</a:t>
            </a:r>
            <a:r>
              <a:rPr kumimoji="0" lang="es-ES_tradnl" sz="24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4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0,01 M</a:t>
            </a:r>
            <a:endParaRPr kumimoji="0" lang="es-ES" sz="24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BE841F16-6EA8-FA46-8B8B-05FDE7D35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1" y="1196430"/>
            <a:ext cx="9144001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Una base fuerte está totalmente ionizada o disociada en solución, por lo tanto, la [OH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[base] y no hay equilibrio.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69F11DD2-EBAD-3E4D-978F-A48C15FFC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2" y="527069"/>
            <a:ext cx="4510019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Cálculo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de pH de Base Fuerte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 </a:t>
            </a:r>
            <a:endParaRPr kumimoji="1" lang="es-ES" sz="28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77DCF7D-25EA-1343-8CE9-F000887779A0}"/>
              </a:ext>
            </a:extLst>
          </p:cNvPr>
          <p:cNvCxnSpPr/>
          <p:nvPr/>
        </p:nvCxnSpPr>
        <p:spPr>
          <a:xfrm>
            <a:off x="3828326" y="3257406"/>
            <a:ext cx="1088812" cy="0"/>
          </a:xfrm>
          <a:prstGeom prst="straightConnector1">
            <a:avLst/>
          </a:prstGeom>
          <a:noFill/>
          <a:ln w="25400" cap="flat" cmpd="sng" algn="ctr">
            <a:solidFill>
              <a:srgbClr val="1769B5"/>
            </a:solidFill>
            <a:prstDash val="solid"/>
            <a:headEnd type="none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715258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26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5AC58C-CA85-A04E-AB28-F95A306EA336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10E622-B124-5642-92B5-57CEF525B2DB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1266272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una disolución de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NaOH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la concentración de [OH-] es de 2,9x 10-4 M. Calcule el pH de la disolución.</a:t>
            </a:r>
          </a:p>
        </p:txBody>
      </p:sp>
    </p:spTree>
    <p:extLst>
      <p:ext uri="{BB962C8B-B14F-4D97-AF65-F5344CB8AC3E}">
        <p14:creationId xmlns:p14="http://schemas.microsoft.com/office/powerpoint/2010/main" val="1326763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una disolución de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NaOH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la concentración de [OH-] es de 2,9x 10-4 M. Calcule el pH de la disolución.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80E2335-61B9-E34E-BF85-F864330DB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55" y="1317988"/>
            <a:ext cx="9707525" cy="50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29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0FA48BF-37C4-164E-8AD7-A2DF45D98D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" t="8794" r="4369" b="6163"/>
          <a:stretch/>
        </p:blipFill>
        <p:spPr>
          <a:xfrm>
            <a:off x="2743124" y="832562"/>
            <a:ext cx="5852311" cy="40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38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A36EDFE-EE8E-9649-80B7-7BD508B1C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11" y="657344"/>
            <a:ext cx="424911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Constante de acidez, </a:t>
            </a:r>
            <a:r>
              <a:rPr lang="es-ES_tradnl" sz="3200" b="1" kern="0" dirty="0">
                <a:solidFill>
                  <a:srgbClr val="008000"/>
                </a:solidFill>
              </a:rPr>
              <a:t>K</a:t>
            </a:r>
            <a:r>
              <a:rPr kumimoji="0" lang="es-ES_tradnl" sz="3200" b="1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a</a:t>
            </a:r>
            <a:endParaRPr kumimoji="0" lang="es-ES" sz="3200" b="1" i="0" u="none" strike="noStrike" kern="0" cap="none" spc="0" normalizeH="0" baseline="-2500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4F60B5F-622C-A14C-94F5-85FF1F6CA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139" y="1462444"/>
            <a:ext cx="8618238" cy="4323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  HA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 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+ A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</a:t>
            </a: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</a:t>
            </a: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</a:t>
            </a: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4763" marR="0" lvl="1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La fuerza del ácido, se mide cualitativamente a través del valor de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0" lang="es-ES_tradnl" sz="2800" b="0" i="0" u="none" strike="noStrike" kern="0" cap="none" spc="0" normalizeH="0" baseline="-18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. </a:t>
            </a:r>
          </a:p>
          <a:p>
            <a:pPr marL="4763" marR="0" lvl="1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4763" marR="0" lvl="1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 mayor valor de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, mayor fuerza tiene el ácido.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F7B2BD6-8B67-1F4B-B0C2-09D418D59698}"/>
                  </a:ext>
                </a:extLst>
              </p:cNvPr>
              <p:cNvSpPr txBox="1"/>
              <p:nvPr/>
            </p:nvSpPr>
            <p:spPr>
              <a:xfrm>
                <a:off x="3241963" y="2516378"/>
                <a:ext cx="2501692" cy="9126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CL" sz="28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F7B2BD6-8B67-1F4B-B0C2-09D418D59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963" y="2516378"/>
                <a:ext cx="2501692" cy="912622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30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D91BACE-055A-BF4F-B5FE-F69FBE0FF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99" y="257330"/>
            <a:ext cx="4464684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Cálculo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de pH de ácido débil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 </a:t>
            </a:r>
            <a:endParaRPr kumimoji="1" lang="es-ES" sz="28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4AFBD06-684A-2340-945C-9B17986D3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99" y="107829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Calcule el pH de una solución de ácido acético 0,01M, si se sabe que tiene un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pK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de 4,74.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F13E64D-7755-2B4A-B924-3E5242802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312" y="2107085"/>
            <a:ext cx="7543800" cy="310854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pK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4,74        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-4,74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=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1,8 x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-5</a:t>
            </a:r>
          </a:p>
          <a:p>
            <a:pPr marL="38100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HAc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+ Ac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</a:p>
          <a:p>
            <a:pPr marL="38100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38100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endParaRPr lang="es-ES_tradnl" sz="2800" kern="0" dirty="0">
              <a:solidFill>
                <a:srgbClr val="1769B5"/>
              </a:solidFill>
            </a:endParaRPr>
          </a:p>
          <a:p>
            <a:pPr marL="38100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Como    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[Ac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B89A6C2-B7CF-8B4C-8E97-3D3D1C3129A8}"/>
                  </a:ext>
                </a:extLst>
              </p:cNvPr>
              <p:cNvSpPr txBox="1"/>
              <p:nvPr/>
            </p:nvSpPr>
            <p:spPr>
              <a:xfrm>
                <a:off x="2089148" y="3429000"/>
                <a:ext cx="2501692" cy="9126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CL" sz="28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𝐴𝑐</m:t>
                                  </m:r>
                                </m:e>
                                <m:sup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𝐻𝐴𝑐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B89A6C2-B7CF-8B4C-8E97-3D3D1C312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148" y="3429000"/>
                <a:ext cx="2501692" cy="912622"/>
              </a:xfrm>
              <a:prstGeom prst="rect">
                <a:avLst/>
              </a:prstGeom>
              <a:blipFill>
                <a:blip r:embed="rId3"/>
                <a:stretch>
                  <a:fillRect l="-3535" b="-411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F708AC0-3960-7B4D-BFE5-84EE7E8A554C}"/>
                  </a:ext>
                </a:extLst>
              </p:cNvPr>
              <p:cNvSpPr txBox="1"/>
              <p:nvPr/>
            </p:nvSpPr>
            <p:spPr>
              <a:xfrm>
                <a:off x="4843399" y="4479879"/>
                <a:ext cx="2501692" cy="9263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CL" sz="28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CL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p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𝐻𝐴𝑐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F708AC0-3960-7B4D-BFE5-84EE7E8A5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399" y="4479879"/>
                <a:ext cx="2501692" cy="926344"/>
              </a:xfrm>
              <a:prstGeom prst="rect">
                <a:avLst/>
              </a:prstGeom>
              <a:blipFill>
                <a:blip r:embed="rId4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58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AF2EE9BE-4C3A-8942-A533-96B12E5F3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532" y="2504395"/>
            <a:ext cx="6767212" cy="24622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 - log [H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</a:t>
            </a:r>
          </a:p>
          <a:p>
            <a:pPr marL="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 - log (4,2 x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-4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)</a:t>
            </a:r>
          </a:p>
          <a:p>
            <a:pPr marL="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- (-3,38) </a:t>
            </a:r>
          </a:p>
          <a:p>
            <a:pPr marL="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pH = 3,38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18935EB-B402-BF4D-AC0D-C16DCB63F099}"/>
                  </a:ext>
                </a:extLst>
              </p:cNvPr>
              <p:cNvSpPr txBox="1"/>
              <p:nvPr/>
            </p:nvSpPr>
            <p:spPr>
              <a:xfrm>
                <a:off x="1187532" y="837211"/>
                <a:ext cx="6562630" cy="14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s-E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2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𝐻𝐴𝑐</m:t>
                                  </m:r>
                                </m:e>
                              </m:d>
                            </m:e>
                          </m:d>
                        </m:e>
                      </m:rad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1,8</m:t>
                          </m:r>
                          <m:r>
                            <a:rPr lang="es-E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  <m:r>
                            <a:rPr lang="es-E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0,01</m:t>
                          </m:r>
                        </m:e>
                      </m:rad>
                    </m:oMath>
                  </m:oMathPara>
                </a14:m>
                <a:endParaRPr lang="es-ES" sz="28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CL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s-ES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s-CL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4,2×</m:t>
                      </m:r>
                      <m:sSup>
                        <m:sSupPr>
                          <m:ctrlP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s-E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s-CL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18935EB-B402-BF4D-AC0D-C16DCB63F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32" y="837211"/>
                <a:ext cx="6562630" cy="1444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509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33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5AC58C-CA85-A04E-AB28-F95A306EA336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10E622-B124-5642-92B5-57CEF525B2DB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2693049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45" y="34114"/>
            <a:ext cx="8856599" cy="93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el pH de una disolución de ácido nitroso (HNO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0,036 M:</a:t>
            </a: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6945D2-F7D6-8949-B0FF-1B4DF0145F70}"/>
              </a:ext>
            </a:extLst>
          </p:cNvPr>
          <p:cNvSpPr/>
          <p:nvPr/>
        </p:nvSpPr>
        <p:spPr>
          <a:xfrm>
            <a:off x="1154431" y="572304"/>
            <a:ext cx="71830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HNO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</a:t>
            </a:r>
            <a:r>
              <a:rPr lang="es-ES_tradnl" sz="2400" b="1" kern="0" baseline="-2500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 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 charset="2"/>
              </a:rPr>
              <a:t>	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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 charset="2"/>
              </a:rPr>
              <a:t>	 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_tradnl" sz="2400" b="1" kern="0" baseline="30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es-ES_tradnl" sz="2400" b="1" kern="0" baseline="-2500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NO</a:t>
            </a:r>
            <a:r>
              <a:rPr lang="es-ES_tradnl" sz="2400" b="1" kern="0" baseline="30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</a:t>
            </a:r>
            <a:r>
              <a:rPr lang="es-ES_tradnl" sz="2400" b="1" kern="0" baseline="-2500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  <a:endParaRPr lang="es-ES_tradnl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488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45" y="34114"/>
            <a:ext cx="8856599" cy="93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el pH de una disolución de ácido nitroso (HNO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0,036 M:</a:t>
            </a: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6945D2-F7D6-8949-B0FF-1B4DF0145F70}"/>
              </a:ext>
            </a:extLst>
          </p:cNvPr>
          <p:cNvSpPr/>
          <p:nvPr/>
        </p:nvSpPr>
        <p:spPr>
          <a:xfrm>
            <a:off x="1154431" y="572304"/>
            <a:ext cx="71830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HNO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</a:t>
            </a:r>
            <a:r>
              <a:rPr lang="es-ES_tradnl" sz="2400" b="1" kern="0" baseline="-2500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 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 charset="2"/>
              </a:rPr>
              <a:t>	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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 charset="2"/>
              </a:rPr>
              <a:t>	 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_tradnl" sz="2400" b="1" kern="0" baseline="30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es-ES_tradnl" sz="2400" b="1" kern="0" baseline="-2500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NO</a:t>
            </a:r>
            <a:r>
              <a:rPr lang="es-ES_tradnl" sz="2400" b="1" kern="0" baseline="30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</a:t>
            </a:r>
            <a:r>
              <a:rPr lang="es-ES_tradnl" sz="2400" b="1" kern="0" baseline="-2500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_tradnl" sz="2400" b="1" kern="0" baseline="-25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ES_tradnl" sz="24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  <a:endParaRPr lang="es-ES_tradnl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DF244A-03B9-1B42-9D19-5105424E3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26" y="1122633"/>
            <a:ext cx="5284029" cy="56982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FB8AC67-DC88-D047-9AE4-4AFC87FD7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437" y="1483854"/>
            <a:ext cx="5723518" cy="411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49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36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0FA48BF-37C4-164E-8AD7-A2DF45D98D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" t="8794" r="4369" b="6163"/>
          <a:stretch/>
        </p:blipFill>
        <p:spPr>
          <a:xfrm>
            <a:off x="2743124" y="832562"/>
            <a:ext cx="5852311" cy="40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626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6" name="14 Rectángulo">
            <a:extLst>
              <a:ext uri="{FF2B5EF4-FFF2-40B4-BE49-F238E27FC236}">
                <a16:creationId xmlns:a16="http://schemas.microsoft.com/office/drawing/2014/main" id="{601E10B4-2108-4044-864A-02E1A3DF7D2E}"/>
              </a:ext>
            </a:extLst>
          </p:cNvPr>
          <p:cNvSpPr/>
          <p:nvPr/>
        </p:nvSpPr>
        <p:spPr>
          <a:xfrm>
            <a:off x="3978855" y="-6349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F5801C6-8F81-9A49-98D0-DDAC98EA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08" y="736611"/>
            <a:ext cx="523632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Constante de Basicidad , K</a:t>
            </a:r>
            <a:r>
              <a:rPr kumimoji="0" lang="es-ES_tradnl" sz="3200" b="1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b</a:t>
            </a:r>
            <a:endParaRPr kumimoji="0" lang="es-ES" sz="3200" b="1" i="0" u="none" strike="noStrike" kern="0" cap="none" spc="0" normalizeH="0" baseline="-2500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C93513A-8BDE-4441-AE3C-656F48838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336" y="1541711"/>
            <a:ext cx="8618238" cy="4323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  BOH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 B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+ 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</a:t>
            </a: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	</a:t>
            </a: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endParaRPr lang="es-ES_tradnl" sz="2800" kern="0" dirty="0">
              <a:solidFill>
                <a:srgbClr val="1769B5"/>
              </a:solidFill>
            </a:endParaRP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1143000" marR="0" lvl="2" indent="-22860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4763" marR="0" lvl="1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La fuerza de la base, se mide cualitativamente a través del valor de K</a:t>
            </a:r>
            <a:r>
              <a:rPr kumimoji="0" lang="es-ES_tradnl" sz="2800" b="0" i="0" u="none" strike="noStrike" kern="0" cap="none" spc="0" normalizeH="0" baseline="-18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. </a:t>
            </a:r>
          </a:p>
          <a:p>
            <a:pPr marL="4763" marR="0" lvl="1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4763" marR="0" lvl="1" indent="0" algn="just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SzPct val="90000"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 mayor valor de K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, mayor fuerza tiene la base.</a:t>
            </a: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82DDD29-AD98-9149-A7C0-2489A7965184}"/>
                  </a:ext>
                </a:extLst>
              </p:cNvPr>
              <p:cNvSpPr txBox="1"/>
              <p:nvPr/>
            </p:nvSpPr>
            <p:spPr>
              <a:xfrm>
                <a:off x="3476971" y="2469797"/>
                <a:ext cx="2746632" cy="9126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CL" sz="28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𝑂𝐻</m:t>
                                  </m:r>
                                </m:e>
                                <m:sup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𝐵𝑂𝐻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82DDD29-AD98-9149-A7C0-2489A7965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971" y="2469797"/>
                <a:ext cx="2746632" cy="912622"/>
              </a:xfrm>
              <a:prstGeom prst="rect">
                <a:avLst/>
              </a:prstGeom>
              <a:blipFill>
                <a:blip r:embed="rId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391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4E9524B-5E32-6E4A-972F-2E555F10E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721" y="372190"/>
            <a:ext cx="4357283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Cálculo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de pH de base débil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 </a:t>
            </a:r>
            <a:endParaRPr kumimoji="1" lang="es-ES" sz="28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3C1A863-88AB-5F4E-8553-98C952D51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853" y="939179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El hidróxido de amonio es una base débil. Calcule el pH de una solución 0,1 M de la base, si tiene un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pK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4,75.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3B226CA5-078A-614E-99C9-DFC7773DF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445" y="2150367"/>
            <a:ext cx="7543800" cy="24622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pK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4,75         K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-4,754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= 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1,78 x 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-5</a:t>
            </a:r>
          </a:p>
          <a:p>
            <a:pPr marL="38100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</a:p>
          <a:p>
            <a:pPr marL="38100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 NH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4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OH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			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	 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NH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4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+ OH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-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</a:p>
          <a:p>
            <a:pPr marL="381000" marR="0" lvl="2" indent="0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8226EB0-0EB4-0D4D-9E7A-D308FF737106}"/>
                  </a:ext>
                </a:extLst>
              </p:cNvPr>
              <p:cNvSpPr txBox="1"/>
              <p:nvPr/>
            </p:nvSpPr>
            <p:spPr>
              <a:xfrm>
                <a:off x="2843101" y="4505724"/>
                <a:ext cx="3149460" cy="9596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CL" sz="28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s-CL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𝑂𝐻</m:t>
                                  </m:r>
                                </m:e>
                                <m:sup>
                                  <m:r>
                                    <a:rPr lang="es-ES" sz="28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𝑂𝐻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8226EB0-0EB4-0D4D-9E7A-D308FF737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101" y="4505724"/>
                <a:ext cx="3149460" cy="959686"/>
              </a:xfrm>
              <a:prstGeom prst="rect">
                <a:avLst/>
              </a:prstGeom>
              <a:blipFill>
                <a:blip r:embed="rId3"/>
                <a:stretch>
                  <a:fillRect l="-803" b="-657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355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121C74C4-BC6E-F246-B53D-1FEA8A13B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543" y="4006509"/>
            <a:ext cx="7543800" cy="142808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2" indent="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pOH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- log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-log 1,33x10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-3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2,87	</a:t>
            </a:r>
          </a:p>
          <a:p>
            <a:pPr marL="0" marR="0" lvl="2" indent="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+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pOH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14      </a:t>
            </a:r>
          </a:p>
          <a:p>
            <a:pPr marL="0" marR="0" lvl="2" indent="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pH = 14 – 2,87 =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11,13</a:t>
            </a:r>
            <a:endParaRPr kumimoji="1" lang="es-ES" sz="28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  <a:latin typeface="Times New Roman" charset="0"/>
            </a:endParaRP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929BB0E7-0D99-D24A-BD47-18DB8C563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05" y="508036"/>
            <a:ext cx="6917162" cy="4801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2" indent="0" defTabSz="45720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[NH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4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= [OH</a:t>
            </a:r>
            <a:r>
              <a:rPr kumimoji="0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]         [NH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4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OH] = 0,1 M</a:t>
            </a:r>
            <a:endParaRPr kumimoji="0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8874099-E17B-D140-AAC6-A6545E63DFC7}"/>
                  </a:ext>
                </a:extLst>
              </p:cNvPr>
              <p:cNvSpPr txBox="1"/>
              <p:nvPr/>
            </p:nvSpPr>
            <p:spPr>
              <a:xfrm>
                <a:off x="976842" y="1208121"/>
                <a:ext cx="5119158" cy="13659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CL" sz="28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CL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  <m:sup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s-ES" sz="2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𝑂𝐻</m:t>
                              </m:r>
                            </m:e>
                          </m:d>
                        </m:den>
                      </m:f>
                      <m:r>
                        <a:rPr lang="es-CL" sz="28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1,78×</m:t>
                      </m:r>
                      <m:sSup>
                        <m:sSupPr>
                          <m:ctrlPr>
                            <a:rPr lang="es-E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E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s-ES" sz="2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s-ES" sz="2800" b="0" dirty="0">
                  <a:solidFill>
                    <a:srgbClr val="0070C0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endParaRPr lang="es-CL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8874099-E17B-D140-AAC6-A6545E63D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2" y="1208121"/>
                <a:ext cx="5119158" cy="13659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A479045-500E-E440-A1DE-71167ACE2848}"/>
                  </a:ext>
                </a:extLst>
              </p:cNvPr>
              <p:cNvSpPr txBox="1"/>
              <p:nvPr/>
            </p:nvSpPr>
            <p:spPr>
              <a:xfrm>
                <a:off x="976842" y="2317101"/>
                <a:ext cx="7525202" cy="14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𝑂𝐻</m:t>
                              </m:r>
                            </m:e>
                            <m:sup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s-E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s-CL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s-ES" sz="28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s-ES" sz="28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𝑂𝐻</m:t>
                                  </m:r>
                                </m:e>
                              </m:d>
                            </m:e>
                          </m:d>
                        </m:e>
                      </m:rad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1,78</m:t>
                          </m:r>
                          <m:r>
                            <a:rPr lang="es-E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  <m:r>
                            <a:rPr lang="es-E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rad>
                    </m:oMath>
                  </m:oMathPara>
                </a14:m>
                <a:endParaRPr lang="es-ES" sz="28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CL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𝑂𝐻</m:t>
                              </m:r>
                            </m:e>
                            <m:sup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s-CL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1,33×</m:t>
                      </m:r>
                      <m:sSup>
                        <m:sSupPr>
                          <m:ctrlP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s-E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s-CL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A479045-500E-E440-A1DE-71167ACE2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2" y="2317101"/>
                <a:ext cx="7525202" cy="1444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07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CF90C49-0347-3D4D-8616-4942B45C0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328" y="565317"/>
            <a:ext cx="58057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Fuerzas relativas de ácidos y bases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pic>
        <p:nvPicPr>
          <p:cNvPr id="6" name="Picture 9" descr="fuerza acido base">
            <a:extLst>
              <a:ext uri="{FF2B5EF4-FFF2-40B4-BE49-F238E27FC236}">
                <a16:creationId xmlns:a16="http://schemas.microsoft.com/office/drawing/2014/main" id="{4D7019FF-D652-DA41-8338-11D236AD5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0889" y="1109825"/>
            <a:ext cx="8821801" cy="5017389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90513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CF90C49-0347-3D4D-8616-4942B45C0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87" y="152412"/>
            <a:ext cx="58057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Fuerzas relativas de ácidos y bases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pic>
        <p:nvPicPr>
          <p:cNvPr id="7" name="Imagen 6" descr="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C01C653B-9E41-1E48-B47D-865FEF21C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501" y="677323"/>
            <a:ext cx="7004100" cy="565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49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42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5AC58C-CA85-A04E-AB28-F95A306EA336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10E622-B124-5642-92B5-57CEF525B2DB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3584010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¿Cuál es el pH de una disolución de amoniaco 0.40 M?</a:t>
            </a:r>
          </a:p>
        </p:txBody>
      </p:sp>
    </p:spTree>
    <p:extLst>
      <p:ext uri="{BB962C8B-B14F-4D97-AF65-F5344CB8AC3E}">
        <p14:creationId xmlns:p14="http://schemas.microsoft.com/office/powerpoint/2010/main" val="2986721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5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¿Cuál es el pH de una disolución de amoniaco 0.40 M?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12BC054-539E-5C49-9CBF-9CA68312A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0" y="898173"/>
            <a:ext cx="6196715" cy="36553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C73A29E-2646-FE43-A177-BCE93814C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202" y="2061619"/>
            <a:ext cx="5424843" cy="404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28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45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0FA48BF-37C4-164E-8AD7-A2DF45D98D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" t="8794" r="4369" b="6163"/>
          <a:stretch/>
        </p:blipFill>
        <p:spPr>
          <a:xfrm>
            <a:off x="2743124" y="832562"/>
            <a:ext cx="5852311" cy="40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00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D47A3A15-3C5D-5146-965A-0F595BD1A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921" y="673503"/>
            <a:ext cx="6913563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Porcentaje </a:t>
            </a: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</a:rPr>
              <a:t>ionización</a:t>
            </a: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</a:t>
            </a:r>
            <a:r>
              <a:rPr kumimoji="1" lang="es-ES_tradnl" sz="32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: 				</a:t>
            </a:r>
            <a:endParaRPr kumimoji="1" lang="es-ES" sz="3200" b="0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DB911CCE-DC9D-A241-A3AA-F9E8D8EA3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45" y="1940017"/>
            <a:ext cx="8964488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Determine el porcentaje de ionización para el ácido fluorhídrico de concentración 0,0006 M, si su 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pK</a:t>
            </a:r>
            <a:r>
              <a:rPr kumimoji="1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3,15. 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FB079791-5A5A-AF4A-B978-5E231E236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09" y="4022157"/>
            <a:ext cx="7416824" cy="181588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</a:t>
            </a: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Inicial	          0,0006 M				   0 M              0 M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Cambio	             -x M	  			   x M              x M</a:t>
            </a: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Equilibrio (0,0006-x) M	  		   x M              x M</a:t>
            </a:r>
            <a:endParaRPr kumimoji="1" lang="es-ES" sz="2800" b="0" i="0" u="sng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18B58D-6192-1C48-BA1C-5D4F57A76A16}"/>
              </a:ext>
            </a:extLst>
          </p:cNvPr>
          <p:cNvSpPr/>
          <p:nvPr/>
        </p:nvSpPr>
        <p:spPr>
          <a:xfrm>
            <a:off x="2549260" y="3375826"/>
            <a:ext cx="53655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6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HF</a:t>
            </a:r>
            <a:r>
              <a:rPr kumimoji="1" lang="es-ES_tradnl" sz="36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(ac)     </a:t>
            </a:r>
            <a:r>
              <a:rPr kumimoji="1" lang="es-ES_tradnl" sz="36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  </a:t>
            </a:r>
            <a:r>
              <a:rPr kumimoji="1" lang="es-ES_tradnl" sz="36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1" lang="es-ES_tradnl" sz="36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     </a:t>
            </a:r>
            <a:r>
              <a:rPr kumimoji="1" lang="es-ES_tradnl" sz="36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H</a:t>
            </a:r>
            <a:r>
              <a:rPr kumimoji="1" lang="es-ES_tradnl" sz="36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1" lang="es-ES_tradnl" sz="36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</a:t>
            </a:r>
            <a:r>
              <a:rPr kumimoji="1" lang="es-ES_tradnl" sz="36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     F</a:t>
            </a:r>
            <a:r>
              <a:rPr kumimoji="1" lang="es-ES_tradnl" sz="36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 </a:t>
            </a:r>
            <a:endParaRPr kumimoji="1" lang="es-ES_tradnl" sz="3600" b="0" i="0" u="none" strike="noStrike" kern="0" cap="none" spc="0" normalizeH="0" baseline="-25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E02C2A7-FDF9-6347-A1E6-76716172C7F5}"/>
                  </a:ext>
                </a:extLst>
              </p:cNvPr>
              <p:cNvSpPr txBox="1"/>
              <p:nvPr/>
            </p:nvSpPr>
            <p:spPr>
              <a:xfrm>
                <a:off x="5485716" y="515257"/>
                <a:ext cx="2521459" cy="1043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L" sz="3200" i="1" smtClean="0">
                              <a:solidFill>
                                <a:srgbClr val="FF2F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3200" i="1" smtClean="0">
                                  <a:solidFill>
                                    <a:srgbClr val="FF2F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3200" i="1" smtClean="0">
                                      <a:solidFill>
                                        <a:srgbClr val="FF2F9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3200" b="0" i="1" smtClean="0">
                                      <a:solidFill>
                                        <a:srgbClr val="FF2F92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3200" b="0" i="1" smtClean="0">
                                      <a:solidFill>
                                        <a:srgbClr val="FF2F92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s-CL" sz="3200" b="0" i="1" smtClean="0">
                              <a:solidFill>
                                <a:srgbClr val="FF2F92"/>
                              </a:solidFill>
                              <a:latin typeface="Cambria Math" panose="02040503050406030204" pitchFamily="18" charset="0"/>
                            </a:rPr>
                            <m:t>𝑒𝑞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3200" i="1" smtClean="0">
                                  <a:solidFill>
                                    <a:srgbClr val="FF2F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3200" b="0" i="1" smtClean="0">
                                  <a:solidFill>
                                    <a:srgbClr val="FF2F92"/>
                                  </a:solidFill>
                                  <a:latin typeface="Cambria Math" panose="02040503050406030204" pitchFamily="18" charset="0"/>
                                </a:rPr>
                                <m:t>𝐻𝐴</m:t>
                              </m:r>
                            </m:e>
                          </m:d>
                          <m:r>
                            <a:rPr lang="es-CL" sz="3200" b="0" i="1" smtClean="0">
                              <a:solidFill>
                                <a:srgbClr val="FF2F9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s-CL" sz="3200" i="1" smtClean="0">
                          <a:solidFill>
                            <a:srgbClr val="FF2F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smtClean="0">
                          <a:solidFill>
                            <a:srgbClr val="FF2F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s-CL" sz="3200" dirty="0">
                  <a:solidFill>
                    <a:srgbClr val="FF2F92"/>
                  </a:solidFill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E02C2A7-FDF9-6347-A1E6-76716172C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716" y="515257"/>
                <a:ext cx="2521459" cy="10431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113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26230F3B-9151-ED43-B22E-859AD07FF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766" y="1598139"/>
            <a:ext cx="9144454" cy="138499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Como la [HF] es muy pequeña y 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K</a:t>
            </a:r>
            <a:r>
              <a:rPr kumimoji="1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es grande, el método aproximado no es aplicable. Por lo tanto, se desarrolla la ecuación cuadrática media: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689614BA-5503-7849-A6CF-3E92CA5C8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659" y="3198032"/>
            <a:ext cx="7293431" cy="35394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x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+ 7,1x10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-4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x – 4,3x10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-7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0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s-ES_tradnl" sz="2800" kern="0" dirty="0">
              <a:solidFill>
                <a:srgbClr val="1769B5"/>
              </a:solidFill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x = 3,9 x 10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-4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M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Por lo tanto,      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% ionización  = </a:t>
            </a:r>
            <a:r>
              <a:rPr kumimoji="1" lang="es-ES_tradnl" sz="2800" b="0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3,9 x 10</a:t>
            </a:r>
            <a:r>
              <a:rPr kumimoji="1" lang="es-ES_tradnl" sz="2800" b="0" i="0" u="sng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-4 </a:t>
            </a:r>
            <a:r>
              <a:rPr kumimoji="1" lang="es-ES_tradnl" sz="2800" b="0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x 100 = 65%</a:t>
            </a:r>
            <a:endParaRPr kumimoji="1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                       		0,0006 M</a:t>
            </a:r>
            <a:r>
              <a:rPr kumimoji="1" lang="es-ES_tradnl" sz="2800" b="0" i="0" u="sng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endParaRPr kumimoji="1" lang="es-ES" sz="2800" b="0" i="0" u="sng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EB7EC1B-340B-7048-875B-1EDA10AF546E}"/>
                  </a:ext>
                </a:extLst>
              </p:cNvPr>
              <p:cNvSpPr txBox="1"/>
              <p:nvPr/>
            </p:nvSpPr>
            <p:spPr>
              <a:xfrm>
                <a:off x="1524534" y="265824"/>
                <a:ext cx="4900124" cy="925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0,0006−</m:t>
                              </m:r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7,1×</m:t>
                      </m:r>
                      <m:sSup>
                        <m:sSupPr>
                          <m:ctrlP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s-CL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EB7EC1B-340B-7048-875B-1EDA10AF5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534" y="265824"/>
                <a:ext cx="4900124" cy="925510"/>
              </a:xfrm>
              <a:prstGeom prst="rect">
                <a:avLst/>
              </a:prstGeom>
              <a:blipFill>
                <a:blip r:embed="rId3"/>
                <a:stretch>
                  <a:fillRect l="-1295" b="-405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950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E24B746-5BA9-C444-9287-C6F85862C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8105" y="2171700"/>
            <a:ext cx="8892956" cy="2717292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A5FE241D-6680-5046-83B8-114C0C853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32" y="614077"/>
            <a:ext cx="6056086" cy="656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Ionización Completa HCl</a:t>
            </a:r>
            <a:endParaRPr kumimoji="0" lang="es-ES" sz="32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029748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4902BF2-4576-0D4B-ACB7-2EC64C5432D2}"/>
                  </a:ext>
                </a:extLst>
              </p:cNvPr>
              <p:cNvSpPr txBox="1"/>
              <p:nvPr/>
            </p:nvSpPr>
            <p:spPr>
              <a:xfrm>
                <a:off x="219789" y="5154358"/>
                <a:ext cx="8676093" cy="935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E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den>
                      </m:f>
                      <m:r>
                        <a:rPr lang="es-CL" sz="28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CL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𝐻𝑆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s-ES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s-CL" sz="2800" b="0" i="1" baseline="3000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4902BF2-4576-0D4B-ACB7-2EC64C543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89" y="5154358"/>
                <a:ext cx="8676093" cy="9350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18" name="14 Rectángulo">
            <a:extLst>
              <a:ext uri="{FF2B5EF4-FFF2-40B4-BE49-F238E27FC236}">
                <a16:creationId xmlns:a16="http://schemas.microsoft.com/office/drawing/2014/main" id="{FBB0FCD5-A82A-2147-A47A-ECD80E62F3D5}"/>
              </a:ext>
            </a:extLst>
          </p:cNvPr>
          <p:cNvSpPr/>
          <p:nvPr/>
        </p:nvSpPr>
        <p:spPr>
          <a:xfrm>
            <a:off x="3318455" y="-21589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BF19C3F0-1647-0441-ABE8-7F3E58204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89" y="151872"/>
            <a:ext cx="9144000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Equilibrio iónico con ácidos que presentan dos o más hidrógenos (H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2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SO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4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, H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2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S, H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2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CO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3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, H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3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PO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4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)</a:t>
            </a:r>
            <a:endParaRPr kumimoji="1" lang="es-ES" sz="28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9DD0F0C4-12E8-484C-812F-C3D6A956E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88" y="1388708"/>
            <a:ext cx="8748464" cy="35394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S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      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+ HS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		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HS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		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	 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+ S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2-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		                 				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</a:t>
            </a:r>
            <a:endParaRPr kumimoji="1" lang="es-ES_tradnl" sz="2800" b="0" i="0" u="none" strike="noStrike" kern="0" cap="none" spc="0" normalizeH="0" baseline="3000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H</a:t>
            </a:r>
            <a:r>
              <a:rPr kumimoji="1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2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S		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		    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  2H</a:t>
            </a:r>
            <a:r>
              <a:rPr kumimoji="1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+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 + S</a:t>
            </a:r>
            <a:r>
              <a:rPr kumimoji="1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2-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    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Ionización Total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sym typeface="Symbol" charset="2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3FD6231F-BE8B-424F-AD36-FEE7279A2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752" y="3816724"/>
            <a:ext cx="7297037" cy="0"/>
          </a:xfrm>
          <a:prstGeom prst="line">
            <a:avLst/>
          </a:prstGeom>
          <a:noFill/>
          <a:ln w="12700" cap="sq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800" b="0" i="0" u="none" strike="noStrike" kern="0" cap="none" spc="0" normalizeH="0" baseline="0" noProof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C196DCBB-C1C1-A941-9D4D-23833ED116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7818" y="5126539"/>
            <a:ext cx="794656" cy="471600"/>
          </a:xfrm>
          <a:prstGeom prst="line">
            <a:avLst/>
          </a:prstGeom>
          <a:noFill/>
          <a:ln w="57150" cap="sq" cmpd="sng">
            <a:solidFill>
              <a:srgbClr val="40008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800" b="0" i="0" u="none" strike="noStrike" kern="0" cap="none" spc="0" normalizeH="0" baseline="0" noProof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AB1FB5-DC46-ED49-92BE-B51679CE0F75}"/>
                  </a:ext>
                </a:extLst>
              </p:cNvPr>
              <p:cNvSpPr txBox="1"/>
              <p:nvPr/>
            </p:nvSpPr>
            <p:spPr>
              <a:xfrm>
                <a:off x="5569140" y="1166556"/>
                <a:ext cx="2757486" cy="921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AB1FB5-DC46-ED49-92BE-B51679CE0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140" y="1166556"/>
                <a:ext cx="2757486" cy="921342"/>
              </a:xfrm>
              <a:prstGeom prst="rect">
                <a:avLst/>
              </a:prstGeom>
              <a:blipFill>
                <a:blip r:embed="rId4"/>
                <a:stretch>
                  <a:fillRect l="-2752" b="-684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F2F7331-CC85-914D-AE22-761E125CD695}"/>
                  </a:ext>
                </a:extLst>
              </p:cNvPr>
              <p:cNvSpPr txBox="1"/>
              <p:nvPr/>
            </p:nvSpPr>
            <p:spPr>
              <a:xfrm>
                <a:off x="5554237" y="2452333"/>
                <a:ext cx="2648482" cy="9263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s-E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2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𝐻𝑆</m:t>
                                  </m:r>
                                </m:e>
                                <m:sup>
                                  <m:r>
                                    <a:rPr lang="es-E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s-CL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F2F7331-CC85-914D-AE22-761E125CD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237" y="2452333"/>
                <a:ext cx="2648482" cy="926344"/>
              </a:xfrm>
              <a:prstGeom prst="rect">
                <a:avLst/>
              </a:prstGeom>
              <a:blipFill>
                <a:blip r:embed="rId5"/>
                <a:stretch>
                  <a:fillRect l="-1905" b="-675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24">
            <a:extLst>
              <a:ext uri="{FF2B5EF4-FFF2-40B4-BE49-F238E27FC236}">
                <a16:creationId xmlns:a16="http://schemas.microsoft.com/office/drawing/2014/main" id="{0A7C6F57-A302-754F-9CF2-0D115FFBBD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4312" y="5646434"/>
            <a:ext cx="794656" cy="471600"/>
          </a:xfrm>
          <a:prstGeom prst="line">
            <a:avLst/>
          </a:prstGeom>
          <a:noFill/>
          <a:ln w="57150" cap="sq" cmpd="sng">
            <a:solidFill>
              <a:srgbClr val="40008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800" b="0" i="0" u="none" strike="noStrike" kern="0" cap="none" spc="0" normalizeH="0" baseline="0" noProof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886811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53DC1C7-F5DE-7244-BEA0-10542B479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355" y="0"/>
            <a:ext cx="5519790" cy="65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811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51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5AC58C-CA85-A04E-AB28-F95A306EA336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10E622-B124-5642-92B5-57CEF525B2DB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17984061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236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ácido oxálico (H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es una sustancia venenosa que se utiliza principalmente como agente blanqueador y limpiador (para eliminar el sarro de los baños, por ejemplo). Calcule las concentraciones de todas las especies presentes en el equilibrio de una disolución 0.10 M.</a:t>
            </a:r>
          </a:p>
        </p:txBody>
      </p:sp>
    </p:spTree>
    <p:extLst>
      <p:ext uri="{BB962C8B-B14F-4D97-AF65-F5344CB8AC3E}">
        <p14:creationId xmlns:p14="http://schemas.microsoft.com/office/powerpoint/2010/main" val="17404910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236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ácido oxálico (H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es una sustancia venenosa que se utiliza principalmente como agente blanqueador y limpiador (para eliminar el sarro de los baños, por ejemplo). Calcule las concentraciones de todas las especies presentes en el equilibrio de una disolución 0.10 M.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A748AC-375D-B647-AECC-BD083644BB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511"/>
          <a:stretch/>
        </p:blipFill>
        <p:spPr>
          <a:xfrm>
            <a:off x="250824" y="3105961"/>
            <a:ext cx="5662453" cy="24618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0750A0B-C73C-5D4E-BCB4-78DA37D835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776"/>
          <a:stretch/>
        </p:blipFill>
        <p:spPr>
          <a:xfrm>
            <a:off x="6433592" y="2688884"/>
            <a:ext cx="5662453" cy="329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125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A26924A-B4CB-C144-BACA-787CC3A8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20" y="119608"/>
            <a:ext cx="4857499" cy="66240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F2D2B5C-C307-234F-A119-EA22A82A2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782" y="2587363"/>
            <a:ext cx="4616281" cy="168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087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55</a:t>
            </a:fld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6BF646-913E-F443-9239-35877B264A20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84254E-89DC-CA43-8FB9-7B95733B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A0C9A27-BC19-6B48-9953-B583514660F8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0FA48BF-37C4-164E-8AD7-A2DF45D98D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" t="8794" r="4369" b="6163"/>
          <a:stretch/>
        </p:blipFill>
        <p:spPr>
          <a:xfrm>
            <a:off x="2743124" y="832562"/>
            <a:ext cx="5852311" cy="40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798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2711A1-BE9B-784E-8275-72BCC64E8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37" y="262465"/>
            <a:ext cx="7159032" cy="808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Reacciones Neutralización  ácido-base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FF2F92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B7329DC-DCD3-5C4A-A551-0D938BB76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884" y="2097360"/>
            <a:ext cx="6594231" cy="19005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just" defTabSz="290513">
              <a:lnSpc>
                <a:spcPct val="150000"/>
              </a:lnSpc>
              <a:buClr>
                <a:prstClr val="black"/>
              </a:buClr>
              <a:buSzPct val="90000"/>
            </a:pPr>
            <a:r>
              <a:rPr kumimoji="1"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Las valoraciones ácido-base son </a:t>
            </a:r>
            <a:r>
              <a:rPr kumimoji="1" lang="es-ES_tradnl" sz="2000" b="1" dirty="0">
                <a:solidFill>
                  <a:srgbClr val="FF008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métodos indirectos</a:t>
            </a:r>
            <a:r>
              <a:rPr kumimoji="1"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que permiten determinar la cantidad total de un ácido o una base presente en una determinada solución.</a:t>
            </a:r>
            <a:endParaRPr kumimoji="1" lang="es-ES" sz="200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7" name="Picture 10" descr="titration6">
            <a:extLst>
              <a:ext uri="{FF2B5EF4-FFF2-40B4-BE49-F238E27FC236}">
                <a16:creationId xmlns:a16="http://schemas.microsoft.com/office/drawing/2014/main" id="{E34CE85F-06EB-7A43-971F-3A5A111F1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33" y="1663939"/>
            <a:ext cx="2522752" cy="3824628"/>
          </a:xfrm>
          <a:prstGeom prst="rect">
            <a:avLst/>
          </a:prstGeom>
          <a:noFill/>
          <a:ln w="3175">
            <a:solidFill>
              <a:sysClr val="windowText" lastClr="000000"/>
            </a:solidFill>
            <a:miter lim="800000"/>
            <a:headEnd/>
            <a:tailEnd/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4647645-2E55-4545-AF9E-983154C97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26" y="5135035"/>
            <a:ext cx="50800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2785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7F57222A-C570-2E49-BDF0-9379F8057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45" y="4154266"/>
            <a:ext cx="807720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just" defTabSz="2905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90000"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Cuando se produce la neutralización 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se forma agua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.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B9B4927-25F2-744E-A9E1-E337969C8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937" y="5457726"/>
            <a:ext cx="5744617" cy="48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6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ácido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base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  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charset="2"/>
              </a:rPr>
              <a:t>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charset="2"/>
              </a:rPr>
              <a:t>	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   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sal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agua</a:t>
            </a:r>
          </a:p>
        </p:txBody>
      </p:sp>
      <p:pic>
        <p:nvPicPr>
          <p:cNvPr id="7" name="Picture 11" descr="indicadorres pH">
            <a:extLst>
              <a:ext uri="{FF2B5EF4-FFF2-40B4-BE49-F238E27FC236}">
                <a16:creationId xmlns:a16="http://schemas.microsoft.com/office/drawing/2014/main" id="{B23E5F93-B1E7-BD4D-A13A-BA6476412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6745" y="841898"/>
            <a:ext cx="8305800" cy="3027363"/>
          </a:xfrm>
          <a:prstGeom prst="rect">
            <a:avLst/>
          </a:prstGeom>
          <a:noFill/>
          <a:ln w="38100" cmpd="dbl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8" name="Rectángulo 11">
            <a:extLst>
              <a:ext uri="{FF2B5EF4-FFF2-40B4-BE49-F238E27FC236}">
                <a16:creationId xmlns:a16="http://schemas.microsoft.com/office/drawing/2014/main" id="{46EA94F6-615F-9B46-B2F0-12FBBED7F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21" y="4804173"/>
            <a:ext cx="8496944" cy="48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ctr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-2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-2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Cl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Na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-2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-20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OH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		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Wingdings 3" panose="05040102010807070707" pitchFamily="18" charset="2"/>
              </a:rPr>
              <a:t>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	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Na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-2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+</a:t>
            </a:r>
            <a:r>
              <a:rPr kumimoji="0" lang="es-ES_tradnl" sz="2800" b="1" i="0" u="none" strike="noStrike" kern="0" cap="none" spc="0" normalizeH="0" baseline="-2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Cl</a:t>
            </a:r>
            <a:r>
              <a:rPr kumimoji="0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-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H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2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O</a:t>
            </a:r>
            <a:r>
              <a:rPr kumimoji="0" lang="es-ES_tradnl" sz="2800" b="0" i="0" u="none" strike="noStrike" kern="0" cap="none" spc="0" normalizeH="0" baseline="-20000" noProof="0" dirty="0">
                <a:ln>
                  <a:noFill/>
                </a:ln>
                <a:solidFill>
                  <a:srgbClr val="400080"/>
                </a:solidFill>
                <a:effectLst/>
                <a:uLnTx/>
                <a:uFillTx/>
              </a:rPr>
              <a:t>(l)</a:t>
            </a:r>
          </a:p>
        </p:txBody>
      </p:sp>
    </p:spTree>
    <p:extLst>
      <p:ext uri="{BB962C8B-B14F-4D97-AF65-F5344CB8AC3E}">
        <p14:creationId xmlns:p14="http://schemas.microsoft.com/office/powerpoint/2010/main" val="14315061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F79A03-986F-0F46-A717-459CA05C0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60" y="564242"/>
            <a:ext cx="8586467" cy="572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813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97AC1DD4-A336-C543-A5A9-B933A205F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591514"/>
            <a:ext cx="9144000" cy="542097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En una reacción de neutralización la cantidad de moles del ácido y la base son iguales, por lo tanto,</a:t>
            </a:r>
          </a:p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ctr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80000"/>
              <a:buFont typeface="Wingdings" charset="2"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	   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V</a:t>
            </a:r>
            <a:r>
              <a:rPr kumimoji="0" lang="es-ES_tradnl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ac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x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</a:t>
            </a:r>
            <a:r>
              <a:rPr kumimoji="0" lang="es-ES_tradnl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ac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= 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V</a:t>
            </a:r>
            <a:r>
              <a:rPr kumimoji="0" lang="es-ES_tradnl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b</a:t>
            </a:r>
            <a:r>
              <a:rPr kumimoji="0" lang="es-ES_tradnl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 </a:t>
            </a: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x </a:t>
            </a:r>
            <a:r>
              <a:rPr kumimoji="0" lang="es-ES_tradnl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</a:t>
            </a:r>
            <a:r>
              <a:rPr kumimoji="0" lang="es-ES_tradnl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b</a:t>
            </a:r>
            <a:endParaRPr kumimoji="0" lang="es-ES_tradnl" sz="2800" b="1" i="0" u="none" strike="noStrike" kern="0" cap="none" spc="0" normalizeH="0" baseline="-2500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V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ac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x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ac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número de moles o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milimoles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de ácido</a:t>
            </a:r>
          </a:p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	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V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</a:t>
            </a:r>
            <a:r>
              <a:rPr kumimoji="0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x 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C</a:t>
            </a:r>
            <a:r>
              <a:rPr kumimoji="0" lang="es-ES_tradnl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b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= número de moles o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milimoles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de base</a:t>
            </a:r>
          </a:p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  <a:p>
            <a:pPr marL="0" marR="0" lvl="0" indent="0" algn="just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	C, generalmente en </a:t>
            </a:r>
            <a:r>
              <a:rPr kumimoji="0" lang="es-ES_tradnl" sz="2800" b="0" i="1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Molaridad</a:t>
            </a:r>
            <a:endParaRPr kumimoji="1" lang="es-ES" sz="2800" b="0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95621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AD62B44-5C00-D34B-8B19-2FBD2F08A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657" y="594812"/>
            <a:ext cx="8908143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85738" marR="0" lvl="0" indent="-185738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Para neutralizar 40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mL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de una solución HCl 0,05M se utiliza una solución de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NaOH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0,1M. Calcule el volumen de </a:t>
            </a:r>
            <a:r>
              <a:rPr kumimoji="0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NaOH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requerido para la total neutralización.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46A87AA-767F-F54D-970C-5C404D497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960" y="2682846"/>
            <a:ext cx="8407128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457200"/>
            <a:r>
              <a:rPr lang="es-ES_tradnl" sz="2800" dirty="0">
                <a:solidFill>
                  <a:srgbClr val="FF0080"/>
                </a:solidFill>
                <a:latin typeface="Tahoma" charset="0"/>
              </a:rPr>
              <a:t>HCl</a:t>
            </a:r>
            <a:r>
              <a:rPr lang="es-ES_tradnl" sz="2800" baseline="-25000" dirty="0">
                <a:solidFill>
                  <a:srgbClr val="FF0080"/>
                </a:solidFill>
                <a:latin typeface="Tahoma" charset="0"/>
              </a:rPr>
              <a:t>(ac)  </a:t>
            </a:r>
            <a:r>
              <a:rPr lang="es-ES_tradnl" sz="2800" dirty="0">
                <a:solidFill>
                  <a:srgbClr val="FF0080"/>
                </a:solidFill>
                <a:latin typeface="Tahoma" charset="0"/>
              </a:rPr>
              <a:t>+ NaOH</a:t>
            </a:r>
            <a:r>
              <a:rPr lang="es-ES_tradnl" sz="2800" baseline="-25000" dirty="0">
                <a:solidFill>
                  <a:srgbClr val="FF0080"/>
                </a:solidFill>
                <a:latin typeface="Tahoma" charset="0"/>
              </a:rPr>
              <a:t>(ac)    </a:t>
            </a:r>
            <a:r>
              <a:rPr lang="es-ES_tradnl" sz="2800" dirty="0">
                <a:solidFill>
                  <a:srgbClr val="FF0080"/>
                </a:solidFill>
                <a:latin typeface="Tahoma" charset="0"/>
                <a:sym typeface="Symbol" charset="2"/>
              </a:rPr>
              <a:t>	</a:t>
            </a:r>
            <a:r>
              <a:rPr lang="es-ES_tradnl" sz="2800" dirty="0">
                <a:solidFill>
                  <a:srgbClr val="FF0080"/>
                </a:solidFill>
                <a:latin typeface="Tahoma" charset="0"/>
                <a:sym typeface="Wingdings 3" panose="05040102010807070707" pitchFamily="18" charset="2"/>
              </a:rPr>
              <a:t></a:t>
            </a:r>
            <a:r>
              <a:rPr lang="es-ES_tradnl" sz="2800" dirty="0">
                <a:solidFill>
                  <a:srgbClr val="FF0080"/>
                </a:solidFill>
                <a:latin typeface="Tahoma" charset="0"/>
                <a:sym typeface="Symbol" charset="2"/>
              </a:rPr>
              <a:t>	</a:t>
            </a:r>
            <a:r>
              <a:rPr lang="es-ES_tradnl" sz="2800" dirty="0">
                <a:solidFill>
                  <a:srgbClr val="FF0080"/>
                </a:solidFill>
                <a:latin typeface="Tahoma" charset="0"/>
              </a:rPr>
              <a:t>    NaCl</a:t>
            </a:r>
            <a:r>
              <a:rPr lang="es-ES_tradnl" sz="2800" baseline="-25000" dirty="0">
                <a:solidFill>
                  <a:srgbClr val="FF0080"/>
                </a:solidFill>
                <a:latin typeface="Tahoma" charset="0"/>
              </a:rPr>
              <a:t>(ac)  </a:t>
            </a:r>
            <a:r>
              <a:rPr lang="es-ES_tradnl" sz="2800" dirty="0">
                <a:solidFill>
                  <a:srgbClr val="FF0080"/>
                </a:solidFill>
                <a:latin typeface="Tahoma" charset="0"/>
              </a:rPr>
              <a:t>+ H</a:t>
            </a:r>
            <a:r>
              <a:rPr lang="es-ES_tradnl" sz="2800" baseline="-25000" dirty="0">
                <a:solidFill>
                  <a:srgbClr val="FF0080"/>
                </a:solidFill>
                <a:latin typeface="Tahoma" charset="0"/>
              </a:rPr>
              <a:t>2</a:t>
            </a:r>
            <a:r>
              <a:rPr lang="es-ES_tradnl" sz="2800" dirty="0">
                <a:solidFill>
                  <a:srgbClr val="FF0080"/>
                </a:solidFill>
                <a:latin typeface="Tahoma" charset="0"/>
              </a:rPr>
              <a:t>O</a:t>
            </a:r>
            <a:r>
              <a:rPr lang="es-ES_tradnl" sz="2800" baseline="-25000" dirty="0">
                <a:solidFill>
                  <a:srgbClr val="FF0080"/>
                </a:solidFill>
                <a:latin typeface="Tahoma" charset="0"/>
              </a:rPr>
              <a:t>(l)</a:t>
            </a:r>
          </a:p>
          <a:p>
            <a:pPr algn="ctr" defTabSz="457200"/>
            <a:endParaRPr lang="es-ES_tradnl" sz="2800" b="1" dirty="0">
              <a:solidFill>
                <a:srgbClr val="1769B5"/>
              </a:solidFill>
              <a:latin typeface="Tahoma" charset="0"/>
            </a:endParaRPr>
          </a:p>
          <a:p>
            <a:pPr algn="ctr" defTabSz="457200"/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 </a:t>
            </a:r>
            <a:r>
              <a:rPr lang="es-ES_tradnl" sz="2800" dirty="0" err="1">
                <a:solidFill>
                  <a:srgbClr val="1769B5"/>
                </a:solidFill>
                <a:latin typeface="Tahoma" charset="0"/>
              </a:rPr>
              <a:t>V</a:t>
            </a:r>
            <a:r>
              <a:rPr lang="es-ES_tradnl" sz="2800" baseline="-25000" dirty="0" err="1">
                <a:solidFill>
                  <a:srgbClr val="1769B5"/>
                </a:solidFill>
                <a:latin typeface="Tahoma" charset="0"/>
              </a:rPr>
              <a:t>ac</a:t>
            </a:r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 x </a:t>
            </a:r>
            <a:r>
              <a:rPr lang="es-ES_tradnl" sz="2800" dirty="0" err="1">
                <a:solidFill>
                  <a:srgbClr val="1769B5"/>
                </a:solidFill>
                <a:latin typeface="Tahoma" charset="0"/>
              </a:rPr>
              <a:t>C</a:t>
            </a:r>
            <a:r>
              <a:rPr lang="es-ES_tradnl" sz="2800" baseline="-25000" dirty="0" err="1">
                <a:solidFill>
                  <a:srgbClr val="1769B5"/>
                </a:solidFill>
                <a:latin typeface="Tahoma" charset="0"/>
              </a:rPr>
              <a:t>ac</a:t>
            </a:r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 = </a:t>
            </a:r>
            <a:r>
              <a:rPr lang="es-ES_tradnl" sz="2800" dirty="0" err="1">
                <a:solidFill>
                  <a:srgbClr val="1769B5"/>
                </a:solidFill>
                <a:latin typeface="Tahoma" charset="0"/>
              </a:rPr>
              <a:t>V</a:t>
            </a:r>
            <a:r>
              <a:rPr lang="es-ES_tradnl" sz="2800" baseline="-25000" dirty="0" err="1">
                <a:solidFill>
                  <a:srgbClr val="1769B5"/>
                </a:solidFill>
                <a:latin typeface="Tahoma" charset="0"/>
              </a:rPr>
              <a:t>b</a:t>
            </a:r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 x </a:t>
            </a:r>
            <a:r>
              <a:rPr lang="es-ES_tradnl" sz="2800" dirty="0" err="1">
                <a:solidFill>
                  <a:srgbClr val="1769B5"/>
                </a:solidFill>
                <a:latin typeface="Tahoma" charset="0"/>
              </a:rPr>
              <a:t>C</a:t>
            </a:r>
            <a:r>
              <a:rPr lang="es-ES_tradnl" sz="2800" baseline="-25000" dirty="0" err="1">
                <a:solidFill>
                  <a:srgbClr val="1769B5"/>
                </a:solidFill>
                <a:latin typeface="Tahoma" charset="0"/>
              </a:rPr>
              <a:t>b</a:t>
            </a:r>
            <a:endParaRPr lang="es-ES_tradnl" sz="2800" baseline="-25000" dirty="0">
              <a:solidFill>
                <a:srgbClr val="1769B5"/>
              </a:solidFill>
              <a:latin typeface="Tahoma" charset="0"/>
            </a:endParaRPr>
          </a:p>
          <a:p>
            <a:pPr algn="just" defTabSz="457200"/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					</a:t>
            </a:r>
          </a:p>
          <a:p>
            <a:pPr algn="just" defTabSz="457200"/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			      			       </a:t>
            </a:r>
            <a:r>
              <a:rPr lang="es-ES_tradnl" sz="2800" dirty="0" err="1">
                <a:solidFill>
                  <a:srgbClr val="1769B5"/>
                </a:solidFill>
                <a:latin typeface="Tahoma" charset="0"/>
              </a:rPr>
              <a:t>Vb</a:t>
            </a:r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 = 20 </a:t>
            </a:r>
            <a:r>
              <a:rPr lang="es-ES_tradnl" sz="2800" dirty="0" err="1">
                <a:solidFill>
                  <a:srgbClr val="1769B5"/>
                </a:solidFill>
                <a:latin typeface="Tahoma" charset="0"/>
              </a:rPr>
              <a:t>mL</a:t>
            </a:r>
            <a:endParaRPr lang="es-ES_tradnl" sz="2800" dirty="0">
              <a:solidFill>
                <a:srgbClr val="1769B5"/>
              </a:solidFill>
              <a:latin typeface="Tahoma" charset="0"/>
            </a:endParaRPr>
          </a:p>
          <a:p>
            <a:pPr algn="just" defTabSz="457200"/>
            <a:endParaRPr lang="es-ES_tradnl" sz="2800" b="1" dirty="0">
              <a:solidFill>
                <a:srgbClr val="1769B5"/>
              </a:solidFill>
              <a:latin typeface="Tahoma" charset="0"/>
            </a:endParaRPr>
          </a:p>
          <a:p>
            <a:pPr algn="just" defTabSz="457200"/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Se necesitan 20 </a:t>
            </a:r>
            <a:r>
              <a:rPr lang="es-ES_tradnl" sz="2800" dirty="0" err="1">
                <a:solidFill>
                  <a:srgbClr val="1769B5"/>
                </a:solidFill>
                <a:latin typeface="Tahoma" charset="0"/>
              </a:rPr>
              <a:t>mL</a:t>
            </a:r>
            <a:r>
              <a:rPr lang="es-ES_tradnl" sz="2800" dirty="0">
                <a:solidFill>
                  <a:srgbClr val="1769B5"/>
                </a:solidFill>
                <a:latin typeface="Tahoma" charset="0"/>
              </a:rPr>
              <a:t> de la base para neutralizar el ácido.</a:t>
            </a:r>
            <a:endParaRPr lang="es-ES" sz="2800" dirty="0">
              <a:solidFill>
                <a:srgbClr val="1769B5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6532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67E0287-8B98-D74D-A7A5-DED72B9E9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0" y="143982"/>
            <a:ext cx="7799288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Curva de valoración ácido fuerte- base fuerte</a:t>
            </a:r>
            <a:endParaRPr kumimoji="0" lang="es-ES" sz="32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78F3DA6-10EB-2843-BEF1-48490A30CE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389926"/>
              </p:ext>
            </p:extLst>
          </p:nvPr>
        </p:nvGraphicFramePr>
        <p:xfrm>
          <a:off x="837974" y="1324852"/>
          <a:ext cx="7541151" cy="4830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Imagen de mapa de bits" r:id="rId4" imgW="5485714" imgH="3514286" progId="PBrush">
                  <p:embed/>
                </p:oleObj>
              </mc:Choice>
              <mc:Fallback>
                <p:oleObj name="Imagen de mapa de bits" r:id="rId4" imgW="5485714" imgH="3514286" progId="PBrush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9199BD87-C000-449E-84E9-5EF0E1C1C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974" y="1324852"/>
                        <a:ext cx="7541151" cy="4830867"/>
                      </a:xfrm>
                      <a:prstGeom prst="rect">
                        <a:avLst/>
                      </a:prstGeom>
                      <a:noFill/>
                      <a:ln w="38100" cap="sq" cmpd="dbl">
                        <a:solidFill>
                          <a:sysClr val="windowText" lastClr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37391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198B35D-E9A3-D142-AD62-C2B9FA5F0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141" y="205993"/>
            <a:ext cx="7799288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Curva de valoración ácido débil- base fuerte</a:t>
            </a:r>
            <a:endParaRPr kumimoji="0" lang="es-ES" sz="32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CFAB7B5F-965A-FF40-8F1E-7D98E58E7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737" y="5158471"/>
            <a:ext cx="8351838" cy="138499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HAc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(ac)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 OH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         		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Ac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 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O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(l)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Ac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 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(l)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           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HAc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(ac)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 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OH</a:t>
            </a:r>
            <a:r>
              <a:rPr kumimoji="1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                                                    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Hidrólisis</a:t>
            </a:r>
            <a:endParaRPr kumimoji="1" lang="es-ES" sz="2800" b="1" i="0" u="none" strike="noStrike" kern="0" cap="none" spc="0" normalizeH="0" baseline="3000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sym typeface="Symbol" charset="2"/>
            </a:endParaRP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37D319C8-3D69-2349-B00C-43A88DCC8B01}"/>
              </a:ext>
            </a:extLst>
          </p:cNvPr>
          <p:cNvGrpSpPr>
            <a:grpSpLocks/>
          </p:cNvGrpSpPr>
          <p:nvPr/>
        </p:nvGrpSpPr>
        <p:grpSpPr bwMode="auto">
          <a:xfrm>
            <a:off x="814065" y="1500160"/>
            <a:ext cx="8351838" cy="3370263"/>
            <a:chOff x="249" y="2124"/>
            <a:chExt cx="5261" cy="2123"/>
          </a:xfrm>
        </p:grpSpPr>
        <p:graphicFrame>
          <p:nvGraphicFramePr>
            <p:cNvPr id="8" name="Object 2">
              <a:extLst>
                <a:ext uri="{FF2B5EF4-FFF2-40B4-BE49-F238E27FC236}">
                  <a16:creationId xmlns:a16="http://schemas.microsoft.com/office/drawing/2014/main" id="{DC1A0C30-57A7-5246-862D-9E96972EBF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" y="2124"/>
            <a:ext cx="2994" cy="2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7" name="Imagen de mapa de bits" r:id="rId4" imgW="5723810" imgH="4057143" progId="PBrush">
                    <p:embed/>
                  </p:oleObj>
                </mc:Choice>
                <mc:Fallback>
                  <p:oleObj name="Imagen de mapa de bits" r:id="rId4" imgW="5723810" imgH="4057143" progId="PBrush">
                    <p:embed/>
                    <p:pic>
                      <p:nvPicPr>
                        <p:cNvPr id="19" name="Object 2">
                          <a:extLst>
                            <a:ext uri="{FF2B5EF4-FFF2-40B4-BE49-F238E27FC236}">
                              <a16:creationId xmlns:a16="http://schemas.microsoft.com/office/drawing/2014/main" id="{EDDCCB17-3E4F-4DAC-AE0D-5BF4D689BA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2124"/>
                          <a:ext cx="2994" cy="2123"/>
                        </a:xfrm>
                        <a:prstGeom prst="rect">
                          <a:avLst/>
                        </a:prstGeom>
                        <a:noFill/>
                        <a:ln w="38100" cap="sq" cmpd="dbl">
                          <a:solidFill>
                            <a:sysClr val="windowText" lastClr="000000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14762A28-344C-A943-B313-1DE1DFC6F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387"/>
              <a:ext cx="2086" cy="1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just" defTabSz="45720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s-ES_tradnl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769B5"/>
                  </a:solidFill>
                  <a:effectLst/>
                  <a:uLnTx/>
                  <a:uFillTx/>
                  <a:latin typeface="Tahoma" charset="0"/>
                  <a:sym typeface="Symbol" charset="2"/>
                </a:rPr>
                <a:t>Por lo tanto, en el punto de equivalencia, el pH será mayor que 7, como resultado del </a:t>
              </a:r>
              <a:r>
                <a:rPr kumimoji="1" lang="es-ES_tradnl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charset="0"/>
                  <a:sym typeface="Symbol" charset="2"/>
                </a:rPr>
                <a:t>exceso de iones OH- formados</a:t>
              </a:r>
              <a:r>
                <a:rPr kumimoji="1" lang="es-ES_tradnl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769B5"/>
                  </a:solidFill>
                  <a:effectLst/>
                  <a:uLnTx/>
                  <a:uFillTx/>
                  <a:latin typeface="Tahoma" charset="0"/>
                  <a:sym typeface="Symbol" charset="2"/>
                </a:rPr>
                <a:t>.</a:t>
              </a:r>
            </a:p>
          </p:txBody>
        </p:sp>
      </p:grp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1233F9C-6652-FD43-8D0A-30F819F08BCE}"/>
              </a:ext>
            </a:extLst>
          </p:cNvPr>
          <p:cNvCxnSpPr/>
          <p:nvPr/>
        </p:nvCxnSpPr>
        <p:spPr>
          <a:xfrm>
            <a:off x="4633623" y="5421068"/>
            <a:ext cx="1088812" cy="0"/>
          </a:xfrm>
          <a:prstGeom prst="straightConnector1">
            <a:avLst/>
          </a:prstGeom>
          <a:noFill/>
          <a:ln w="25400" cap="flat" cmpd="sng" algn="ctr">
            <a:solidFill>
              <a:srgbClr val="1769B5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2A9B4BF-F5D6-4348-A648-ECB231325568}"/>
              </a:ext>
            </a:extLst>
          </p:cNvPr>
          <p:cNvCxnSpPr/>
          <p:nvPr/>
        </p:nvCxnSpPr>
        <p:spPr>
          <a:xfrm>
            <a:off x="4359785" y="5863616"/>
            <a:ext cx="1088812" cy="0"/>
          </a:xfrm>
          <a:prstGeom prst="straightConnector1">
            <a:avLst/>
          </a:prstGeom>
          <a:noFill/>
          <a:ln w="25400" cap="flat" cmpd="sng" algn="ctr">
            <a:solidFill>
              <a:srgbClr val="1769B5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2587802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774D6BA-5ABF-1347-A845-4C3499A28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59" y="132951"/>
            <a:ext cx="7799288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</a:rPr>
              <a:t>Curva de valoración ácido débil- base fuerte</a:t>
            </a:r>
            <a:endParaRPr kumimoji="0" lang="es-ES" sz="3200" b="1" i="0" u="none" strike="noStrike" kern="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1DFD4C51-B3E7-FB47-83FF-A119A3726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929" y="5158471"/>
            <a:ext cx="8351838" cy="138499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HAc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(ac)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+ OH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</a:rPr>
              <a:t>               		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Ac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 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O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(l)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Ac</a:t>
            </a:r>
            <a:r>
              <a:rPr kumimoji="1" lang="es-ES_tradnl" sz="2800" b="0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 H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2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O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(l)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		           </a:t>
            </a:r>
            <a:r>
              <a:rPr kumimoji="1" lang="es-ES_tradnl" sz="2800" b="0" i="0" u="none" strike="noStrike" kern="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HAc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(ac) 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+ 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OH</a:t>
            </a:r>
            <a:r>
              <a:rPr kumimoji="1" lang="es-ES_tradnl" sz="2800" b="1" i="0" u="none" strike="noStrike" kern="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-</a:t>
            </a:r>
            <a:r>
              <a:rPr kumimoji="1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</a:t>
            </a:r>
            <a:r>
              <a:rPr kumimoji="1" lang="es-ES_tradnl" sz="2800" b="0" i="0" u="none" strike="noStrike" kern="0" cap="none" spc="0" normalizeH="0" baseline="-25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sym typeface="Symbol" charset="2"/>
              </a:rPr>
              <a:t>                                                             </a:t>
            </a: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sym typeface="Symbol" charset="2"/>
              </a:rPr>
              <a:t>Hidrólisis</a:t>
            </a:r>
            <a:endParaRPr kumimoji="1" lang="es-ES" sz="2800" b="1" i="0" u="none" strike="noStrike" kern="0" cap="none" spc="0" normalizeH="0" baseline="3000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sym typeface="Symbol" charset="2"/>
            </a:endParaRP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44C4F67A-B559-A74A-B679-98246A82939B}"/>
              </a:ext>
            </a:extLst>
          </p:cNvPr>
          <p:cNvGrpSpPr>
            <a:grpSpLocks/>
          </p:cNvGrpSpPr>
          <p:nvPr/>
        </p:nvGrpSpPr>
        <p:grpSpPr bwMode="auto">
          <a:xfrm>
            <a:off x="826257" y="1500160"/>
            <a:ext cx="8351838" cy="3370263"/>
            <a:chOff x="249" y="2124"/>
            <a:chExt cx="5261" cy="2123"/>
          </a:xfrm>
        </p:grpSpPr>
        <p:graphicFrame>
          <p:nvGraphicFramePr>
            <p:cNvPr id="8" name="Object 2">
              <a:extLst>
                <a:ext uri="{FF2B5EF4-FFF2-40B4-BE49-F238E27FC236}">
                  <a16:creationId xmlns:a16="http://schemas.microsoft.com/office/drawing/2014/main" id="{869E6DD4-54C5-A741-B0C9-4AB396BD20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" y="2124"/>
            <a:ext cx="2994" cy="2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1" name="Imagen de mapa de bits" r:id="rId4" imgW="5723810" imgH="4057143" progId="PBrush">
                    <p:embed/>
                  </p:oleObj>
                </mc:Choice>
                <mc:Fallback>
                  <p:oleObj name="Imagen de mapa de bits" r:id="rId4" imgW="5723810" imgH="4057143" progId="PBrush">
                    <p:embed/>
                    <p:pic>
                      <p:nvPicPr>
                        <p:cNvPr id="19" name="Object 2">
                          <a:extLst>
                            <a:ext uri="{FF2B5EF4-FFF2-40B4-BE49-F238E27FC236}">
                              <a16:creationId xmlns:a16="http://schemas.microsoft.com/office/drawing/2014/main" id="{EDDCCB17-3E4F-4DAC-AE0D-5BF4D689BA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2124"/>
                          <a:ext cx="2994" cy="2123"/>
                        </a:xfrm>
                        <a:prstGeom prst="rect">
                          <a:avLst/>
                        </a:prstGeom>
                        <a:noFill/>
                        <a:ln w="38100" cap="sq" cmpd="dbl">
                          <a:solidFill>
                            <a:sysClr val="windowText" lastClr="000000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2469DC71-7459-F84F-BB57-4DDEE91E7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387"/>
              <a:ext cx="2086" cy="1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just" defTabSz="45720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s-ES_tradnl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769B5"/>
                  </a:solidFill>
                  <a:effectLst/>
                  <a:uLnTx/>
                  <a:uFillTx/>
                  <a:latin typeface="Tahoma" charset="0"/>
                  <a:sym typeface="Symbol" charset="2"/>
                </a:rPr>
                <a:t>Por lo tanto, en el punto de equivalencia, el pH será mayor que 7, como resultado del </a:t>
              </a:r>
              <a:r>
                <a:rPr kumimoji="1" lang="es-ES_tradnl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charset="0"/>
                  <a:sym typeface="Symbol" charset="2"/>
                </a:rPr>
                <a:t>exceso de iones OH- formados</a:t>
              </a:r>
              <a:r>
                <a:rPr kumimoji="1" lang="es-ES_tradnl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769B5"/>
                  </a:solidFill>
                  <a:effectLst/>
                  <a:uLnTx/>
                  <a:uFillTx/>
                  <a:latin typeface="Tahoma" charset="0"/>
                  <a:sym typeface="Symbol" charset="2"/>
                </a:rPr>
                <a:t>.</a:t>
              </a:r>
            </a:p>
          </p:txBody>
        </p:sp>
      </p:grp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4F5E245-8AD4-454E-B780-D20A9C6D95F8}"/>
              </a:ext>
            </a:extLst>
          </p:cNvPr>
          <p:cNvCxnSpPr/>
          <p:nvPr/>
        </p:nvCxnSpPr>
        <p:spPr>
          <a:xfrm>
            <a:off x="4645815" y="5421068"/>
            <a:ext cx="1088812" cy="0"/>
          </a:xfrm>
          <a:prstGeom prst="straightConnector1">
            <a:avLst/>
          </a:prstGeom>
          <a:noFill/>
          <a:ln w="25400" cap="flat" cmpd="sng" algn="ctr">
            <a:solidFill>
              <a:srgbClr val="1769B5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65E8971-FB04-6441-8F45-E58338B461AE}"/>
              </a:ext>
            </a:extLst>
          </p:cNvPr>
          <p:cNvCxnSpPr/>
          <p:nvPr/>
        </p:nvCxnSpPr>
        <p:spPr>
          <a:xfrm>
            <a:off x="4371977" y="5863616"/>
            <a:ext cx="1088812" cy="0"/>
          </a:xfrm>
          <a:prstGeom prst="straightConnector1">
            <a:avLst/>
          </a:prstGeom>
          <a:noFill/>
          <a:ln w="25400" cap="flat" cmpd="sng" algn="ctr">
            <a:solidFill>
              <a:srgbClr val="1769B5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7910212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64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5AC58C-CA85-A04E-AB28-F95A306EA336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10E622-B124-5642-92B5-57CEF525B2DB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9304303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7256655D-8FF9-AE4B-9933-13E86B5B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8907"/>
            <a:ext cx="8856599" cy="130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pH de agua de lluvia colectada en la estación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metereológica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Quinta Normal en un día de invierno fue 4,82. ¿Cuál es la concentración de H</a:t>
            </a:r>
            <a:r>
              <a:rPr lang="es-E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en el agua de lluvia?</a:t>
            </a:r>
          </a:p>
        </p:txBody>
      </p:sp>
      <p:grpSp>
        <p:nvGrpSpPr>
          <p:cNvPr id="30" name="Group 4">
            <a:extLst>
              <a:ext uri="{FF2B5EF4-FFF2-40B4-BE49-F238E27FC236}">
                <a16:creationId xmlns:a16="http://schemas.microsoft.com/office/drawing/2014/main" id="{01BD63CF-35CE-274F-A7E7-323139D46154}"/>
              </a:ext>
            </a:extLst>
          </p:cNvPr>
          <p:cNvGrpSpPr>
            <a:grpSpLocks/>
          </p:cNvGrpSpPr>
          <p:nvPr/>
        </p:nvGrpSpPr>
        <p:grpSpPr bwMode="auto">
          <a:xfrm>
            <a:off x="2381250" y="1616076"/>
            <a:ext cx="4608513" cy="979488"/>
            <a:chOff x="1500" y="1018"/>
            <a:chExt cx="2903" cy="617"/>
          </a:xfrm>
        </p:grpSpPr>
        <p:sp>
          <p:nvSpPr>
            <p:cNvPr id="31" name="Text Box 5">
              <a:extLst>
                <a:ext uri="{FF2B5EF4-FFF2-40B4-BE49-F238E27FC236}">
                  <a16:creationId xmlns:a16="http://schemas.microsoft.com/office/drawing/2014/main" id="{B00BC077-AA6E-C34E-B0E2-21867E306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" y="1018"/>
              <a:ext cx="11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pH = -log [H</a:t>
              </a:r>
              <a:r>
                <a:rPr lang="en-US" altLang="es-CL" baseline="30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]</a:t>
              </a:r>
            </a:p>
          </p:txBody>
        </p:sp>
        <p:sp>
          <p:nvSpPr>
            <p:cNvPr id="53" name="Text Box 6">
              <a:extLst>
                <a:ext uri="{FF2B5EF4-FFF2-40B4-BE49-F238E27FC236}">
                  <a16:creationId xmlns:a16="http://schemas.microsoft.com/office/drawing/2014/main" id="{8839FBBF-47AC-4142-AE44-81560A3C5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1402"/>
              <a:ext cx="9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[H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] =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-pH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54" name="Text Box 7">
              <a:extLst>
                <a:ext uri="{FF2B5EF4-FFF2-40B4-BE49-F238E27FC236}">
                  <a16:creationId xmlns:a16="http://schemas.microsoft.com/office/drawing/2014/main" id="{6281E9DF-54B9-1040-9213-9FB550730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7" y="1401"/>
              <a:ext cx="73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10</a:t>
              </a:r>
              <a:r>
                <a:rPr lang="en-US" altLang="es-CL" baseline="30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-4.82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55" name="Text Box 8">
              <a:extLst>
                <a:ext uri="{FF2B5EF4-FFF2-40B4-BE49-F238E27FC236}">
                  <a16:creationId xmlns:a16="http://schemas.microsoft.com/office/drawing/2014/main" id="{00243F87-CD59-3E40-A04E-B65EBCF1B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401"/>
              <a:ext cx="11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1,5 x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-5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57" name="Text Box 10">
            <a:extLst>
              <a:ext uri="{FF2B5EF4-FFF2-40B4-BE49-F238E27FC236}">
                <a16:creationId xmlns:a16="http://schemas.microsoft.com/office/drawing/2014/main" id="{3FC9F1D0-798F-1B40-AEEF-6203B482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232150"/>
            <a:ext cx="9728455" cy="88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2.- 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concentración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OH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una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muestra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sangre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2,5 x 10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-7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 ¿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Cuál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el pH de la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sangre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</a:t>
            </a:r>
          </a:p>
        </p:txBody>
      </p:sp>
      <p:grpSp>
        <p:nvGrpSpPr>
          <p:cNvPr id="59" name="Group 12">
            <a:extLst>
              <a:ext uri="{FF2B5EF4-FFF2-40B4-BE49-F238E27FC236}">
                <a16:creationId xmlns:a16="http://schemas.microsoft.com/office/drawing/2014/main" id="{888FD0C2-E345-BD40-A0E4-1F91F2BF0DA9}"/>
              </a:ext>
            </a:extLst>
          </p:cNvPr>
          <p:cNvGrpSpPr>
            <a:grpSpLocks/>
          </p:cNvGrpSpPr>
          <p:nvPr/>
        </p:nvGrpSpPr>
        <p:grpSpPr bwMode="auto">
          <a:xfrm>
            <a:off x="1685131" y="4485480"/>
            <a:ext cx="5753101" cy="1512888"/>
            <a:chOff x="960" y="2593"/>
            <a:chExt cx="3624" cy="953"/>
          </a:xfrm>
        </p:grpSpPr>
        <p:sp>
          <p:nvSpPr>
            <p:cNvPr id="60" name="Text Box 13">
              <a:extLst>
                <a:ext uri="{FF2B5EF4-FFF2-40B4-BE49-F238E27FC236}">
                  <a16:creationId xmlns:a16="http://schemas.microsoft.com/office/drawing/2014/main" id="{A1AA16D3-4814-0C46-B43C-A73FB13DE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2593"/>
              <a:ext cx="14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pH + pOH = 14,00</a:t>
              </a:r>
            </a:p>
          </p:txBody>
        </p:sp>
        <p:sp>
          <p:nvSpPr>
            <p:cNvPr id="61" name="Text Box 14">
              <a:extLst>
                <a:ext uri="{FF2B5EF4-FFF2-40B4-BE49-F238E27FC236}">
                  <a16:creationId xmlns:a16="http://schemas.microsoft.com/office/drawing/2014/main" id="{7A530933-4EB7-BE4C-8610-AADF8EC0B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29"/>
              <a:ext cx="136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pOH = -log [OH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]</a:t>
              </a:r>
            </a:p>
          </p:txBody>
        </p:sp>
        <p:sp>
          <p:nvSpPr>
            <p:cNvPr id="62" name="Text Box 15">
              <a:extLst>
                <a:ext uri="{FF2B5EF4-FFF2-40B4-BE49-F238E27FC236}">
                  <a16:creationId xmlns:a16="http://schemas.microsoft.com/office/drawing/2014/main" id="{09EC899E-2942-B440-AD9D-66EA26AB9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2" y="2929"/>
              <a:ext cx="14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-log (2,5 x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-7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63" name="Text Box 16">
              <a:extLst>
                <a:ext uri="{FF2B5EF4-FFF2-40B4-BE49-F238E27FC236}">
                  <a16:creationId xmlns:a16="http://schemas.microsoft.com/office/drawing/2014/main" id="{CB2ECCAE-EA96-3448-B1E5-DBEB4FFA4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929"/>
              <a:ext cx="6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6,60</a:t>
              </a:r>
            </a:p>
          </p:txBody>
        </p:sp>
        <p:sp>
          <p:nvSpPr>
            <p:cNvPr id="64" name="Text Box 17">
              <a:extLst>
                <a:ext uri="{FF2B5EF4-FFF2-40B4-BE49-F238E27FC236}">
                  <a16:creationId xmlns:a16="http://schemas.microsoft.com/office/drawing/2014/main" id="{BA43B4B6-FA3F-1841-BE57-DE3515C7D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6" y="3313"/>
              <a:ext cx="30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pH = 14,00 – pOH = 14,00 – 6,60 = 7,40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98231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18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66</a:t>
            </a:fld>
            <a:endParaRPr lang="es-CL" sz="1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40DBF56-927F-184E-ACF5-057DCEEDC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" y="297430"/>
            <a:ext cx="8180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3.- 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Cuál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el pH de una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disolución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0.5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HF</a:t>
            </a:r>
            <a:r>
              <a:rPr lang="en-U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(a 25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C)?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F85F240-D884-004B-BA05-A65924ADE87E}"/>
              </a:ext>
            </a:extLst>
          </p:cNvPr>
          <p:cNvGrpSpPr>
            <a:grpSpLocks/>
          </p:cNvGrpSpPr>
          <p:nvPr/>
        </p:nvGrpSpPr>
        <p:grpSpPr bwMode="auto">
          <a:xfrm>
            <a:off x="5207000" y="834839"/>
            <a:ext cx="3495676" cy="774700"/>
            <a:chOff x="1728" y="1105"/>
            <a:chExt cx="2202" cy="488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58EA624D-5FA9-6543-8F9C-6C451CD80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105"/>
              <a:ext cx="1215" cy="488"/>
              <a:chOff x="2208" y="1618"/>
              <a:chExt cx="1215" cy="488"/>
            </a:xfrm>
          </p:grpSpPr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BAB11AB4-E695-9447-AF17-ED8B0BFB19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755"/>
                <a:ext cx="42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K</a:t>
                </a:r>
                <a:r>
                  <a:rPr lang="en-US" altLang="es-CL" i="1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</a:t>
                </a:r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=</a:t>
                </a:r>
                <a:endPara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14" name="Text Box 7">
                <a:extLst>
                  <a:ext uri="{FF2B5EF4-FFF2-40B4-BE49-F238E27FC236}">
                    <a16:creationId xmlns:a16="http://schemas.microsoft.com/office/drawing/2014/main" id="{DC41578D-0D24-E448-A75B-9C2E6B9BA8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9" y="1618"/>
                <a:ext cx="62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[H</a:t>
                </a:r>
                <a:r>
                  <a:rPr lang="en-US" altLang="es-CL" baseline="30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+</a:t>
                </a:r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][F</a:t>
                </a:r>
                <a:r>
                  <a:rPr lang="en-US" altLang="es-CL" baseline="30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</a:t>
                </a:r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]</a:t>
                </a:r>
              </a:p>
            </p:txBody>
          </p:sp>
          <p:sp>
            <p:nvSpPr>
              <p:cNvPr id="15" name="Text Box 8">
                <a:extLst>
                  <a:ext uri="{FF2B5EF4-FFF2-40B4-BE49-F238E27FC236}">
                    <a16:creationId xmlns:a16="http://schemas.microsoft.com/office/drawing/2014/main" id="{A309B7DF-9766-8641-A5BE-6C8EB75F86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1" y="1873"/>
                <a:ext cx="3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[HF]</a:t>
                </a:r>
              </a:p>
            </p:txBody>
          </p:sp>
          <p:sp>
            <p:nvSpPr>
              <p:cNvPr id="17" name="Line 9">
                <a:extLst>
                  <a:ext uri="{FF2B5EF4-FFF2-40B4-BE49-F238E27FC236}">
                    <a16:creationId xmlns:a16="http://schemas.microsoft.com/office/drawing/2014/main" id="{8621ED66-2EFF-8B4B-9F2C-05DD4EB62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186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AA6B3E6-37BA-CF4A-A98E-43940383C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1241"/>
              <a:ext cx="99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7,1 x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-4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grpSp>
        <p:nvGrpSpPr>
          <p:cNvPr id="18" name="Group 11">
            <a:extLst>
              <a:ext uri="{FF2B5EF4-FFF2-40B4-BE49-F238E27FC236}">
                <a16:creationId xmlns:a16="http://schemas.microsoft.com/office/drawing/2014/main" id="{DC937878-A2F5-C547-AA3E-18E00C1B0F5B}"/>
              </a:ext>
            </a:extLst>
          </p:cNvPr>
          <p:cNvGrpSpPr>
            <a:grpSpLocks/>
          </p:cNvGrpSpPr>
          <p:nvPr/>
        </p:nvGrpSpPr>
        <p:grpSpPr bwMode="auto">
          <a:xfrm>
            <a:off x="787400" y="1078472"/>
            <a:ext cx="3759200" cy="369888"/>
            <a:chOff x="1557" y="1057"/>
            <a:chExt cx="2368" cy="233"/>
          </a:xfrm>
        </p:grpSpPr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EA5DDB13-F5C2-BD49-8448-D3DE08B6F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7" y="1057"/>
              <a:ext cx="23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HF (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ac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              H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(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ac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 + F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(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ac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4164A600-E2D8-ED4D-96D2-12147722E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9" y="113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525B28D0-1B0F-1147-B3E3-6723679AD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1193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grpSp>
        <p:nvGrpSpPr>
          <p:cNvPr id="22" name="Group 15">
            <a:extLst>
              <a:ext uri="{FF2B5EF4-FFF2-40B4-BE49-F238E27FC236}">
                <a16:creationId xmlns:a16="http://schemas.microsoft.com/office/drawing/2014/main" id="{FC45DE08-21C1-554C-B7B7-6620C3D08D4E}"/>
              </a:ext>
            </a:extLst>
          </p:cNvPr>
          <p:cNvGrpSpPr>
            <a:grpSpLocks/>
          </p:cNvGrpSpPr>
          <p:nvPr/>
        </p:nvGrpSpPr>
        <p:grpSpPr bwMode="auto">
          <a:xfrm>
            <a:off x="787400" y="1878572"/>
            <a:ext cx="8839200" cy="5003800"/>
            <a:chOff x="144" y="1105"/>
            <a:chExt cx="5568" cy="3152"/>
          </a:xfrm>
        </p:grpSpPr>
        <p:grpSp>
          <p:nvGrpSpPr>
            <p:cNvPr id="23" name="Group 16">
              <a:extLst>
                <a:ext uri="{FF2B5EF4-FFF2-40B4-BE49-F238E27FC236}">
                  <a16:creationId xmlns:a16="http://schemas.microsoft.com/office/drawing/2014/main" id="{B8955F13-8334-ED43-A093-FD674A880C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6" y="1105"/>
              <a:ext cx="2461" cy="233"/>
              <a:chOff x="432" y="1969"/>
              <a:chExt cx="2461" cy="233"/>
            </a:xfrm>
          </p:grpSpPr>
          <p:sp>
            <p:nvSpPr>
              <p:cNvPr id="58" name="Text Box 17">
                <a:extLst>
                  <a:ext uri="{FF2B5EF4-FFF2-40B4-BE49-F238E27FC236}">
                    <a16:creationId xmlns:a16="http://schemas.microsoft.com/office/drawing/2014/main" id="{502D29BA-D2D2-064F-BCA1-602198B14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69"/>
                <a:ext cx="246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HF (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ac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).               H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+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ac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) + F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ac)</a:t>
                </a:r>
              </a:p>
            </p:txBody>
          </p:sp>
          <p:grpSp>
            <p:nvGrpSpPr>
              <p:cNvPr id="59" name="Group 18">
                <a:extLst>
                  <a:ext uri="{FF2B5EF4-FFF2-40B4-BE49-F238E27FC236}">
                    <a16:creationId xmlns:a16="http://schemas.microsoft.com/office/drawing/2014/main" id="{75ECAF86-BD4C-6540-82FD-87E15563A3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5" y="2036"/>
                <a:ext cx="405" cy="61"/>
                <a:chOff x="4917" y="157"/>
                <a:chExt cx="405" cy="61"/>
              </a:xfrm>
            </p:grpSpPr>
            <p:sp>
              <p:nvSpPr>
                <p:cNvPr id="60" name="Line 19">
                  <a:extLst>
                    <a:ext uri="{FF2B5EF4-FFF2-40B4-BE49-F238E27FC236}">
                      <a16:creationId xmlns:a16="http://schemas.microsoft.com/office/drawing/2014/main" id="{4C312F0D-05BF-1C44-ACA2-13F3C19748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38" y="157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61" name="Line 20">
                  <a:extLst>
                    <a:ext uri="{FF2B5EF4-FFF2-40B4-BE49-F238E27FC236}">
                      <a16:creationId xmlns:a16="http://schemas.microsoft.com/office/drawing/2014/main" id="{EA087AFC-DE57-A048-A634-4BCC11E0F4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17" y="218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</p:grp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EF83E49A-0B99-6547-ADA2-FC399349D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" y="1441"/>
              <a:ext cx="7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 err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Inicial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(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AE9FA8E9-6467-0749-AD03-FB8AD7EF9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777"/>
              <a:ext cx="9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Cambio (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85A6B186-B0D6-9045-BBDD-C87FFE716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13"/>
              <a:ext cx="10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 err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Equilibrio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(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0F13BC15-AAC9-FC4A-9337-AEBDE84A90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4" y="1441"/>
              <a:ext cx="4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0,50</a:t>
              </a: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D2F48857-1911-3F4A-B3D8-E3D53CC9D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7" y="1441"/>
              <a:ext cx="4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0,00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6B250638-7F7F-484A-AF56-9BF64984E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1777"/>
              <a:ext cx="2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28099475-EEF5-D748-8BA7-B1B1FA5EE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1777"/>
              <a:ext cx="32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CBC3CE95-6749-6943-8DF3-8DF54FB90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113"/>
              <a:ext cx="7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0,50 -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1697A650-17E5-B24C-88F4-48908CE86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1441"/>
              <a:ext cx="4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0,00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13BE67C3-C3D5-D648-B47F-570E2DF3B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8" y="1777"/>
              <a:ext cx="32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BDE3BB7F-6C32-BB48-A872-EA981C9F5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3" y="2113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C763593C-9199-0641-97EA-4549039FA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9" y="2113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grpSp>
          <p:nvGrpSpPr>
            <p:cNvPr id="36" name="Group 33">
              <a:extLst>
                <a:ext uri="{FF2B5EF4-FFF2-40B4-BE49-F238E27FC236}">
                  <a16:creationId xmlns:a16="http://schemas.microsoft.com/office/drawing/2014/main" id="{A29BB8E4-9D2C-DE4B-B254-BCF9E99D7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" y="2449"/>
              <a:ext cx="2202" cy="488"/>
              <a:chOff x="1728" y="1105"/>
              <a:chExt cx="2202" cy="488"/>
            </a:xfrm>
          </p:grpSpPr>
          <p:grpSp>
            <p:nvGrpSpPr>
              <p:cNvPr id="52" name="Group 34">
                <a:extLst>
                  <a:ext uri="{FF2B5EF4-FFF2-40B4-BE49-F238E27FC236}">
                    <a16:creationId xmlns:a16="http://schemas.microsoft.com/office/drawing/2014/main" id="{CBD71DC5-C47A-2544-B348-63A66C53C6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105"/>
                <a:ext cx="1254" cy="488"/>
                <a:chOff x="2208" y="1618"/>
                <a:chExt cx="1254" cy="488"/>
              </a:xfrm>
            </p:grpSpPr>
            <p:sp>
              <p:nvSpPr>
                <p:cNvPr id="54" name="Text Box 35">
                  <a:extLst>
                    <a:ext uri="{FF2B5EF4-FFF2-40B4-BE49-F238E27FC236}">
                      <a16:creationId xmlns:a16="http://schemas.microsoft.com/office/drawing/2014/main" id="{D96FF97A-053F-D749-A0FC-4E3590580D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" y="1755"/>
                  <a:ext cx="426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K</a:t>
                  </a:r>
                  <a:r>
                    <a:rPr lang="en-US" altLang="es-CL" i="1" baseline="-25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a</a:t>
                  </a:r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 =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55" name="Text Box 36">
                  <a:extLst>
                    <a:ext uri="{FF2B5EF4-FFF2-40B4-BE49-F238E27FC236}">
                      <a16:creationId xmlns:a16="http://schemas.microsoft.com/office/drawing/2014/main" id="{A11F5C66-67A3-0E49-9FF3-0D02380F03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8" y="1618"/>
                  <a:ext cx="26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x</a:t>
                  </a:r>
                  <a:r>
                    <a:rPr lang="en-US" altLang="es-CL" i="1" baseline="30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2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56" name="Text Box 37">
                  <a:extLst>
                    <a:ext uri="{FF2B5EF4-FFF2-40B4-BE49-F238E27FC236}">
                      <a16:creationId xmlns:a16="http://schemas.microsoft.com/office/drawing/2014/main" id="{20EEE463-9EC7-B747-B306-3DD72D444B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8" y="1873"/>
                  <a:ext cx="704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0,50 - </a:t>
                  </a:r>
                  <a:r>
                    <a:rPr lang="en-US" altLang="es-CL" i="1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x</a:t>
                  </a:r>
                  <a:endPara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57" name="Line 38">
                  <a:extLst>
                    <a:ext uri="{FF2B5EF4-FFF2-40B4-BE49-F238E27FC236}">
                      <a16:creationId xmlns:a16="http://schemas.microsoft.com/office/drawing/2014/main" id="{7D5EE932-9E7B-6448-81BD-F1277FE713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877"/>
                  <a:ext cx="6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  <p:sp>
            <p:nvSpPr>
              <p:cNvPr id="53" name="Text Box 39">
                <a:extLst>
                  <a:ext uri="{FF2B5EF4-FFF2-40B4-BE49-F238E27FC236}">
                    <a16:creationId xmlns:a16="http://schemas.microsoft.com/office/drawing/2014/main" id="{AEF46B8D-6D96-DF43-8BB6-2B40CE3F45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1241"/>
                <a:ext cx="99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= 7,1 x 10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-4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B1D02C52-FC91-D942-B1B5-D245105542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3010"/>
              <a:ext cx="2202" cy="488"/>
              <a:chOff x="1728" y="1105"/>
              <a:chExt cx="2202" cy="488"/>
            </a:xfrm>
          </p:grpSpPr>
          <p:grpSp>
            <p:nvGrpSpPr>
              <p:cNvPr id="46" name="Group 41">
                <a:extLst>
                  <a:ext uri="{FF2B5EF4-FFF2-40B4-BE49-F238E27FC236}">
                    <a16:creationId xmlns:a16="http://schemas.microsoft.com/office/drawing/2014/main" id="{47DF2A89-CC7B-CA43-A17F-5DEF4B09CB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105"/>
                <a:ext cx="1200" cy="488"/>
                <a:chOff x="2208" y="1618"/>
                <a:chExt cx="1200" cy="488"/>
              </a:xfrm>
            </p:grpSpPr>
            <p:sp>
              <p:nvSpPr>
                <p:cNvPr id="48" name="Text Box 42">
                  <a:extLst>
                    <a:ext uri="{FF2B5EF4-FFF2-40B4-BE49-F238E27FC236}">
                      <a16:creationId xmlns:a16="http://schemas.microsoft.com/office/drawing/2014/main" id="{95A57C8E-894E-B24C-8CC1-729260BF2F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" y="1751"/>
                  <a:ext cx="43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 </a:t>
                  </a:r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K</a:t>
                  </a:r>
                  <a:r>
                    <a:rPr lang="en-US" altLang="es-CL" i="1" baseline="-25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a</a:t>
                  </a:r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 </a:t>
                  </a:r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  <a:sym typeface="Symbol" pitchFamily="2" charset="2"/>
                    </a:rPr>
                    <a:t>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49" name="Text Box 43">
                  <a:extLst>
                    <a:ext uri="{FF2B5EF4-FFF2-40B4-BE49-F238E27FC236}">
                      <a16:creationId xmlns:a16="http://schemas.microsoft.com/office/drawing/2014/main" id="{C6D52E91-1044-CA4C-92A9-A8E56E67CC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8" y="1618"/>
                  <a:ext cx="26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x</a:t>
                  </a:r>
                  <a:r>
                    <a:rPr lang="en-US" altLang="es-CL" i="1" baseline="30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2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50" name="Text Box 44">
                  <a:extLst>
                    <a:ext uri="{FF2B5EF4-FFF2-40B4-BE49-F238E27FC236}">
                      <a16:creationId xmlns:a16="http://schemas.microsoft.com/office/drawing/2014/main" id="{0867BB14-017F-A248-9B36-DF550FE200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1" y="1873"/>
                  <a:ext cx="438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0,50</a:t>
                  </a:r>
                </a:p>
              </p:txBody>
            </p:sp>
            <p:sp>
              <p:nvSpPr>
                <p:cNvPr id="51" name="Line 45">
                  <a:extLst>
                    <a:ext uri="{FF2B5EF4-FFF2-40B4-BE49-F238E27FC236}">
                      <a16:creationId xmlns:a16="http://schemas.microsoft.com/office/drawing/2014/main" id="{6A87A101-34B6-1441-BA71-D59BDD0298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870"/>
                  <a:ext cx="6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  <p:sp>
            <p:nvSpPr>
              <p:cNvPr id="47" name="Text Box 46">
                <a:extLst>
                  <a:ext uri="{FF2B5EF4-FFF2-40B4-BE49-F238E27FC236}">
                    <a16:creationId xmlns:a16="http://schemas.microsoft.com/office/drawing/2014/main" id="{ED27739A-1D30-0142-AA88-FEACF5D3A4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1241"/>
                <a:ext cx="99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= 7,1 x 10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-4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sp>
          <p:nvSpPr>
            <p:cNvPr id="38" name="Text Box 47">
              <a:extLst>
                <a:ext uri="{FF2B5EF4-FFF2-40B4-BE49-F238E27FC236}">
                  <a16:creationId xmlns:a16="http://schemas.microsoft.com/office/drawing/2014/main" id="{75668410-2529-1543-90B2-24BAF384B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584"/>
              <a:ext cx="11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0,50 –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  <a:sym typeface="Symbol" pitchFamily="2" charset="2"/>
                </a:rPr>
                <a:t> 0,50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9" name="Text Box 48">
              <a:extLst>
                <a:ext uri="{FF2B5EF4-FFF2-40B4-BE49-F238E27FC236}">
                  <a16:creationId xmlns:a16="http://schemas.microsoft.com/office/drawing/2014/main" id="{E03D438B-CB1C-284E-BCE2-8F7A9E272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" y="2585"/>
              <a:ext cx="7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K</a:t>
              </a:r>
              <a:r>
                <a:rPr lang="en-US" altLang="es-CL" i="1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</a:t>
              </a:r>
              <a:r>
                <a:rPr lang="en-US" altLang="es-CL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&lt;&lt; 1</a:t>
              </a:r>
              <a:endParaRPr lang="en-US" altLang="es-CL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0" name="Text Box 49">
              <a:extLst>
                <a:ext uri="{FF2B5EF4-FFF2-40B4-BE49-F238E27FC236}">
                  <a16:creationId xmlns:a16="http://schemas.microsoft.com/office/drawing/2014/main" id="{CAECC965-2672-BB4D-A048-B924E74DD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145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3,55 x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-4</a:t>
              </a:r>
              <a:endPara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1" name="Text Box 50">
              <a:extLst>
                <a:ext uri="{FF2B5EF4-FFF2-40B4-BE49-F238E27FC236}">
                  <a16:creationId xmlns:a16="http://schemas.microsoft.com/office/drawing/2014/main" id="{76740567-43D9-7646-BEDB-D6714E222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8" y="3145"/>
              <a:ext cx="9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0,019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</a:p>
          </p:txBody>
        </p:sp>
        <p:sp>
          <p:nvSpPr>
            <p:cNvPr id="42" name="Text Box 51">
              <a:extLst>
                <a:ext uri="{FF2B5EF4-FFF2-40B4-BE49-F238E27FC236}">
                  <a16:creationId xmlns:a16="http://schemas.microsoft.com/office/drawing/2014/main" id="{AE55AE4C-DA19-B345-946F-DB7A2D6DF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3602"/>
              <a:ext cx="16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[H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] = [F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] = 0,019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3" name="Text Box 52">
              <a:extLst>
                <a:ext uri="{FF2B5EF4-FFF2-40B4-BE49-F238E27FC236}">
                  <a16:creationId xmlns:a16="http://schemas.microsoft.com/office/drawing/2014/main" id="{DFD5A65E-FE5A-5546-B8A6-2138CFD57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3601"/>
              <a:ext cx="16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pH = -log [H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] = 1,72</a:t>
              </a:r>
            </a:p>
          </p:txBody>
        </p:sp>
        <p:sp>
          <p:nvSpPr>
            <p:cNvPr id="44" name="Text Box 53">
              <a:extLst>
                <a:ext uri="{FF2B5EF4-FFF2-40B4-BE49-F238E27FC236}">
                  <a16:creationId xmlns:a16="http://schemas.microsoft.com/office/drawing/2014/main" id="{E17E14A3-A961-BC47-93EC-D7F9A851C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" y="3889"/>
              <a:ext cx="18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[HF] = 0,50 –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0,48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5" name="Text Box 54">
              <a:extLst>
                <a:ext uri="{FF2B5EF4-FFF2-40B4-BE49-F238E27FC236}">
                  <a16:creationId xmlns:a16="http://schemas.microsoft.com/office/drawing/2014/main" id="{C17E705E-24B2-CC40-991D-CA1A425AC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6" y="4024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9362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18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67</a:t>
            </a:fld>
            <a:endParaRPr lang="es-CL" sz="1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310DA53E-E647-914B-8A58-44C4F6505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33" y="273852"/>
            <a:ext cx="7620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¿Cuándo puedo usar la aproximación? </a:t>
            </a:r>
            <a:endParaRPr lang="en-U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C4370E7-C0DD-D34A-BDFD-F30C1268A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700" y="914400"/>
            <a:ext cx="18854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0,50 –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2" charset="2"/>
              </a:rPr>
              <a:t> 0,50</a:t>
            </a:r>
            <a:endParaRPr lang="en-U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D316881-D57A-244C-9573-77A18CA2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350" y="915988"/>
            <a:ext cx="11272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n-US" altLang="es-CL" i="1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n-US" altLang="es-CL" baseline="-25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&lt;&lt; 1</a:t>
            </a:r>
            <a:endParaRPr lang="en-US" altLang="es-CL" i="1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13B2BB0D-5558-0548-B578-648607035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76400"/>
            <a:ext cx="8763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Cuando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menor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que 5% 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del valor del cual se resta. </a:t>
            </a:r>
            <a:endParaRPr lang="en-U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EFA6EE42-F1E5-DB4E-ABAE-716DC6A28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39988"/>
            <a:ext cx="1313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0,019</a:t>
            </a:r>
            <a:endParaRPr lang="en-US" altLang="es-CL" i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93755D55-098C-5D4B-992D-914E934056C7}"/>
              </a:ext>
            </a:extLst>
          </p:cNvPr>
          <p:cNvGrpSpPr>
            <a:grpSpLocks/>
          </p:cNvGrpSpPr>
          <p:nvPr/>
        </p:nvGrpSpPr>
        <p:grpSpPr bwMode="auto">
          <a:xfrm>
            <a:off x="2300288" y="2262190"/>
            <a:ext cx="3087688" cy="736600"/>
            <a:chOff x="1862" y="1514"/>
            <a:chExt cx="1945" cy="464"/>
          </a:xfrm>
        </p:grpSpPr>
        <p:grpSp>
          <p:nvGrpSpPr>
            <p:cNvPr id="14" name="Group 9">
              <a:extLst>
                <a:ext uri="{FF2B5EF4-FFF2-40B4-BE49-F238E27FC236}">
                  <a16:creationId xmlns:a16="http://schemas.microsoft.com/office/drawing/2014/main" id="{06E4558C-8100-AC48-9A15-987A3DB617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2" y="1514"/>
              <a:ext cx="768" cy="464"/>
              <a:chOff x="1862" y="1514"/>
              <a:chExt cx="768" cy="464"/>
            </a:xfrm>
          </p:grpSpPr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8614638C-51CB-B14E-853F-3B60C52AA1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2" y="1514"/>
                <a:ext cx="7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0,019 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M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18" name="Text Box 11">
                <a:extLst>
                  <a:ext uri="{FF2B5EF4-FFF2-40B4-BE49-F238E27FC236}">
                    <a16:creationId xmlns:a16="http://schemas.microsoft.com/office/drawing/2014/main" id="{DD51FBD6-53D9-6E4C-BE6A-48DD04E5D6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5" y="1745"/>
                <a:ext cx="61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0,50 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M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19" name="Line 12">
                <a:extLst>
                  <a:ext uri="{FF2B5EF4-FFF2-40B4-BE49-F238E27FC236}">
                    <a16:creationId xmlns:a16="http://schemas.microsoft.com/office/drawing/2014/main" id="{B51453FA-B654-5B43-8EAB-D7CDF44FD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2" y="1738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40B8C5AB-7ADF-B94C-855C-8EA65B98E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1625"/>
              <a:ext cx="11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 100% = 3,8%</a:t>
              </a:r>
            </a:p>
          </p:txBody>
        </p:sp>
      </p:grpSp>
      <p:sp>
        <p:nvSpPr>
          <p:cNvPr id="20" name="Text Box 14">
            <a:extLst>
              <a:ext uri="{FF2B5EF4-FFF2-40B4-BE49-F238E27FC236}">
                <a16:creationId xmlns:a16="http://schemas.microsoft.com/office/drawing/2014/main" id="{09A5A74D-11D1-4C45-A23C-68C82AB0D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222500"/>
            <a:ext cx="2743200" cy="68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Menor que 5%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s-MX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s-E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proximación </a:t>
            </a:r>
            <a:r>
              <a: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válida.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12165725-D7B7-F549-93D2-CBEF2FD1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3505200"/>
            <a:ext cx="8180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Cuál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el pH de una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disolución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0,05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HF</a:t>
            </a:r>
            <a:r>
              <a:rPr lang="en-U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(a 25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C)?</a:t>
            </a:r>
          </a:p>
        </p:txBody>
      </p:sp>
      <p:grpSp>
        <p:nvGrpSpPr>
          <p:cNvPr id="22" name="Group 16">
            <a:extLst>
              <a:ext uri="{FF2B5EF4-FFF2-40B4-BE49-F238E27FC236}">
                <a16:creationId xmlns:a16="http://schemas.microsoft.com/office/drawing/2014/main" id="{8DC8C7E0-A6B9-D945-9F85-4ACB91446DB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87789"/>
            <a:ext cx="3495676" cy="774700"/>
            <a:chOff x="1728" y="1105"/>
            <a:chExt cx="2202" cy="488"/>
          </a:xfrm>
        </p:grpSpPr>
        <p:grpSp>
          <p:nvGrpSpPr>
            <p:cNvPr id="23" name="Group 17">
              <a:extLst>
                <a:ext uri="{FF2B5EF4-FFF2-40B4-BE49-F238E27FC236}">
                  <a16:creationId xmlns:a16="http://schemas.microsoft.com/office/drawing/2014/main" id="{6E962835-0AAC-DD42-A873-6E8C7C90D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105"/>
              <a:ext cx="1200" cy="488"/>
              <a:chOff x="2208" y="1618"/>
              <a:chExt cx="1200" cy="488"/>
            </a:xfrm>
          </p:grpSpPr>
          <p:sp>
            <p:nvSpPr>
              <p:cNvPr id="25" name="Text Box 18">
                <a:extLst>
                  <a:ext uri="{FF2B5EF4-FFF2-40B4-BE49-F238E27FC236}">
                    <a16:creationId xmlns:a16="http://schemas.microsoft.com/office/drawing/2014/main" id="{1318B7E3-E4CB-BC44-A7C0-1652287040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751"/>
                <a:ext cx="43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</a:t>
                </a:r>
                <a:r>
                  <a: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K</a:t>
                </a:r>
                <a:r>
                  <a:rPr lang="en-US" altLang="es-CL" i="1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</a:t>
                </a:r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</a:t>
                </a:r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  <a:sym typeface="Symbol" pitchFamily="2" charset="2"/>
                  </a:rPr>
                  <a:t></a:t>
                </a:r>
                <a:endPara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26" name="Text Box 19">
                <a:extLst>
                  <a:ext uri="{FF2B5EF4-FFF2-40B4-BE49-F238E27FC236}">
                    <a16:creationId xmlns:a16="http://schemas.microsoft.com/office/drawing/2014/main" id="{8EC3AA34-B538-1945-A47C-6F9B4166BF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8" y="1618"/>
                <a:ext cx="26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x</a:t>
                </a:r>
                <a:r>
                  <a:rPr lang="en-US" altLang="es-CL" i="1" baseline="30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2</a:t>
                </a:r>
                <a:endPara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27" name="Text Box 20">
                <a:extLst>
                  <a:ext uri="{FF2B5EF4-FFF2-40B4-BE49-F238E27FC236}">
                    <a16:creationId xmlns:a16="http://schemas.microsoft.com/office/drawing/2014/main" id="{A696A5ED-661C-E54D-8710-481C560142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1" y="1873"/>
                <a:ext cx="43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0,05</a:t>
                </a:r>
              </a:p>
            </p:txBody>
          </p:sp>
          <p:sp>
            <p:nvSpPr>
              <p:cNvPr id="28" name="Line 21">
                <a:extLst>
                  <a:ext uri="{FF2B5EF4-FFF2-40B4-BE49-F238E27FC236}">
                    <a16:creationId xmlns:a16="http://schemas.microsoft.com/office/drawing/2014/main" id="{98721231-4036-6148-9DA8-B1233B825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1863"/>
                <a:ext cx="624" cy="0"/>
              </a:xfrm>
              <a:prstGeom prst="line">
                <a:avLst/>
              </a:prstGeom>
              <a:noFill/>
              <a:ln w="28575">
                <a:solidFill>
                  <a:srgbClr val="0118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AB310BBC-AFB3-CF4C-A6E9-D56952054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1241"/>
              <a:ext cx="99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7,1 x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-4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29" name="Text Box 23">
            <a:extLst>
              <a:ext uri="{FF2B5EF4-FFF2-40B4-BE49-F238E27FC236}">
                <a16:creationId xmlns:a16="http://schemas.microsoft.com/office/drawing/2014/main" id="{7B5074BD-F1B3-094B-8AF2-976A107DF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4103688"/>
            <a:ext cx="15856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0,006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</a:p>
        </p:txBody>
      </p:sp>
      <p:grpSp>
        <p:nvGrpSpPr>
          <p:cNvPr id="30" name="Group 24">
            <a:extLst>
              <a:ext uri="{FF2B5EF4-FFF2-40B4-BE49-F238E27FC236}">
                <a16:creationId xmlns:a16="http://schemas.microsoft.com/office/drawing/2014/main" id="{1A195AD2-737F-144C-80A1-8ED7F177A627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4810123"/>
            <a:ext cx="2981325" cy="736600"/>
            <a:chOff x="1883" y="1514"/>
            <a:chExt cx="1878" cy="464"/>
          </a:xfrm>
        </p:grpSpPr>
        <p:grpSp>
          <p:nvGrpSpPr>
            <p:cNvPr id="31" name="Group 25">
              <a:extLst>
                <a:ext uri="{FF2B5EF4-FFF2-40B4-BE49-F238E27FC236}">
                  <a16:creationId xmlns:a16="http://schemas.microsoft.com/office/drawing/2014/main" id="{A9C08BD1-B407-1241-991F-14B516E145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3" y="1514"/>
              <a:ext cx="768" cy="464"/>
              <a:chOff x="1883" y="1514"/>
              <a:chExt cx="768" cy="464"/>
            </a:xfrm>
          </p:grpSpPr>
          <p:sp>
            <p:nvSpPr>
              <p:cNvPr id="33" name="Text Box 26">
                <a:extLst>
                  <a:ext uri="{FF2B5EF4-FFF2-40B4-BE49-F238E27FC236}">
                    <a16:creationId xmlns:a16="http://schemas.microsoft.com/office/drawing/2014/main" id="{C699EE08-6950-B545-B158-F0AE87A4C0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7" y="1514"/>
                <a:ext cx="7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0,006 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M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34" name="Text Box 27">
                <a:extLst>
                  <a:ext uri="{FF2B5EF4-FFF2-40B4-BE49-F238E27FC236}">
                    <a16:creationId xmlns:a16="http://schemas.microsoft.com/office/drawing/2014/main" id="{7770BD69-D4EA-4748-956A-27F37A9082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5" y="1745"/>
                <a:ext cx="61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0,05 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M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35" name="Line 28">
                <a:extLst>
                  <a:ext uri="{FF2B5EF4-FFF2-40B4-BE49-F238E27FC236}">
                    <a16:creationId xmlns:a16="http://schemas.microsoft.com/office/drawing/2014/main" id="{BE92EEE7-577D-AB47-ABE6-089B8F20E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3" y="1731"/>
                <a:ext cx="768" cy="0"/>
              </a:xfrm>
              <a:prstGeom prst="line">
                <a:avLst/>
              </a:prstGeom>
              <a:noFill/>
              <a:ln w="28575">
                <a:solidFill>
                  <a:srgbClr val="0118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EF3A1BD3-55B6-A644-9616-DA0FA7039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1625"/>
              <a:ext cx="11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 100% = 12%</a:t>
              </a:r>
            </a:p>
          </p:txBody>
        </p:sp>
      </p:grpSp>
      <p:sp>
        <p:nvSpPr>
          <p:cNvPr id="36" name="Text Box 30">
            <a:extLst>
              <a:ext uri="{FF2B5EF4-FFF2-40B4-BE49-F238E27FC236}">
                <a16:creationId xmlns:a16="http://schemas.microsoft.com/office/drawing/2014/main" id="{9F0D09DC-909F-4449-8808-F01C1CF0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800600"/>
            <a:ext cx="3733800" cy="68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Más que 5% 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s-MX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s-ES" altLang="es-CL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proximación</a:t>
            </a:r>
            <a:r>
              <a:rPr lang="en-US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no </a:t>
            </a:r>
            <a:r>
              <a:rPr lang="en-US" altLang="es-CL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válida</a:t>
            </a:r>
            <a:r>
              <a:rPr lang="en-US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sp>
        <p:nvSpPr>
          <p:cNvPr id="37" name="Text Box 31">
            <a:extLst>
              <a:ext uri="{FF2B5EF4-FFF2-40B4-BE49-F238E27FC236}">
                <a16:creationId xmlns:a16="http://schemas.microsoft.com/office/drawing/2014/main" id="{2AC3C4D0-7868-C74B-8DE1-19A26CE20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880100"/>
            <a:ext cx="8839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Debe resolver para x exactamente usando la ecuación cuadrática</a:t>
            </a:r>
            <a:endParaRPr lang="en-U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2275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1800" smtClean="0"/>
              <a:pPr/>
              <a:t>68</a:t>
            </a:fld>
            <a:endParaRPr lang="es-CL" sz="180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C8EE821F-C8DA-E74B-A283-077DD848B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49" y="320675"/>
            <a:ext cx="88679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4.- 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Cuál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el pH de un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ácido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monoprótico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0.122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;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n-US" altLang="es-CL" i="1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5.7 x 10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-4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4837ACE8-3044-DB43-8FBC-F7A77A33C40A}"/>
              </a:ext>
            </a:extLst>
          </p:cNvPr>
          <p:cNvGrpSpPr>
            <a:grpSpLocks/>
          </p:cNvGrpSpPr>
          <p:nvPr/>
        </p:nvGrpSpPr>
        <p:grpSpPr bwMode="auto">
          <a:xfrm>
            <a:off x="704088" y="1244588"/>
            <a:ext cx="8839200" cy="5461000"/>
            <a:chOff x="144" y="817"/>
            <a:chExt cx="5568" cy="3440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C9854CEE-ABA6-DD42-A510-C0C7BB277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6" y="817"/>
              <a:ext cx="2603" cy="233"/>
              <a:chOff x="432" y="1969"/>
              <a:chExt cx="2603" cy="233"/>
            </a:xfrm>
          </p:grpSpPr>
          <p:sp>
            <p:nvSpPr>
              <p:cNvPr id="51" name="Text Box 6">
                <a:extLst>
                  <a:ext uri="{FF2B5EF4-FFF2-40B4-BE49-F238E27FC236}">
                    <a16:creationId xmlns:a16="http://schemas.microsoft.com/office/drawing/2014/main" id="{15FEB737-5AFE-4C42-AAB4-E139D1DD45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69"/>
                <a:ext cx="260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HA (</a:t>
                </a:r>
                <a:r>
                  <a:rPr lang="en-US" altLang="es-CL" i="1" dirty="0" err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aq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)                 H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+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</a:t>
                </a:r>
                <a:r>
                  <a:rPr lang="en-US" altLang="es-CL" i="1" dirty="0" err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aq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) + A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</a:t>
                </a:r>
                <a:r>
                  <a:rPr lang="en-US" altLang="es-CL" i="1" dirty="0" err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aq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)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grpSp>
            <p:nvGrpSpPr>
              <p:cNvPr id="52" name="Group 7">
                <a:extLst>
                  <a:ext uri="{FF2B5EF4-FFF2-40B4-BE49-F238E27FC236}">
                    <a16:creationId xmlns:a16="http://schemas.microsoft.com/office/drawing/2014/main" id="{F0989A48-28AF-8A47-846F-5169E47A96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4" y="2071"/>
                <a:ext cx="384" cy="96"/>
                <a:chOff x="4896" y="192"/>
                <a:chExt cx="384" cy="96"/>
              </a:xfrm>
            </p:grpSpPr>
            <p:sp>
              <p:nvSpPr>
                <p:cNvPr id="53" name="Line 8">
                  <a:extLst>
                    <a:ext uri="{FF2B5EF4-FFF2-40B4-BE49-F238E27FC236}">
                      <a16:creationId xmlns:a16="http://schemas.microsoft.com/office/drawing/2014/main" id="{C4997CCB-8221-274F-83A5-34D0FB4E4B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6" y="192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54" name="Line 9">
                  <a:extLst>
                    <a:ext uri="{FF2B5EF4-FFF2-40B4-BE49-F238E27FC236}">
                      <a16:creationId xmlns:a16="http://schemas.microsoft.com/office/drawing/2014/main" id="{36036137-4B6C-804C-A763-224A8E52F0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96" y="288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</p:grp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B324F6C1-FD95-CA4B-8913-6882A0295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" y="1153"/>
              <a:ext cx="7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Inicial(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B79517C3-1B2C-5F41-9C71-A2327569A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489"/>
              <a:ext cx="8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Cambio(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C91566DB-A6A7-F447-AA76-92E2CE81E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5"/>
              <a:ext cx="10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Equilibrio(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8E16643D-3605-514E-8180-EA6F1C58A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7" y="1153"/>
              <a:ext cx="5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0,122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82729180-4116-BF46-919C-008C743CC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7" y="1153"/>
              <a:ext cx="4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0,00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666E0363-1C94-9045-9049-E61A89FFA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1489"/>
              <a:ext cx="2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7214681F-64BB-CE4E-BA63-C25AD69B7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1489"/>
              <a:ext cx="32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5B578E84-AD73-7644-975B-0C684EC4D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25"/>
              <a:ext cx="7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0,122 -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D1A68BCD-D2E6-534B-8252-A259D4524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1153"/>
              <a:ext cx="4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0,00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84705AC6-80B2-F046-A438-27EF7E133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8" y="1489"/>
              <a:ext cx="32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197103B5-E46A-C445-9DBD-E69310698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3" y="1825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A88A132F-B0A4-BD4E-BDB2-EB78A833E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9" y="1825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grpSp>
          <p:nvGrpSpPr>
            <p:cNvPr id="25" name="Group 22">
              <a:extLst>
                <a:ext uri="{FF2B5EF4-FFF2-40B4-BE49-F238E27FC236}">
                  <a16:creationId xmlns:a16="http://schemas.microsoft.com/office/drawing/2014/main" id="{FE0A5F86-DF44-D048-A1C1-DA3EB0E7CF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" y="2161"/>
              <a:ext cx="2202" cy="488"/>
              <a:chOff x="1728" y="1105"/>
              <a:chExt cx="2202" cy="488"/>
            </a:xfrm>
          </p:grpSpPr>
          <p:grpSp>
            <p:nvGrpSpPr>
              <p:cNvPr id="45" name="Group 23">
                <a:extLst>
                  <a:ext uri="{FF2B5EF4-FFF2-40B4-BE49-F238E27FC236}">
                    <a16:creationId xmlns:a16="http://schemas.microsoft.com/office/drawing/2014/main" id="{4A890F02-D999-5749-9BE1-E776E77344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105"/>
                <a:ext cx="1302" cy="488"/>
                <a:chOff x="2208" y="1618"/>
                <a:chExt cx="1302" cy="488"/>
              </a:xfrm>
            </p:grpSpPr>
            <p:sp>
              <p:nvSpPr>
                <p:cNvPr id="47" name="Text Box 24">
                  <a:extLst>
                    <a:ext uri="{FF2B5EF4-FFF2-40B4-BE49-F238E27FC236}">
                      <a16:creationId xmlns:a16="http://schemas.microsoft.com/office/drawing/2014/main" id="{BFEB21B2-049D-984B-AFE2-63D264B46D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" y="1755"/>
                  <a:ext cx="426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K</a:t>
                  </a:r>
                  <a:r>
                    <a:rPr lang="en-US" altLang="es-CL" i="1" baseline="-25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a</a:t>
                  </a:r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 =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48" name="Text Box 25">
                  <a:extLst>
                    <a:ext uri="{FF2B5EF4-FFF2-40B4-BE49-F238E27FC236}">
                      <a16:creationId xmlns:a16="http://schemas.microsoft.com/office/drawing/2014/main" id="{E59A6F60-2E4D-E447-8809-EC33C2398D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8" y="1618"/>
                  <a:ext cx="26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x</a:t>
                  </a:r>
                  <a:r>
                    <a:rPr lang="en-US" altLang="es-CL" i="1" baseline="30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2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49" name="Text Box 26">
                  <a:extLst>
                    <a:ext uri="{FF2B5EF4-FFF2-40B4-BE49-F238E27FC236}">
                      <a16:creationId xmlns:a16="http://schemas.microsoft.com/office/drawing/2014/main" id="{42C7D7B1-6383-624D-90A6-723B12BAB4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4" y="1873"/>
                  <a:ext cx="796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0,122 - </a:t>
                  </a:r>
                  <a:r>
                    <a:rPr lang="en-US" altLang="es-CL" i="1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x</a:t>
                  </a:r>
                  <a:endPara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50" name="Line 27">
                  <a:extLst>
                    <a:ext uri="{FF2B5EF4-FFF2-40B4-BE49-F238E27FC236}">
                      <a16:creationId xmlns:a16="http://schemas.microsoft.com/office/drawing/2014/main" id="{7D0242BA-21B7-1644-B720-C3FCCBD241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863"/>
                  <a:ext cx="6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  <p:sp>
            <p:nvSpPr>
              <p:cNvPr id="46" name="Text Box 28">
                <a:extLst>
                  <a:ext uri="{FF2B5EF4-FFF2-40B4-BE49-F238E27FC236}">
                    <a16:creationId xmlns:a16="http://schemas.microsoft.com/office/drawing/2014/main" id="{72F41B87-1EB3-BB40-A749-78B752A5B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1241"/>
                <a:ext cx="99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= 5,7 x 10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-4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grpSp>
          <p:nvGrpSpPr>
            <p:cNvPr id="26" name="Group 29">
              <a:extLst>
                <a:ext uri="{FF2B5EF4-FFF2-40B4-BE49-F238E27FC236}">
                  <a16:creationId xmlns:a16="http://schemas.microsoft.com/office/drawing/2014/main" id="{3EBE8902-F83B-9F42-BA85-CC95DE31FD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722"/>
              <a:ext cx="2202" cy="488"/>
              <a:chOff x="1728" y="1105"/>
              <a:chExt cx="2202" cy="488"/>
            </a:xfrm>
          </p:grpSpPr>
          <p:grpSp>
            <p:nvGrpSpPr>
              <p:cNvPr id="39" name="Group 30">
                <a:extLst>
                  <a:ext uri="{FF2B5EF4-FFF2-40B4-BE49-F238E27FC236}">
                    <a16:creationId xmlns:a16="http://schemas.microsoft.com/office/drawing/2014/main" id="{4C4A335B-0F6A-BC41-9FB9-0D47BA98B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105"/>
                <a:ext cx="1200" cy="488"/>
                <a:chOff x="2208" y="1618"/>
                <a:chExt cx="1200" cy="488"/>
              </a:xfrm>
            </p:grpSpPr>
            <p:sp>
              <p:nvSpPr>
                <p:cNvPr id="41" name="Text Box 31">
                  <a:extLst>
                    <a:ext uri="{FF2B5EF4-FFF2-40B4-BE49-F238E27FC236}">
                      <a16:creationId xmlns:a16="http://schemas.microsoft.com/office/drawing/2014/main" id="{AC475539-CCDA-DA4A-A13F-CC67482E21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" y="1751"/>
                  <a:ext cx="43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 </a:t>
                  </a:r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K</a:t>
                  </a:r>
                  <a:r>
                    <a:rPr lang="en-US" altLang="es-CL" i="1" baseline="-25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a</a:t>
                  </a:r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 </a:t>
                  </a:r>
                  <a:r>
                    <a:rPr lang="en-US" altLang="es-CL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  <a:sym typeface="Symbol" pitchFamily="2" charset="2"/>
                    </a:rPr>
                    <a:t>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42" name="Text Box 32">
                  <a:extLst>
                    <a:ext uri="{FF2B5EF4-FFF2-40B4-BE49-F238E27FC236}">
                      <a16:creationId xmlns:a16="http://schemas.microsoft.com/office/drawing/2014/main" id="{7F389472-91B3-944B-B590-C1D6197DB0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8" y="1618"/>
                  <a:ext cx="26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i="1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x</a:t>
                  </a:r>
                  <a:r>
                    <a:rPr lang="en-US" altLang="es-CL" i="1" baseline="3000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2</a:t>
                  </a:r>
                  <a:endPara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43" name="Text Box 33">
                  <a:extLst>
                    <a:ext uri="{FF2B5EF4-FFF2-40B4-BE49-F238E27FC236}">
                      <a16:creationId xmlns:a16="http://schemas.microsoft.com/office/drawing/2014/main" id="{EC09C162-F7E2-F846-9994-0EDDB76A1B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44" y="1873"/>
                  <a:ext cx="530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0,122</a:t>
                  </a:r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B47F69DD-39EB-B941-82E4-03FA91263F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856"/>
                  <a:ext cx="6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  <p:sp>
            <p:nvSpPr>
              <p:cNvPr id="40" name="Text Box 35">
                <a:extLst>
                  <a:ext uri="{FF2B5EF4-FFF2-40B4-BE49-F238E27FC236}">
                    <a16:creationId xmlns:a16="http://schemas.microsoft.com/office/drawing/2014/main" id="{D61D6262-B97C-0C4D-8ED8-B906F67270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1241"/>
                <a:ext cx="99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= 5,7 x 10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-4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sp>
          <p:nvSpPr>
            <p:cNvPr id="27" name="Text Box 36">
              <a:extLst>
                <a:ext uri="{FF2B5EF4-FFF2-40B4-BE49-F238E27FC236}">
                  <a16:creationId xmlns:a16="http://schemas.microsoft.com/office/drawing/2014/main" id="{1BA2EAD8-A414-534B-AE2F-16DDF5DDC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296"/>
              <a:ext cx="137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0,122 –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  <a:sym typeface="Symbol" pitchFamily="2" charset="2"/>
                </a:rPr>
                <a:t> 0,122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8" name="Text Box 37">
              <a:extLst>
                <a:ext uri="{FF2B5EF4-FFF2-40B4-BE49-F238E27FC236}">
                  <a16:creationId xmlns:a16="http://schemas.microsoft.com/office/drawing/2014/main" id="{8B297E58-1B11-4A49-BCAE-D1562A7DE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" y="2297"/>
              <a:ext cx="7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K</a:t>
              </a:r>
              <a:r>
                <a:rPr lang="en-US" altLang="es-CL" i="1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</a:t>
              </a:r>
              <a:r>
                <a:rPr lang="en-US" altLang="es-CL" baseline="-25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&lt;&lt; 1</a:t>
              </a:r>
              <a:endParaRPr lang="en-US" altLang="es-CL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9" name="Text Box 38">
              <a:extLst>
                <a:ext uri="{FF2B5EF4-FFF2-40B4-BE49-F238E27FC236}">
                  <a16:creationId xmlns:a16="http://schemas.microsoft.com/office/drawing/2014/main" id="{7E2EFB04-809C-9F4E-91B2-D3D3508ED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857"/>
              <a:ext cx="12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6,95 x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-5</a:t>
              </a:r>
              <a:endPara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0" name="Text Box 39">
              <a:extLst>
                <a:ext uri="{FF2B5EF4-FFF2-40B4-BE49-F238E27FC236}">
                  <a16:creationId xmlns:a16="http://schemas.microsoft.com/office/drawing/2014/main" id="{884CB26D-B449-B242-9CD3-1F3311BFA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8" y="2857"/>
              <a:ext cx="10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0,0083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</a:p>
          </p:txBody>
        </p:sp>
        <p:grpSp>
          <p:nvGrpSpPr>
            <p:cNvPr id="31" name="Group 40">
              <a:extLst>
                <a:ext uri="{FF2B5EF4-FFF2-40B4-BE49-F238E27FC236}">
                  <a16:creationId xmlns:a16="http://schemas.microsoft.com/office/drawing/2014/main" id="{34D1B4CC-E1E9-2543-9E0A-6E6BC9118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" y="3361"/>
              <a:ext cx="1937" cy="464"/>
              <a:chOff x="1870" y="1514"/>
              <a:chExt cx="1937" cy="464"/>
            </a:xfrm>
          </p:grpSpPr>
          <p:grpSp>
            <p:nvGrpSpPr>
              <p:cNvPr id="34" name="Group 41">
                <a:extLst>
                  <a:ext uri="{FF2B5EF4-FFF2-40B4-BE49-F238E27FC236}">
                    <a16:creationId xmlns:a16="http://schemas.microsoft.com/office/drawing/2014/main" id="{B5909214-ABD4-D045-96DA-5410C038AA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0" y="1514"/>
                <a:ext cx="794" cy="464"/>
                <a:chOff x="1870" y="1514"/>
                <a:chExt cx="794" cy="464"/>
              </a:xfrm>
            </p:grpSpPr>
            <p:sp>
              <p:nvSpPr>
                <p:cNvPr id="36" name="Text Box 42">
                  <a:extLst>
                    <a:ext uri="{FF2B5EF4-FFF2-40B4-BE49-F238E27FC236}">
                      <a16:creationId xmlns:a16="http://schemas.microsoft.com/office/drawing/2014/main" id="{92905C4C-25B3-824F-8387-447C8D0859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0" y="1514"/>
                  <a:ext cx="794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0,0083 </a:t>
                  </a:r>
                  <a:r>
                    <a:rPr lang="en-US" altLang="es-CL" i="1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M</a:t>
                  </a:r>
                  <a:endPara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37" name="Text Box 43">
                  <a:extLst>
                    <a:ext uri="{FF2B5EF4-FFF2-40B4-BE49-F238E27FC236}">
                      <a16:creationId xmlns:a16="http://schemas.microsoft.com/office/drawing/2014/main" id="{D40AD920-797B-4A48-945F-AE2212B03E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16" y="1745"/>
                  <a:ext cx="702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s-CL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0,122 </a:t>
                  </a:r>
                  <a:r>
                    <a:rPr lang="en-US" altLang="es-CL" i="1" dirty="0">
                      <a:solidFill>
                        <a:schemeClr val="accent5">
                          <a:lumMod val="75000"/>
                        </a:schemeClr>
                      </a:solidFill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M</a:t>
                  </a:r>
                  <a:endPara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38" name="Line 44">
                  <a:extLst>
                    <a:ext uri="{FF2B5EF4-FFF2-40B4-BE49-F238E27FC236}">
                      <a16:creationId xmlns:a16="http://schemas.microsoft.com/office/drawing/2014/main" id="{B1167991-6730-4A44-BD82-04E6E5C472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83" y="1731"/>
                  <a:ext cx="76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  <p:sp>
            <p:nvSpPr>
              <p:cNvPr id="35" name="Text Box 45">
                <a:extLst>
                  <a:ext uri="{FF2B5EF4-FFF2-40B4-BE49-F238E27FC236}">
                    <a16:creationId xmlns:a16="http://schemas.microsoft.com/office/drawing/2014/main" id="{AC55F228-2D1F-354F-B29B-271AC2AE1C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1625"/>
                <a:ext cx="115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x 100% = 6,8%</a:t>
                </a:r>
              </a:p>
            </p:txBody>
          </p:sp>
        </p:grpSp>
        <p:sp>
          <p:nvSpPr>
            <p:cNvPr id="32" name="Text Box 46">
              <a:extLst>
                <a:ext uri="{FF2B5EF4-FFF2-40B4-BE49-F238E27FC236}">
                  <a16:creationId xmlns:a16="http://schemas.microsoft.com/office/drawing/2014/main" id="{894C6334-4461-B747-9E17-6E800836F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336"/>
              <a:ext cx="2064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Más que 5%</a:t>
              </a:r>
            </a:p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s-MX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</a:t>
              </a:r>
              <a:r>
                <a:rPr lang="es-E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proximación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es-CL" b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no 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válida</a:t>
              </a:r>
            </a:p>
          </p:txBody>
        </p:sp>
        <p:sp>
          <p:nvSpPr>
            <p:cNvPr id="33" name="Text Box 47">
              <a:extLst>
                <a:ext uri="{FF2B5EF4-FFF2-40B4-BE49-F238E27FC236}">
                  <a16:creationId xmlns:a16="http://schemas.microsoft.com/office/drawing/2014/main" id="{1E34CB9B-989C-A941-B5C1-DF1BA9B87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6" y="4024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16416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18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69</a:t>
            </a:fld>
            <a:endParaRPr lang="es-CL" sz="1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467AAB92-86EA-1B4A-9C7C-E682F6DCAC9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53887"/>
            <a:ext cx="3495676" cy="774699"/>
            <a:chOff x="1728" y="1105"/>
            <a:chExt cx="2202" cy="488"/>
          </a:xfrm>
        </p:grpSpPr>
        <p:grpSp>
          <p:nvGrpSpPr>
            <p:cNvPr id="8" name="Group 3">
              <a:extLst>
                <a:ext uri="{FF2B5EF4-FFF2-40B4-BE49-F238E27FC236}">
                  <a16:creationId xmlns:a16="http://schemas.microsoft.com/office/drawing/2014/main" id="{C436B95E-6947-574F-B4E7-76F6264BF1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105"/>
              <a:ext cx="1302" cy="488"/>
              <a:chOff x="2208" y="1618"/>
              <a:chExt cx="1302" cy="488"/>
            </a:xfrm>
          </p:grpSpPr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2F1F16A4-B219-8F45-870C-237E7A8C7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755"/>
                <a:ext cx="42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K</a:t>
                </a:r>
                <a:r>
                  <a:rPr lang="en-US" altLang="es-CL" i="1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</a:t>
                </a:r>
                <a:r>
                  <a:rPr lang="en-US" altLang="es-CL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=</a:t>
                </a:r>
                <a:endPara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D272D712-8436-1B49-B29A-603EE18CA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8" y="1618"/>
                <a:ext cx="26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s-CL" i="1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x</a:t>
                </a:r>
                <a:r>
                  <a:rPr lang="en-US" altLang="es-CL" i="1" baseline="3000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2</a:t>
                </a:r>
                <a:endPara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6C2A6BB8-D0C8-ED4D-9366-8BA920EF11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4" y="1873"/>
                <a:ext cx="7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0,122 - 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x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14" name="Line 7">
                <a:extLst>
                  <a:ext uri="{FF2B5EF4-FFF2-40B4-BE49-F238E27FC236}">
                    <a16:creationId xmlns:a16="http://schemas.microsoft.com/office/drawing/2014/main" id="{70910BB4-381C-2546-AE0D-DA70514E4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9" y="187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54750621-EAA2-E742-9345-4D960DF91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1241"/>
              <a:ext cx="99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= 5,7 x 10</a:t>
              </a:r>
              <a:r>
                <a:rPr lang="en-US" altLang="es-CL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-4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15" name="Text Box 9">
            <a:extLst>
              <a:ext uri="{FF2B5EF4-FFF2-40B4-BE49-F238E27FC236}">
                <a16:creationId xmlns:a16="http://schemas.microsoft.com/office/drawing/2014/main" id="{A0F6AF02-9BA2-8042-B1C1-AAE41EBDC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5" y="509588"/>
            <a:ext cx="39356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+ 0,00057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– 6,95 x 10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-5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 </a:t>
            </a:r>
            <a:endParaRPr lang="en-US" altLang="es-CL" i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CDF06446-A856-A540-8877-065FAA42B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1449388"/>
            <a:ext cx="2020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ax</a:t>
            </a:r>
            <a:r>
              <a:rPr lang="en-US" altLang="es-CL" baseline="3000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n-US" altLang="es-CL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bx</a:t>
            </a:r>
            <a:r>
              <a: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n-US" altLang="es-CL" i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=0</a:t>
            </a:r>
            <a:endParaRPr lang="en-US" altLang="es-CL" i="1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grpSp>
        <p:nvGrpSpPr>
          <p:cNvPr id="18" name="Group 11">
            <a:extLst>
              <a:ext uri="{FF2B5EF4-FFF2-40B4-BE49-F238E27FC236}">
                <a16:creationId xmlns:a16="http://schemas.microsoft.com/office/drawing/2014/main" id="{A4A6877B-D390-CB48-A0DB-6FC5AED887B1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1260476"/>
            <a:ext cx="2627313" cy="723901"/>
            <a:chOff x="3152" y="1130"/>
            <a:chExt cx="1655" cy="456"/>
          </a:xfrm>
        </p:grpSpPr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38007C7A-F257-FF41-99DD-A478788F7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130"/>
              <a:ext cx="12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 ±   b</a:t>
              </a:r>
              <a:r>
                <a:rPr lang="en-US" altLang="es-CL" baseline="3000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– 4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ac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</a:t>
              </a:r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36658948-186C-DB4E-A6DD-032C74839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1356"/>
              <a:ext cx="12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5335EBE6-55B4-5449-82DF-75B52623A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" y="1353"/>
              <a:ext cx="2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2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a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4" name="Text Box 17">
              <a:extLst>
                <a:ext uri="{FF2B5EF4-FFF2-40B4-BE49-F238E27FC236}">
                  <a16:creationId xmlns:a16="http://schemas.microsoft.com/office/drawing/2014/main" id="{D8CE516A-54F0-6843-A106-196FD324F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1241"/>
              <a:ext cx="4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= </a:t>
              </a:r>
              <a:endPara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25" name="Text Box 18">
            <a:extLst>
              <a:ext uri="{FF2B5EF4-FFF2-40B4-BE49-F238E27FC236}">
                <a16:creationId xmlns:a16="http://schemas.microsoft.com/office/drawing/2014/main" id="{211A39AB-AD48-E549-9A3D-464179833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2071688"/>
            <a:ext cx="1459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0,0081</a:t>
            </a:r>
            <a:endParaRPr lang="en-US" altLang="es-CL" i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6" name="Text Box 19">
            <a:extLst>
              <a:ext uri="{FF2B5EF4-FFF2-40B4-BE49-F238E27FC236}">
                <a16:creationId xmlns:a16="http://schemas.microsoft.com/office/drawing/2014/main" id="{5E5CB24F-1BD7-5D48-AEDA-CA0CDAF3D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071688"/>
            <a:ext cx="16658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- 0,0081</a:t>
            </a:r>
            <a:endParaRPr lang="en-US" altLang="es-CL" i="1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8C8DEC06-09EC-684B-80EF-E2C2E9EDD0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2070100"/>
            <a:ext cx="1600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grpSp>
        <p:nvGrpSpPr>
          <p:cNvPr id="28" name="Group 21">
            <a:extLst>
              <a:ext uri="{FF2B5EF4-FFF2-40B4-BE49-F238E27FC236}">
                <a16:creationId xmlns:a16="http://schemas.microsoft.com/office/drawing/2014/main" id="{95989EAA-C315-9B4C-B373-31A97BB95B01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930526"/>
            <a:ext cx="6630989" cy="1970088"/>
            <a:chOff x="96" y="1777"/>
            <a:chExt cx="4177" cy="1241"/>
          </a:xfrm>
        </p:grpSpPr>
        <p:grpSp>
          <p:nvGrpSpPr>
            <p:cNvPr id="29" name="Group 22">
              <a:extLst>
                <a:ext uri="{FF2B5EF4-FFF2-40B4-BE49-F238E27FC236}">
                  <a16:creationId xmlns:a16="http://schemas.microsoft.com/office/drawing/2014/main" id="{E092446E-E776-B846-8AB4-4D6BE0F31F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8" y="1777"/>
              <a:ext cx="2505" cy="233"/>
              <a:chOff x="432" y="1969"/>
              <a:chExt cx="2505" cy="233"/>
            </a:xfrm>
          </p:grpSpPr>
          <p:sp>
            <p:nvSpPr>
              <p:cNvPr id="42" name="Text Box 23">
                <a:extLst>
                  <a:ext uri="{FF2B5EF4-FFF2-40B4-BE49-F238E27FC236}">
                    <a16:creationId xmlns:a16="http://schemas.microsoft.com/office/drawing/2014/main" id="{286CF72A-C3C5-0C4D-B4F5-653FDE731D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69"/>
                <a:ext cx="250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HA (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ac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)               H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+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ac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) + A</a:t>
                </a:r>
                <a:r>
                  <a:rPr lang="en-US" altLang="es-CL" baseline="30000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-</a:t>
                </a:r>
                <a:r>
                  <a:rPr lang="en-US" altLang="es-CL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 (</a:t>
                </a:r>
                <a:r>
                  <a:rPr lang="en-US" altLang="es-CL" i="1" dirty="0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ac)</a:t>
                </a:r>
                <a:endPara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grpSp>
            <p:nvGrpSpPr>
              <p:cNvPr id="43" name="Group 24">
                <a:extLst>
                  <a:ext uri="{FF2B5EF4-FFF2-40B4-BE49-F238E27FC236}">
                    <a16:creationId xmlns:a16="http://schemas.microsoft.com/office/drawing/2014/main" id="{A04BE933-3936-0C46-A4F4-FF032F3489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2" y="2045"/>
                <a:ext cx="405" cy="65"/>
                <a:chOff x="4944" y="166"/>
                <a:chExt cx="405" cy="65"/>
              </a:xfrm>
            </p:grpSpPr>
            <p:sp>
              <p:nvSpPr>
                <p:cNvPr id="44" name="Line 25">
                  <a:extLst>
                    <a:ext uri="{FF2B5EF4-FFF2-40B4-BE49-F238E27FC236}">
                      <a16:creationId xmlns:a16="http://schemas.microsoft.com/office/drawing/2014/main" id="{461F48D3-F86D-5046-8EA2-26629E7292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5" y="166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  <p:sp>
              <p:nvSpPr>
                <p:cNvPr id="45" name="Line 26">
                  <a:extLst>
                    <a:ext uri="{FF2B5EF4-FFF2-40B4-BE49-F238E27FC236}">
                      <a16:creationId xmlns:a16="http://schemas.microsoft.com/office/drawing/2014/main" id="{0CEE6805-6772-8A43-8023-CCF8C5AB45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44" y="231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endParaRPr>
                </a:p>
              </p:txBody>
            </p:sp>
          </p:grpSp>
        </p:grp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7292E182-AA49-0048-B22C-B52A22DC9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" y="2113"/>
              <a:ext cx="7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Inicial(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A18E0947-81A5-3241-8C54-57860FCDE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449"/>
              <a:ext cx="8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Cambio(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0D6D8639-B60D-0044-AFD0-34AF9616F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785"/>
              <a:ext cx="10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 err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Equilibrio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(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</a:t>
              </a:r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410B5B7F-EE9E-AC4F-97E3-EEAD416CE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0" y="2113"/>
              <a:ext cx="5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0,122</a:t>
              </a: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ECB37CC1-485D-1E41-82D1-58DF5C229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9" y="2113"/>
              <a:ext cx="4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0,00</a:t>
              </a:r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89C9CD25-0324-0F41-B768-217E39D74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5" y="2449"/>
              <a:ext cx="2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E6033CF2-40A4-4946-B653-DD48D682A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6" y="2449"/>
              <a:ext cx="32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3611EABA-6C8F-BD41-9787-772040B97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785"/>
              <a:ext cx="7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0,122 - </a:t>
              </a:r>
              <a:r>
                <a:rPr lang="en-US" altLang="es-CL" i="1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D4B3DC4B-9AD4-1642-972E-C16A7B672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0" y="2113"/>
              <a:ext cx="4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dirty="0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0,00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3A30EDB9-C523-B448-B29E-AD9B0EE12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" y="2449"/>
              <a:ext cx="32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s-CL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+</a:t>
              </a:r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8527E061-0007-7046-8A69-ABA3E902D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2785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9E5746B7-814F-044F-BEB9-F39F7AA4A8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1" y="2785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s-CL" i="1">
                  <a:solidFill>
                    <a:schemeClr val="accent5">
                      <a:lumMod val="75000"/>
                    </a:schemeClr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x</a:t>
              </a:r>
              <a:endParaRPr lang="en-US" altLang="es-CL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sp>
        <p:nvSpPr>
          <p:cNvPr id="46" name="Text Box 39">
            <a:extLst>
              <a:ext uri="{FF2B5EF4-FFF2-40B4-BE49-F238E27FC236}">
                <a16:creationId xmlns:a16="http://schemas.microsoft.com/office/drawing/2014/main" id="{3315F7CD-9880-034D-A7D2-4B7AE2AA5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5777469"/>
            <a:ext cx="25042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[H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0,0081 </a:t>
            </a:r>
            <a:r>
              <a:rPr lang="en-US" altLang="es-CL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  <a:endParaRPr lang="en-U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7" name="Text Box 40">
            <a:extLst>
              <a:ext uri="{FF2B5EF4-FFF2-40B4-BE49-F238E27FC236}">
                <a16:creationId xmlns:a16="http://schemas.microsoft.com/office/drawing/2014/main" id="{2628996A-DF5E-844A-AEA8-E60CAE8A7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2601" y="5802359"/>
            <a:ext cx="26003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-log[H</a:t>
            </a:r>
            <a:r>
              <a:rPr lang="en-US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n-U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2,09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3E47B0C-90D9-6D4E-8D19-113FEBCF64C7}"/>
                  </a:ext>
                </a:extLst>
              </p:cNvPr>
              <p:cNvSpPr txBox="1"/>
              <p:nvPr/>
            </p:nvSpPr>
            <p:spPr>
              <a:xfrm>
                <a:off x="6212797" y="1155599"/>
                <a:ext cx="1236044" cy="350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CL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</m:t>
                          </m:r>
                        </m:e>
                      </m:rad>
                    </m:oMath>
                  </m:oMathPara>
                </a14:m>
                <a:endParaRPr lang="es-CL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3E47B0C-90D9-6D4E-8D19-113FEBCF6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797" y="1155599"/>
                <a:ext cx="1236044" cy="350417"/>
              </a:xfrm>
              <a:prstGeom prst="rect">
                <a:avLst/>
              </a:prstGeom>
              <a:blipFill>
                <a:blip r:embed="rId3"/>
                <a:stretch>
                  <a:fillRect t="-3448" r="-7071" b="-1724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0344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70</a:t>
            </a:fld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1059119" y="3057902"/>
            <a:ext cx="105938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 Propuestos</a:t>
            </a:r>
          </a:p>
        </p:txBody>
      </p:sp>
      <p:grpSp>
        <p:nvGrpSpPr>
          <p:cNvPr id="6" name="Shape 627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7" name="Shape 62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0" t="0" r="0" b="0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629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0" t="0" r="0" b="0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630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631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0" t="0" r="0" b="0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906C5DE-8770-3A44-B7A1-E7ECB781A144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FB2475-4682-BC46-8DC3-5EC8F1D435D5}"/>
              </a:ext>
            </a:extLst>
          </p:cNvPr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1. Equilibrio Iónico y pH</a:t>
            </a:r>
          </a:p>
        </p:txBody>
      </p:sp>
    </p:spTree>
    <p:extLst>
      <p:ext uri="{BB962C8B-B14F-4D97-AF65-F5344CB8AC3E}">
        <p14:creationId xmlns:p14="http://schemas.microsoft.com/office/powerpoint/2010/main" val="13995859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71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56A5231C-4ABE-1349-BF46-20BC63DC0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17" y="383244"/>
            <a:ext cx="99735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1.- 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¿Cuál es el pH de una disolución 2 x 10-3 M HNO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3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?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4382BB7F-6E75-C04F-BA4D-318644473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004" y="962734"/>
            <a:ext cx="12698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 2,7</a:t>
            </a:r>
          </a:p>
        </p:txBody>
      </p:sp>
      <p:sp>
        <p:nvSpPr>
          <p:cNvPr id="17" name="CuadroTexto 10">
            <a:extLst>
              <a:ext uri="{FF2B5EF4-FFF2-40B4-BE49-F238E27FC236}">
                <a16:creationId xmlns:a16="http://schemas.microsoft.com/office/drawing/2014/main" id="{77836F3E-BA03-DA48-9310-815C9EAB4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13" y="1779228"/>
            <a:ext cx="99735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2.- 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¿Cuál es el pH de una disolución 1.8 x 10-2 M </a:t>
            </a:r>
            <a:r>
              <a:rPr lang="es-ES_tradnl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NaOH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?</a:t>
            </a: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0A6573E1-9F5C-BC41-BCE8-088DE55C7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7338" y="3896265"/>
            <a:ext cx="12698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 1,3</a:t>
            </a:r>
          </a:p>
        </p:txBody>
      </p:sp>
      <p:sp>
        <p:nvSpPr>
          <p:cNvPr id="23" name="CuadroTexto 10">
            <a:extLst>
              <a:ext uri="{FF2B5EF4-FFF2-40B4-BE49-F238E27FC236}">
                <a16:creationId xmlns:a16="http://schemas.microsoft.com/office/drawing/2014/main" id="{50D1A8EC-5412-2042-8E25-308ADB75B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17" y="3175212"/>
            <a:ext cx="99735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3.- 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¿Cuál es el pH de una disolución 0.05 M </a:t>
            </a:r>
            <a:r>
              <a:rPr lang="es-ES_tradnl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HCl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?</a:t>
            </a:r>
          </a:p>
        </p:txBody>
      </p:sp>
      <p:sp>
        <p:nvSpPr>
          <p:cNvPr id="24" name="CuadroTexto 10">
            <a:extLst>
              <a:ext uri="{FF2B5EF4-FFF2-40B4-BE49-F238E27FC236}">
                <a16:creationId xmlns:a16="http://schemas.microsoft.com/office/drawing/2014/main" id="{14B10E62-8B09-6A41-9FAA-37F7D833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17" y="4558967"/>
            <a:ext cx="99735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4.- 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¿Cuál es el pH de una disolución 1.8 x 10-2 M Ba(OH)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2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?</a:t>
            </a: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4A71992B-8DE3-E148-BAD2-64D881857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972" y="2514930"/>
            <a:ext cx="15616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 12,26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0216CFD9-C72B-EF41-A18E-7BC046246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659" y="5176146"/>
            <a:ext cx="15616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 12,56</a:t>
            </a:r>
          </a:p>
        </p:txBody>
      </p:sp>
    </p:spTree>
    <p:extLst>
      <p:ext uri="{BB962C8B-B14F-4D97-AF65-F5344CB8AC3E}">
        <p14:creationId xmlns:p14="http://schemas.microsoft.com/office/powerpoint/2010/main" val="13155668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fld id="{00000000-1234-1234-1234-123412341234}" type="slidenum">
              <a:rPr lang="es-CL" sz="18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>
                <a:lnSpc>
                  <a:spcPct val="150000"/>
                </a:lnSpc>
              </a:pPr>
              <a:t>72</a:t>
            </a:fld>
            <a:endParaRPr lang="es-CL" sz="1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7320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lnSpc>
                <a:spcPct val="150000"/>
              </a:lnSpc>
              <a:defRPr/>
            </a:pPr>
            <a:endParaRPr lang="es-CL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47320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7BF61230-CD78-D94E-9492-E2428B7B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30" y="350911"/>
            <a:ext cx="8835898" cy="268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el pH de las siguientes soluciones de ácidos fuertes: </a:t>
            </a:r>
          </a:p>
          <a:p>
            <a:pPr eaLnBrk="1" hangingPunct="1">
              <a:lnSpc>
                <a:spcPct val="150000"/>
              </a:lnSpc>
            </a:pPr>
            <a:endParaRPr lang="es-ES_tradnl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1,8x10</a:t>
            </a:r>
            <a:r>
              <a:rPr lang="es-ES_tradnl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-4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 de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HBr</a:t>
            </a:r>
            <a:endParaRPr lang="es-ES_tradnl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1,02 g de HNO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en 250,0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solución</a:t>
            </a:r>
          </a:p>
          <a:p>
            <a:pPr eaLnBrk="1" hangingPunct="1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50,0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una solución preparada a partir de 2,0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HClO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(0,5 M)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s-ES_tradnl" altLang="es-CL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5C9DED47-FD45-F349-A179-E533913BB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922" y="5025875"/>
            <a:ext cx="2295979" cy="158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3,7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1,2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= 1,7</a:t>
            </a:r>
          </a:p>
        </p:txBody>
      </p:sp>
    </p:spTree>
    <p:extLst>
      <p:ext uri="{BB962C8B-B14F-4D97-AF65-F5344CB8AC3E}">
        <p14:creationId xmlns:p14="http://schemas.microsoft.com/office/powerpoint/2010/main" val="20720859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fld id="{00000000-1234-1234-1234-123412341234}" type="slidenum">
              <a:rPr lang="es-CL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>
                <a:lnSpc>
                  <a:spcPct val="150000"/>
                </a:lnSpc>
              </a:pPr>
              <a:t>73</a:t>
            </a:fld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742938A-CA25-7B48-A061-751A271E8242}"/>
              </a:ext>
            </a:extLst>
          </p:cNvPr>
          <p:cNvSpPr/>
          <p:nvPr/>
        </p:nvSpPr>
        <p:spPr>
          <a:xfrm>
            <a:off x="248900" y="132951"/>
            <a:ext cx="8870715" cy="379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6.-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ingrediente activo de la aspirina es el ácido acetilsalicílico, HC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9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un ácido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monoprótico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con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Ka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3,3 x 10</a:t>
            </a:r>
            <a:r>
              <a:rPr lang="es-ES_tradnl" altLang="es-CL" sz="2000" b="1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s-ES_tradnl" altLang="es-CL" b="1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25 °C. Se disuelven dos tabletas de aspirina, cada una con 325 mg de ácido acetilsalicílico en 250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mL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agua.</a:t>
            </a:r>
          </a:p>
          <a:p>
            <a:pPr algn="just">
              <a:lnSpc>
                <a:spcPct val="150000"/>
              </a:lnSpc>
            </a:pPr>
            <a:endParaRPr lang="es-ES_tradnl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Calcular</a:t>
            </a:r>
          </a:p>
          <a:p>
            <a:pPr algn="just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[ácido acetilsalicílico] inicial y equilibrio</a:t>
            </a:r>
          </a:p>
          <a:p>
            <a:pPr algn="just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Porcentaje  de disociación</a:t>
            </a:r>
          </a:p>
          <a:p>
            <a:pPr algn="just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</a:t>
            </a:r>
          </a:p>
          <a:p>
            <a:pPr algn="just">
              <a:lnSpc>
                <a:spcPct val="150000"/>
              </a:lnSpc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[OH</a:t>
            </a:r>
            <a:r>
              <a:rPr lang="es-ES_tradnl" alt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F84DBF38-E8FB-6D4E-8C07-0A21FA5E7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" y="4589849"/>
            <a:ext cx="9582913" cy="21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[ácido acetilsalicílico]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inicial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0,014 M y [ácido acetilsalicílico]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equilibrio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0,00198M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Porcentaje de disociación = 15,6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pH  = 2,7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d)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[OH-] = 5,01*10</a:t>
            </a:r>
            <a:r>
              <a:rPr lang="es-ES_tradnl" altLang="es-CL" baseline="30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-12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  <a:endParaRPr lang="es-ES_tradnl" altLang="es-CL" baseline="3000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8715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fld id="{00000000-1234-1234-1234-123412341234}" type="slidenum">
              <a:rPr lang="es-CL" sz="18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>
                <a:lnSpc>
                  <a:spcPct val="150000"/>
                </a:lnSpc>
              </a:pPr>
              <a:t>74</a:t>
            </a:fld>
            <a:endParaRPr lang="es-CL" sz="1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7320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lnSpc>
                <a:spcPct val="150000"/>
              </a:lnSpc>
              <a:defRPr/>
            </a:pPr>
            <a:endParaRPr lang="es-CL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47320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583E4B32-0509-F245-971E-CD6F3CB23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" y="413635"/>
            <a:ext cx="8820150" cy="2412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7625" indent="-47625"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7.-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ácido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fenilacético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 HC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), es una sustancia que se acumula en la sangre produciendo retardo mental o incluso la muerte. El pH de una disolución 0,085 M de  HC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_tradnl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resulta ser de 2,68.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Encuentre las concentraciones en el equilibrio de las especies presentes.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</a:t>
            </a:r>
            <a:r>
              <a:rPr lang="es-ES_tradnl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Ka</a:t>
            </a:r>
            <a:endParaRPr lang="es-ES_tradnl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3D60513D-BC8A-BD4E-A500-B822EFF31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0201" y="4460335"/>
            <a:ext cx="3176968" cy="21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 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[HC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0,0829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[HC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_tradn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=2,1*10</a:t>
            </a:r>
            <a:r>
              <a:rPr lang="es-ES_tradnl" altLang="es-CL" baseline="30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-3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[H</a:t>
            </a:r>
            <a:r>
              <a:rPr lang="es-ES_tradnl" altLang="es-CL" baseline="30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2,1*10</a:t>
            </a:r>
            <a:r>
              <a:rPr lang="es-ES_tradnl" altLang="es-CL" baseline="30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-3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 </a:t>
            </a:r>
            <a:r>
              <a:rPr lang="es-ES_tradnl" altLang="es-CL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s-ES_tradnl" altLang="es-CL" baseline="-25000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s-ES_tradn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5,3*10</a:t>
            </a:r>
            <a:r>
              <a:rPr lang="es-ES_tradnl" altLang="es-CL" baseline="30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-5</a:t>
            </a:r>
          </a:p>
        </p:txBody>
      </p:sp>
    </p:spTree>
    <p:extLst>
      <p:ext uri="{BB962C8B-B14F-4D97-AF65-F5344CB8AC3E}">
        <p14:creationId xmlns:p14="http://schemas.microsoft.com/office/powerpoint/2010/main" val="15325823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75</a:t>
            </a:fld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6684" y="1426351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51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12357</TotalTime>
  <Words>3789</Words>
  <Application>Microsoft Office PowerPoint</Application>
  <PresentationFormat>Panorámica</PresentationFormat>
  <Paragraphs>540</Paragraphs>
  <Slides>75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75</vt:i4>
      </vt:variant>
    </vt:vector>
  </HeadingPairs>
  <TitlesOfParts>
    <vt:vector size="87" baseType="lpstr">
      <vt:lpstr>Arial</vt:lpstr>
      <vt:lpstr>Calibri</vt:lpstr>
      <vt:lpstr>Calibri Light</vt:lpstr>
      <vt:lpstr>Cambria Math</vt:lpstr>
      <vt:lpstr>Impact</vt:lpstr>
      <vt:lpstr>Karla</vt:lpstr>
      <vt:lpstr>Lucida Sans Unicode</vt:lpstr>
      <vt:lpstr>Tahoma</vt:lpstr>
      <vt:lpstr>Times New Roman</vt:lpstr>
      <vt:lpstr>Wingdings</vt:lpstr>
      <vt:lpstr>1_Tema de Office</vt:lpstr>
      <vt:lpstr>Imagen de mapa de bits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Patricio Hermosilla Ibáñez</dc:creator>
  <cp:lastModifiedBy>Patricio Hermosilla Ibáñez</cp:lastModifiedBy>
  <cp:revision>203</cp:revision>
  <dcterms:created xsi:type="dcterms:W3CDTF">2017-08-15T01:11:26Z</dcterms:created>
  <dcterms:modified xsi:type="dcterms:W3CDTF">2020-08-18T16:13:48Z</dcterms:modified>
</cp:coreProperties>
</file>