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02" r:id="rId2"/>
    <p:sldId id="423" r:id="rId3"/>
    <p:sldId id="424" r:id="rId4"/>
    <p:sldId id="433" r:id="rId5"/>
    <p:sldId id="425" r:id="rId6"/>
    <p:sldId id="426" r:id="rId7"/>
    <p:sldId id="427" r:id="rId8"/>
    <p:sldId id="434" r:id="rId9"/>
    <p:sldId id="428" r:id="rId10"/>
    <p:sldId id="429" r:id="rId11"/>
    <p:sldId id="430" r:id="rId12"/>
    <p:sldId id="431" r:id="rId13"/>
    <p:sldId id="437" r:id="rId14"/>
    <p:sldId id="440" r:id="rId15"/>
    <p:sldId id="306" r:id="rId16"/>
    <p:sldId id="392" r:id="rId17"/>
    <p:sldId id="436" r:id="rId18"/>
    <p:sldId id="435" r:id="rId19"/>
    <p:sldId id="331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2F92"/>
    <a:srgbClr val="011893"/>
    <a:srgbClr val="FF9300"/>
    <a:srgbClr val="0432FF"/>
    <a:srgbClr val="942093"/>
    <a:srgbClr val="797979"/>
    <a:srgbClr val="0000FF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B450-3C2F-444B-9D8A-00853E938C60}" type="datetimeFigureOut">
              <a:rPr lang="es-ES_tradnl" smtClean="0"/>
              <a:t>01/09/2020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8BF0D-A6A6-FD4D-A9E6-5DEC166F13E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73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1189-4162-4095-A72D-97D1D0A4C38F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093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C988-3886-4209-952F-6F2351060C4F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38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FF90-380B-4198-AAB4-EFE3F7E59A8E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9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B498-9DDE-410B-8204-6F21FFA6E274}" type="datetime1">
              <a:rPr lang="es-CL" smtClean="0"/>
              <a:t>01-09-2020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54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F5E6-CD69-49CD-B7D6-2AEC969E30DA}" type="datetime1">
              <a:rPr lang="es-CL" smtClean="0"/>
              <a:t>01-09-2020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8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C499-432E-4F9C-A348-9F1EBD53816F}" type="datetime1">
              <a:rPr lang="es-CL" smtClean="0"/>
              <a:t>01-09-2020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518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2564-0253-46B2-8B97-04702F236E08}" type="datetime1">
              <a:rPr lang="es-CL" smtClean="0"/>
              <a:t>01-09-2020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94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5F27-AD8C-4F52-BAB6-7A4ECCF43A56}" type="datetime1">
              <a:rPr lang="es-CL" smtClean="0"/>
              <a:t>01-09-2020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93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418ED-4B89-441E-BDE8-0FDAD45DABC3}" type="datetime1">
              <a:rPr lang="es-CL" smtClean="0"/>
              <a:t>01-09-2020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3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73A9-F609-4366-8CB2-D4C393F6FD2B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4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A19F-DB7A-441A-B859-6E2BBEF27AD9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36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7803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0480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" y="-13915"/>
            <a:ext cx="10972420" cy="6885849"/>
          </a:xfrm>
          <a:custGeom>
            <a:avLst/>
            <a:gdLst/>
            <a:ahLst/>
            <a:cxnLst/>
            <a:rect l="0" t="0" r="0" b="0"/>
            <a:pathLst>
              <a:path w="328450" h="206122" extrusionOk="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▸"/>
              <a:defRPr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6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C72F-1C79-4B24-AFC2-4A1995B30CAF}" type="datetime1">
              <a:rPr lang="es-CL" smtClean="0"/>
              <a:t>01-09-2020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PHI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80653-4923-4CEE-8DB1-846A662CC2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14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</a:t>
            </a:fld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97D214-77BD-1D4C-B9E4-07A5B33142EE}"/>
              </a:ext>
            </a:extLst>
          </p:cNvPr>
          <p:cNvSpPr txBox="1"/>
          <p:nvPr/>
        </p:nvSpPr>
        <p:spPr>
          <a:xfrm>
            <a:off x="5211894" y="5579872"/>
            <a:ext cx="691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3. Electroquímica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B4282F-A911-6E47-B620-DCCEC2E6A74D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B0826EC-8F6C-C147-8F70-14D40874E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29" y="401323"/>
            <a:ext cx="3452367" cy="51785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652BE5D-DE94-E84B-B1C7-017F00699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1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5C27BD-8AB9-724C-87BF-A4BB286E6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23059"/>
            <a:ext cx="8891587" cy="1058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just" defTabSz="457200" eaLnBrk="1" hangingPunct="1">
              <a:lnSpc>
                <a:spcPct val="150000"/>
              </a:lnSpc>
              <a:buNone/>
              <a:defRPr/>
            </a:pPr>
            <a:r>
              <a:rPr lang="es-ES_tradnl" sz="2000" b="1" kern="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electroquímica </a:t>
            </a: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la rama de la química que </a:t>
            </a:r>
            <a:r>
              <a:rPr lang="es-ES_tradnl" sz="2000" b="1" kern="0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estudia la transformación entre la energía eléctrica y la energía química </a:t>
            </a: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 Los procesos electroquímicos son reacciones </a:t>
            </a:r>
            <a:r>
              <a:rPr lang="es-ES_tradnl" sz="2000" kern="0" dirty="0" err="1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redox</a:t>
            </a:r>
            <a:r>
              <a:rPr lang="es-ES_tradnl" sz="2000" kern="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(oxidación-reducción) donde la energía liberada por una reacción espontánea se convierte en electricidad, o donde la energía eléctrica se aprovecha para inducir una reacción química no espontánea.</a:t>
            </a:r>
          </a:p>
          <a:p>
            <a:pPr marL="0" lvl="0" indent="0" algn="just" defTabSz="457200" eaLnBrk="1" hangingPunct="1">
              <a:lnSpc>
                <a:spcPct val="150000"/>
              </a:lnSpc>
              <a:buNone/>
              <a:defRPr/>
            </a:pPr>
            <a:endParaRPr lang="es-ES_tradnl" sz="2000" kern="0" dirty="0">
              <a:solidFill>
                <a:srgbClr val="1769B5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2F125D9-5955-744F-85AE-7542F7808C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3272" y="3094856"/>
            <a:ext cx="5175066" cy="2948568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62FECEAB-4DD6-B04B-8E0B-ACE84CCDF6D1}"/>
              </a:ext>
            </a:extLst>
          </p:cNvPr>
          <p:cNvSpPr txBox="1">
            <a:spLocks noChangeArrowheads="1"/>
          </p:cNvSpPr>
          <p:nvPr/>
        </p:nvSpPr>
        <p:spPr>
          <a:xfrm>
            <a:off x="499731" y="3429000"/>
            <a:ext cx="5596269" cy="271052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_tradnl" sz="2000" b="1" dirty="0">
                <a:solidFill>
                  <a:srgbClr val="FF008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Reacciones espontáneas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,</a:t>
            </a:r>
            <a:r>
              <a:rPr lang="es-ES_tradnl" sz="2000" dirty="0">
                <a:solidFill>
                  <a:srgbClr val="FF008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 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se produce energía eléctrica a partir de la energía liberada en una reacción química, </a:t>
            </a:r>
            <a:r>
              <a:rPr lang="es-ES_tradnl" sz="2000" b="1" dirty="0">
                <a:solidFill>
                  <a:srgbClr val="FF008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Pilas voltaicas</a:t>
            </a:r>
          </a:p>
          <a:p>
            <a:pPr algn="just">
              <a:buFont typeface="Arial"/>
              <a:buNone/>
            </a:pPr>
            <a:endParaRPr lang="es-ES_tradnl" sz="2000" dirty="0">
              <a:solidFill>
                <a:prstClr val="black"/>
              </a:solidFill>
              <a:latin typeface="Lucida Sans Unicode" panose="020B0602030504020204" pitchFamily="34" charset="0"/>
              <a:ea typeface="Tahoma" pitchFamily="34" charset="0"/>
              <a:cs typeface="Lucida Sans Unicode" panose="020B0602030504020204" pitchFamily="34" charset="0"/>
            </a:endParaRPr>
          </a:p>
          <a:p>
            <a:pPr marL="0" indent="0" algn="just">
              <a:buNone/>
            </a:pPr>
            <a:r>
              <a:rPr lang="es-ES_tradnl" sz="2000" b="1" dirty="0">
                <a:solidFill>
                  <a:srgbClr val="00800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Reacciones no espontáneas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,</a:t>
            </a:r>
            <a:r>
              <a:rPr lang="es-ES_tradnl" sz="2000" dirty="0">
                <a:solidFill>
                  <a:srgbClr val="00800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 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se producen sustancias químicas a partir de energía eléctrica suministrada, </a:t>
            </a:r>
            <a:r>
              <a:rPr lang="es-ES_tradnl" sz="2000" b="1" dirty="0">
                <a:solidFill>
                  <a:srgbClr val="00800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Electrólisis</a:t>
            </a:r>
          </a:p>
        </p:txBody>
      </p:sp>
    </p:spTree>
    <p:extLst>
      <p:ext uri="{BB962C8B-B14F-4D97-AF65-F5344CB8AC3E}">
        <p14:creationId xmlns:p14="http://schemas.microsoft.com/office/powerpoint/2010/main" val="103726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CF1335C-D7E7-0E4B-827B-13E6733318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762"/>
          <a:stretch/>
        </p:blipFill>
        <p:spPr>
          <a:xfrm>
            <a:off x="2212721" y="2130120"/>
            <a:ext cx="7165238" cy="4575468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E8D76B3-149A-E14D-A242-8B6278DA6BE6}"/>
              </a:ext>
            </a:extLst>
          </p:cNvPr>
          <p:cNvSpPr/>
          <p:nvPr/>
        </p:nvSpPr>
        <p:spPr>
          <a:xfrm>
            <a:off x="95954" y="662142"/>
            <a:ext cx="9883325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Una </a:t>
            </a:r>
            <a:r>
              <a:rPr lang="es-ES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galvánica o voltaica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un dispositivo experimental para generar electricidad mediante una reacción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redox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espontánea. (Se le llama así en honor de los científicos Luigi Galvani y Alessandro Volta, quienes fabricaron las primeras celdas de este tipo.)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920FBE-250E-DD4F-B969-C72E020B2CFF}"/>
              </a:ext>
            </a:extLst>
          </p:cNvPr>
          <p:cNvSpPr/>
          <p:nvPr/>
        </p:nvSpPr>
        <p:spPr>
          <a:xfrm>
            <a:off x="1061563" y="40842"/>
            <a:ext cx="3657831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Celdas Galvánicas</a:t>
            </a:r>
          </a:p>
        </p:txBody>
      </p:sp>
    </p:spTree>
    <p:extLst>
      <p:ext uri="{BB962C8B-B14F-4D97-AF65-F5344CB8AC3E}">
        <p14:creationId xmlns:p14="http://schemas.microsoft.com/office/powerpoint/2010/main" val="397074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E8D76B3-149A-E14D-A242-8B6278DA6BE6}"/>
              </a:ext>
            </a:extLst>
          </p:cNvPr>
          <p:cNvSpPr/>
          <p:nvPr/>
        </p:nvSpPr>
        <p:spPr>
          <a:xfrm>
            <a:off x="95955" y="114308"/>
            <a:ext cx="9012864" cy="2362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Esta distribución particular de electrodos (Zn y Cu) y de disoluciones (ZnSO</a:t>
            </a:r>
            <a:r>
              <a:rPr lang="es-ES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y CuSO</a:t>
            </a:r>
            <a:r>
              <a:rPr lang="es-ES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 se conoce como “</a:t>
            </a:r>
            <a:r>
              <a:rPr lang="es-ES" sz="2000" b="1" dirty="0">
                <a:solidFill>
                  <a:srgbClr val="FF93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de Daniell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”. En una celda galvánica, el</a:t>
            </a:r>
            <a:r>
              <a:rPr lang="es-ES" sz="2000" dirty="0">
                <a:solidFill>
                  <a:srgbClr val="0000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sz="20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ánodo</a:t>
            </a:r>
            <a:r>
              <a:rPr lang="es-ES" sz="2000" dirty="0">
                <a:solidFill>
                  <a:srgbClr val="0000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es, por definición, el electrodo en el que se lleva a cabo la </a:t>
            </a:r>
            <a:r>
              <a:rPr lang="es-ES" sz="20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oxidación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y el </a:t>
            </a:r>
            <a:r>
              <a:rPr lang="es-ES" sz="2000" b="1" dirty="0">
                <a:solidFill>
                  <a:srgbClr val="9420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cátodo</a:t>
            </a:r>
            <a:r>
              <a:rPr lang="es-ES" sz="2000" dirty="0">
                <a:solidFill>
                  <a:srgbClr val="0000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 el electrodo donde se efectúa la </a:t>
            </a:r>
            <a:r>
              <a:rPr lang="es-ES" sz="2000" b="1" dirty="0">
                <a:solidFill>
                  <a:srgbClr val="9420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reducción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CF1335C-D7E7-0E4B-827B-13E673331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73" y="2049794"/>
            <a:ext cx="6339131" cy="46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8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5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531F3A0-C01B-D34A-A5AA-E074B0698947}"/>
              </a:ext>
            </a:extLst>
          </p:cNvPr>
          <p:cNvSpPr txBox="1">
            <a:spLocks noChangeArrowheads="1"/>
          </p:cNvSpPr>
          <p:nvPr/>
        </p:nvSpPr>
        <p:spPr>
          <a:xfrm>
            <a:off x="297711" y="351346"/>
            <a:ext cx="9016147" cy="422904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s-ES" sz="2000" dirty="0">
                <a:solidFill>
                  <a:srgbClr val="1769B5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La notación convencional para representar las celdas galvánicas es un diagrama de celda.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	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Ánodo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Puente salino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Cátodo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lang="es-ES_tradnl" sz="2000" dirty="0">
                <a:solidFill>
                  <a:srgbClr val="FF008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Zn</a:t>
            </a:r>
            <a:r>
              <a:rPr kumimoji="0" lang="es-ES_tradnl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(s)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|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Zn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2+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||                 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Cu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2+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|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Cu</a:t>
            </a:r>
            <a:r>
              <a:rPr kumimoji="0" lang="es-ES_tradnl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(s)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Ánodo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se lleva a cabo la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oxidación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marR="0" lvl="1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Zn + 2e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–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ea typeface="Wingdings"/>
                <a:cs typeface="Lucida Sans Unicode" panose="020B0602030504020204" pitchFamily="34" charset="0"/>
                <a:sym typeface="Wingdings"/>
              </a:rPr>
              <a:t>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Zn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2+</a:t>
            </a:r>
          </a:p>
          <a:p>
            <a:pPr marL="457200" marR="0" lvl="1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Cátodo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se lleva a cabo la </a:t>
            </a: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FF008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reducción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:</a:t>
            </a: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srgbClr val="FF0080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marR="0" lvl="1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Cu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2+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+ 2 e 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–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ea typeface="Wingdings"/>
                <a:cs typeface="Lucida Sans Unicode" panose="020B0602030504020204" pitchFamily="34" charset="0"/>
                <a:sym typeface="Wingdings"/>
              </a:rPr>
              <a:t>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Cu</a:t>
            </a: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rgbClr val="1769B5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822F21D-0BD6-EE4B-A4E7-48536C8AEAF8}"/>
              </a:ext>
            </a:extLst>
          </p:cNvPr>
          <p:cNvSpPr/>
          <p:nvPr/>
        </p:nvSpPr>
        <p:spPr>
          <a:xfrm>
            <a:off x="297711" y="4880337"/>
            <a:ext cx="9983973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un</a:t>
            </a:r>
            <a:r>
              <a:rPr lang="es-ES" sz="2000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sz="2000" b="1" dirty="0">
                <a:solidFill>
                  <a:srgbClr val="0432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puente salino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que en su forma más simple se trata de un tubo, en forma de U invertida, lleno con una disolución de un electrólito inerte como KCl o NH</a:t>
            </a:r>
            <a:r>
              <a:rPr lang="es-ES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4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s-ES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cuyos iones no reaccionarán con los iones de la disolución o con los electrodos.</a:t>
            </a:r>
            <a:endParaRPr lang="en-GB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42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03F683-214E-8740-AD41-6782A39CB8AA}"/>
              </a:ext>
            </a:extLst>
          </p:cNvPr>
          <p:cNvSpPr/>
          <p:nvPr/>
        </p:nvSpPr>
        <p:spPr>
          <a:xfrm>
            <a:off x="274955" y="2600273"/>
            <a:ext cx="6288520" cy="374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Este voltaje debe tener una relación directa con las reacciones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redox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pero ¿cómo? Así como la reacción global de la celda puede considerarse como la suma de dos reacciones de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semicelda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es posible tratar la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fem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medida en la celda como la suma de los potenciales eléctricos en los electrodos de Zn y Cu. Conociendo uno de ellos, el otro se obtiene por </a:t>
            </a:r>
            <a:r>
              <a:rPr lang="en-GB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sustracción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(de 1.10 V).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284708-3812-754A-9FA3-48B7F2A85F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8244" y="3107143"/>
            <a:ext cx="4696814" cy="2365812"/>
          </a:xfrm>
          <a:prstGeom prst="rect">
            <a:avLst/>
          </a:prstGeom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48B3A2EC-A54E-8141-8996-943313AF5DF3}"/>
              </a:ext>
            </a:extLst>
          </p:cNvPr>
          <p:cNvSpPr/>
          <p:nvPr/>
        </p:nvSpPr>
        <p:spPr>
          <a:xfrm>
            <a:off x="329813" y="140680"/>
            <a:ext cx="7327525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8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Potenciales Estándar de Reducción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C31F58-F061-9047-8BE0-40AEDA62D766}"/>
              </a:ext>
            </a:extLst>
          </p:cNvPr>
          <p:cNvSpPr/>
          <p:nvPr/>
        </p:nvSpPr>
        <p:spPr>
          <a:xfrm>
            <a:off x="274955" y="1020665"/>
            <a:ext cx="8948682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Cuando las concentraciones de los iones Cu</a:t>
            </a:r>
            <a:r>
              <a:rPr lang="es-ES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y Zn</a:t>
            </a:r>
            <a:r>
              <a:rPr lang="es-ES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son de 1.0 </a:t>
            </a:r>
            <a:r>
              <a:rPr lang="es-ES" sz="2000" i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encontramos que el voltaje o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fem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de la celda de </a:t>
            </a:r>
            <a:r>
              <a:rPr lang="es-ES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Daniell</a:t>
            </a:r>
            <a:r>
              <a:rPr lang="es-ES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de 1.10 V a 25°C.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135342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403B8DA-9137-C74D-A7D7-21BA4DD794C8}"/>
              </a:ext>
            </a:extLst>
          </p:cNvPr>
          <p:cNvSpPr/>
          <p:nvPr/>
        </p:nvSpPr>
        <p:spPr>
          <a:xfrm>
            <a:off x="254375" y="260411"/>
            <a:ext cx="45849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Potenciales de Reducción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6A9CD6-30BC-F14D-BCB5-CDD00DAA8E24}"/>
              </a:ext>
            </a:extLst>
          </p:cNvPr>
          <p:cNvSpPr txBox="1">
            <a:spLocks noChangeArrowheads="1"/>
          </p:cNvSpPr>
          <p:nvPr/>
        </p:nvSpPr>
        <p:spPr>
          <a:xfrm>
            <a:off x="254375" y="1083621"/>
            <a:ext cx="9051671" cy="47381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El potencial estándar de celda (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Δ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) que puede considerarse como  la diferencia  entre los potenciales de reducción de los dos electrodos que la conforman. 	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Consideraremos que cada 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semi-reacción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de reducción viene dada por un potencial de reducción. Como en el cátodo se produce la reducción, en todas las pilas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_tradnl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s-ES_tradnl" b="1" i="0" u="none" strike="noStrike" kern="1200" cap="none" spc="0" normalizeH="0" baseline="-2500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catodo</a:t>
            </a:r>
            <a:r>
              <a:rPr kumimoji="0" lang="es-ES_tradnl" b="1" i="0" u="none" strike="noStrike" kern="120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_tradnl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&gt; </a:t>
            </a:r>
            <a:r>
              <a:rPr kumimoji="0" lang="es-ES_tradnl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s-ES_tradnl" b="1" i="0" u="none" strike="noStrike" kern="1200" cap="none" spc="0" normalizeH="0" baseline="-2500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ánodo</a:t>
            </a:r>
            <a:endParaRPr kumimoji="0" lang="es-ES_tradnl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9B2343E6-7967-D042-BC7C-8B2BFD9F5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117" y="2852539"/>
            <a:ext cx="7178675" cy="60016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s-MX" altLang="es-CL" sz="24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2" charset="2"/>
              </a:rPr>
              <a:t></a:t>
            </a:r>
            <a:r>
              <a:rPr lang="es-MX" altLang="es-CL" sz="24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MX" altLang="es-CL" sz="2400" b="1" baseline="30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4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 =  = </a:t>
            </a:r>
            <a:r>
              <a:rPr lang="es-ES" altLang="es-CL" sz="2400" b="1" dirty="0" err="1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ES" altLang="es-CL" sz="2400" b="1" baseline="30000" dirty="0" err="1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400" b="1" baseline="-25000" dirty="0" err="1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</a:t>
            </a:r>
            <a:r>
              <a:rPr lang="es-ES" altLang="es-CL" sz="24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(cátodo) – </a:t>
            </a:r>
            <a:r>
              <a:rPr lang="es-ES" altLang="es-CL" sz="2400" b="1" dirty="0" err="1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lang="es-ES" altLang="es-CL" sz="2400" b="1" baseline="30000" dirty="0" err="1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" altLang="es-CL" sz="2400" b="1" baseline="30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s-ES" altLang="es-CL" sz="2400" b="1" baseline="-25000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</a:t>
            </a:r>
            <a:r>
              <a:rPr lang="es-ES" altLang="es-CL" sz="2400" b="1" dirty="0">
                <a:solidFill>
                  <a:srgbClr val="011893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(ánodo)</a:t>
            </a:r>
          </a:p>
        </p:txBody>
      </p:sp>
    </p:spTree>
    <p:extLst>
      <p:ext uri="{BB962C8B-B14F-4D97-AF65-F5344CB8AC3E}">
        <p14:creationId xmlns:p14="http://schemas.microsoft.com/office/powerpoint/2010/main" val="1270346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6A9CD6-30BC-F14D-BCB5-CDD00DAA8E24}"/>
              </a:ext>
            </a:extLst>
          </p:cNvPr>
          <p:cNvSpPr txBox="1">
            <a:spLocks noChangeArrowheads="1"/>
          </p:cNvSpPr>
          <p:nvPr/>
        </p:nvSpPr>
        <p:spPr>
          <a:xfrm>
            <a:off x="254375" y="1191334"/>
            <a:ext cx="9121119" cy="47381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Cuando el resultado del potencial de celda resulte positivo (</a:t>
            </a:r>
            <a:r>
              <a:rPr lang="es-ES_tradnl" sz="2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), corresponde a una  </a:t>
            </a:r>
            <a:r>
              <a:rPr lang="es-ES_tradnl" sz="2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galvánica 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 </a:t>
            </a:r>
            <a:r>
              <a:rPr lang="es-ES_tradnl" sz="2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voltaica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la cuál transforma una reacción química espontánea en una corriente eléctrica, como las pilas y baterías. </a:t>
            </a:r>
          </a:p>
          <a:p>
            <a:pPr marL="0" lvl="0" indent="0" algn="just">
              <a:lnSpc>
                <a:spcPct val="150000"/>
              </a:lnSpc>
              <a:buNone/>
              <a:defRPr/>
            </a:pP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Cuando el resultado del potencial de celda resulte (</a:t>
            </a:r>
            <a:r>
              <a:rPr lang="es-ES_tradnl" sz="2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), corresponde a una </a:t>
            </a:r>
            <a:r>
              <a:rPr lang="es-ES_tradnl" sz="2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 electrolítica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la cuál transforma una corriente eléctrica en una reacción química de oxidación-reducción que no tiene lugar de modo espontáneo, necesita energía externa. (electrolisis) </a:t>
            </a:r>
          </a:p>
          <a:p>
            <a:pPr marL="0" lvl="0" indent="0" algn="just">
              <a:lnSpc>
                <a:spcPct val="150000"/>
              </a:lnSpc>
              <a:buNone/>
              <a:defRPr/>
            </a:pP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1039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9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3D87E0-CD3C-CE45-B3C3-D6A8194487D7}"/>
              </a:ext>
            </a:extLst>
          </p:cNvPr>
          <p:cNvSpPr/>
          <p:nvPr/>
        </p:nvSpPr>
        <p:spPr>
          <a:xfrm>
            <a:off x="456757" y="352467"/>
            <a:ext cx="43059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Electrodo de Hidrógeno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87FD6D-CBC4-6C44-A732-D231A89E73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9602" y="1655208"/>
            <a:ext cx="5107167" cy="4419937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911F123-4037-984F-8EFE-A5869E766D91}"/>
              </a:ext>
            </a:extLst>
          </p:cNvPr>
          <p:cNvSpPr txBox="1">
            <a:spLocks noChangeArrowheads="1"/>
          </p:cNvSpPr>
          <p:nvPr/>
        </p:nvSpPr>
        <p:spPr>
          <a:xfrm>
            <a:off x="456757" y="1343733"/>
            <a:ext cx="5792647" cy="504288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Al potencial de reducción del electrodo de hidrógeno se le asigna por convenio un potencial de 0.0 V para [H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] = 1 M.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ES_tradnl" sz="20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2 H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+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+ 2 e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–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ea typeface="Wingdings"/>
                <a:cs typeface="Lucida Sans Unicode" panose="020B0602030504020204" pitchFamily="34" charset="0"/>
                <a:sym typeface="Wingdings"/>
              </a:rPr>
              <a:t>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 H</a:t>
            </a:r>
            <a:r>
              <a:rPr kumimoji="0" lang="es-ES_tradnl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  <a:sym typeface="Symbol" pitchFamily="18" charset="2"/>
              </a:rPr>
              <a:t>2</a:t>
            </a: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Un electrodo de hidrógeno es una lámina de platino sobre el que se burbujea H</a:t>
            </a:r>
            <a:r>
              <a:rPr kumimoji="0" lang="es-ES_tradnl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a una presión de 1 atm a través de una disolución 1 M de H</a:t>
            </a:r>
            <a:r>
              <a:rPr kumimoji="0" lang="es-ES_tradnl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1825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10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5381269-3563-6B47-AA44-184729A42515}"/>
              </a:ext>
            </a:extLst>
          </p:cNvPr>
          <p:cNvGrpSpPr/>
          <p:nvPr/>
        </p:nvGrpSpPr>
        <p:grpSpPr>
          <a:xfrm>
            <a:off x="222629" y="383244"/>
            <a:ext cx="9013968" cy="6063856"/>
            <a:chOff x="1115625" y="-5430"/>
            <a:chExt cx="9979280" cy="6702343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8356DD2-4D65-7542-8D91-77A624503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8" b="22915"/>
            <a:stretch/>
          </p:blipFill>
          <p:spPr>
            <a:xfrm>
              <a:off x="1115625" y="-5430"/>
              <a:ext cx="9979280" cy="343443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BCE7F01-FC84-9E42-8AAE-67C766479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2447" y="4844672"/>
              <a:ext cx="6638260" cy="185224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8BDF39A2-F384-334C-9FC8-3A66B2ADA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5625" y="3495618"/>
              <a:ext cx="3830287" cy="1078494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6E6D9E10-38FF-0445-8390-B5586D845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63308" y="3495618"/>
              <a:ext cx="3731597" cy="1349054"/>
            </a:xfrm>
            <a:prstGeom prst="rect">
              <a:avLst/>
            </a:prstGeom>
          </p:spPr>
        </p:pic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EF893D9-D674-4A4E-A6A9-9AD5E85C139C}"/>
              </a:ext>
            </a:extLst>
          </p:cNvPr>
          <p:cNvSpPr/>
          <p:nvPr/>
        </p:nvSpPr>
        <p:spPr>
          <a:xfrm>
            <a:off x="3336247" y="143650"/>
            <a:ext cx="339367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3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Pila con Hidrógeno</a:t>
            </a:r>
          </a:p>
        </p:txBody>
      </p:sp>
    </p:spTree>
    <p:extLst>
      <p:ext uri="{BB962C8B-B14F-4D97-AF65-F5344CB8AC3E}">
        <p14:creationId xmlns:p14="http://schemas.microsoft.com/office/powerpoint/2010/main" val="5541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11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5F78E3-D2D8-F34B-92AC-E4974DCA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972" y="1191334"/>
            <a:ext cx="3257074" cy="5564590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F5D6C4A9-EE13-0C49-8E87-E8F9CFDF9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5" y="684433"/>
            <a:ext cx="6583635" cy="4824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000" b="0" i="1" u="none" strike="noStrike" kern="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es para la reacción</a:t>
            </a:r>
          </a:p>
          <a:p>
            <a:pPr marL="457200" marR="0" lvl="0" indent="-457200" algn="just" defTabSz="4572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Cuanto más positivo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000" b="0" i="1" u="none" strike="noStrike" kern="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mayor será la tendencia de la sustancia a reducirse </a:t>
            </a:r>
            <a:endParaRPr kumimoji="0" lang="es-MX" sz="20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marR="0" lvl="0" indent="-457200" algn="just" defTabSz="4572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Las reacciones de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semi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-celda son reversibles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57200" marR="0" lvl="0" indent="-457200" algn="just" defTabSz="4572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El signo de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000" b="0" i="1" u="none" strike="noStrike" kern="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cambia cuando la reacción se invierte </a:t>
            </a:r>
          </a:p>
          <a:p>
            <a:pPr marL="457200" marR="0" lvl="0" indent="-457200" algn="just" defTabSz="4572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Si se cambia los coeficientes estequiométricos de una reacción de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semi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-celda </a:t>
            </a: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no cambia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el valor de</a:t>
            </a:r>
            <a:r>
              <a:rPr kumimoji="0" lang="es-E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000" b="0" i="1" u="none" strike="noStrike" kern="0" cap="none" spc="0" normalizeH="0" baseline="3000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6977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12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17E670-8E55-4046-B7EA-A8CB9AEF9BA5}"/>
              </a:ext>
            </a:extLst>
          </p:cNvPr>
          <p:cNvSpPr/>
          <p:nvPr/>
        </p:nvSpPr>
        <p:spPr>
          <a:xfrm>
            <a:off x="431257" y="107731"/>
            <a:ext cx="7745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Termodinámica de las reacciones </a:t>
            </a:r>
            <a:r>
              <a:rPr lang="es-ES" sz="2800" b="1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redox</a:t>
            </a:r>
            <a:endParaRPr lang="en-GB" sz="2800" b="1" dirty="0">
              <a:solidFill>
                <a:srgbClr val="FF2F92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5E7C2CA-01CE-D84E-8662-D2ED5C4CE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9" y="3269932"/>
            <a:ext cx="6968197" cy="18479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2C3B084-4C5A-0E46-8FBB-5A113261B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532" y="5537771"/>
            <a:ext cx="2563789" cy="96814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8D6799F-ED78-DF4F-8508-F7DC7605E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926" y="3962481"/>
            <a:ext cx="2805354" cy="237065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D44A4A-4C0E-9747-8B71-5B360EF02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57" y="5566127"/>
            <a:ext cx="2740206" cy="9114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AE2A20A-6F80-1A44-8B01-69D910860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523" y="675632"/>
            <a:ext cx="4108663" cy="86139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1516717-3D1B-9B47-8AF9-C0215290E432}"/>
              </a:ext>
            </a:extLst>
          </p:cNvPr>
          <p:cNvSpPr txBox="1"/>
          <p:nvPr/>
        </p:nvSpPr>
        <p:spPr>
          <a:xfrm>
            <a:off x="95725" y="1803316"/>
            <a:ext cx="7453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n-GB" sz="24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es </a:t>
            </a:r>
            <a:r>
              <a:rPr lang="en-GB" sz="2400" dirty="0" err="1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positivo</a:t>
            </a:r>
            <a:r>
              <a:rPr lang="en-GB" sz="2400" dirty="0">
                <a:solidFill>
                  <a:srgbClr val="0000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la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reacción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</a:t>
            </a:r>
            <a:r>
              <a:rPr lang="es-CL" sz="24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espontanea</a:t>
            </a:r>
          </a:p>
          <a:p>
            <a:endParaRPr lang="en-GB" sz="2400" dirty="0">
              <a:solidFill>
                <a:srgbClr val="0000FF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n-GB" sz="2400" baseline="-25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celda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es </a:t>
            </a:r>
            <a:r>
              <a:rPr lang="en-GB" sz="2400" dirty="0" err="1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negativo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la </a:t>
            </a:r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reacción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es </a:t>
            </a:r>
            <a:r>
              <a:rPr lang="en-GB" sz="24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 </a:t>
            </a:r>
            <a:r>
              <a:rPr lang="es-CL" sz="24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espontanea</a:t>
            </a:r>
            <a:r>
              <a:rPr lang="en-GB" sz="2400" dirty="0">
                <a:solidFill>
                  <a:srgbClr val="008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8290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13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1A816B0-9E2F-9B4F-82E8-1785AED51BCF}"/>
              </a:ext>
            </a:extLst>
          </p:cNvPr>
          <p:cNvSpPr/>
          <p:nvPr/>
        </p:nvSpPr>
        <p:spPr>
          <a:xfrm>
            <a:off x="530049" y="276089"/>
            <a:ext cx="2050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Electrólisis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DFE0CA8-C4FB-F947-B6A9-0E27FC96D541}"/>
              </a:ext>
            </a:extLst>
          </p:cNvPr>
          <p:cNvSpPr txBox="1">
            <a:spLocks noChangeArrowheads="1"/>
          </p:cNvSpPr>
          <p:nvPr/>
        </p:nvSpPr>
        <p:spPr>
          <a:xfrm>
            <a:off x="321659" y="1238089"/>
            <a:ext cx="9100459" cy="86306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Cuando la reacción 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redox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1769B5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 no es espontánea en un sentido, podrá suceder si desde el exterior se suministran los electrones.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1D8A23B-1240-7D4D-971C-4781E91F7F2F}"/>
              </a:ext>
            </a:extLst>
          </p:cNvPr>
          <p:cNvSpPr/>
          <p:nvPr/>
        </p:nvSpPr>
        <p:spPr>
          <a:xfrm>
            <a:off x="321659" y="2386691"/>
            <a:ext cx="11069310" cy="4301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</a:pP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Se utiliza industrialmente para obtener metales a partir de sales de dichos metales utilizando la electricidad como fuente de energía.</a:t>
            </a:r>
          </a:p>
          <a:p>
            <a:pPr algn="just" defTabSz="457200">
              <a:lnSpc>
                <a:spcPct val="150000"/>
              </a:lnSpc>
            </a:pPr>
            <a:endParaRPr lang="es-ES_tradnl" sz="2000" dirty="0">
              <a:solidFill>
                <a:srgbClr val="1769B5"/>
              </a:solidFill>
              <a:latin typeface="Lucida Sans Unicode" panose="020B0602030504020204" pitchFamily="34" charset="0"/>
              <a:ea typeface="Tahoma" pitchFamily="34" charset="0"/>
              <a:cs typeface="Lucida Sans Unicode" panose="020B0602030504020204" pitchFamily="34" charset="0"/>
            </a:endParaRPr>
          </a:p>
          <a:p>
            <a:pPr algn="just" defTabSz="457200">
              <a:lnSpc>
                <a:spcPct val="150000"/>
              </a:lnSpc>
            </a:pP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Se llama </a:t>
            </a:r>
            <a:r>
              <a:rPr lang="es-ES_tradnl" sz="2000" b="1" dirty="0">
                <a:solidFill>
                  <a:srgbClr val="FF008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galvanoplastia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 al proceso de recubrir un objeto metálico con una capa fina de otro metal:</a:t>
            </a:r>
          </a:p>
          <a:p>
            <a:pPr algn="just" defTabSz="457200">
              <a:lnSpc>
                <a:spcPct val="150000"/>
              </a:lnSpc>
            </a:pPr>
            <a:endParaRPr lang="es-ES_tradnl" sz="2000" dirty="0">
              <a:solidFill>
                <a:srgbClr val="1769B5"/>
              </a:solidFill>
              <a:latin typeface="Lucida Sans Unicode" panose="020B0602030504020204" pitchFamily="34" charset="0"/>
              <a:ea typeface="Tahoma" pitchFamily="34" charset="0"/>
              <a:cs typeface="Lucida Sans Unicode" panose="020B0602030504020204" pitchFamily="34" charset="0"/>
            </a:endParaRPr>
          </a:p>
          <a:p>
            <a:pPr defTabSz="457200">
              <a:lnSpc>
                <a:spcPct val="150000"/>
              </a:lnSpc>
            </a:pP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					</a:t>
            </a:r>
            <a:r>
              <a:rPr lang="es-ES_tradnl" sz="24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            Zn</a:t>
            </a:r>
            <a:r>
              <a:rPr lang="es-ES_tradnl" sz="2400" baseline="30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2+</a:t>
            </a:r>
            <a:r>
              <a:rPr lang="es-ES_tradnl" sz="24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 + 2 e</a:t>
            </a:r>
            <a:r>
              <a:rPr lang="es-ES_tradnl" sz="2400" baseline="30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</a:rPr>
              <a:t>– </a:t>
            </a:r>
            <a:r>
              <a:rPr lang="es-ES_tradnl" sz="2400" dirty="0">
                <a:solidFill>
                  <a:srgbClr val="1769B5"/>
                </a:solidFill>
                <a:latin typeface="Lucida Sans Unicode" panose="020B0602030504020204" pitchFamily="34" charset="0"/>
                <a:ea typeface="Wingdings"/>
                <a:cs typeface="Lucida Sans Unicode" panose="020B0602030504020204" pitchFamily="34" charset="0"/>
                <a:sym typeface="Wingdings"/>
              </a:rPr>
              <a:t></a:t>
            </a:r>
            <a:r>
              <a:rPr lang="es-ES_tradnl" sz="24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  <a:t> Zn          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  <a:t>(</a:t>
            </a:r>
            <a:r>
              <a:rPr lang="es-ES_tradnl" sz="2000" dirty="0" err="1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  <a:t>Zincado</a:t>
            </a:r>
            <a: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  <a:t>)</a:t>
            </a:r>
            <a:br>
              <a:rPr lang="es-ES_tradnl" sz="2000" dirty="0">
                <a:solidFill>
                  <a:srgbClr val="1769B5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</a:br>
            <a:endParaRPr lang="es-ES_tradnl" sz="2000" dirty="0">
              <a:solidFill>
                <a:srgbClr val="1769B5"/>
              </a:solidFill>
              <a:latin typeface="Lucida Sans Unicode" panose="020B0602030504020204" pitchFamily="34" charset="0"/>
              <a:ea typeface="Tahoma" pitchFamily="34" charset="0"/>
              <a:cs typeface="Lucida Sans Unicode" panose="020B0602030504020204" pitchFamily="34" charset="0"/>
              <a:sym typeface="Symbol" pitchFamily="18" charset="2"/>
            </a:endParaRPr>
          </a:p>
          <a:p>
            <a:pPr algn="ctr" defTabSz="457200">
              <a:lnSpc>
                <a:spcPct val="150000"/>
              </a:lnSpc>
            </a:pPr>
            <a:r>
              <a:rPr lang="es-ES_tradnl" sz="2000" dirty="0">
                <a:solidFill>
                  <a:srgbClr val="008000"/>
                </a:solidFill>
                <a:latin typeface="Lucida Sans Unicode" panose="020B0602030504020204" pitchFamily="34" charset="0"/>
                <a:ea typeface="Tahoma" pitchFamily="34" charset="0"/>
                <a:cs typeface="Lucida Sans Unicode" panose="020B0602030504020204" pitchFamily="34" charset="0"/>
                <a:sym typeface="Symbol" pitchFamily="18" charset="2"/>
              </a:rPr>
              <a:t>(Los electrones los suministra la corriente eléctrica)</a:t>
            </a:r>
          </a:p>
        </p:txBody>
      </p:sp>
    </p:spTree>
    <p:extLst>
      <p:ext uri="{BB962C8B-B14F-4D97-AF65-F5344CB8AC3E}">
        <p14:creationId xmlns:p14="http://schemas.microsoft.com/office/powerpoint/2010/main" val="2408158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11390969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es-CL" smtClean="0"/>
              <a:pPr/>
              <a:t>14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E63DFA06-77F9-014E-83C5-AABF0525A3A9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DB8C25-634F-554E-8795-BE0C4C122963}"/>
              </a:ext>
            </a:extLst>
          </p:cNvPr>
          <p:cNvSpPr/>
          <p:nvPr/>
        </p:nvSpPr>
        <p:spPr>
          <a:xfrm>
            <a:off x="95955" y="278694"/>
            <a:ext cx="5307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s-ES_tradnl" sz="2800" b="1" i="0" u="none" strike="noStrike" kern="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rPr>
              <a:t>Aplicaciones de la Electrólisis</a:t>
            </a: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13AFEECC-0847-074B-B3D3-23235F779483}"/>
              </a:ext>
            </a:extLst>
          </p:cNvPr>
          <p:cNvGrpSpPr>
            <a:grpSpLocks/>
          </p:cNvGrpSpPr>
          <p:nvPr/>
        </p:nvGrpSpPr>
        <p:grpSpPr bwMode="auto">
          <a:xfrm>
            <a:off x="225901" y="1225698"/>
            <a:ext cx="4440238" cy="5130801"/>
            <a:chOff x="0" y="752"/>
            <a:chExt cx="2797" cy="3232"/>
          </a:xfrm>
        </p:grpSpPr>
        <p:pic>
          <p:nvPicPr>
            <p:cNvPr id="9" name="Picture 16" descr="Galvanoplastia (150-1)">
              <a:extLst>
                <a:ext uri="{FF2B5EF4-FFF2-40B4-BE49-F238E27FC236}">
                  <a16:creationId xmlns:a16="http://schemas.microsoft.com/office/drawing/2014/main" id="{7DE3E9C4-D433-3640-8C29-1AB1DA06A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l="4701" b="57703"/>
            <a:stretch>
              <a:fillRect/>
            </a:stretch>
          </p:blipFill>
          <p:spPr bwMode="auto">
            <a:xfrm>
              <a:off x="0" y="1008"/>
              <a:ext cx="2797" cy="2976"/>
            </a:xfrm>
            <a:prstGeom prst="rect">
              <a:avLst/>
            </a:prstGeom>
            <a:noFill/>
          </p:spPr>
        </p:pic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2A49E059-AA91-B647-A2FA-F46D4B017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" y="752"/>
              <a:ext cx="2015" cy="252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Electro-refinado del Cu</a:t>
              </a:r>
              <a:endPara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  <p:grpSp>
        <p:nvGrpSpPr>
          <p:cNvPr id="12" name="Group 25">
            <a:extLst>
              <a:ext uri="{FF2B5EF4-FFF2-40B4-BE49-F238E27FC236}">
                <a16:creationId xmlns:a16="http://schemas.microsoft.com/office/drawing/2014/main" id="{530889B9-F262-2246-B0D1-DE1C0EFFF9E5}"/>
              </a:ext>
            </a:extLst>
          </p:cNvPr>
          <p:cNvGrpSpPr>
            <a:grpSpLocks/>
          </p:cNvGrpSpPr>
          <p:nvPr/>
        </p:nvGrpSpPr>
        <p:grpSpPr bwMode="auto">
          <a:xfrm>
            <a:off x="5100602" y="1227286"/>
            <a:ext cx="4419600" cy="5129211"/>
            <a:chOff x="2976" y="739"/>
            <a:chExt cx="2784" cy="3231"/>
          </a:xfrm>
        </p:grpSpPr>
        <p:pic>
          <p:nvPicPr>
            <p:cNvPr id="13" name="Picture 4" descr="Galvanoplastia (150-1)">
              <a:extLst>
                <a:ext uri="{FF2B5EF4-FFF2-40B4-BE49-F238E27FC236}">
                  <a16:creationId xmlns:a16="http://schemas.microsoft.com/office/drawing/2014/main" id="{EE717281-BDDA-6747-A409-5B663AA6FE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 t="47437" r="5016" b="10257"/>
            <a:stretch>
              <a:fillRect/>
            </a:stretch>
          </p:blipFill>
          <p:spPr bwMode="auto">
            <a:xfrm>
              <a:off x="2976" y="994"/>
              <a:ext cx="2784" cy="2976"/>
            </a:xfrm>
            <a:prstGeom prst="rect">
              <a:avLst/>
            </a:prstGeom>
            <a:noFill/>
          </p:spPr>
        </p:pic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A3705695-FB0A-E348-808D-FA86E829F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739"/>
              <a:ext cx="2322" cy="252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</a:t>
              </a:r>
              <a:r>
                <a:rPr kumimoji="0" lang="es-ES_tradnl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Electro-deposición de Ag</a:t>
              </a:r>
              <a:endPara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61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8EA9966-D905-A74C-9FB9-4F005C910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15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5B10B2-2873-5F4D-B732-D2A589EE09C6}"/>
              </a:ext>
            </a:extLst>
          </p:cNvPr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Ejercicios</a:t>
            </a:r>
          </a:p>
        </p:txBody>
      </p:sp>
      <p:grpSp>
        <p:nvGrpSpPr>
          <p:cNvPr id="4" name="Shape 257">
            <a:extLst>
              <a:ext uri="{FF2B5EF4-FFF2-40B4-BE49-F238E27FC236}">
                <a16:creationId xmlns:a16="http://schemas.microsoft.com/office/drawing/2014/main" id="{04B9F9FE-CAD3-B543-8CDF-E1698D657268}"/>
              </a:ext>
            </a:extLst>
          </p:cNvPr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" name="Shape 258">
              <a:extLst>
                <a:ext uri="{FF2B5EF4-FFF2-40B4-BE49-F238E27FC236}">
                  <a16:creationId xmlns:a16="http://schemas.microsoft.com/office/drawing/2014/main" id="{3E8DF75F-16CC-044D-B3EB-21E22FDE5D71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Shape 259">
              <a:extLst>
                <a:ext uri="{FF2B5EF4-FFF2-40B4-BE49-F238E27FC236}">
                  <a16:creationId xmlns:a16="http://schemas.microsoft.com/office/drawing/2014/main" id="{00E51DBF-8113-B84A-A35D-3F18272B4179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Shape 260">
              <a:extLst>
                <a:ext uri="{FF2B5EF4-FFF2-40B4-BE49-F238E27FC236}">
                  <a16:creationId xmlns:a16="http://schemas.microsoft.com/office/drawing/2014/main" id="{05CBC384-9B02-6C47-A556-79B0CE94ACE9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Shape 261">
              <a:extLst>
                <a:ext uri="{FF2B5EF4-FFF2-40B4-BE49-F238E27FC236}">
                  <a16:creationId xmlns:a16="http://schemas.microsoft.com/office/drawing/2014/main" id="{7CB79486-E909-DD4B-8865-6C314698F68D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Shape 262">
              <a:extLst>
                <a:ext uri="{FF2B5EF4-FFF2-40B4-BE49-F238E27FC236}">
                  <a16:creationId xmlns:a16="http://schemas.microsoft.com/office/drawing/2014/main" id="{BAF265E0-CBE6-4040-907F-05F1F377C216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Shape 263">
              <a:extLst>
                <a:ext uri="{FF2B5EF4-FFF2-40B4-BE49-F238E27FC236}">
                  <a16:creationId xmlns:a16="http://schemas.microsoft.com/office/drawing/2014/main" id="{86187FDB-D2A0-B342-A64D-09F3799BCEDF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Shape 264">
              <a:extLst>
                <a:ext uri="{FF2B5EF4-FFF2-40B4-BE49-F238E27FC236}">
                  <a16:creationId xmlns:a16="http://schemas.microsoft.com/office/drawing/2014/main" id="{82924474-FA90-8C42-A57C-5842FE291D36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Shape 265">
              <a:extLst>
                <a:ext uri="{FF2B5EF4-FFF2-40B4-BE49-F238E27FC236}">
                  <a16:creationId xmlns:a16="http://schemas.microsoft.com/office/drawing/2014/main" id="{D426B43C-121B-804D-A231-BA36FA3616A2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Shape 266">
              <a:extLst>
                <a:ext uri="{FF2B5EF4-FFF2-40B4-BE49-F238E27FC236}">
                  <a16:creationId xmlns:a16="http://schemas.microsoft.com/office/drawing/2014/main" id="{00D2FF67-53FB-234F-B3A8-8CFDF5C33ECF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Shape 267">
              <a:extLst>
                <a:ext uri="{FF2B5EF4-FFF2-40B4-BE49-F238E27FC236}">
                  <a16:creationId xmlns:a16="http://schemas.microsoft.com/office/drawing/2014/main" id="{3F48E860-50C8-9B4E-B0BD-C55D0C2FE270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Shape 268">
              <a:extLst>
                <a:ext uri="{FF2B5EF4-FFF2-40B4-BE49-F238E27FC236}">
                  <a16:creationId xmlns:a16="http://schemas.microsoft.com/office/drawing/2014/main" id="{AC1A6B39-DB16-724E-A189-8011253BEA2F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57E3B13-711A-1241-B35C-423534C8E679}"/>
              </a:ext>
            </a:extLst>
          </p:cNvPr>
          <p:cNvSpPr txBox="1"/>
          <p:nvPr/>
        </p:nvSpPr>
        <p:spPr>
          <a:xfrm>
            <a:off x="308345" y="224147"/>
            <a:ext cx="70332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6000" b="1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Unidad III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BA866AE-CE4E-FE40-810A-C5D683E1AE21}"/>
              </a:ext>
            </a:extLst>
          </p:cNvPr>
          <p:cNvSpPr txBox="1"/>
          <p:nvPr/>
        </p:nvSpPr>
        <p:spPr>
          <a:xfrm>
            <a:off x="5211894" y="5579872"/>
            <a:ext cx="6910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>
                <a:solidFill>
                  <a:srgbClr val="FFFFFF"/>
                </a:solidFill>
                <a:latin typeface="Karla"/>
                <a:ea typeface="Karla"/>
                <a:sym typeface="Karla"/>
              </a:rPr>
              <a:t>3. Electroquímica</a:t>
            </a:r>
          </a:p>
        </p:txBody>
      </p:sp>
    </p:spTree>
    <p:extLst>
      <p:ext uri="{BB962C8B-B14F-4D97-AF65-F5344CB8AC3E}">
        <p14:creationId xmlns:p14="http://schemas.microsoft.com/office/powerpoint/2010/main" val="375898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16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5" name="Text Box 2">
            <a:extLst>
              <a:ext uri="{FF2B5EF4-FFF2-40B4-BE49-F238E27FC236}">
                <a16:creationId xmlns:a16="http://schemas.microsoft.com/office/drawing/2014/main" id="{5876A483-D983-A143-B0FE-4601F1A1B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9" y="411932"/>
            <a:ext cx="8791223" cy="97719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9525" indent="-9525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Usando los valores de potenciales de reducción. Cual es el agente oxidante más  fuerte: NO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–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Ag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Cr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2–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C2190ACA-9F24-FF45-8D90-755C10E75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" y="1859972"/>
            <a:ext cx="885825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850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17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5" name="Text Box 2">
            <a:extLst>
              <a:ext uri="{FF2B5EF4-FFF2-40B4-BE49-F238E27FC236}">
                <a16:creationId xmlns:a16="http://schemas.microsoft.com/office/drawing/2014/main" id="{5876A483-D983-A143-B0FE-4601F1A1B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9" y="411932"/>
            <a:ext cx="8791223" cy="97719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9525" indent="-9525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rabicPeriod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Usando los valores de potenciales de reducción. Cual es el agente oxidante más  fuerte: NO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3–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Ag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Cr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ES_tradnl" sz="2000" baseline="-25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2–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.</a:t>
            </a: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EDFDA0BE-5B71-FD4D-9744-8BCC59489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84" y="5291332"/>
            <a:ext cx="9478877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s-C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R. El agente oxidante más fuerte es el potencial más positivo. En éste caso Cr</a:t>
            </a:r>
            <a:r>
              <a:rPr lang="es-C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</a:t>
            </a:r>
            <a:r>
              <a:rPr lang="es-C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s-CL" altLang="es-CL" baseline="-25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7</a:t>
            </a:r>
            <a:r>
              <a:rPr lang="es-CL" altLang="es-CL" baseline="30000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2- </a:t>
            </a:r>
          </a:p>
          <a:p>
            <a:pPr eaLnBrk="1" hangingPunct="1">
              <a:lnSpc>
                <a:spcPct val="150000"/>
              </a:lnSpc>
            </a:pPr>
            <a:r>
              <a:rPr lang="es-C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 agente reductor más fuerte es el más negativo y se toma la especie al otro lado </a:t>
            </a:r>
          </a:p>
          <a:p>
            <a:pPr eaLnBrk="1" hangingPunct="1">
              <a:lnSpc>
                <a:spcPct val="150000"/>
              </a:lnSpc>
            </a:pPr>
            <a:r>
              <a:rPr lang="es-CL" altLang="es-CL" dirty="0">
                <a:solidFill>
                  <a:srgbClr val="FF2F92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 la ecuación. En éste caso sería  Ag (s).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C2190ACA-9F24-FF45-8D90-755C10E75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" y="1859972"/>
            <a:ext cx="885825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920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893">
            <a:alpha val="5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18</a:t>
            </a:fld>
            <a:endParaRPr lang="es-CL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9280" y="132951"/>
            <a:ext cx="2116765" cy="1058383"/>
          </a:xfrm>
          <a:prstGeom prst="rect">
            <a:avLst/>
          </a:prstGeom>
        </p:spPr>
      </p:pic>
      <p:sp>
        <p:nvSpPr>
          <p:cNvPr id="16" name="14 Rectángulo">
            <a:extLst>
              <a:ext uri="{FF2B5EF4-FFF2-40B4-BE49-F238E27FC236}">
                <a16:creationId xmlns:a16="http://schemas.microsoft.com/office/drawing/2014/main" id="{7E4DCD1A-EE5C-7A49-BA5E-F1C8E00FE28A}"/>
              </a:ext>
            </a:extLst>
          </p:cNvPr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219170">
              <a:defRPr/>
            </a:pPr>
            <a:endParaRPr lang="es-CL" sz="2400" dirty="0">
              <a:solidFill>
                <a:srgbClr val="0000FF"/>
              </a:solidFill>
              <a:latin typeface="Impact" pitchFamily="34" charset="0"/>
            </a:endParaRPr>
          </a:p>
        </p:txBody>
      </p:sp>
      <p:sp>
        <p:nvSpPr>
          <p:cNvPr id="5" name="14 Rectángulo">
            <a:extLst>
              <a:ext uri="{FF2B5EF4-FFF2-40B4-BE49-F238E27FC236}">
                <a16:creationId xmlns:a16="http://schemas.microsoft.com/office/drawing/2014/main" id="{AAC0001C-3652-9C45-9CA2-3C8CA8352621}"/>
              </a:ext>
            </a:extLst>
          </p:cNvPr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Impact" pitchFamily="34" charset="0"/>
              <a:ea typeface="+mn-ea"/>
              <a:cs typeface="+mn-cs"/>
            </a:endParaRPr>
          </a:p>
        </p:txBody>
      </p:sp>
      <p:sp>
        <p:nvSpPr>
          <p:cNvPr id="65" name="Text Box 2">
            <a:extLst>
              <a:ext uri="{FF2B5EF4-FFF2-40B4-BE49-F238E27FC236}">
                <a16:creationId xmlns:a16="http://schemas.microsoft.com/office/drawing/2014/main" id="{5876A483-D983-A143-B0FE-4601F1A1B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9" y="411932"/>
            <a:ext cx="8791223" cy="627094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2. A partir de los siguientes potenciales de reducción: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Fe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/Fe= - 0,440 V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Al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/Al = -1,676 V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Pb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/Pb = -0,125 V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 err="1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E°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Sn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/Sn= -0,137 V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endParaRPr lang="es-ES_tradnl" sz="2000" dirty="0">
              <a:solidFill>
                <a:schemeClr val="accent5">
                  <a:lumMod val="75000"/>
                </a:schemeClr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¿El proceso espontáneo será?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lphaLcParenR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Fe(s)/ Fe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//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Al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/Al(s)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lphaLcParenR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Pb(s) Pb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// 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Fe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/Fe(s)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lphaLcParenR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Sn(s)/Sn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//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Al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3+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/Al(s)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lphaLcParenR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Pb(s)/Pb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 </a:t>
            </a:r>
            <a:r>
              <a:rPr lang="es-ES_tradn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//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Sn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/Sn(s)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+mj-lt"/>
              <a:buAutoNum type="alphaLcParenR"/>
              <a:defRPr/>
            </a:pP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Sn(s)/Sn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</a:t>
            </a:r>
            <a:r>
              <a:rPr lang="es-ES_tradnl" sz="2000" b="1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//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Pb </a:t>
            </a:r>
            <a:r>
              <a:rPr lang="es-ES_tradnl" sz="2000" baseline="30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2+</a:t>
            </a:r>
            <a:r>
              <a:rPr lang="es-ES_tradnl" sz="2000" dirty="0">
                <a:solidFill>
                  <a:schemeClr val="accent5">
                    <a:lumMod val="75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/Pb(s)</a:t>
            </a:r>
          </a:p>
        </p:txBody>
      </p:sp>
    </p:spTree>
    <p:extLst>
      <p:ext uri="{BB962C8B-B14F-4D97-AF65-F5344CB8AC3E}">
        <p14:creationId xmlns:p14="http://schemas.microsoft.com/office/powerpoint/2010/main" val="3006622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s-CL" smtClean="0"/>
              <a:pPr/>
              <a:t>19</a:t>
            </a:fld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6684" y="1426351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2774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12178</TotalTime>
  <Words>1098</Words>
  <Application>Microsoft Office PowerPoint</Application>
  <PresentationFormat>Panorámica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Impact</vt:lpstr>
      <vt:lpstr>Karla</vt:lpstr>
      <vt:lpstr>Lucida Sans Unicode</vt:lpstr>
      <vt:lpstr>Monotype Sorts</vt:lpstr>
      <vt:lpstr>Wingdings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Patricio Hermosilla Ibáñez</dc:creator>
  <cp:lastModifiedBy>Patricio Hermosilla Ibáñez</cp:lastModifiedBy>
  <cp:revision>202</cp:revision>
  <cp:lastPrinted>2019-12-16T13:20:32Z</cp:lastPrinted>
  <dcterms:created xsi:type="dcterms:W3CDTF">2017-08-15T01:11:26Z</dcterms:created>
  <dcterms:modified xsi:type="dcterms:W3CDTF">2020-09-01T16:02:01Z</dcterms:modified>
</cp:coreProperties>
</file>