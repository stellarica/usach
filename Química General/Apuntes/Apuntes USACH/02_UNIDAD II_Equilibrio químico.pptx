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302" r:id="rId2"/>
    <p:sldId id="322" r:id="rId3"/>
    <p:sldId id="374" r:id="rId4"/>
    <p:sldId id="389" r:id="rId5"/>
    <p:sldId id="373" r:id="rId6"/>
    <p:sldId id="382" r:id="rId7"/>
    <p:sldId id="383" r:id="rId8"/>
    <p:sldId id="400" r:id="rId9"/>
    <p:sldId id="401" r:id="rId10"/>
    <p:sldId id="403" r:id="rId11"/>
    <p:sldId id="404" r:id="rId12"/>
    <p:sldId id="384" r:id="rId13"/>
    <p:sldId id="377" r:id="rId14"/>
    <p:sldId id="390" r:id="rId15"/>
    <p:sldId id="385" r:id="rId16"/>
    <p:sldId id="405" r:id="rId17"/>
    <p:sldId id="406" r:id="rId18"/>
    <p:sldId id="378" r:id="rId19"/>
    <p:sldId id="379" r:id="rId20"/>
    <p:sldId id="391" r:id="rId21"/>
    <p:sldId id="380" r:id="rId22"/>
    <p:sldId id="424" r:id="rId23"/>
    <p:sldId id="381" r:id="rId24"/>
    <p:sldId id="388" r:id="rId25"/>
    <p:sldId id="306" r:id="rId26"/>
    <p:sldId id="392" r:id="rId27"/>
    <p:sldId id="393" r:id="rId28"/>
    <p:sldId id="394" r:id="rId29"/>
    <p:sldId id="395" r:id="rId30"/>
    <p:sldId id="396" r:id="rId31"/>
    <p:sldId id="303" r:id="rId32"/>
    <p:sldId id="387" r:id="rId33"/>
    <p:sldId id="413" r:id="rId34"/>
    <p:sldId id="414" r:id="rId35"/>
    <p:sldId id="415" r:id="rId36"/>
    <p:sldId id="416" r:id="rId37"/>
    <p:sldId id="419" r:id="rId38"/>
    <p:sldId id="418" r:id="rId39"/>
    <p:sldId id="420" r:id="rId40"/>
    <p:sldId id="421" r:id="rId41"/>
    <p:sldId id="422" r:id="rId42"/>
    <p:sldId id="331" r:id="rId4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2F92"/>
    <a:srgbClr val="011893"/>
    <a:srgbClr val="FF9300"/>
    <a:srgbClr val="797979"/>
    <a:srgbClr val="0000FF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6" autoAdjust="0"/>
    <p:restoredTop sz="94660"/>
  </p:normalViewPr>
  <p:slideViewPr>
    <p:cSldViewPr snapToGrid="0">
      <p:cViewPr varScale="1">
        <p:scale>
          <a:sx n="67" d="100"/>
          <a:sy n="67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B450-3C2F-444B-9D8A-00853E938C60}" type="datetimeFigureOut">
              <a:rPr lang="es-ES_tradnl" smtClean="0"/>
              <a:t>06/08/2020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8BF0D-A6A6-FD4D-A9E6-5DEC166F13E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73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1189-4162-4095-A72D-97D1D0A4C38F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93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C988-3886-4209-952F-6F2351060C4F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38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FF90-380B-4198-AAB4-EFE3F7E59A8E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9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B498-9DDE-410B-8204-6F21FFA6E274}" type="datetime1">
              <a:rPr lang="es-CL" smtClean="0"/>
              <a:t>06-08-2020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54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F5E6-CD69-49CD-B7D6-2AEC969E30DA}" type="datetime1">
              <a:rPr lang="es-CL" smtClean="0"/>
              <a:t>06-08-2020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C499-432E-4F9C-A348-9F1EBD53816F}" type="datetime1">
              <a:rPr lang="es-CL" smtClean="0"/>
              <a:t>06-08-2020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18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2564-0253-46B2-8B97-04702F236E08}" type="datetime1">
              <a:rPr lang="es-CL" smtClean="0"/>
              <a:t>06-08-2020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94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5F27-AD8C-4F52-BAB6-7A4ECCF43A56}" type="datetime1">
              <a:rPr lang="es-CL" smtClean="0"/>
              <a:t>06-08-2020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93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418ED-4B89-441E-BDE8-0FDAD45DABC3}" type="datetime1">
              <a:rPr lang="es-CL" smtClean="0"/>
              <a:t>06-08-2020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3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73A9-F609-4366-8CB2-D4C393F6FD2B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4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A19F-DB7A-441A-B859-6E2BBEF27AD9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36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803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0480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▸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6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C72F-1C79-4B24-AFC2-4A1995B30CAF}" type="datetime1">
              <a:rPr lang="es-CL" smtClean="0"/>
              <a:t>06-08-2020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1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</a:t>
            </a:fld>
            <a:endParaRPr lang="es-CL"/>
          </a:p>
        </p:txBody>
      </p:sp>
      <p:pic>
        <p:nvPicPr>
          <p:cNvPr id="5" name="Picture 5" descr="CHA56025">
            <a:extLst>
              <a:ext uri="{FF2B5EF4-FFF2-40B4-BE49-F238E27FC236}">
                <a16:creationId xmlns:a16="http://schemas.microsoft.com/office/drawing/2014/main" id="{DB7D61AE-FB3A-1941-A4A2-0013530DA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2571"/>
          <a:stretch/>
        </p:blipFill>
        <p:spPr bwMode="auto">
          <a:xfrm>
            <a:off x="910343" y="1477138"/>
            <a:ext cx="3790246" cy="511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C38FABE-1057-4445-BC8F-D39A37F3384C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3C6D59-2623-1948-B48D-84D593DDBE3F}"/>
              </a:ext>
            </a:extLst>
          </p:cNvPr>
          <p:cNvSpPr txBox="1"/>
          <p:nvPr/>
        </p:nvSpPr>
        <p:spPr>
          <a:xfrm>
            <a:off x="5211894" y="5579872"/>
            <a:ext cx="691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2. Equilibrio Químico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A708D8A-C013-BE41-9639-D3A15B2B9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1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E1AC4AAC-FABF-FD46-A7DB-B27D96608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56" y="1036265"/>
            <a:ext cx="9180935" cy="218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charset="2"/>
              <a:buChar char="ü"/>
            </a:pPr>
            <a:r>
              <a:rPr lang="es-ES" sz="22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Condición en la que las concentraciones de todos los reactivos y productos, en un </a:t>
            </a:r>
            <a:r>
              <a:rPr lang="es-ES" sz="2200" b="1" dirty="0">
                <a:solidFill>
                  <a:srgbClr val="011893"/>
                </a:solidFill>
                <a:latin typeface="Lucida Sans Unicode"/>
              </a:rPr>
              <a:t>sistema cerrado</a:t>
            </a:r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, dejan de cambiar con el tiempo.</a:t>
            </a:r>
          </a:p>
          <a:p>
            <a:pPr algn="just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charset="2"/>
              <a:buChar char="ü"/>
            </a:pPr>
            <a:r>
              <a:rPr lang="es-ES" sz="22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Se establece un equilibrio químico cuando reacciones opuestas avanzan a </a:t>
            </a:r>
            <a:r>
              <a:rPr lang="es-ES" sz="2200" b="1" dirty="0">
                <a:solidFill>
                  <a:srgbClr val="011893"/>
                </a:solidFill>
                <a:latin typeface="Lucida Sans Unicode"/>
              </a:rPr>
              <a:t>velocidades iguales</a:t>
            </a:r>
            <a:r>
              <a:rPr lang="es-ES" sz="2200" dirty="0">
                <a:solidFill>
                  <a:prstClr val="black"/>
                </a:solidFill>
                <a:latin typeface="Lucida Sans Unicode"/>
              </a:rPr>
              <a:t>.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A730FF48-394D-A240-8875-88BD39189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92" y="353637"/>
            <a:ext cx="34050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dirty="0">
                <a:solidFill>
                  <a:srgbClr val="FF2F92"/>
                </a:solidFill>
                <a:latin typeface="Lucida Sans Unicode"/>
              </a:rPr>
              <a:t>Equilibrio Químico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8E2A28D7-D3F4-3A4E-9D48-D85E624DF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2555" y="3609542"/>
            <a:ext cx="4258498" cy="302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9516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4E7082-B861-A545-BDA7-86475FE75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984" y="854726"/>
            <a:ext cx="82296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</a:rPr>
              <a:t>Equilibrio de moléculas</a:t>
            </a:r>
            <a:br>
              <a:rPr lang="es-ES_tradnl" altLang="es-CL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es-ES_tradnl" altLang="es-CL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 H</a:t>
            </a:r>
            <a:r>
              <a:rPr lang="es-ES_tradnl" altLang="es-CL" sz="6000" baseline="-25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 + I</a:t>
            </a:r>
            <a:r>
              <a:rPr lang="es-ES_tradnl" altLang="es-CL" sz="6000" baseline="-25000" dirty="0">
                <a:solidFill>
                  <a:schemeClr val="accent5">
                    <a:lumMod val="75000"/>
                  </a:schemeClr>
                </a:solidFill>
              </a:rPr>
              <a:t>2 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  <a:sym typeface="Wingdings 3" panose="05040102010807070707" pitchFamily="18" charset="2"/>
              </a:rPr>
              <a:t>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 2 HI</a:t>
            </a:r>
          </a:p>
        </p:txBody>
      </p:sp>
      <p:pic>
        <p:nvPicPr>
          <p:cNvPr id="6" name="Picture 3" descr="Equilibrio moléculas (Anaya 195)">
            <a:extLst>
              <a:ext uri="{FF2B5EF4-FFF2-40B4-BE49-F238E27FC236}">
                <a16:creationId xmlns:a16="http://schemas.microsoft.com/office/drawing/2014/main" id="{E0343F07-69AE-544B-9307-E9D50702C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8871" y="2393422"/>
            <a:ext cx="6248400" cy="420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342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4E7082-B861-A545-BDA7-86475FE75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21515" y="1471612"/>
            <a:ext cx="6419734" cy="9218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H</a:t>
            </a:r>
            <a:r>
              <a:rPr lang="es-ES_tradnl" altLang="es-CL" sz="6000" baseline="-25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 + I</a:t>
            </a:r>
            <a:r>
              <a:rPr lang="es-ES_tradnl" altLang="es-CL" sz="6000" baseline="-25000" dirty="0">
                <a:solidFill>
                  <a:schemeClr val="accent5">
                    <a:lumMod val="75000"/>
                  </a:schemeClr>
                </a:solidFill>
              </a:rPr>
              <a:t>2 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  <a:sym typeface="Wingdings 3" panose="05040102010807070707" pitchFamily="18" charset="2"/>
              </a:rPr>
              <a:t></a:t>
            </a:r>
            <a:r>
              <a:rPr lang="es-ES_tradnl" altLang="es-CL" sz="6000" dirty="0">
                <a:solidFill>
                  <a:schemeClr val="accent5">
                    <a:lumMod val="75000"/>
                  </a:schemeClr>
                </a:solidFill>
              </a:rPr>
              <a:t> 2 HI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AF0AB2D-6946-704D-963A-939CFCC5715C}"/>
              </a:ext>
            </a:extLst>
          </p:cNvPr>
          <p:cNvSpPr txBox="1">
            <a:spLocks noChangeArrowheads="1"/>
          </p:cNvSpPr>
          <p:nvPr/>
        </p:nvSpPr>
        <p:spPr>
          <a:xfrm>
            <a:off x="440700" y="380370"/>
            <a:ext cx="9781364" cy="80685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25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s-ES_tradnl" altLang="es-CL" dirty="0">
                <a:solidFill>
                  <a:schemeClr val="accent5">
                    <a:lumMod val="75000"/>
                  </a:schemeClr>
                </a:solidFill>
              </a:rPr>
              <a:t>Variación de la concentración con el tiempo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00FCD4A0-03B9-BC42-92BD-9556EFAD2800}"/>
              </a:ext>
            </a:extLst>
          </p:cNvPr>
          <p:cNvGrpSpPr>
            <a:grpSpLocks/>
          </p:cNvGrpSpPr>
          <p:nvPr/>
        </p:nvGrpSpPr>
        <p:grpSpPr bwMode="auto">
          <a:xfrm>
            <a:off x="2151562" y="2751126"/>
            <a:ext cx="6389687" cy="3954462"/>
            <a:chOff x="1301" y="1132"/>
            <a:chExt cx="3981" cy="2491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60BFAE5B-86D6-2C43-9B21-12997DE1C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1151"/>
              <a:ext cx="3864" cy="247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CC9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CL" altLang="es-CL" sz="1800">
                <a:latin typeface="Lucida Calligraphy" panose="03010101010101010101" pitchFamily="66" charset="77"/>
              </a:endParaRPr>
            </a:p>
          </p:txBody>
        </p:sp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E35B1289-587C-B14A-BB88-3159FC22A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9" y="1132"/>
              <a:ext cx="3893" cy="2464"/>
              <a:chOff x="1389" y="1132"/>
              <a:chExt cx="3893" cy="2464"/>
            </a:xfrm>
          </p:grpSpPr>
          <p:sp>
            <p:nvSpPr>
              <p:cNvPr id="12" name="Line 6">
                <a:extLst>
                  <a:ext uri="{FF2B5EF4-FFF2-40B4-BE49-F238E27FC236}">
                    <a16:creationId xmlns:a16="http://schemas.microsoft.com/office/drawing/2014/main" id="{5A3A6161-B4E0-3340-9B13-D3965A2ED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0" y="1278"/>
                <a:ext cx="0" cy="20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7">
                <a:extLst>
                  <a:ext uri="{FF2B5EF4-FFF2-40B4-BE49-F238E27FC236}">
                    <a16:creationId xmlns:a16="http://schemas.microsoft.com/office/drawing/2014/main" id="{18638824-7BBE-3441-A8E3-75DE53C22E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9" y="1132"/>
                <a:ext cx="3893" cy="2464"/>
                <a:chOff x="1389" y="1132"/>
                <a:chExt cx="3893" cy="2464"/>
              </a:xfrm>
            </p:grpSpPr>
            <p:sp>
              <p:nvSpPr>
                <p:cNvPr id="15" name="Line 8">
                  <a:extLst>
                    <a:ext uri="{FF2B5EF4-FFF2-40B4-BE49-F238E27FC236}">
                      <a16:creationId xmlns:a16="http://schemas.microsoft.com/office/drawing/2014/main" id="{D10CE4E4-5792-C04F-BF6E-7714C91F3B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97" y="3294"/>
                  <a:ext cx="330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Line 9">
                  <a:extLst>
                    <a:ext uri="{FF2B5EF4-FFF2-40B4-BE49-F238E27FC236}">
                      <a16:creationId xmlns:a16="http://schemas.microsoft.com/office/drawing/2014/main" id="{9CBC6FF1-DF56-E44B-BBC6-EFED6FED7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97" y="1479"/>
                  <a:ext cx="330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8" name="Group 10">
                  <a:extLst>
                    <a:ext uri="{FF2B5EF4-FFF2-40B4-BE49-F238E27FC236}">
                      <a16:creationId xmlns:a16="http://schemas.microsoft.com/office/drawing/2014/main" id="{93C31DA2-D628-0E47-B12D-7786C1BDC6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21" y="1882"/>
                  <a:ext cx="3194" cy="1009"/>
                  <a:chOff x="3641" y="2185"/>
                  <a:chExt cx="4254" cy="1098"/>
                </a:xfrm>
              </p:grpSpPr>
              <p:sp>
                <p:nvSpPr>
                  <p:cNvPr id="31" name="Freeform 11">
                    <a:extLst>
                      <a:ext uri="{FF2B5EF4-FFF2-40B4-BE49-F238E27FC236}">
                        <a16:creationId xmlns:a16="http://schemas.microsoft.com/office/drawing/2014/main" id="{FA6001DA-C8E7-7D44-BCD9-46076564CF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41" y="2185"/>
                    <a:ext cx="1805" cy="1098"/>
                  </a:xfrm>
                  <a:custGeom>
                    <a:avLst/>
                    <a:gdLst>
                      <a:gd name="T0" fmla="*/ 0 w 2700"/>
                      <a:gd name="T1" fmla="*/ 0 h 1800"/>
                      <a:gd name="T2" fmla="*/ 453 w 2700"/>
                      <a:gd name="T3" fmla="*/ 327 h 1800"/>
                      <a:gd name="T4" fmla="*/ 849 w 2700"/>
                      <a:gd name="T5" fmla="*/ 409 h 1800"/>
                      <a:gd name="T6" fmla="*/ 0 60000 65536"/>
                      <a:gd name="T7" fmla="*/ 0 60000 65536"/>
                      <a:gd name="T8" fmla="*/ 0 60000 65536"/>
                      <a:gd name="T9" fmla="*/ 0 w 2700"/>
                      <a:gd name="T10" fmla="*/ 0 h 1800"/>
                      <a:gd name="T11" fmla="*/ 2700 w 2700"/>
                      <a:gd name="T12" fmla="*/ 1800 h 18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700" h="1800">
                        <a:moveTo>
                          <a:pt x="0" y="0"/>
                        </a:moveTo>
                        <a:cubicBezTo>
                          <a:pt x="495" y="570"/>
                          <a:pt x="990" y="1140"/>
                          <a:pt x="1440" y="1440"/>
                        </a:cubicBezTo>
                        <a:cubicBezTo>
                          <a:pt x="1890" y="1740"/>
                          <a:pt x="2295" y="1770"/>
                          <a:pt x="2700" y="180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" name="Line 12">
                    <a:extLst>
                      <a:ext uri="{FF2B5EF4-FFF2-40B4-BE49-F238E27FC236}">
                        <a16:creationId xmlns:a16="http://schemas.microsoft.com/office/drawing/2014/main" id="{7AC5CB60-4D28-3749-B5BB-F5E49FD655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6" y="3283"/>
                    <a:ext cx="2449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13">
                  <a:extLst>
                    <a:ext uri="{FF2B5EF4-FFF2-40B4-BE49-F238E27FC236}">
                      <a16:creationId xmlns:a16="http://schemas.microsoft.com/office/drawing/2014/main" id="{57D9A883-A8FA-7546-8B3E-76354A969F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9" y="1276"/>
                  <a:ext cx="3195" cy="1009"/>
                  <a:chOff x="3639" y="1526"/>
                  <a:chExt cx="4256" cy="1098"/>
                </a:xfrm>
              </p:grpSpPr>
              <p:sp>
                <p:nvSpPr>
                  <p:cNvPr id="29" name="Freeform 14">
                    <a:extLst>
                      <a:ext uri="{FF2B5EF4-FFF2-40B4-BE49-F238E27FC236}">
                        <a16:creationId xmlns:a16="http://schemas.microsoft.com/office/drawing/2014/main" id="{714574F3-782E-5446-AEEA-692DC33977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39" y="1526"/>
                    <a:ext cx="1807" cy="1098"/>
                  </a:xfrm>
                  <a:custGeom>
                    <a:avLst/>
                    <a:gdLst>
                      <a:gd name="T0" fmla="*/ 0 w 2700"/>
                      <a:gd name="T1" fmla="*/ 0 h 1800"/>
                      <a:gd name="T2" fmla="*/ 453 w 2700"/>
                      <a:gd name="T3" fmla="*/ 325 h 1800"/>
                      <a:gd name="T4" fmla="*/ 849 w 2700"/>
                      <a:gd name="T5" fmla="*/ 406 h 1800"/>
                      <a:gd name="T6" fmla="*/ 0 60000 65536"/>
                      <a:gd name="T7" fmla="*/ 0 60000 65536"/>
                      <a:gd name="T8" fmla="*/ 0 60000 65536"/>
                      <a:gd name="T9" fmla="*/ 0 w 2700"/>
                      <a:gd name="T10" fmla="*/ 0 h 1800"/>
                      <a:gd name="T11" fmla="*/ 2700 w 2700"/>
                      <a:gd name="T12" fmla="*/ 1800 h 18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700" h="1800">
                        <a:moveTo>
                          <a:pt x="0" y="0"/>
                        </a:moveTo>
                        <a:cubicBezTo>
                          <a:pt x="495" y="570"/>
                          <a:pt x="990" y="1140"/>
                          <a:pt x="1440" y="1440"/>
                        </a:cubicBezTo>
                        <a:cubicBezTo>
                          <a:pt x="1890" y="1740"/>
                          <a:pt x="2295" y="1770"/>
                          <a:pt x="2700" y="1800"/>
                        </a:cubicBezTo>
                      </a:path>
                    </a:pathLst>
                  </a:custGeom>
                  <a:noFill/>
                  <a:ln w="19050">
                    <a:solidFill>
                      <a:srgbClr val="99CC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0" name="Line 15">
                    <a:extLst>
                      <a:ext uri="{FF2B5EF4-FFF2-40B4-BE49-F238E27FC236}">
                        <a16:creationId xmlns:a16="http://schemas.microsoft.com/office/drawing/2014/main" id="{2253526F-1C1C-B04E-AF2A-C3823587A3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6" y="2624"/>
                    <a:ext cx="2449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99CC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0" name="Group 16">
                  <a:extLst>
                    <a:ext uri="{FF2B5EF4-FFF2-40B4-BE49-F238E27FC236}">
                      <a16:creationId xmlns:a16="http://schemas.microsoft.com/office/drawing/2014/main" id="{B6F37CF6-EB28-D347-B36F-D9E82B3583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43" y="1479"/>
                  <a:ext cx="3171" cy="1814"/>
                  <a:chOff x="3671" y="1747"/>
                  <a:chExt cx="4224" cy="1973"/>
                </a:xfrm>
              </p:grpSpPr>
              <p:sp>
                <p:nvSpPr>
                  <p:cNvPr id="27" name="Freeform 17">
                    <a:extLst>
                      <a:ext uri="{FF2B5EF4-FFF2-40B4-BE49-F238E27FC236}">
                        <a16:creationId xmlns:a16="http://schemas.microsoft.com/office/drawing/2014/main" id="{D818047A-33D2-3A41-B577-AD5E680C99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71" y="1747"/>
                    <a:ext cx="1775" cy="1973"/>
                  </a:xfrm>
                  <a:custGeom>
                    <a:avLst/>
                    <a:gdLst>
                      <a:gd name="T0" fmla="*/ 0 w 2700"/>
                      <a:gd name="T1" fmla="*/ 733 h 3240"/>
                      <a:gd name="T2" fmla="*/ 283 w 2700"/>
                      <a:gd name="T3" fmla="*/ 163 h 3240"/>
                      <a:gd name="T4" fmla="*/ 849 w 2700"/>
                      <a:gd name="T5" fmla="*/ 0 h 3240"/>
                      <a:gd name="T6" fmla="*/ 0 60000 65536"/>
                      <a:gd name="T7" fmla="*/ 0 60000 65536"/>
                      <a:gd name="T8" fmla="*/ 0 60000 65536"/>
                      <a:gd name="T9" fmla="*/ 0 w 2700"/>
                      <a:gd name="T10" fmla="*/ 0 h 3240"/>
                      <a:gd name="T11" fmla="*/ 2700 w 2700"/>
                      <a:gd name="T12" fmla="*/ 3240 h 324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700" h="3240">
                        <a:moveTo>
                          <a:pt x="0" y="3240"/>
                        </a:moveTo>
                        <a:cubicBezTo>
                          <a:pt x="225" y="2250"/>
                          <a:pt x="450" y="1260"/>
                          <a:pt x="900" y="720"/>
                        </a:cubicBezTo>
                        <a:cubicBezTo>
                          <a:pt x="1350" y="180"/>
                          <a:pt x="2025" y="90"/>
                          <a:pt x="2700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8" name="Line 18">
                    <a:extLst>
                      <a:ext uri="{FF2B5EF4-FFF2-40B4-BE49-F238E27FC236}">
                        <a16:creationId xmlns:a16="http://schemas.microsoft.com/office/drawing/2014/main" id="{AC670B75-BD62-9C45-9121-13FD352424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6" y="1747"/>
                    <a:ext cx="2449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" name="Text Box 19">
                  <a:extLst>
                    <a:ext uri="{FF2B5EF4-FFF2-40B4-BE49-F238E27FC236}">
                      <a16:creationId xmlns:a16="http://schemas.microsoft.com/office/drawing/2014/main" id="{28C7A46D-9776-994A-8733-18FBB1914C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60" y="1177"/>
                  <a:ext cx="1810" cy="4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>
                    <a:spcBef>
                      <a:spcPts val="500"/>
                    </a:spcBef>
                    <a:spcAft>
                      <a:spcPts val="500"/>
                    </a:spcAft>
                    <a:buFontTx/>
                    <a:buNone/>
                  </a:pPr>
                  <a:r>
                    <a:rPr lang="es-ES" altLang="es-CL" sz="2400">
                      <a:solidFill>
                        <a:srgbClr val="990033"/>
                      </a:solidFill>
                      <a:ea typeface="SimSun" panose="02010600030101010101" pitchFamily="2" charset="-122"/>
                    </a:rPr>
                    <a:t>Equilibrio químico</a:t>
                  </a:r>
                  <a:endParaRPr lang="es-ES" altLang="es-CL" sz="2400">
                    <a:solidFill>
                      <a:srgbClr val="990033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" name="Text Box 20">
                  <a:extLst>
                    <a:ext uri="{FF2B5EF4-FFF2-40B4-BE49-F238E27FC236}">
                      <a16:creationId xmlns:a16="http://schemas.microsoft.com/office/drawing/2014/main" id="{1CD53CD5-7B9C-DE4D-8117-7F3FEADCA2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0800000">
                  <a:off x="1389" y="1132"/>
                  <a:ext cx="368" cy="21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>
                    <a:spcBef>
                      <a:spcPts val="500"/>
                    </a:spcBef>
                    <a:spcAft>
                      <a:spcPts val="500"/>
                    </a:spcAft>
                    <a:buFontTx/>
                    <a:buNone/>
                  </a:pPr>
                  <a:r>
                    <a:rPr lang="es-ES" altLang="es-CL" sz="2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rPr>
                    <a:t>Concentraciones (mol/l)</a:t>
                  </a:r>
                  <a:endParaRPr lang="es-ES" altLang="es-CL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" name="Text Box 21">
                  <a:extLst>
                    <a:ext uri="{FF2B5EF4-FFF2-40B4-BE49-F238E27FC236}">
                      <a16:creationId xmlns:a16="http://schemas.microsoft.com/office/drawing/2014/main" id="{9B733B30-0EC1-C142-BF19-D85773CC39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1" y="3294"/>
                  <a:ext cx="1011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_tradnl" altLang="zh-CN" sz="2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rPr>
                    <a:t>Tiempo (s)</a:t>
                  </a:r>
                  <a:endParaRPr lang="es-ES" altLang="es-CL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" name="Text Box 22">
                  <a:extLst>
                    <a:ext uri="{FF2B5EF4-FFF2-40B4-BE49-F238E27FC236}">
                      <a16:creationId xmlns:a16="http://schemas.microsoft.com/office/drawing/2014/main" id="{B79F110A-04B9-EE44-858F-2DEBFE387F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" y="1479"/>
                  <a:ext cx="64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_tradnl" altLang="zh-CN" sz="2400" b="0">
                      <a:solidFill>
                        <a:srgbClr val="FF6600"/>
                      </a:solidFill>
                      <a:ea typeface="SimSun" panose="02010600030101010101" pitchFamily="2" charset="-122"/>
                    </a:rPr>
                    <a:t>[HI]</a:t>
                  </a:r>
                  <a:endParaRPr lang="es-ES" altLang="es-CL" sz="2400" b="0"/>
                </a:p>
              </p:txBody>
            </p:sp>
            <p:sp>
              <p:nvSpPr>
                <p:cNvPr id="25" name="Text Box 23">
                  <a:extLst>
                    <a:ext uri="{FF2B5EF4-FFF2-40B4-BE49-F238E27FC236}">
                      <a16:creationId xmlns:a16="http://schemas.microsoft.com/office/drawing/2014/main" id="{C25D803A-AD5E-1E42-938D-232F57162A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" y="2285"/>
                  <a:ext cx="533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zh-CN" sz="2400" b="0">
                      <a:ea typeface="SimSun" panose="02010600030101010101" pitchFamily="2" charset="-122"/>
                    </a:rPr>
                    <a:t>[I</a:t>
                  </a:r>
                  <a:r>
                    <a:rPr lang="es-ES" altLang="zh-CN" sz="2400" b="0" baseline="-25000">
                      <a:ea typeface="SimSun" panose="02010600030101010101" pitchFamily="2" charset="-122"/>
                    </a:rPr>
                    <a:t>2</a:t>
                  </a:r>
                  <a:r>
                    <a:rPr lang="es-ES" altLang="zh-CN" sz="2400" b="0">
                      <a:ea typeface="SimSun" panose="02010600030101010101" pitchFamily="2" charset="-122"/>
                    </a:rPr>
                    <a:t>]</a:t>
                  </a:r>
                  <a:endParaRPr lang="es-ES" altLang="es-CL" sz="2400" b="0"/>
                </a:p>
              </p:txBody>
            </p:sp>
            <p:sp>
              <p:nvSpPr>
                <p:cNvPr id="26" name="Text Box 24">
                  <a:extLst>
                    <a:ext uri="{FF2B5EF4-FFF2-40B4-BE49-F238E27FC236}">
                      <a16:creationId xmlns:a16="http://schemas.microsoft.com/office/drawing/2014/main" id="{87047241-3A11-FF49-B75F-0C274CF0E0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" y="2877"/>
                  <a:ext cx="616" cy="4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just">
                    <a:spcBef>
                      <a:spcPts val="500"/>
                    </a:spcBef>
                    <a:spcAft>
                      <a:spcPts val="500"/>
                    </a:spcAft>
                    <a:buFontTx/>
                    <a:buNone/>
                  </a:pPr>
                  <a:r>
                    <a:rPr lang="es-ES" altLang="es-CL" sz="2400" b="0">
                      <a:ea typeface="SimSun" panose="02010600030101010101" pitchFamily="2" charset="-122"/>
                    </a:rPr>
                    <a:t>[H</a:t>
                  </a:r>
                  <a:r>
                    <a:rPr lang="es-ES" altLang="es-CL" sz="2400" b="0" baseline="-25000">
                      <a:ea typeface="SimSun" panose="02010600030101010101" pitchFamily="2" charset="-122"/>
                    </a:rPr>
                    <a:t>2</a:t>
                  </a:r>
                  <a:r>
                    <a:rPr lang="es-ES" altLang="es-CL" sz="2400" b="0">
                      <a:ea typeface="SimSun" panose="02010600030101010101" pitchFamily="2" charset="-122"/>
                    </a:rPr>
                    <a:t>]</a:t>
                  </a:r>
                  <a:endParaRPr lang="es-ES" altLang="es-CL" sz="2400" b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" name="Line 25">
                <a:extLst>
                  <a:ext uri="{FF2B5EF4-FFF2-40B4-BE49-F238E27FC236}">
                    <a16:creationId xmlns:a16="http://schemas.microsoft.com/office/drawing/2014/main" id="{19578FD6-6855-DB4E-853A-15A379367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98" y="1278"/>
                <a:ext cx="0" cy="20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473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0BB81789-C019-444B-AD6F-D8998857E94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ED1400F8-6346-ED4A-97FE-9AC4F9E38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46" y="3340130"/>
            <a:ext cx="864082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En general: </a:t>
            </a:r>
          </a:p>
          <a:p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		</a:t>
            </a:r>
            <a:r>
              <a:rPr lang="es-ES" sz="32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aA  +  </a:t>
            </a:r>
            <a:r>
              <a:rPr lang="es-ES" sz="32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bB</a:t>
            </a:r>
            <a:r>
              <a:rPr lang="es-ES" sz="32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</a:t>
            </a:r>
            <a:r>
              <a:rPr lang="es-ES" sz="3200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" sz="3200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 </a:t>
            </a:r>
            <a:r>
              <a:rPr lang="es-ES" sz="32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cC</a:t>
            </a:r>
            <a:r>
              <a:rPr lang="es-ES" sz="3200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 +  </a:t>
            </a:r>
            <a:r>
              <a:rPr lang="es-ES" sz="32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dD</a:t>
            </a:r>
            <a:endParaRPr lang="es-ES" sz="3200" b="1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7F1C9CD8-5679-DE46-A263-4CC78A40E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63" y="5661084"/>
            <a:ext cx="10150326" cy="88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Estas expresiones se conocen como la </a:t>
            </a:r>
            <a:r>
              <a:rPr lang="es-ES" sz="2200" i="1" dirty="0">
                <a:solidFill>
                  <a:srgbClr val="FF2F92"/>
                </a:solidFill>
                <a:latin typeface="Lucida Sans Unicode"/>
              </a:rPr>
              <a:t>expresión de la constante de equilibrio</a:t>
            </a:r>
            <a:r>
              <a:rPr lang="es-ES" sz="2200" dirty="0">
                <a:solidFill>
                  <a:srgbClr val="FF2F92"/>
                </a:solidFill>
                <a:latin typeface="Lucida Sans Unicode"/>
              </a:rPr>
              <a:t>. </a:t>
            </a:r>
            <a:r>
              <a:rPr lang="es-ES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 se llama </a:t>
            </a:r>
            <a:r>
              <a:rPr lang="es-ES" sz="2200" b="1" i="1" dirty="0">
                <a:solidFill>
                  <a:srgbClr val="FF2F92"/>
                </a:solidFill>
                <a:latin typeface="Lucida Sans Unicode"/>
              </a:rPr>
              <a:t>constante de equilibrio</a:t>
            </a:r>
            <a:r>
              <a:rPr lang="es-ES" sz="2200" i="1" dirty="0">
                <a:solidFill>
                  <a:srgbClr val="FF2F92"/>
                </a:solidFill>
                <a:latin typeface="Lucida Sans Unicode"/>
              </a:rPr>
              <a:t>.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F7D103C-EED3-4D47-9043-5E3AF65D14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91342"/>
              </p:ext>
            </p:extLst>
          </p:nvPr>
        </p:nvGraphicFramePr>
        <p:xfrm>
          <a:off x="2309452" y="4544020"/>
          <a:ext cx="20097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" name="Ecuación" r:id="rId4" imgW="1092200" imgH="469900" progId="Equation.3">
                  <p:embed/>
                </p:oleObj>
              </mc:Choice>
              <mc:Fallback>
                <p:oleObj name="Ecuación" r:id="rId4" imgW="1092200" imgH="469900" progId="Equation.3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28C232D1-03F5-43E4-8349-596EEC1F1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452" y="4544020"/>
                        <a:ext cx="2009775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BC05A041-FD3C-0445-BEAD-86FEB7EBB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692257"/>
              </p:ext>
            </p:extLst>
          </p:nvPr>
        </p:nvGraphicFramePr>
        <p:xfrm>
          <a:off x="5415312" y="4608999"/>
          <a:ext cx="179863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" name="Ecuación" r:id="rId6" imgW="977900" imgH="419100" progId="Equation.3">
                  <p:embed/>
                </p:oleObj>
              </mc:Choice>
              <mc:Fallback>
                <p:oleObj name="Ecuación" r:id="rId6" imgW="977900" imgH="419100" progId="Equation.3">
                  <p:embed/>
                  <p:pic>
                    <p:nvPicPr>
                      <p:cNvPr id="26" name="Object 3">
                        <a:extLst>
                          <a:ext uri="{FF2B5EF4-FFF2-40B4-BE49-F238E27FC236}">
                            <a16:creationId xmlns:a16="http://schemas.microsoft.com/office/drawing/2014/main" id="{99F97DC1-1E25-4CAC-A261-928D993C0C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312" y="4608999"/>
                        <a:ext cx="1798638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3">
            <a:extLst>
              <a:ext uri="{FF2B5EF4-FFF2-40B4-BE49-F238E27FC236}">
                <a16:creationId xmlns:a16="http://schemas.microsoft.com/office/drawing/2014/main" id="{D56B74DB-72B5-0440-8434-04B92D721299}"/>
              </a:ext>
            </a:extLst>
          </p:cNvPr>
          <p:cNvGrpSpPr>
            <a:grpSpLocks/>
          </p:cNvGrpSpPr>
          <p:nvPr/>
        </p:nvGrpSpPr>
        <p:grpSpPr bwMode="auto">
          <a:xfrm>
            <a:off x="433137" y="344389"/>
            <a:ext cx="8826610" cy="2389889"/>
            <a:chOff x="657" y="3202"/>
            <a:chExt cx="4489" cy="13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7E1E58-5F3F-8F42-A4DB-105869A9B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3803"/>
              <a:ext cx="4355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125000"/>
                </a:lnSpc>
                <a:buClr>
                  <a:srgbClr val="011893"/>
                </a:buClr>
                <a:buFont typeface="Wingdings" charset="2"/>
                <a:buChar char="ü"/>
              </a:pPr>
              <a:r>
                <a:rPr lang="es-ES" sz="2200" dirty="0">
                  <a:solidFill>
                    <a:prstClr val="black"/>
                  </a:solidFill>
                  <a:latin typeface="Lucida Sans Unicode"/>
                </a:rPr>
                <a:t> </a:t>
              </a:r>
              <a:r>
                <a:rPr lang="es-ES" sz="22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Expresa la relación entre las concentraciones de los reactivos y productos (presiones parciales en el caso de gases; molaridad para disoluciones) presentes en el equilibrio en cualquier reacción.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BEBDC6-0C7A-7641-B9E9-A056F216B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202"/>
              <a:ext cx="1788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2800" b="1" dirty="0">
                  <a:solidFill>
                    <a:srgbClr val="FF2F92"/>
                  </a:solidFill>
                  <a:latin typeface="Lucida Sans Unicode"/>
                </a:rPr>
                <a:t>Ley de Acción de Masas</a:t>
              </a:r>
              <a:endParaRPr lang="es-ES" sz="2800" b="1" dirty="0">
                <a:solidFill>
                  <a:srgbClr val="FF2F92"/>
                </a:solidFill>
                <a:latin typeface="Lucida Sans Uni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302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D49C4BC8-075C-8E43-BE36-F86AD6D06CA3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B637F8D-DFBC-754D-93DF-4501F1F78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" y="233441"/>
            <a:ext cx="9314264" cy="384105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es-ES_tradnl" sz="2800" b="1" dirty="0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Equilibrio Homogéneo</a:t>
            </a:r>
          </a:p>
          <a:p>
            <a:pPr algn="just">
              <a:lnSpc>
                <a:spcPct val="125000"/>
              </a:lnSpc>
            </a:pPr>
            <a:endParaRPr kumimoji="1" lang="es-ES_tradnl" sz="2200" b="1" i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Sans Unicode"/>
            </a:endParaRPr>
          </a:p>
          <a:p>
            <a:pPr algn="just">
              <a:lnSpc>
                <a:spcPct val="125000"/>
              </a:lnSpc>
            </a:pPr>
            <a:r>
              <a:rPr kumimoji="1" lang="es-ES_tradnl" sz="22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Cuando todas las especies presentes en una reacción están en la misma fase.</a:t>
            </a:r>
          </a:p>
          <a:p>
            <a:pPr algn="just">
              <a:lnSpc>
                <a:spcPct val="125000"/>
              </a:lnSpc>
            </a:pPr>
            <a:endParaRPr kumimoji="1" lang="es-ES_tradnl" sz="2200" b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algn="ctr">
              <a:lnSpc>
                <a:spcPct val="125000"/>
              </a:lnSpc>
            </a:pPr>
            <a:r>
              <a:rPr lang="es-ES_tradnl" sz="2800" b="1" dirty="0">
                <a:solidFill>
                  <a:srgbClr val="FF9300"/>
                </a:solidFill>
                <a:latin typeface="Lucida Sans Unicode"/>
              </a:rPr>
              <a:t>a A(g) + b B(g) </a:t>
            </a:r>
            <a:r>
              <a:rPr lang="es-ES_tradnl" sz="2800" b="1" dirty="0">
                <a:solidFill>
                  <a:srgbClr val="FF9300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2800" b="1" dirty="0">
                <a:solidFill>
                  <a:srgbClr val="FF9300"/>
                </a:solidFill>
                <a:latin typeface="Lucida Sans Unicode"/>
              </a:rPr>
              <a:t>  c C(g) + d D(g)</a:t>
            </a:r>
          </a:p>
          <a:p>
            <a:pPr algn="ctr">
              <a:lnSpc>
                <a:spcPct val="125000"/>
              </a:lnSpc>
            </a:pPr>
            <a:endParaRPr lang="es-ES_tradnl" sz="2800" dirty="0">
              <a:solidFill>
                <a:srgbClr val="011893"/>
              </a:solidFill>
              <a:latin typeface="Lucida Sans Unicode"/>
            </a:endParaRPr>
          </a:p>
          <a:p>
            <a:pPr algn="just">
              <a:lnSpc>
                <a:spcPct val="110000"/>
              </a:lnSpc>
              <a:spcBef>
                <a:spcPct val="20000"/>
              </a:spcBef>
              <a:buClr>
                <a:srgbClr val="DA1F28"/>
              </a:buClr>
              <a:buSzPct val="80000"/>
              <a:buFont typeface="Wingdings" charset="2"/>
              <a:buNone/>
            </a:pPr>
            <a:r>
              <a:rPr lang="es-ES_tradnl" sz="2200" dirty="0">
                <a:solidFill>
                  <a:prstClr val="black"/>
                </a:solidFill>
                <a:latin typeface="Lucida Sans Unicode"/>
              </a:rPr>
              <a:t>			</a:t>
            </a:r>
            <a:endParaRPr lang="es-ES" sz="2200" baseline="30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554A3D3-56A1-A246-AFAA-7C7D7A92C890}"/>
              </a:ext>
            </a:extLst>
          </p:cNvPr>
          <p:cNvGrpSpPr>
            <a:grpSpLocks/>
          </p:cNvGrpSpPr>
          <p:nvPr/>
        </p:nvGrpSpPr>
        <p:grpSpPr bwMode="auto">
          <a:xfrm>
            <a:off x="1712277" y="4708330"/>
            <a:ext cx="5116512" cy="1554163"/>
            <a:chOff x="672" y="2832"/>
            <a:chExt cx="3223" cy="979"/>
          </a:xfrm>
        </p:grpSpPr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750E2D6D-73F9-1A4B-9936-BDE87A331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32"/>
              <a:ext cx="2023" cy="4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N</a:t>
              </a:r>
              <a:r>
                <a:rPr kumimoji="1" lang="es-ES_tradnl" sz="24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2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O</a:t>
              </a:r>
              <a:r>
                <a:rPr kumimoji="1" lang="es-ES_tradnl" sz="24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4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 </a:t>
              </a:r>
              <a:r>
                <a:rPr kumimoji="1" lang="es-ES_tradnl" sz="24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(g)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 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  <a:sym typeface="Wingdings 3" panose="05040102010807070707" pitchFamily="18" charset="2"/>
                </a:rPr>
                <a:t>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  <a:sym typeface="Symbol" pitchFamily="18" charset="2"/>
                </a:rPr>
                <a:t> 2NO</a:t>
              </a:r>
              <a:r>
                <a:rPr kumimoji="1" lang="es-ES_tradnl" sz="24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  <a:sym typeface="Symbol" pitchFamily="18" charset="2"/>
                </a:rPr>
                <a:t>2</a:t>
              </a:r>
              <a:r>
                <a:rPr kumimoji="1"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  <a:sym typeface="Symbol" pitchFamily="18" charset="2"/>
                </a:rPr>
                <a:t> </a:t>
              </a:r>
              <a:r>
                <a:rPr kumimoji="1" lang="es-ES_tradnl" sz="2400" baseline="-25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  <a:sym typeface="Symbol" pitchFamily="18" charset="2"/>
                </a:rPr>
                <a:t>(g)</a:t>
              </a:r>
            </a:p>
            <a:p>
              <a:pPr algn="ctr"/>
              <a:endParaRPr kumimoji="1" lang="es-ES" sz="24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endParaRP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4295C863-040B-F14F-97FE-6C7466735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832"/>
              <a:ext cx="862" cy="29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s-ES_tradnl" sz="2400" b="1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Ejemplo</a:t>
              </a:r>
              <a:endParaRPr kumimoji="1" lang="es-ES" sz="2400" b="1">
                <a:solidFill>
                  <a:schemeClr val="accent5">
                    <a:lumMod val="75000"/>
                  </a:schemeClr>
                </a:solidFill>
                <a:latin typeface="Lucida Sans Unicode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C9CBAF93-8C1A-D841-8CBF-B0BD26FBD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38"/>
              <a:ext cx="2880" cy="27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lvl="2" algn="ctr">
                <a:lnSpc>
                  <a:spcPct val="90000"/>
                </a:lnSpc>
                <a:spcBef>
                  <a:spcPct val="50000"/>
                </a:spcBef>
                <a:buClr>
                  <a:srgbClr val="DA1F28"/>
                </a:buClr>
              </a:pPr>
              <a:r>
                <a:rPr lang="es-ES_tradnl" sz="24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    </a:t>
              </a:r>
              <a:endParaRPr lang="es-ES_tradnl" sz="2400" u="sng" dirty="0">
                <a:solidFill>
                  <a:schemeClr val="accent5">
                    <a:lumMod val="75000"/>
                  </a:schemeClr>
                </a:solidFill>
                <a:latin typeface="Lucida Sans Unicode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696AEFD-CD77-5240-8059-C2F3C173FEB8}"/>
                  </a:ext>
                </a:extLst>
              </p:cNvPr>
              <p:cNvSpPr txBox="1"/>
              <p:nvPr/>
            </p:nvSpPr>
            <p:spPr>
              <a:xfrm>
                <a:off x="3434449" y="3416674"/>
                <a:ext cx="1945404" cy="801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696AEFD-CD77-5240-8059-C2F3C173F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449" y="3416674"/>
                <a:ext cx="1945404" cy="801758"/>
              </a:xfrm>
              <a:prstGeom prst="rect">
                <a:avLst/>
              </a:prstGeom>
              <a:blipFill>
                <a:blip r:embed="rId3"/>
                <a:stretch>
                  <a:fillRect l="-2581" b="-468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9FC2F836-64CA-0E4B-B658-5A2CF834D0F7}"/>
                  </a:ext>
                </a:extLst>
              </p:cNvPr>
              <p:cNvSpPr txBox="1"/>
              <p:nvPr/>
            </p:nvSpPr>
            <p:spPr>
              <a:xfrm>
                <a:off x="4226877" y="5531569"/>
                <a:ext cx="1722010" cy="801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s-ES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s-ES" sz="2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9FC2F836-64CA-0E4B-B658-5A2CF834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877" y="5531569"/>
                <a:ext cx="1722010" cy="801566"/>
              </a:xfrm>
              <a:prstGeom prst="rect">
                <a:avLst/>
              </a:prstGeom>
              <a:blipFill>
                <a:blip r:embed="rId4"/>
                <a:stretch>
                  <a:fillRect l="-3676" r="-735" b="-781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49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579CEC28-1A04-334B-AB8E-E52AEF2F9635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FEA3A55-37C4-8549-939D-E9B78E7BE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61" y="1168580"/>
            <a:ext cx="8926635" cy="23794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Cuando las especies presentes en una reacción coexisten en dos o más  fases.</a:t>
            </a:r>
          </a:p>
          <a:p>
            <a:pPr algn="just">
              <a:lnSpc>
                <a:spcPct val="125000"/>
              </a:lnSpc>
            </a:pPr>
            <a:endParaRPr lang="es-ES_tradnl" sz="22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algn="ctr">
              <a:lnSpc>
                <a:spcPct val="125000"/>
              </a:lnSpc>
            </a:pP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a </a:t>
            </a:r>
            <a:r>
              <a:rPr lang="es-ES_tradnl" sz="3200" b="1" dirty="0" err="1">
                <a:solidFill>
                  <a:srgbClr val="FF2F92"/>
                </a:solidFill>
                <a:latin typeface="Lucida Sans Unicode"/>
              </a:rPr>
              <a:t>A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</a:t>
            </a:r>
            <a:r>
              <a:rPr lang="es-ES_tradnl" sz="3200" b="1" baseline="-25000" dirty="0">
                <a:solidFill>
                  <a:srgbClr val="FF2F92"/>
                </a:solidFill>
                <a:latin typeface="Lucida Sans Unicode"/>
              </a:rPr>
              <a:t>(</a:t>
            </a:r>
            <a:r>
              <a:rPr lang="es-ES_tradnl" sz="3200" b="1" baseline="-25000" dirty="0" err="1">
                <a:solidFill>
                  <a:srgbClr val="FF2F92"/>
                </a:solidFill>
                <a:latin typeface="Lucida Sans Unicode"/>
              </a:rPr>
              <a:t>s,l</a:t>
            </a:r>
            <a:r>
              <a:rPr lang="es-ES_tradnl" sz="3200" b="1" baseline="-25000" dirty="0">
                <a:solidFill>
                  <a:srgbClr val="FF2F92"/>
                </a:solidFill>
                <a:latin typeface="Lucida Sans Unicode"/>
              </a:rPr>
              <a:t>)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+ b </a:t>
            </a:r>
            <a:r>
              <a:rPr lang="es-ES_tradnl" sz="3200" b="1" dirty="0" err="1">
                <a:solidFill>
                  <a:srgbClr val="FF2F92"/>
                </a:solidFill>
                <a:latin typeface="Lucida Sans Unicode"/>
              </a:rPr>
              <a:t>B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</a:t>
            </a:r>
            <a:r>
              <a:rPr lang="es-ES_tradnl" sz="3200" b="1" baseline="-25000" dirty="0">
                <a:solidFill>
                  <a:srgbClr val="FF2F92"/>
                </a:solidFill>
                <a:latin typeface="Lucida Sans Unicode"/>
              </a:rPr>
              <a:t>(g)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 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 c </a:t>
            </a:r>
            <a:r>
              <a:rPr lang="es-ES_tradnl" sz="3200" b="1" dirty="0" err="1">
                <a:solidFill>
                  <a:srgbClr val="FF2F92"/>
                </a:solidFill>
                <a:latin typeface="Lucida Sans Unicode"/>
              </a:rPr>
              <a:t>C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</a:t>
            </a:r>
            <a:r>
              <a:rPr lang="es-ES_tradnl" sz="3200" b="1" baseline="-25000" dirty="0">
                <a:solidFill>
                  <a:srgbClr val="FF2F92"/>
                </a:solidFill>
                <a:latin typeface="Lucida Sans Unicode"/>
              </a:rPr>
              <a:t>(g)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+ d </a:t>
            </a:r>
            <a:r>
              <a:rPr lang="es-ES_tradnl" sz="3200" b="1" dirty="0" err="1">
                <a:solidFill>
                  <a:srgbClr val="FF2F92"/>
                </a:solidFill>
                <a:latin typeface="Lucida Sans Unicode"/>
              </a:rPr>
              <a:t>D</a:t>
            </a:r>
            <a:r>
              <a:rPr lang="es-ES_tradnl" sz="3200" b="1" dirty="0">
                <a:solidFill>
                  <a:srgbClr val="FF2F92"/>
                </a:solidFill>
                <a:latin typeface="Lucida Sans Unicode"/>
              </a:rPr>
              <a:t> </a:t>
            </a:r>
            <a:r>
              <a:rPr lang="es-ES_tradnl" sz="3200" b="1" baseline="-25000" dirty="0">
                <a:solidFill>
                  <a:srgbClr val="FF2F92"/>
                </a:solidFill>
                <a:latin typeface="Lucida Sans Unicode"/>
              </a:rPr>
              <a:t>(g)</a:t>
            </a:r>
          </a:p>
          <a:p>
            <a:pPr algn="ctr">
              <a:lnSpc>
                <a:spcPct val="125000"/>
              </a:lnSpc>
            </a:pPr>
            <a:endParaRPr lang="es-ES_tradnl" sz="22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24CA8D8-03FB-CF42-B60E-77F2AFE0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21" y="407492"/>
            <a:ext cx="4192173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s-ES_tradnl" sz="2800" b="1" dirty="0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Equilibrio Heterogéneo</a:t>
            </a:r>
            <a:endParaRPr kumimoji="1" lang="es-ES" sz="2800" b="1" dirty="0">
              <a:solidFill>
                <a:srgbClr val="FF2F9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Sans Unicode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7F7D6CE8-F076-F046-A916-67D2C516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99" y="4371447"/>
            <a:ext cx="7924800" cy="155940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s-ES_tradnl" sz="22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Ejemplo</a:t>
            </a:r>
          </a:p>
          <a:p>
            <a:pPr algn="ctr"/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	CaCO</a:t>
            </a:r>
            <a:r>
              <a:rPr kumimoji="1" lang="es-ES_tradnl" sz="22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3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</a:t>
            </a:r>
            <a:r>
              <a:rPr kumimoji="1" lang="es-ES_tradnl" sz="22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(s)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 </a:t>
            </a:r>
            <a:r>
              <a:rPr kumimoji="1" lang="es-ES_tradnl" sz="2200" dirty="0" err="1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CaO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</a:t>
            </a:r>
            <a:r>
              <a:rPr kumimoji="1" lang="es-ES_tradnl" sz="22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(s)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 +  CO</a:t>
            </a:r>
            <a:r>
              <a:rPr kumimoji="1" lang="es-ES_tradnl" sz="22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2</a:t>
            </a:r>
            <a:r>
              <a:rPr kumimoji="1"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</a:t>
            </a:r>
            <a:r>
              <a:rPr kumimoji="1" lang="es-ES_tradnl" sz="22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(g)</a:t>
            </a:r>
            <a:endParaRPr kumimoji="1" lang="es-ES_tradnl" sz="2200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  <a:p>
            <a:pPr algn="ctr"/>
            <a:endParaRPr kumimoji="1" lang="es-ES_tradnl" sz="2200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  <a:p>
            <a:pPr algn="ctr"/>
            <a:endParaRPr kumimoji="1" lang="es-ES_tradnl" sz="2200" baseline="-25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algn="ctr"/>
            <a:endParaRPr kumimoji="1" lang="es-ES" sz="2200" baseline="-25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8B1CC04-57B6-434B-A96B-99672F9D0321}"/>
                  </a:ext>
                </a:extLst>
              </p:cNvPr>
              <p:cNvSpPr txBox="1"/>
              <p:nvPr/>
            </p:nvSpPr>
            <p:spPr>
              <a:xfrm>
                <a:off x="2909104" y="3385067"/>
                <a:ext cx="4439677" cy="801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`</m:t>
                      </m:r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s-CL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C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L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8B1CC04-57B6-434B-A96B-99672F9D0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104" y="3385067"/>
                <a:ext cx="4439677" cy="801758"/>
              </a:xfrm>
              <a:prstGeom prst="rect">
                <a:avLst/>
              </a:prstGeom>
              <a:blipFill>
                <a:blip r:embed="rId3"/>
                <a:stretch>
                  <a:fillRect l="-855" b="-312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58A5213-45B6-E84E-BFBF-A29589A17152}"/>
                  </a:ext>
                </a:extLst>
              </p:cNvPr>
              <p:cNvSpPr txBox="1"/>
              <p:nvPr/>
            </p:nvSpPr>
            <p:spPr>
              <a:xfrm>
                <a:off x="3270739" y="5409879"/>
                <a:ext cx="4369593" cy="770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`</m:t>
                      </m:r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𝐶𝑎𝑂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𝐶𝑂</m:t>
                              </m:r>
                              <m:r>
                                <a:rPr lang="es-ES" sz="2400" i="1" baseline="-25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𝐶𝑎𝐶𝑂</m:t>
                              </m:r>
                              <m:r>
                                <a:rPr lang="es-ES" sz="2400" i="1" baseline="-25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den>
                      </m:f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s-CL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𝐶𝑂</m:t>
                          </m:r>
                          <m:r>
                            <a:rPr lang="es-ES" sz="2400" i="1" baseline="-25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58A5213-45B6-E84E-BFBF-A29589A17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739" y="5409879"/>
                <a:ext cx="4369593" cy="770532"/>
              </a:xfrm>
              <a:prstGeom prst="rect">
                <a:avLst/>
              </a:prstGeom>
              <a:blipFill>
                <a:blip r:embed="rId4"/>
                <a:stretch>
                  <a:fillRect l="-1159" b="-806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46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579CEC28-1A04-334B-AB8E-E52AEF2F9635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73E4E00D-0462-A542-BBAB-95F744D32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44" y="391245"/>
            <a:ext cx="8877300" cy="888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El equilibrio heterogéneo  se aplica a reacciones en las cuales los reactivo y los productos  están en diferentes fases.</a:t>
            </a:r>
            <a:r>
              <a:rPr lang="es-CL" b="1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431E130F-B383-1A41-871A-F34693C02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596" y="1753836"/>
            <a:ext cx="4470401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CaCO</a:t>
            </a:r>
            <a:r>
              <a:rPr kumimoji="0" lang="en-US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3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s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          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CaO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+ CO</a:t>
            </a:r>
            <a:r>
              <a:rPr kumimoji="0" lang="en-US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1AFF5805-B84A-AB4A-BC38-63C2A6D0A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046" y="2652212"/>
            <a:ext cx="24833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[CaCO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3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] =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constante</a:t>
            </a:r>
          </a:p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[</a:t>
            </a:r>
            <a:r>
              <a:rPr lang="es-ES_tradnl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CaO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] =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constante</a:t>
            </a:r>
          </a:p>
        </p:txBody>
      </p:sp>
      <p:sp>
        <p:nvSpPr>
          <p:cNvPr id="42" name="Text Box 32">
            <a:extLst>
              <a:ext uri="{FF2B5EF4-FFF2-40B4-BE49-F238E27FC236}">
                <a16:creationId xmlns:a16="http://schemas.microsoft.com/office/drawing/2014/main" id="{7E49AD52-8FB1-F94A-AE2D-81760A401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08" y="5466497"/>
            <a:ext cx="10267627" cy="977191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  <a:ea typeface="Times New Roman" pitchFamily="18" charset="0"/>
                <a:cs typeface="Mangal" pitchFamily="2"/>
              </a:rPr>
              <a:t>La concentración  </a:t>
            </a:r>
            <a:r>
              <a:rPr kumimoji="0" lang="es-CL" sz="2000" b="1" i="0" u="none" strike="noStrike" kern="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latin typeface="Lucida Sans Unicode"/>
                <a:ea typeface="Times New Roman" pitchFamily="18" charset="0"/>
                <a:cs typeface="Mangal" pitchFamily="2"/>
              </a:rPr>
              <a:t>de sólidos</a:t>
            </a:r>
            <a:r>
              <a:rPr kumimoji="0" lang="es-CL" sz="2000" b="0" i="0" u="none" strike="noStrike" kern="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latin typeface="Lucida Sans Unicode"/>
                <a:ea typeface="Times New Roman" pitchFamily="18" charset="0"/>
                <a:cs typeface="Mangal" pitchFamily="2"/>
              </a:rPr>
              <a:t> </a:t>
            </a:r>
            <a:r>
              <a:rPr kumimoji="0" lang="es-CL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  <a:ea typeface="Times New Roman" pitchFamily="18" charset="0"/>
                <a:cs typeface="Mangal" pitchFamily="2"/>
              </a:rPr>
              <a:t>no deben ser  consideradas  en la</a:t>
            </a:r>
            <a:r>
              <a:rPr kumimoji="0" lang="es-ES_tradnl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  <a:ea typeface="Times New Roman" pitchFamily="18" charset="0"/>
                <a:cs typeface="Mangal" pitchFamily="2"/>
              </a:rPr>
              <a:t> expresión para la constante de equilibrio.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grpSp>
        <p:nvGrpSpPr>
          <p:cNvPr id="43" name="Group 37">
            <a:extLst>
              <a:ext uri="{FF2B5EF4-FFF2-40B4-BE49-F238E27FC236}">
                <a16:creationId xmlns:a16="http://schemas.microsoft.com/office/drawing/2014/main" id="{3401D3CF-377D-414D-9FCD-794BCB6D4ADA}"/>
              </a:ext>
            </a:extLst>
          </p:cNvPr>
          <p:cNvGrpSpPr>
            <a:grpSpLocks/>
          </p:cNvGrpSpPr>
          <p:nvPr/>
        </p:nvGrpSpPr>
        <p:grpSpPr bwMode="auto">
          <a:xfrm>
            <a:off x="3854146" y="1687012"/>
            <a:ext cx="3619500" cy="457200"/>
            <a:chOff x="2072" y="832"/>
            <a:chExt cx="2280" cy="288"/>
          </a:xfrm>
        </p:grpSpPr>
        <p:sp>
          <p:nvSpPr>
            <p:cNvPr id="44" name="Oval 34">
              <a:extLst>
                <a:ext uri="{FF2B5EF4-FFF2-40B4-BE49-F238E27FC236}">
                  <a16:creationId xmlns:a16="http://schemas.microsoft.com/office/drawing/2014/main" id="{E9671384-01D7-F24C-A0F8-62EC541FB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832"/>
              <a:ext cx="288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prstClr val="black"/>
                </a:solidFill>
                <a:latin typeface="Lucida Sans Unicode"/>
              </a:endParaRPr>
            </a:p>
          </p:txBody>
        </p:sp>
        <p:sp>
          <p:nvSpPr>
            <p:cNvPr id="45" name="Oval 35">
              <a:extLst>
                <a:ext uri="{FF2B5EF4-FFF2-40B4-BE49-F238E27FC236}">
                  <a16:creationId xmlns:a16="http://schemas.microsoft.com/office/drawing/2014/main" id="{EFD1ED86-F416-8F48-951F-3B2B2729A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832"/>
              <a:ext cx="288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prstClr val="black"/>
                </a:solidFill>
                <a:latin typeface="Lucida Sans Unicode"/>
              </a:endParaRPr>
            </a:p>
          </p:txBody>
        </p:sp>
        <p:sp>
          <p:nvSpPr>
            <p:cNvPr id="46" name="Oval 36">
              <a:extLst>
                <a:ext uri="{FF2B5EF4-FFF2-40B4-BE49-F238E27FC236}">
                  <a16:creationId xmlns:a16="http://schemas.microsoft.com/office/drawing/2014/main" id="{6B893B02-BB48-3843-A583-180BBCD9F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832"/>
              <a:ext cx="288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prstClr val="black"/>
                </a:solidFill>
                <a:latin typeface="Lucida Sans Unicode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FBB0D90E-F06E-E449-ACD6-0F9D1E675593}"/>
              </a:ext>
            </a:extLst>
          </p:cNvPr>
          <p:cNvSpPr/>
          <p:nvPr/>
        </p:nvSpPr>
        <p:spPr>
          <a:xfrm>
            <a:off x="4543048" y="1682547"/>
            <a:ext cx="640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>
                <a:solidFill>
                  <a:srgbClr val="011893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58FC3DC1-D4B8-1141-81E4-D33968C2E594}"/>
                  </a:ext>
                </a:extLst>
              </p:cNvPr>
              <p:cNvSpPr txBox="1"/>
              <p:nvPr/>
            </p:nvSpPr>
            <p:spPr>
              <a:xfrm>
                <a:off x="1921013" y="3981448"/>
                <a:ext cx="3385029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𝐶𝑂</m:t>
                          </m:r>
                          <m:r>
                            <a:rPr lang="es-ES" sz="2400" i="1" baseline="-250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s-CL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58FC3DC1-D4B8-1141-81E4-D33968C2E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13" y="3981448"/>
                <a:ext cx="3385029" cy="401072"/>
              </a:xfrm>
              <a:prstGeom prst="rect">
                <a:avLst/>
              </a:prstGeom>
              <a:blipFill>
                <a:blip r:embed="rId3"/>
                <a:stretch>
                  <a:fillRect l="-1493" b="-1212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C5A85B79-BC98-7C48-B24C-269200CDC933}"/>
                  </a:ext>
                </a:extLst>
              </p:cNvPr>
              <p:cNvSpPr txBox="1"/>
              <p:nvPr/>
            </p:nvSpPr>
            <p:spPr>
              <a:xfrm>
                <a:off x="1921013" y="2558384"/>
                <a:ext cx="2390333" cy="770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`</m:t>
                      </m:r>
                      <m:r>
                        <a:rPr lang="es-C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𝐶𝑎𝑂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𝐶𝑂</m:t>
                              </m:r>
                              <m:r>
                                <a:rPr lang="es-ES" sz="2400" i="1" baseline="-25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𝐶𝑎𝐶𝑂</m:t>
                              </m:r>
                              <m:r>
                                <a:rPr lang="es-ES" sz="2400" i="1" baseline="-25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C5A85B79-BC98-7C48-B24C-269200CDC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13" y="2558384"/>
                <a:ext cx="2390333" cy="770532"/>
              </a:xfrm>
              <a:prstGeom prst="rect">
                <a:avLst/>
              </a:prstGeom>
              <a:blipFill>
                <a:blip r:embed="rId4"/>
                <a:stretch>
                  <a:fillRect l="-2116" b="-967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8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6329847" y="26450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579CEC28-1A04-334B-AB8E-E52AEF2F9635}"/>
              </a:ext>
            </a:extLst>
          </p:cNvPr>
          <p:cNvSpPr/>
          <p:nvPr/>
        </p:nvSpPr>
        <p:spPr>
          <a:xfrm>
            <a:off x="4461695" y="-11654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47" name="14 Rectángulo">
            <a:extLst>
              <a:ext uri="{FF2B5EF4-FFF2-40B4-BE49-F238E27FC236}">
                <a16:creationId xmlns:a16="http://schemas.microsoft.com/office/drawing/2014/main" id="{16019B10-557F-FD42-93D2-C994CBD7D92F}"/>
              </a:ext>
            </a:extLst>
          </p:cNvPr>
          <p:cNvSpPr/>
          <p:nvPr/>
        </p:nvSpPr>
        <p:spPr>
          <a:xfrm>
            <a:off x="4080695" y="-11654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grpSp>
        <p:nvGrpSpPr>
          <p:cNvPr id="49" name="Group 16">
            <a:extLst>
              <a:ext uri="{FF2B5EF4-FFF2-40B4-BE49-F238E27FC236}">
                <a16:creationId xmlns:a16="http://schemas.microsoft.com/office/drawing/2014/main" id="{75332D8E-565B-8047-AA19-A8537CA4419F}"/>
              </a:ext>
            </a:extLst>
          </p:cNvPr>
          <p:cNvGrpSpPr>
            <a:grpSpLocks/>
          </p:cNvGrpSpPr>
          <p:nvPr/>
        </p:nvGrpSpPr>
        <p:grpSpPr bwMode="auto">
          <a:xfrm>
            <a:off x="3574351" y="4922996"/>
            <a:ext cx="692150" cy="457200"/>
            <a:chOff x="2408" y="3029"/>
            <a:chExt cx="436" cy="288"/>
          </a:xfrm>
        </p:grpSpPr>
        <p:sp>
          <p:nvSpPr>
            <p:cNvPr id="50" name="Text Box 4">
              <a:extLst>
                <a:ext uri="{FF2B5EF4-FFF2-40B4-BE49-F238E27FC236}">
                  <a16:creationId xmlns:a16="http://schemas.microsoft.com/office/drawing/2014/main" id="{E938985F-973D-4F44-AB7A-D25521014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29"/>
              <a:ext cx="4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prstClr val="black"/>
                  </a:solidFill>
                  <a:latin typeface="Lucida Sans Unicode"/>
                </a:rPr>
                <a:t>P</a:t>
              </a:r>
              <a:r>
                <a:rPr lang="en-US" baseline="-25000">
                  <a:solidFill>
                    <a:prstClr val="black"/>
                  </a:solidFill>
                  <a:latin typeface="Lucida Sans Unicode"/>
                </a:rPr>
                <a:t>CO</a:t>
              </a:r>
              <a:endParaRPr lang="en-US" i="1">
                <a:solidFill>
                  <a:prstClr val="black"/>
                </a:solidFill>
                <a:latin typeface="Lucida Sans Unicode"/>
              </a:endParaRPr>
            </a:p>
          </p:txBody>
        </p:sp>
        <p:sp>
          <p:nvSpPr>
            <p:cNvPr id="51" name="Text Box 5">
              <a:extLst>
                <a:ext uri="{FF2B5EF4-FFF2-40B4-BE49-F238E27FC236}">
                  <a16:creationId xmlns:a16="http://schemas.microsoft.com/office/drawing/2014/main" id="{B2C08C08-5431-C742-BF98-C886993D5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" y="3114"/>
              <a:ext cx="171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aseline="-25000" dirty="0">
                  <a:solidFill>
                    <a:prstClr val="black"/>
                  </a:solidFill>
                  <a:latin typeface="Lucida Sans Unicode"/>
                </a:rPr>
                <a:t>2</a:t>
              </a:r>
            </a:p>
          </p:txBody>
        </p:sp>
      </p:grpSp>
      <p:sp>
        <p:nvSpPr>
          <p:cNvPr id="52" name="Text Box 6">
            <a:extLst>
              <a:ext uri="{FF2B5EF4-FFF2-40B4-BE49-F238E27FC236}">
                <a16:creationId xmlns:a16="http://schemas.microsoft.com/office/drawing/2014/main" id="{6C220BC4-6020-664B-8E3D-B872BB8A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664" y="4922992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Lucida Sans Unicode"/>
              </a:rPr>
              <a:t>= </a:t>
            </a:r>
            <a:r>
              <a:rPr lang="en-US" i="1">
                <a:solidFill>
                  <a:prstClr val="black"/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prstClr val="black"/>
                </a:solidFill>
                <a:latin typeface="Lucida Sans Unicode"/>
              </a:rPr>
              <a:t>p</a:t>
            </a:r>
            <a:endParaRPr lang="en-US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54" name="Text Box 9">
            <a:extLst>
              <a:ext uri="{FF2B5EF4-FFF2-40B4-BE49-F238E27FC236}">
                <a16:creationId xmlns:a16="http://schemas.microsoft.com/office/drawing/2014/main" id="{1E2D3E27-2DFE-4148-B5D4-E1E7AD485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826" y="468852"/>
            <a:ext cx="4238626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CaCO</a:t>
            </a:r>
            <a:r>
              <a:rPr kumimoji="0" lang="en-US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3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s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             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CaO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s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+ CO</a:t>
            </a:r>
            <a:r>
              <a:rPr kumimoji="0" lang="en-US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grpSp>
        <p:nvGrpSpPr>
          <p:cNvPr id="58" name="Group 21">
            <a:extLst>
              <a:ext uri="{FF2B5EF4-FFF2-40B4-BE49-F238E27FC236}">
                <a16:creationId xmlns:a16="http://schemas.microsoft.com/office/drawing/2014/main" id="{4FDF753D-3E8C-AD47-BAD8-5560D6F30244}"/>
              </a:ext>
            </a:extLst>
          </p:cNvPr>
          <p:cNvGrpSpPr>
            <a:grpSpLocks/>
          </p:cNvGrpSpPr>
          <p:nvPr/>
        </p:nvGrpSpPr>
        <p:grpSpPr bwMode="auto">
          <a:xfrm>
            <a:off x="1750267" y="5662826"/>
            <a:ext cx="6892925" cy="474662"/>
            <a:chOff x="720" y="3533"/>
            <a:chExt cx="4342" cy="299"/>
          </a:xfrm>
        </p:grpSpPr>
        <p:grpSp>
          <p:nvGrpSpPr>
            <p:cNvPr id="59" name="Group 17">
              <a:extLst>
                <a:ext uri="{FF2B5EF4-FFF2-40B4-BE49-F238E27FC236}">
                  <a16:creationId xmlns:a16="http://schemas.microsoft.com/office/drawing/2014/main" id="{580C4CEF-1CEE-EA48-AEF3-0988D6562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533"/>
              <a:ext cx="436" cy="288"/>
              <a:chOff x="2408" y="3029"/>
              <a:chExt cx="436" cy="288"/>
            </a:xfrm>
          </p:grpSpPr>
          <p:sp>
            <p:nvSpPr>
              <p:cNvPr id="61" name="Text Box 18">
                <a:extLst>
                  <a:ext uri="{FF2B5EF4-FFF2-40B4-BE49-F238E27FC236}">
                    <a16:creationId xmlns:a16="http://schemas.microsoft.com/office/drawing/2014/main" id="{D67DDE13-9F8D-064E-AA0D-318D2A05A8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" y="3029"/>
                <a:ext cx="43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prstClr val="black"/>
                    </a:solidFill>
                    <a:latin typeface="Lucida Sans Unicode"/>
                  </a:rPr>
                  <a:t>P</a:t>
                </a:r>
                <a:r>
                  <a:rPr lang="en-US" baseline="-25000">
                    <a:solidFill>
                      <a:prstClr val="black"/>
                    </a:solidFill>
                    <a:latin typeface="Lucida Sans Unicode"/>
                  </a:rPr>
                  <a:t>CO</a:t>
                </a:r>
                <a:endParaRPr lang="en-US" i="1">
                  <a:solidFill>
                    <a:prstClr val="black"/>
                  </a:solidFill>
                  <a:latin typeface="Lucida Sans Unicode"/>
                </a:endParaRPr>
              </a:p>
            </p:txBody>
          </p:sp>
          <p:sp>
            <p:nvSpPr>
              <p:cNvPr id="62" name="Text Box 19">
                <a:extLst>
                  <a:ext uri="{FF2B5EF4-FFF2-40B4-BE49-F238E27FC236}">
                    <a16:creationId xmlns:a16="http://schemas.microsoft.com/office/drawing/2014/main" id="{D21C9A82-5BC9-C347-94A4-DFC4DFBF1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2" y="3105"/>
                <a:ext cx="171" cy="1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baseline="-25000" dirty="0">
                    <a:solidFill>
                      <a:prstClr val="black"/>
                    </a:solidFill>
                    <a:latin typeface="Lucida Sans Unicode"/>
                  </a:rPr>
                  <a:t>2</a:t>
                </a:r>
              </a:p>
            </p:txBody>
          </p:sp>
        </p:grpSp>
        <p:sp>
          <p:nvSpPr>
            <p:cNvPr id="60" name="Text Box 20">
              <a:extLst>
                <a:ext uri="{FF2B5EF4-FFF2-40B4-BE49-F238E27FC236}">
                  <a16:creationId xmlns:a16="http://schemas.microsoft.com/office/drawing/2014/main" id="{0504ADAE-A341-4C4D-AB20-C433B0B84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3544"/>
              <a:ext cx="39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CL">
                  <a:solidFill>
                    <a:srgbClr val="000000"/>
                  </a:solidFill>
                  <a:latin typeface="Lucida Sans Unicode"/>
                  <a:ea typeface="Times New Roman" pitchFamily="18" charset="0"/>
                  <a:cs typeface="Mangal" pitchFamily="2"/>
                </a:rPr>
                <a:t>no depende de la cantidad de </a:t>
              </a:r>
              <a:r>
                <a:rPr lang="es-CL">
                  <a:solidFill>
                    <a:prstClr val="black"/>
                  </a:solidFill>
                  <a:latin typeface="Lucida Sans Unicode"/>
                  <a:ea typeface="Times New Roman" pitchFamily="18" charset="0"/>
                  <a:cs typeface="Mangal" pitchFamily="2"/>
                </a:rPr>
                <a:t>CaCO</a:t>
              </a:r>
              <a:r>
                <a:rPr lang="es-CL" baseline="-25000">
                  <a:solidFill>
                    <a:prstClr val="black"/>
                  </a:solidFill>
                  <a:latin typeface="Lucida Sans Unicode"/>
                  <a:ea typeface="Times New Roman" pitchFamily="18" charset="0"/>
                  <a:cs typeface="Mangal" pitchFamily="2"/>
                </a:rPr>
                <a:t>3</a:t>
              </a:r>
              <a:r>
                <a:rPr lang="es-CL">
                  <a:solidFill>
                    <a:prstClr val="black"/>
                  </a:solidFill>
                  <a:latin typeface="Lucida Sans Unicode"/>
                  <a:ea typeface="Times New Roman" pitchFamily="18" charset="0"/>
                  <a:cs typeface="Mangal" pitchFamily="2"/>
                </a:rPr>
                <a:t> o CaO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D38A9396-CBDA-3542-A473-001B93D65C8A}"/>
              </a:ext>
            </a:extLst>
          </p:cNvPr>
          <p:cNvSpPr/>
          <p:nvPr/>
        </p:nvSpPr>
        <p:spPr>
          <a:xfrm>
            <a:off x="3920426" y="377075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011893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5B0BE4-F410-9541-AF6B-17FEB72A8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7" r="-1696" b="26786"/>
          <a:stretch/>
        </p:blipFill>
        <p:spPr>
          <a:xfrm>
            <a:off x="678969" y="1196622"/>
            <a:ext cx="8195717" cy="395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6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579CEC28-1A04-334B-AB8E-E52AEF2F9635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47" name="14 Rectángulo">
            <a:extLst>
              <a:ext uri="{FF2B5EF4-FFF2-40B4-BE49-F238E27FC236}">
                <a16:creationId xmlns:a16="http://schemas.microsoft.com/office/drawing/2014/main" id="{16019B10-557F-FD42-93D2-C994CBD7D92F}"/>
              </a:ext>
            </a:extLst>
          </p:cNvPr>
          <p:cNvSpPr/>
          <p:nvPr/>
        </p:nvSpPr>
        <p:spPr>
          <a:xfrm>
            <a:off x="5223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BD3A8980-002A-D547-99DD-1E64A927F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7" y="13589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endParaRPr lang="es-CL" altLang="es-CL" sz="18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5" name="Text Box 9">
            <a:extLst>
              <a:ext uri="{FF2B5EF4-FFF2-40B4-BE49-F238E27FC236}">
                <a16:creationId xmlns:a16="http://schemas.microsoft.com/office/drawing/2014/main" id="{750119C3-C647-0D4B-94E2-504BED71F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26" y="290478"/>
            <a:ext cx="9190336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constante de equilibrio de una reacción química, K</a:t>
            </a:r>
            <a:r>
              <a:rPr lang="es-ES_tradnl" altLang="es-CL" sz="1800" b="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o </a:t>
            </a:r>
            <a:r>
              <a:rPr lang="es-ES_tradnl" altLang="es-CL" sz="1800" b="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s-ES_tradnl" altLang="es-CL" sz="1800" b="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indica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qué grado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los reactivos se transforman en productos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una vez alcanzado el equilibrio.</a:t>
            </a: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AA23BC35-30B8-B640-95AC-2E2287471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32" y="1355353"/>
            <a:ext cx="2137124" cy="47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SzPct val="150000"/>
              <a:buNone/>
            </a:pPr>
            <a:r>
              <a:rPr lang="es-ES_tradn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 es muy grande</a:t>
            </a:r>
            <a:r>
              <a:rPr lang="es-ES_tradnl" altLang="es-CL" sz="1800" b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C66CF660-A86D-5B4E-9525-62680CCA3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283" y="1339850"/>
            <a:ext cx="7029173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SzPct val="150000"/>
              <a:buFontTx/>
              <a:buNone/>
            </a:pP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reacción directa progresa hasta que prácticamente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agota alguno de los reactivos.</a:t>
            </a:r>
            <a:endParaRPr lang="es-ES_tradnl" altLang="es-CL" sz="1800" b="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8" name="Text Box 12">
            <a:extLst>
              <a:ext uri="{FF2B5EF4-FFF2-40B4-BE49-F238E27FC236}">
                <a16:creationId xmlns:a16="http://schemas.microsoft.com/office/drawing/2014/main" id="{E4F7006D-0ADB-7A4A-A0C0-263E7E147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67" y="2108548"/>
            <a:ext cx="829073" cy="47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SzPct val="150000"/>
              <a:buNone/>
            </a:pPr>
            <a:r>
              <a:rPr lang="es-ES_tradn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 </a:t>
            </a:r>
            <a:r>
              <a:rPr lang="es-ES_tradn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2" charset="2"/>
              </a:rPr>
              <a:t></a:t>
            </a:r>
            <a:r>
              <a:rPr lang="es-ES_tradn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1</a:t>
            </a:r>
            <a:r>
              <a:rPr lang="es-ES_tradnl" altLang="es-CL" sz="1800" b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</p:txBody>
      </p:sp>
      <p:sp>
        <p:nvSpPr>
          <p:cNvPr id="39" name="Text Box 13">
            <a:extLst>
              <a:ext uri="{FF2B5EF4-FFF2-40B4-BE49-F238E27FC236}">
                <a16:creationId xmlns:a16="http://schemas.microsoft.com/office/drawing/2014/main" id="{ABE90745-F471-7E49-8694-C1829662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283" y="2135871"/>
            <a:ext cx="7288428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el equilibrio,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las concentraciones de reactivos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y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productos son similares.</a:t>
            </a:r>
            <a:endParaRPr lang="es-ES_tradnl" altLang="es-CL" sz="1800" b="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0" name="Text Box 14">
            <a:extLst>
              <a:ext uri="{FF2B5EF4-FFF2-40B4-BE49-F238E27FC236}">
                <a16:creationId xmlns:a16="http://schemas.microsoft.com/office/drawing/2014/main" id="{DD17DC9B-7B48-5044-A541-0E223B14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3" y="2931891"/>
            <a:ext cx="2388795" cy="47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SzPct val="150000"/>
              <a:buNone/>
            </a:pPr>
            <a:r>
              <a:rPr lang="es-ES_tradnl" altLang="es-CL" sz="1800" b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_tradnl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 es muy pequeña</a:t>
            </a:r>
            <a:r>
              <a:rPr lang="es-ES_tradnl" altLang="es-CL" sz="1800" b="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</p:txBody>
      </p:sp>
      <p:sp>
        <p:nvSpPr>
          <p:cNvPr id="41" name="Text Box 15">
            <a:extLst>
              <a:ext uri="{FF2B5EF4-FFF2-40B4-BE49-F238E27FC236}">
                <a16:creationId xmlns:a16="http://schemas.microsoft.com/office/drawing/2014/main" id="{7AF96169-62C8-E74D-B158-7C447379B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673" y="2996645"/>
            <a:ext cx="7288428" cy="88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reacción está </a:t>
            </a:r>
            <a:r>
              <a:rPr lang="es-ES_tradnl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muy desplazada hacia los reactivos a</a:t>
            </a:r>
            <a:r>
              <a:rPr lang="es-ES_tradnl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penas se forman productos.</a:t>
            </a:r>
          </a:p>
        </p:txBody>
      </p:sp>
      <p:graphicFrame>
        <p:nvGraphicFramePr>
          <p:cNvPr id="42" name="Object 16">
            <a:extLst>
              <a:ext uri="{FF2B5EF4-FFF2-40B4-BE49-F238E27FC236}">
                <a16:creationId xmlns:a16="http://schemas.microsoft.com/office/drawing/2014/main" id="{DC482446-1762-8144-854D-BABF52072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283204"/>
              </p:ext>
            </p:extLst>
          </p:nvPr>
        </p:nvGraphicFramePr>
        <p:xfrm>
          <a:off x="6447927" y="4089996"/>
          <a:ext cx="281940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0" name="Image" r:id="rId4" imgW="2178050" imgH="1758950" progId="Photoshop.Image.5">
                  <p:embed/>
                </p:oleObj>
              </mc:Choice>
              <mc:Fallback>
                <p:oleObj name="Image" r:id="rId4" imgW="2178050" imgH="1758950" progId="Photoshop.Image.5">
                  <p:embed/>
                  <p:pic>
                    <p:nvPicPr>
                      <p:cNvPr id="13322" name="Object 16">
                        <a:extLst>
                          <a:ext uri="{FF2B5EF4-FFF2-40B4-BE49-F238E27FC236}">
                            <a16:creationId xmlns:a16="http://schemas.microsoft.com/office/drawing/2014/main" id="{E8407276-4D97-3D4A-A7A7-F4F44C9F89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927" y="4089996"/>
                        <a:ext cx="2819400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7">
            <a:extLst>
              <a:ext uri="{FF2B5EF4-FFF2-40B4-BE49-F238E27FC236}">
                <a16:creationId xmlns:a16="http://schemas.microsoft.com/office/drawing/2014/main" id="{CD9879F7-2040-A44F-9EEB-F36C67273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008436"/>
              </p:ext>
            </p:extLst>
          </p:nvPr>
        </p:nvGraphicFramePr>
        <p:xfrm>
          <a:off x="3780927" y="4089996"/>
          <a:ext cx="2667000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1" name="Image" r:id="rId6" imgW="2159000" imgH="1828800" progId="Photoshop.Image.5">
                  <p:embed/>
                </p:oleObj>
              </mc:Choice>
              <mc:Fallback>
                <p:oleObj name="Image" r:id="rId6" imgW="2159000" imgH="1828800" progId="Photoshop.Image.5">
                  <p:embed/>
                  <p:pic>
                    <p:nvPicPr>
                      <p:cNvPr id="13323" name="Object 17">
                        <a:extLst>
                          <a:ext uri="{FF2B5EF4-FFF2-40B4-BE49-F238E27FC236}">
                            <a16:creationId xmlns:a16="http://schemas.microsoft.com/office/drawing/2014/main" id="{B27ED350-A1FD-6243-871A-E24CE25C0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927" y="4089996"/>
                        <a:ext cx="2667000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8">
            <a:extLst>
              <a:ext uri="{FF2B5EF4-FFF2-40B4-BE49-F238E27FC236}">
                <a16:creationId xmlns:a16="http://schemas.microsoft.com/office/drawing/2014/main" id="{6776AD23-4DE9-5047-A132-B098B8CB6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860807"/>
              </p:ext>
            </p:extLst>
          </p:nvPr>
        </p:nvGraphicFramePr>
        <p:xfrm>
          <a:off x="809127" y="4089996"/>
          <a:ext cx="2973388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" name="Image" r:id="rId8" imgW="2286000" imgH="1663700" progId="Photoshop.Image.5">
                  <p:embed/>
                </p:oleObj>
              </mc:Choice>
              <mc:Fallback>
                <p:oleObj name="Image" r:id="rId8" imgW="2286000" imgH="1663700" progId="Photoshop.Image.5">
                  <p:embed/>
                  <p:pic>
                    <p:nvPicPr>
                      <p:cNvPr id="13324" name="Object 18">
                        <a:extLst>
                          <a:ext uri="{FF2B5EF4-FFF2-40B4-BE49-F238E27FC236}">
                            <a16:creationId xmlns:a16="http://schemas.microsoft.com/office/drawing/2014/main" id="{769D8AE9-05F3-3F4B-9B2D-E8B7C41C8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127" y="4089996"/>
                        <a:ext cx="2973388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8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579CEC28-1A04-334B-AB8E-E52AEF2F9635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47" name="14 Rectángulo">
            <a:extLst>
              <a:ext uri="{FF2B5EF4-FFF2-40B4-BE49-F238E27FC236}">
                <a16:creationId xmlns:a16="http://schemas.microsoft.com/office/drawing/2014/main" id="{16019B10-557F-FD42-93D2-C994CBD7D92F}"/>
              </a:ext>
            </a:extLst>
          </p:cNvPr>
          <p:cNvSpPr/>
          <p:nvPr/>
        </p:nvSpPr>
        <p:spPr>
          <a:xfrm>
            <a:off x="5223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1B38280-E93F-6446-8D3B-19616B085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5" y="393881"/>
            <a:ext cx="9471819" cy="67884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s-CL" sz="2800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Magnitud</a:t>
            </a:r>
            <a:r>
              <a:rPr lang="en-US" alt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las </a:t>
            </a:r>
            <a:r>
              <a:rPr lang="en-US" altLang="es-CL" sz="2800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Constantes</a:t>
            </a:r>
            <a:r>
              <a:rPr lang="en-US" alt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</a:t>
            </a:r>
            <a:r>
              <a:rPr lang="en-US" altLang="es-CL" sz="2800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Equilibrio</a:t>
            </a:r>
            <a:endParaRPr lang="en-US" altLang="es-CL" sz="2800" b="1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8" name="Picture 3" descr="FG15_008">
            <a:extLst>
              <a:ext uri="{FF2B5EF4-FFF2-40B4-BE49-F238E27FC236}">
                <a16:creationId xmlns:a16="http://schemas.microsoft.com/office/drawing/2014/main" id="{D5C42CE9-930A-E54F-A9F4-517E86A5D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850" r="25369"/>
          <a:stretch>
            <a:fillRect/>
          </a:stretch>
        </p:blipFill>
        <p:spPr bwMode="auto">
          <a:xfrm>
            <a:off x="2997260" y="1196168"/>
            <a:ext cx="4452389" cy="541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19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1138EC1D-E343-2D44-BF9C-3A2CCA888DDE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A37D1AD-0765-4440-B1DB-69778DF1D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5" y="296839"/>
            <a:ext cx="6638496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s-ES_tradnl" sz="2800" b="1" dirty="0">
                <a:solidFill>
                  <a:srgbClr val="FF2F92"/>
                </a:solidFill>
                <a:latin typeface="Lucida Sans Unicode"/>
              </a:rPr>
              <a:t>Equilibrio Químico Gaseoso</a:t>
            </a:r>
            <a:endParaRPr lang="es-ES" sz="2800" b="1" dirty="0">
              <a:solidFill>
                <a:srgbClr val="FF2F92"/>
              </a:solidFill>
              <a:latin typeface="Lucida Sans Unicode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B03BB61-E2D9-B84A-AAFA-384BEBD54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02" y="1192906"/>
            <a:ext cx="7772400" cy="33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9300"/>
              </a:buClr>
              <a:buSzTx/>
              <a:buFont typeface="Wingdings" charset="2"/>
              <a:buChar char="ü"/>
              <a:tabLst/>
              <a:defRPr/>
            </a:pP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latin typeface="Lucida Sans Unicode"/>
              </a:rPr>
              <a:t>Proceso dinámico y reversible</a:t>
            </a:r>
            <a:endParaRPr kumimoji="0" lang="es-ES_tradnl" sz="2200" b="0" i="0" u="none" strike="noStrike" kern="0" cap="none" spc="0" normalizeH="0" baseline="0" noProof="0" dirty="0">
              <a:ln>
                <a:noFill/>
              </a:ln>
              <a:solidFill>
                <a:srgbClr val="FF9300"/>
              </a:solidFill>
              <a:effectLst/>
              <a:uLnTx/>
              <a:uFillTx/>
              <a:latin typeface="Lucida Sans Unicode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2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/>
            </a:endParaRPr>
          </a:p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a </a:t>
            </a:r>
            <a:r>
              <a:rPr kumimoji="0" lang="es-ES_tradnl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A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s-ES_tradnl" sz="2200" b="1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(g)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+ b </a:t>
            </a:r>
            <a:r>
              <a:rPr kumimoji="0" lang="es-ES_tradnl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B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s-ES_tradnl" sz="2200" b="1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(g)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 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  <a:sym typeface="Wingdings 3" panose="05040102010807070707" pitchFamily="18" charset="2"/>
              </a:rPr>
              <a:t></a:t>
            </a:r>
            <a:r>
              <a:rPr kumimoji="0" lang="es-ES_tradnl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 c C</a:t>
            </a:r>
            <a:r>
              <a:rPr kumimoji="0" lang="es-ES_tradnl" sz="2200" b="1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(g)</a:t>
            </a:r>
          </a:p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0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Constante de equilibrio</a:t>
            </a:r>
          </a:p>
          <a:p>
            <a:pPr marL="1143000" marR="0" lvl="2" indent="-2286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2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				</a:t>
            </a:r>
            <a:endParaRPr kumimoji="0" lang="es-ES" sz="22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413CE09-E529-0641-88C1-80A1175D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02" y="4466444"/>
            <a:ext cx="359092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Relación entre K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y </a:t>
            </a: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s-ES_tradnl" sz="20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endParaRPr lang="es-ES" sz="2000" baseline="-25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49ABE90-F262-7D43-8B2D-76F6559A7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080" y="3822412"/>
            <a:ext cx="8207375" cy="2664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90000"/>
              </a:lnSpc>
            </a:pPr>
            <a:r>
              <a:rPr lang="es-ES_tradnl" sz="2800" b="1" dirty="0">
                <a:solidFill>
                  <a:srgbClr val="011893"/>
                </a:solidFill>
                <a:latin typeface="Lucida Sans Unicode"/>
              </a:rPr>
              <a:t>a A(g) + b B(g) </a:t>
            </a:r>
            <a:r>
              <a:rPr lang="es-ES_tradnl" sz="2800" b="1" dirty="0">
                <a:solidFill>
                  <a:srgbClr val="011893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2800" b="1" dirty="0">
                <a:solidFill>
                  <a:srgbClr val="011893"/>
                </a:solidFill>
                <a:latin typeface="Lucida Sans Unicode"/>
              </a:rPr>
              <a:t>  c C(g) + d D(g)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</a:pPr>
            <a:endParaRPr lang="es-ES_tradnl" sz="2800" b="1" dirty="0">
              <a:solidFill>
                <a:srgbClr val="011893"/>
              </a:solidFill>
              <a:latin typeface="Lucida Sans Unicode"/>
            </a:endParaRP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s-ES_tradnl" sz="20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K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(RT)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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</a:pPr>
            <a:endParaRPr lang="es-ES_tradnl" sz="2000" baseline="30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marL="342900" indent="-342900" algn="just">
              <a:lnSpc>
                <a:spcPct val="120000"/>
              </a:lnSpc>
              <a:spcBef>
                <a:spcPct val="20000"/>
              </a:spcBef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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    = moles producto gaseoso – moles reactivo gaseoso</a:t>
            </a:r>
          </a:p>
          <a:p>
            <a:pPr marL="342900" indent="-342900" algn="just">
              <a:lnSpc>
                <a:spcPct val="120000"/>
              </a:lnSpc>
              <a:spcBef>
                <a:spcPct val="20000"/>
              </a:spcBef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	    = </a:t>
            </a: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r>
              <a:rPr lang="es-ES_tradnl" sz="20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producto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gaseoso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 </a:t>
            </a: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r>
              <a:rPr lang="es-ES_tradnl" sz="20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reactivo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gaseoso</a:t>
            </a: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marL="342900" indent="-342900" algn="just">
              <a:lnSpc>
                <a:spcPct val="120000"/>
              </a:lnSpc>
              <a:spcBef>
                <a:spcPct val="20000"/>
              </a:spcBef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	    = (</a:t>
            </a: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c+d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) – (</a:t>
            </a: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a+b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</a:pP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14" name="14 Rectángulo">
            <a:extLst>
              <a:ext uri="{FF2B5EF4-FFF2-40B4-BE49-F238E27FC236}">
                <a16:creationId xmlns:a16="http://schemas.microsoft.com/office/drawing/2014/main" id="{5E4EA6B4-805B-FD4C-B5C5-6B86FBFFAAC7}"/>
              </a:ext>
            </a:extLst>
          </p:cNvPr>
          <p:cNvSpPr/>
          <p:nvPr/>
        </p:nvSpPr>
        <p:spPr>
          <a:xfrm>
            <a:off x="6734451" y="5805633"/>
            <a:ext cx="3486049" cy="847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 = Número de moles de sustancias gaseosas en la ecuación balanceada</a:t>
            </a:r>
            <a:endParaRPr lang="es-ES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B12685A-DFFB-DD4D-853D-AB244DF2D712}"/>
                  </a:ext>
                </a:extLst>
              </p:cNvPr>
              <p:cNvSpPr txBox="1"/>
              <p:nvPr/>
            </p:nvSpPr>
            <p:spPr>
              <a:xfrm>
                <a:off x="4138855" y="2539244"/>
                <a:ext cx="1744708" cy="819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s-E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s-E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C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B12685A-DFFB-DD4D-853D-AB244DF2D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55" y="2539244"/>
                <a:ext cx="1744708" cy="819391"/>
              </a:xfrm>
              <a:prstGeom prst="rect">
                <a:avLst/>
              </a:prstGeom>
              <a:blipFill>
                <a:blip r:embed="rId3"/>
                <a:stretch>
                  <a:fillRect l="-2899" r="-725" b="-769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42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CEB8807F-2995-4C49-8755-EBCF7AC7A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97" y="387721"/>
            <a:ext cx="9097073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kumimoji="1" lang="es-ES_tradnl" sz="2800" dirty="0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Aspectos cuantitativos de la constante de equilibrio</a:t>
            </a:r>
            <a:endParaRPr kumimoji="1" lang="es-ES" sz="2800" dirty="0">
              <a:solidFill>
                <a:srgbClr val="FF2F9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Sans Unicode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CE7440B-074D-9243-8582-274300FDF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8" y="1923480"/>
            <a:ext cx="8901131" cy="208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11893"/>
              </a:buClr>
              <a:buFont typeface="Wingdings" charset="2"/>
              <a:buChar char="ü"/>
            </a:pPr>
            <a:r>
              <a:rPr kumimoji="1" lang="es-ES_tradnl" sz="2400" dirty="0">
                <a:solidFill>
                  <a:srgbClr val="008000"/>
                </a:solidFill>
                <a:latin typeface="Lucida Sans Unicode"/>
              </a:rPr>
              <a:t> </a:t>
            </a:r>
            <a:r>
              <a:rPr kumimoji="1" lang="es-ES_tradnl" sz="2400" b="1" dirty="0">
                <a:solidFill>
                  <a:srgbClr val="008000"/>
                </a:solidFill>
                <a:latin typeface="Lucida Sans Unicode"/>
              </a:rPr>
              <a:t>Método para resolver problemas de constante de equilibrio.</a:t>
            </a:r>
          </a:p>
          <a:p>
            <a:pPr algn="just">
              <a:lnSpc>
                <a:spcPct val="150000"/>
              </a:lnSpc>
            </a:pPr>
            <a:r>
              <a:rPr kumimoji="1"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Si se conoce Kc y las concentraciones iniciales, se pueden calcular las concentraciones de equilibrio.</a:t>
            </a:r>
            <a:endParaRPr kumimoji="1" lang="es-ES" sz="20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7278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046916CA-2326-A745-89FB-AC96E6A33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258" y="514731"/>
            <a:ext cx="9404021" cy="43011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s-ES_tradnl" sz="2400" b="1" dirty="0">
                <a:solidFill>
                  <a:srgbClr val="008000"/>
                </a:solidFill>
                <a:latin typeface="Lucida Sans Unicode"/>
                <a:cs typeface="Arial" charset="0"/>
              </a:rPr>
              <a:t>Ejemplo:  </a:t>
            </a:r>
            <a:r>
              <a:rPr kumimoji="1"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</a:rPr>
              <a:t>Cálculo de las concentraciones de equilibrio.</a:t>
            </a:r>
            <a:endParaRPr kumimoji="1" lang="es-ES_tradnl" sz="2400" dirty="0">
              <a:solidFill>
                <a:schemeClr val="accent5">
                  <a:lumMod val="75000"/>
                </a:schemeClr>
              </a:solidFill>
              <a:latin typeface="Lucida Sans Unicode"/>
              <a:cs typeface="Arial" charset="0"/>
              <a:sym typeface="Symbol" pitchFamily="18" charset="2"/>
            </a:endParaRPr>
          </a:p>
          <a:p>
            <a:pPr>
              <a:lnSpc>
                <a:spcPct val="150000"/>
              </a:lnSpc>
            </a:pPr>
            <a:r>
              <a:rPr kumimoji="1"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Para la reacción </a:t>
            </a:r>
            <a:r>
              <a:rPr kumimoji="1"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</a:rPr>
              <a:t>A </a:t>
            </a:r>
            <a:r>
              <a:rPr kumimoji="1"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Wingdings 3" panose="05040102010807070707" pitchFamily="18" charset="2"/>
              </a:rPr>
              <a:t></a:t>
            </a:r>
            <a:r>
              <a:rPr kumimoji="1"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 B, si A tiene una concentración inicial de 0,85 M, </a:t>
            </a:r>
            <a:r>
              <a:rPr kumimoji="1" lang="es-ES_tradnl" sz="2400" b="1" dirty="0">
                <a:solidFill>
                  <a:srgbClr val="008000"/>
                </a:solidFill>
                <a:latin typeface="Lucida Sans Unicode"/>
                <a:cs typeface="Arial" charset="0"/>
                <a:sym typeface="Symbol" pitchFamily="18" charset="2"/>
              </a:rPr>
              <a:t>¿Cuáles son las concentraciones en el equilibrio de A y de B? Considere que K</a:t>
            </a:r>
            <a:r>
              <a:rPr kumimoji="1" lang="es-ES_tradnl" sz="2400" b="1" baseline="-25000" dirty="0">
                <a:solidFill>
                  <a:srgbClr val="008000"/>
                </a:solidFill>
                <a:latin typeface="Lucida Sans Unicode"/>
                <a:cs typeface="Arial" charset="0"/>
                <a:sym typeface="Symbol" pitchFamily="18" charset="2"/>
              </a:rPr>
              <a:t>c</a:t>
            </a:r>
            <a:r>
              <a:rPr kumimoji="1" lang="es-ES_tradnl" sz="2400" b="1" dirty="0">
                <a:solidFill>
                  <a:srgbClr val="008000"/>
                </a:solidFill>
                <a:latin typeface="Lucida Sans Unicode"/>
                <a:cs typeface="Arial" charset="0"/>
                <a:sym typeface="Symbol" pitchFamily="18" charset="2"/>
              </a:rPr>
              <a:t> = 24.</a:t>
            </a:r>
          </a:p>
          <a:p>
            <a:pPr>
              <a:lnSpc>
                <a:spcPct val="150000"/>
              </a:lnSpc>
            </a:pPr>
            <a:r>
              <a:rPr kumimoji="1" lang="es-ES_tradnl" sz="2000" dirty="0">
                <a:solidFill>
                  <a:prstClr val="black"/>
                </a:solidFill>
                <a:latin typeface="Lucida Sans Unicode"/>
                <a:cs typeface="Arial" charset="0"/>
              </a:rPr>
              <a:t>			   	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  <a:cs typeface="Arial" charset="0"/>
              </a:rPr>
              <a:t>A 		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  <a:cs typeface="Arial" charset="0"/>
                <a:sym typeface="Wingdings 3" panose="05040102010807070707" pitchFamily="18" charset="2"/>
              </a:rPr>
              <a:t>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  <a:cs typeface="Arial" charset="0"/>
                <a:sym typeface="Symbol" pitchFamily="18" charset="2"/>
              </a:rPr>
              <a:t> 	      B</a:t>
            </a:r>
          </a:p>
          <a:p>
            <a:pPr>
              <a:lnSpc>
                <a:spcPct val="150000"/>
              </a:lnSpc>
            </a:pPr>
            <a:r>
              <a:rPr kumimoji="1" lang="es-ES_tradnl" sz="2000" dirty="0">
                <a:solidFill>
                  <a:prstClr val="black"/>
                </a:solidFill>
                <a:latin typeface="Lucida Sans Unicode"/>
                <a:cs typeface="Arial" charset="0"/>
                <a:sym typeface="Symbol" pitchFamily="18" charset="2"/>
              </a:rPr>
              <a:t>	</a:t>
            </a:r>
            <a:r>
              <a:rPr kumimoji="1"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Inicial		        0,85 M		     	     0 M</a:t>
            </a:r>
          </a:p>
          <a:p>
            <a:pPr>
              <a:lnSpc>
                <a:spcPct val="150000"/>
              </a:lnSpc>
            </a:pPr>
            <a:r>
              <a:rPr kumimoji="1"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	</a:t>
            </a:r>
            <a:r>
              <a:rPr kumimoji="1" lang="es-ES_tradnl" sz="2000" u="sng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Cambio.                    -x M			     x M</a:t>
            </a:r>
          </a:p>
          <a:p>
            <a:pPr>
              <a:lnSpc>
                <a:spcPct val="150000"/>
              </a:lnSpc>
            </a:pPr>
            <a:r>
              <a:rPr kumimoji="1"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cs typeface="Arial" charset="0"/>
                <a:sym typeface="Symbol" pitchFamily="18" charset="2"/>
              </a:rPr>
              <a:t>	Equilibrio	     (0,85 – x) M	     	     x M</a:t>
            </a:r>
            <a:endParaRPr kumimoji="1" lang="es-ES" sz="2000" dirty="0">
              <a:solidFill>
                <a:schemeClr val="accent5">
                  <a:lumMod val="75000"/>
                </a:schemeClr>
              </a:solidFill>
              <a:latin typeface="Lucida Sans Unicode"/>
              <a:cs typeface="Arial" charset="0"/>
              <a:sym typeface="Symbol" pitchFamily="18" charset="2"/>
            </a:endParaRPr>
          </a:p>
        </p:txBody>
      </p:sp>
      <p:grpSp>
        <p:nvGrpSpPr>
          <p:cNvPr id="9" name="24 Grupo">
            <a:extLst>
              <a:ext uri="{FF2B5EF4-FFF2-40B4-BE49-F238E27FC236}">
                <a16:creationId xmlns:a16="http://schemas.microsoft.com/office/drawing/2014/main" id="{EBE552A3-9277-F34D-83D1-BA91BBBB1004}"/>
              </a:ext>
            </a:extLst>
          </p:cNvPr>
          <p:cNvGrpSpPr/>
          <p:nvPr/>
        </p:nvGrpSpPr>
        <p:grpSpPr>
          <a:xfrm>
            <a:off x="1867275" y="5013408"/>
            <a:ext cx="7470984" cy="1428082"/>
            <a:chOff x="1223963" y="4981877"/>
            <a:chExt cx="6624637" cy="1296424"/>
          </a:xfrm>
        </p:grpSpPr>
        <p:grpSp>
          <p:nvGrpSpPr>
            <p:cNvPr id="10" name="Agrupar 14">
              <a:extLst>
                <a:ext uri="{FF2B5EF4-FFF2-40B4-BE49-F238E27FC236}">
                  <a16:creationId xmlns:a16="http://schemas.microsoft.com/office/drawing/2014/main" id="{744EDC86-0D24-E649-BDD5-FD39D4109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7059" y="4981877"/>
              <a:ext cx="1050925" cy="579653"/>
              <a:chOff x="8712200" y="5376862"/>
              <a:chExt cx="1050925" cy="579439"/>
            </a:xfrm>
          </p:grpSpPr>
          <p:sp>
            <p:nvSpPr>
              <p:cNvPr id="14" name="Text Box 9">
                <a:extLst>
                  <a:ext uri="{FF2B5EF4-FFF2-40B4-BE49-F238E27FC236}">
                    <a16:creationId xmlns:a16="http://schemas.microsoft.com/office/drawing/2014/main" id="{8FF7F76E-6CA5-B644-B30D-B2666A801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12200" y="5618163"/>
                <a:ext cx="1050925" cy="338138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s-ES_tradnl" sz="16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 Unicode"/>
                    <a:sym typeface="Symbol" pitchFamily="18" charset="2"/>
                  </a:rPr>
                  <a:t>(0,85 – x)</a:t>
                </a:r>
                <a:endParaRPr kumimoji="1" lang="es-E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endParaRPr>
              </a:p>
            </p:txBody>
          </p:sp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325DB2F2-12D5-1348-8616-7CFFF1E6BA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4000" y="5376862"/>
                <a:ext cx="276038" cy="307228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s-ES_tradnl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  <a:sym typeface="Symbol" pitchFamily="18" charset="2"/>
                  </a:rPr>
                  <a:t>x</a:t>
                </a:r>
                <a:endParaRPr kumimoji="1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09BCEA-F58D-CA40-80C9-1A3B29673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963" y="5076872"/>
              <a:ext cx="6624637" cy="12014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Kc = </a:t>
              </a:r>
              <a:r>
                <a:rPr kumimoji="1" lang="es-ES_tradnl" sz="1600" b="0" i="0" u="sng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[B]</a:t>
              </a:r>
              <a:r>
                <a:rPr kumimoji="1" lang="es-ES_tradnl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        24 = ------------     x = 0,816 M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        [A]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s-ES_tradn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sym typeface="Symbol" pitchFamily="18" charset="2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[A] = (0,85 – 0,816) M = </a:t>
              </a:r>
              <a:r>
                <a:rPr kumimoji="1" lang="es-ES_tradnl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0,034 M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s-ES_tradnl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[B] = </a:t>
              </a:r>
              <a:r>
                <a:rPr kumimoji="1" lang="es-ES_tradnl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0,816 M</a:t>
              </a:r>
              <a:endParaRPr kumimoji="1" lang="es-ES" sz="1600" b="1" i="0" u="none" strike="noStrike" kern="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Lucida Sans Unicode"/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84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D902D301-F740-F04D-87B5-1A0B42070AA2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95F7C1B-3774-6B48-891E-90B14A507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66" y="268317"/>
            <a:ext cx="46297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sz="2800" b="1" dirty="0">
                <a:solidFill>
                  <a:srgbClr val="FF2F92"/>
                </a:solidFill>
                <a:latin typeface="Lucida Sans Unicode"/>
                <a:ea typeface="Times New Roman" pitchFamily="18" charset="0"/>
                <a:cs typeface="Mangal" pitchFamily="2"/>
              </a:rPr>
              <a:t>Constantes de Equilibrio </a:t>
            </a:r>
            <a:r>
              <a:rPr lang="es-ES_tradnl" b="1" dirty="0">
                <a:solidFill>
                  <a:srgbClr val="FF2F92"/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892301F0-9A74-404E-A623-DFC1CB3D2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64" y="1035148"/>
            <a:ext cx="11253105" cy="574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700" indent="558800" algn="just">
              <a:lnSpc>
                <a:spcPct val="150000"/>
              </a:lnSpc>
              <a:spcBef>
                <a:spcPct val="500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ü"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Las concentraciones de la especie que reacciona en la fase condensada se expresan en  </a:t>
            </a:r>
            <a:r>
              <a:rPr lang="es-CL" sz="2000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. En la fase gaseosa, las concentraciones se pueden expresar en  </a:t>
            </a:r>
            <a:r>
              <a:rPr lang="es-CL" sz="2000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o en  atmósferas de presión. </a:t>
            </a:r>
          </a:p>
          <a:p>
            <a:pPr marL="12700" indent="558800" algn="just">
              <a:lnSpc>
                <a:spcPct val="150000"/>
              </a:lnSpc>
              <a:spcBef>
                <a:spcPct val="500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ü"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Las concentraciones de sólidos puros, de líquidos puros y de solventes no deben aparecen en las expresiones para la constantes de equilibrio. </a:t>
            </a:r>
          </a:p>
          <a:p>
            <a:pPr marL="12700" indent="558800" algn="just">
              <a:lnSpc>
                <a:spcPct val="150000"/>
              </a:lnSpc>
              <a:spcBef>
                <a:spcPct val="500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ü"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 constante de equilibrio es una cantidad sin dimensiones. </a:t>
            </a:r>
          </a:p>
          <a:p>
            <a:pPr marL="12700" indent="558800" algn="just">
              <a:lnSpc>
                <a:spcPct val="150000"/>
              </a:lnSpc>
              <a:spcBef>
                <a:spcPct val="500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ü"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Para representar la expresión para la constante de equilibrio, usted debe utilizar la ecuación equilibrada y  especificar la temperatura. </a:t>
            </a:r>
          </a:p>
          <a:p>
            <a:pPr marL="12700" indent="558800" algn="just">
              <a:lnSpc>
                <a:spcPct val="150000"/>
              </a:lnSpc>
              <a:spcBef>
                <a:spcPct val="500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ü"/>
            </a:pP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Si una reacción se puede expresar como suma de dos o más reacciones, la constante de equilibrio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para la reacción total esta dada por el producto de las constantes de equilibrio de las reacciones individuales. 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31180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z="200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pPr/>
              <a:t>16</a:t>
            </a:fld>
            <a:endParaRPr lang="es-CL" sz="200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0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D902D301-F740-F04D-87B5-1A0B42070AA2}"/>
              </a:ext>
            </a:extLst>
          </p:cNvPr>
          <p:cNvSpPr/>
          <p:nvPr/>
        </p:nvSpPr>
        <p:spPr>
          <a:xfrm>
            <a:off x="5604455" y="114308"/>
            <a:ext cx="184731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79DBE1A-570E-8E43-A178-38BA4E3FB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80227"/>
            <a:ext cx="8229600" cy="719138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s-ES_tradnl" altLang="es-CL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Cociente de reacción (Q)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061EFF5-3C40-AE4F-819B-BBF59B940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1484313"/>
            <a:ext cx="11215688" cy="4525962"/>
          </a:xfrm>
          <a:noFill/>
        </p:spPr>
        <p:txBody>
          <a:bodyPr>
            <a:noAutofit/>
          </a:bodyPr>
          <a:lstStyle/>
          <a:p>
            <a:pPr marL="135464" indent="0" eaLnBrk="1" hangingPunct="1">
              <a:lnSpc>
                <a:spcPct val="80000"/>
              </a:lnSpc>
              <a:buNone/>
            </a:pP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una reacción cualquiera: </a:t>
            </a:r>
            <a:br>
              <a:rPr lang="es-ES_tradnl" altLang="es-CL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</a:b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buNone/>
            </a:pPr>
            <a:r>
              <a:rPr lang="es-ES_tradnl" altLang="es-CL" sz="20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</a:t>
            </a: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aA + </a:t>
            </a:r>
            <a:r>
              <a:rPr lang="es-ES_tradnl" altLang="es-CL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bB</a:t>
            </a: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ES_tradnl" b="1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ES_tradnl" altLang="es-CL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cC</a:t>
            </a:r>
            <a:r>
              <a:rPr lang="es-ES_tradnl" altLang="es-CL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</a:t>
            </a:r>
            <a:r>
              <a:rPr lang="es-ES_tradnl" altLang="es-CL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dD</a:t>
            </a:r>
            <a:br>
              <a:rPr lang="es-ES_tradnl" altLang="es-CL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</a:b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Tx/>
              <a:buNone/>
            </a:pP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llama cociente de reacción a:</a:t>
            </a:r>
          </a:p>
          <a:p>
            <a:pPr eaLnBrk="1" hangingPunct="1">
              <a:buFontTx/>
              <a:buNone/>
            </a:pP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Tx/>
              <a:buNone/>
            </a:pP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Tx/>
              <a:buNone/>
            </a:pP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Tx/>
              <a:buNone/>
            </a:pP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Tx/>
              <a:buNone/>
            </a:pPr>
            <a:endParaRPr lang="es-ES_tradnl" altLang="es-CL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135464" indent="0" algn="just" eaLnBrk="1" hangingPunct="1">
              <a:lnSpc>
                <a:spcPct val="150000"/>
              </a:lnSpc>
              <a:buNone/>
            </a:pP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Tiene la misma fórmula que la Kc pero a diferencia que las concentraciones no son las de equilibrio, sino las concentraciones iniciales.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B656DBCF-79CE-9044-B302-E44D2156D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237941"/>
              </p:ext>
            </p:extLst>
          </p:nvPr>
        </p:nvGraphicFramePr>
        <p:xfrm>
          <a:off x="4417295" y="3747294"/>
          <a:ext cx="255905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Equation" r:id="rId4" imgW="23406100" imgH="10528300" progId="Equation.DSMT4">
                  <p:embed/>
                </p:oleObj>
              </mc:Choice>
              <mc:Fallback>
                <p:oleObj name="Equation" r:id="rId4" imgW="23406100" imgH="10528300" progId="Equation.DSMT4">
                  <p:embed/>
                  <p:pic>
                    <p:nvPicPr>
                      <p:cNvPr id="53253" name="Object 5">
                        <a:extLst>
                          <a:ext uri="{FF2B5EF4-FFF2-40B4-BE49-F238E27FC236}">
                            <a16:creationId xmlns:a16="http://schemas.microsoft.com/office/drawing/2014/main" id="{3706ED29-6106-D445-BC31-CD75BDD3F0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295" y="3747294"/>
                        <a:ext cx="2559050" cy="1147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4733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HA56014">
            <a:extLst>
              <a:ext uri="{FF2B5EF4-FFF2-40B4-BE49-F238E27FC236}">
                <a16:creationId xmlns:a16="http://schemas.microsoft.com/office/drawing/2014/main" id="{22BE7A0E-BA99-F54E-A79A-2102764B5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72658" y="4839051"/>
            <a:ext cx="4663593" cy="198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D902D301-F740-F04D-87B5-1A0B42070AA2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AE75C65B-537B-F448-91C0-FCB858A0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114308"/>
            <a:ext cx="8854081" cy="143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_tradnl" altLang="es-CL" sz="20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</a:t>
            </a:r>
            <a:r>
              <a:rPr lang="es-ES_tradnl" altLang="es-CL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cociente de reacción (</a:t>
            </a:r>
            <a:r>
              <a:rPr lang="es-ES_tradnl" altLang="es-CL" sz="2000" b="1" dirty="0" err="1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</a:t>
            </a:r>
            <a:r>
              <a:rPr lang="es-ES_tradnl" altLang="es-CL" sz="2000" b="1" baseline="-25000" dirty="0" err="1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ES_tradnl" altLang="es-CL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</a:t>
            </a:r>
            <a:r>
              <a:rPr lang="es-ES_tradnl" altLang="es-CL" sz="20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calcula sustituyendo las concentraciones iniciales de los reactivos y productos en la expresión de la constante de equilibrio </a:t>
            </a:r>
            <a:r>
              <a:rPr lang="es-ES_tradnl" altLang="es-CL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(K</a:t>
            </a:r>
            <a:r>
              <a:rPr lang="es-ES_tradnl" altLang="es-CL" sz="2000" b="1" baseline="-2500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s-ES_tradnl" altLang="es-CL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5C7895C0-0B97-0140-B8B7-08F9FA328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1553163"/>
            <a:ext cx="11766751" cy="3593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 sz="20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&gt; </a:t>
            </a: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0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sistema procede de derecha a izquierda para alcanzar el equilibrio, </a:t>
            </a: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decir, aumentarán las concentraciones de los reactivos y disminuirán las de los productos hasta que Q se iguale con Kc.</a:t>
            </a:r>
            <a:r>
              <a:rPr lang="es-ES" altLang="es-CL" sz="2000" b="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endParaRPr lang="en-US" altLang="es-CL" sz="2000" b="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 sz="20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</a:t>
            </a: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  </a:t>
            </a:r>
            <a:r>
              <a:rPr lang="es-ES" altLang="es-CL" sz="20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sistema está en equilibrio 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 sz="20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&lt; </a:t>
            </a: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</a:t>
            </a:r>
            <a:r>
              <a:rPr lang="en-US" altLang="es-CL" sz="2000" b="1" i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</a:t>
            </a:r>
            <a:r>
              <a:rPr lang="en-US" altLang="es-CL" sz="2000" b="1" i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0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sistema procede de izquierda a derecha para alcanzar el equilibrio</a:t>
            </a:r>
            <a:r>
              <a:rPr lang="es-ES_tradnl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es decir, aumentarán las concentraciones de los productos y disminuirán las de los reactivos hasta que Q se iguale con Kc.</a:t>
            </a:r>
          </a:p>
        </p:txBody>
      </p:sp>
    </p:spTree>
    <p:extLst>
      <p:ext uri="{BB962C8B-B14F-4D97-AF65-F5344CB8AC3E}">
        <p14:creationId xmlns:p14="http://schemas.microsoft.com/office/powerpoint/2010/main" val="740181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621BB72F-98F0-5440-81E3-713BE335063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B11047B-F4FA-344C-848B-44D779295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8" y="213150"/>
            <a:ext cx="858903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defTabSz="384175">
              <a:lnSpc>
                <a:spcPct val="120000"/>
              </a:lnSpc>
              <a:spcBef>
                <a:spcPct val="20000"/>
              </a:spcBef>
            </a:pPr>
            <a:r>
              <a:rPr lang="es-ES_tradnl" sz="3200" b="1" dirty="0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Principio de Le </a:t>
            </a:r>
            <a:r>
              <a:rPr lang="es-ES_tradnl" sz="3200" b="1" dirty="0" err="1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Chatelier</a:t>
            </a:r>
            <a:endParaRPr lang="es-ES_tradnl" sz="3200" b="1" dirty="0">
              <a:solidFill>
                <a:srgbClr val="FF2F9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Sans Unicode"/>
            </a:endParaRPr>
          </a:p>
          <a:p>
            <a:pPr algn="just" defTabSz="384175">
              <a:lnSpc>
                <a:spcPct val="120000"/>
              </a:lnSpc>
              <a:spcBef>
                <a:spcPct val="20000"/>
              </a:spcBef>
            </a:pPr>
            <a:endParaRPr lang="es-ES_tradnl" sz="3200" b="1" dirty="0">
              <a:solidFill>
                <a:srgbClr val="FF9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Lucida Sans Unicode"/>
            </a:endParaRPr>
          </a:p>
          <a:p>
            <a:pPr algn="just" defTabSz="384175">
              <a:lnSpc>
                <a:spcPct val="120000"/>
              </a:lnSpc>
              <a:spcBef>
                <a:spcPct val="20000"/>
              </a:spcBef>
            </a:pPr>
            <a:r>
              <a:rPr lang="es-ES_tradnl" sz="2400" i="1" dirty="0">
                <a:solidFill>
                  <a:srgbClr val="FF9300"/>
                </a:solidFill>
                <a:latin typeface="Lucida Sans Unicode"/>
              </a:rPr>
              <a:t>“</a:t>
            </a:r>
            <a:r>
              <a:rPr lang="es-ES_tradnl" sz="2400" dirty="0">
                <a:solidFill>
                  <a:srgbClr val="FF9300"/>
                </a:solidFill>
                <a:latin typeface="Lucida Sans Unicode"/>
              </a:rPr>
              <a:t>Si un sistema en equilibrio se somete a una modificación, el sistema reaccionará desplazándose en el sentido de compensar el cambio introducido”.</a:t>
            </a:r>
          </a:p>
          <a:p>
            <a:pPr algn="just" defTabSz="384175">
              <a:lnSpc>
                <a:spcPct val="120000"/>
              </a:lnSpc>
              <a:spcBef>
                <a:spcPct val="20000"/>
              </a:spcBef>
            </a:pPr>
            <a:endParaRPr lang="es-ES_tradnl" sz="2400" dirty="0">
              <a:solidFill>
                <a:prstClr val="black"/>
              </a:solidFill>
              <a:latin typeface="Lucida Sans Unicode"/>
            </a:endParaRPr>
          </a:p>
          <a:p>
            <a:pPr algn="just" defTabSz="384175">
              <a:lnSpc>
                <a:spcPct val="120000"/>
              </a:lnSpc>
              <a:spcBef>
                <a:spcPct val="20000"/>
              </a:spcBef>
              <a:buClr>
                <a:srgbClr val="011893"/>
              </a:buClr>
              <a:buSzPct val="90000"/>
              <a:buFont typeface="Wingdings" charset="2"/>
              <a:buChar char="ü"/>
            </a:pPr>
            <a:r>
              <a:rPr lang="es-ES_tradnl" sz="28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s-ES_tradnl" sz="2800" dirty="0">
                <a:solidFill>
                  <a:srgbClr val="011893"/>
                </a:solidFill>
                <a:latin typeface="Lucida Sans Unicode"/>
              </a:rPr>
              <a:t>Concentración</a:t>
            </a:r>
          </a:p>
          <a:p>
            <a:pPr algn="just" defTabSz="384175">
              <a:lnSpc>
                <a:spcPct val="120000"/>
              </a:lnSpc>
              <a:spcBef>
                <a:spcPct val="20000"/>
              </a:spcBef>
              <a:buClr>
                <a:srgbClr val="011893"/>
              </a:buClr>
              <a:buSzPct val="90000"/>
              <a:buFont typeface="Wingdings" charset="2"/>
              <a:buChar char="ü"/>
            </a:pPr>
            <a:r>
              <a:rPr lang="es-ES_tradnl" sz="2800" dirty="0">
                <a:solidFill>
                  <a:srgbClr val="011893"/>
                </a:solidFill>
                <a:latin typeface="Lucida Sans Unicode"/>
                <a:cs typeface="Arial" charset="0"/>
              </a:rPr>
              <a:t> Presión (sistemas gaseosos) </a:t>
            </a:r>
          </a:p>
          <a:p>
            <a:pPr algn="just" defTabSz="384175">
              <a:lnSpc>
                <a:spcPct val="120000"/>
              </a:lnSpc>
              <a:spcBef>
                <a:spcPct val="20000"/>
              </a:spcBef>
              <a:buClr>
                <a:srgbClr val="011893"/>
              </a:buClr>
              <a:buSzPct val="90000"/>
              <a:buFont typeface="Wingdings" charset="2"/>
              <a:buChar char="ü"/>
            </a:pPr>
            <a:r>
              <a:rPr lang="es-ES_tradnl" sz="2800" dirty="0">
                <a:solidFill>
                  <a:srgbClr val="011893"/>
                </a:solidFill>
                <a:latin typeface="Lucida Sans Unicode"/>
                <a:cs typeface="Arial" charset="0"/>
              </a:rPr>
              <a:t> Temperatura</a:t>
            </a:r>
          </a:p>
          <a:p>
            <a:pPr algn="just" defTabSz="384175">
              <a:lnSpc>
                <a:spcPct val="120000"/>
              </a:lnSpc>
              <a:spcBef>
                <a:spcPct val="20000"/>
              </a:spcBef>
              <a:buClr>
                <a:srgbClr val="011893"/>
              </a:buClr>
              <a:buSzPct val="90000"/>
              <a:buFont typeface="Wingdings" charset="2"/>
              <a:buChar char="ü"/>
            </a:pPr>
            <a:r>
              <a:rPr lang="es-ES_tradnl" sz="2800" dirty="0">
                <a:solidFill>
                  <a:srgbClr val="011893"/>
                </a:solidFill>
                <a:latin typeface="Lucida Sans Unicode"/>
                <a:cs typeface="Arial" charset="0"/>
              </a:rPr>
              <a:t>  Presencia de catalizadores</a:t>
            </a:r>
            <a:r>
              <a:rPr lang="es-ES_tradnl" sz="2800" dirty="0">
                <a:solidFill>
                  <a:prstClr val="black"/>
                </a:solidFill>
                <a:latin typeface="Lucida Sans Unicode"/>
                <a:cs typeface="Arial" charset="0"/>
              </a:rPr>
              <a:t>		</a:t>
            </a:r>
            <a:endParaRPr lang="es-ES" sz="2800" dirty="0">
              <a:solidFill>
                <a:prstClr val="black"/>
              </a:solidFill>
              <a:latin typeface="Lucida Sans Unicode"/>
              <a:cs typeface="Arial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82F29B0-D8C7-FD4D-A81A-43B3A3FC8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103201" y="3001799"/>
            <a:ext cx="2631108" cy="3699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9901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8AA6DD07-E122-C343-AC08-73F85E697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83" y="489829"/>
            <a:ext cx="5539092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s-ES_tradnl" sz="2800" b="1" dirty="0">
                <a:solidFill>
                  <a:srgbClr val="FF2F92"/>
                </a:solidFill>
                <a:latin typeface="Lucida Sans Unicode"/>
              </a:rPr>
              <a:t>Cambios en la Concentración</a:t>
            </a:r>
            <a:endParaRPr lang="es-ES" sz="2800" b="1" dirty="0">
              <a:solidFill>
                <a:srgbClr val="FF2F92"/>
              </a:solidFill>
              <a:latin typeface="Lucida Sans Unicode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2DE59853-D272-2346-B293-468928BAC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796" y="1476539"/>
            <a:ext cx="5975453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DA1F28"/>
              </a:buClr>
              <a:buSzPct val="80000"/>
              <a:buFont typeface="Wingdings" charset="2"/>
              <a:buNone/>
            </a:pP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a A + b </a:t>
            </a:r>
            <a:r>
              <a:rPr lang="es-ES_tradnl" sz="3600" b="1" dirty="0" err="1">
                <a:solidFill>
                  <a:srgbClr val="008000"/>
                </a:solidFill>
                <a:latin typeface="Lucida Sans Unicode"/>
              </a:rPr>
              <a:t>B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   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  c C + d D	</a:t>
            </a:r>
            <a:endParaRPr kumimoji="1" lang="es-ES" sz="2000" dirty="0">
              <a:solidFill>
                <a:srgbClr val="008000"/>
              </a:solidFill>
              <a:latin typeface="Lucida Sans Unicode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81A6D92-EE41-B94C-B9F5-A44FFF75A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515" y="3120933"/>
            <a:ext cx="121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 b="1" dirty="0">
                <a:solidFill>
                  <a:srgbClr val="011893"/>
                </a:solidFill>
                <a:latin typeface="Lucida Sans Unicode"/>
                <a:ea typeface="Times New Roman" pitchFamily="18" charset="0"/>
                <a:cs typeface="Mangal" pitchFamily="2"/>
              </a:rPr>
              <a:t>Cambio 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EC98A30-4FDD-D946-BDBF-C1605C113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4616" y="3098616"/>
            <a:ext cx="29258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 b="1" dirty="0">
                <a:solidFill>
                  <a:srgbClr val="011893"/>
                </a:solidFill>
                <a:latin typeface="Lucida Sans Unicode"/>
                <a:ea typeface="Times New Roman" pitchFamily="18" charset="0"/>
                <a:cs typeface="Mangal" pitchFamily="2"/>
              </a:rPr>
              <a:t>Cambia del equilibrio 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44F4B1C7-8D98-624E-99E0-EC8FB3C32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315" y="3654333"/>
            <a:ext cx="54986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Aumentar la concentración de producto(s )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C0F58E90-A754-8547-B598-0D8AAF02F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4353" y="3654333"/>
            <a:ext cx="14318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izquierda 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9A8036A0-3678-6043-A9EC-81E504F28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315" y="4086133"/>
            <a:ext cx="5487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Disminuir la concentración de producto(s) 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EFAD449-B952-AC4E-B0A2-811FFBBA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0690" y="4086133"/>
            <a:ext cx="13308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derecha 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BA7B08AC-931D-834D-86F4-9A71CCCBB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315" y="4949733"/>
            <a:ext cx="55130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Disminuir la concentración de reactante(s) 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5406BBE6-5533-5243-B877-E46F3E8A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315" y="4517933"/>
            <a:ext cx="55242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Aumentar la concentración de reactante(s) </a:t>
            </a: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EEA243B3-2986-C24A-A375-CF385500A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0690" y="4517933"/>
            <a:ext cx="13308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derecha </a:t>
            </a:r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5F6DAEAC-EF38-2040-BF4C-9B5EA782B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4353" y="4949733"/>
            <a:ext cx="14318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00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izquierda </a:t>
            </a:r>
          </a:p>
        </p:txBody>
      </p:sp>
    </p:spTree>
    <p:extLst>
      <p:ext uri="{BB962C8B-B14F-4D97-AF65-F5344CB8AC3E}">
        <p14:creationId xmlns:p14="http://schemas.microsoft.com/office/powerpoint/2010/main" val="39026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20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8AA6DD07-E122-C343-AC08-73F85E697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83" y="489829"/>
            <a:ext cx="5539092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s-ES_tradnl" sz="2800" b="1" dirty="0">
                <a:solidFill>
                  <a:srgbClr val="FF2F92"/>
                </a:solidFill>
                <a:latin typeface="Lucida Sans Unicode"/>
              </a:rPr>
              <a:t>Cambios de Temperatura</a:t>
            </a:r>
            <a:endParaRPr lang="es-ES" sz="2800" b="1" dirty="0">
              <a:solidFill>
                <a:srgbClr val="FF2F92"/>
              </a:solidFill>
              <a:latin typeface="Lucida Sans Unicode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2DE59853-D272-2346-B293-468928BAC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508" y="2010765"/>
            <a:ext cx="8440766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DA1F28"/>
              </a:buClr>
              <a:buSzPct val="80000"/>
              <a:buFont typeface="Wingdings" charset="2"/>
              <a:buNone/>
            </a:pPr>
            <a:r>
              <a:rPr lang="es-ES_tradnl" sz="3200" dirty="0">
                <a:solidFill>
                  <a:srgbClr val="008000"/>
                </a:solidFill>
                <a:latin typeface="Lucida Sans Unicode"/>
              </a:rPr>
              <a:t>		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a A + b </a:t>
            </a:r>
            <a:r>
              <a:rPr lang="es-ES_tradnl" sz="3600" b="1" dirty="0" err="1">
                <a:solidFill>
                  <a:srgbClr val="008000"/>
                </a:solidFill>
                <a:latin typeface="Lucida Sans Unicode"/>
              </a:rPr>
              <a:t>B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   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3600" b="1" dirty="0">
                <a:solidFill>
                  <a:srgbClr val="008000"/>
                </a:solidFill>
                <a:latin typeface="Lucida Sans Unicode"/>
              </a:rPr>
              <a:t>  c C + d D	</a:t>
            </a:r>
            <a:r>
              <a:rPr lang="es-ES_tradnl" sz="2400" b="1" dirty="0">
                <a:solidFill>
                  <a:srgbClr val="008000"/>
                </a:solidFill>
                <a:latin typeface="Lucida Sans Unicode"/>
              </a:rPr>
              <a:t>	</a:t>
            </a:r>
            <a:endParaRPr kumimoji="1" lang="es-ES" sz="2000" dirty="0">
              <a:solidFill>
                <a:srgbClr val="008000"/>
              </a:solidFill>
              <a:latin typeface="Lucida Sans Unicode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AFC8FCC0-1E27-324F-85F3-E6F3D4664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83" y="3765962"/>
            <a:ext cx="910850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rgbClr val="011893"/>
              </a:buClr>
              <a:buFont typeface="Wingdings" charset="2"/>
              <a:buChar char="ü"/>
            </a:pPr>
            <a:r>
              <a:rPr lang="es-ES" sz="20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En una </a:t>
            </a:r>
            <a:r>
              <a:rPr lang="es-E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reacción endotérmica</a:t>
            </a:r>
            <a:r>
              <a:rPr lang="es-ES" sz="2000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,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un incremento de T desplaza el equilibrio a la derecha;</a:t>
            </a:r>
          </a:p>
          <a:p>
            <a:pPr algn="just">
              <a:lnSpc>
                <a:spcPct val="125000"/>
              </a:lnSpc>
              <a:buClr>
                <a:srgbClr val="011893"/>
              </a:buClr>
              <a:buFont typeface="Wingdings" charset="2"/>
              <a:buChar char="ü"/>
            </a:pPr>
            <a:r>
              <a:rPr lang="es-ES" sz="2000" dirty="0">
                <a:solidFill>
                  <a:prstClr val="black"/>
                </a:solidFill>
                <a:latin typeface="Lucida Sans Unicode"/>
              </a:rPr>
              <a:t>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En una </a:t>
            </a:r>
            <a:r>
              <a:rPr lang="es-ES" sz="20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reacción exotérmica</a:t>
            </a:r>
            <a:r>
              <a:rPr lang="es-ES" sz="2000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,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un aumento de T desplaza el equilibrio a la izquierda.</a:t>
            </a:r>
          </a:p>
        </p:txBody>
      </p:sp>
    </p:spTree>
    <p:extLst>
      <p:ext uri="{BB962C8B-B14F-4D97-AF65-F5344CB8AC3E}">
        <p14:creationId xmlns:p14="http://schemas.microsoft.com/office/powerpoint/2010/main" val="693993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BC4AC41A-FD04-294A-89C8-7D32D2CED81B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58C99F5-7111-B14F-9219-B7364D730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06" y="425740"/>
            <a:ext cx="9420866" cy="153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rgbClr val="011893"/>
              </a:buClr>
            </a:pPr>
            <a:r>
              <a:rPr lang="es-ES" sz="2800" b="1" dirty="0">
                <a:solidFill>
                  <a:srgbClr val="FF2F92"/>
                </a:solidFill>
                <a:latin typeface="Lucida Sans Unicode"/>
              </a:rPr>
              <a:t>R</a:t>
            </a:r>
            <a:r>
              <a:rPr lang="es-ES" sz="2800" b="1" dirty="0">
                <a:solidFill>
                  <a:srgbClr val="FF2F9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eacción Endotérmica: </a:t>
            </a:r>
          </a:p>
          <a:p>
            <a:pPr algn="just">
              <a:lnSpc>
                <a:spcPct val="125000"/>
              </a:lnSpc>
              <a:buClr>
                <a:srgbClr val="011893"/>
              </a:buClr>
            </a:pPr>
            <a:r>
              <a:rPr lang="es-E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Se absorbe energía (calor = q)</a:t>
            </a:r>
          </a:p>
          <a:p>
            <a:pPr algn="just">
              <a:lnSpc>
                <a:spcPct val="125000"/>
              </a:lnSpc>
              <a:buClr>
                <a:srgbClr val="011893"/>
              </a:buClr>
            </a:pPr>
            <a:r>
              <a:rPr lang="es-E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Posee un valor de variación de Entalpía positivo;      ΔΗ = + </a:t>
            </a:r>
            <a:endParaRPr lang="es-ES" sz="24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88ED5CC-1574-4D46-91DB-2D55D95F3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07" y="2400792"/>
            <a:ext cx="8251601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DA1F28"/>
              </a:buClr>
              <a:buSzPct val="80000"/>
              <a:buFont typeface="Wingdings" charset="2"/>
              <a:buNone/>
            </a:pPr>
            <a:r>
              <a:rPr lang="es-ES_tradnl" sz="2800" dirty="0">
                <a:solidFill>
                  <a:prstClr val="black"/>
                </a:solidFill>
                <a:latin typeface="Lucida Sans Unicode"/>
              </a:rPr>
              <a:t>		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 A  +  b B  + </a:t>
            </a:r>
            <a:r>
              <a:rPr lang="es-ES_tradnl" sz="2800" b="1" dirty="0">
                <a:solidFill>
                  <a:srgbClr val="FF2F92"/>
                </a:solidFill>
                <a:latin typeface="Lucida Sans Unicode"/>
              </a:rPr>
              <a:t>q </a:t>
            </a:r>
            <a:r>
              <a:rPr lang="es-ES_tradnl" sz="2800" b="1" dirty="0">
                <a:solidFill>
                  <a:prstClr val="black"/>
                </a:solidFill>
                <a:latin typeface="Lucida Sans Unicode"/>
              </a:rPr>
              <a:t>   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c C  +  d </a:t>
            </a:r>
            <a:r>
              <a:rPr lang="es-ES_tradnl" sz="2800" b="1" dirty="0">
                <a:solidFill>
                  <a:prstClr val="black"/>
                </a:solidFill>
                <a:latin typeface="Lucida Sans Unicode"/>
              </a:rPr>
              <a:t>		</a:t>
            </a:r>
            <a:endParaRPr kumimoji="1" lang="es-ES" sz="2800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9" name="Flecha derecha 13">
            <a:extLst>
              <a:ext uri="{FF2B5EF4-FFF2-40B4-BE49-F238E27FC236}">
                <a16:creationId xmlns:a16="http://schemas.microsoft.com/office/drawing/2014/main" id="{042B1C73-2A9B-E842-A409-D04CBC9B0324}"/>
              </a:ext>
            </a:extLst>
          </p:cNvPr>
          <p:cNvSpPr/>
          <p:nvPr/>
        </p:nvSpPr>
        <p:spPr>
          <a:xfrm>
            <a:off x="5883810" y="2966634"/>
            <a:ext cx="1681162" cy="160337"/>
          </a:xfrm>
          <a:prstGeom prst="rightArrow">
            <a:avLst/>
          </a:prstGeom>
          <a:solidFill>
            <a:srgbClr val="FF2F92"/>
          </a:solidFill>
          <a:ln w="9525" cap="flat" cmpd="sng" algn="ctr">
            <a:solidFill>
              <a:srgbClr val="FF2F9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32C172F6-CF5B-4B44-A34C-15030E171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06" y="3610247"/>
            <a:ext cx="8977633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rgbClr val="011893"/>
              </a:buClr>
            </a:pPr>
            <a:r>
              <a:rPr lang="es-ES" sz="2800" b="1" dirty="0">
                <a:solidFill>
                  <a:srgbClr val="008000"/>
                </a:solidFill>
                <a:latin typeface="Lucida Sans Unicode"/>
              </a:rPr>
              <a:t>R</a:t>
            </a:r>
            <a:r>
              <a:rPr lang="es-ES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eacción Exotérmica: </a:t>
            </a:r>
          </a:p>
          <a:p>
            <a:pPr algn="just">
              <a:lnSpc>
                <a:spcPct val="150000"/>
              </a:lnSpc>
              <a:buClr>
                <a:srgbClr val="011893"/>
              </a:buClr>
            </a:pPr>
            <a:r>
              <a:rPr lang="es-E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Se libera energía (calor = q)</a:t>
            </a:r>
          </a:p>
          <a:p>
            <a:pPr algn="just">
              <a:lnSpc>
                <a:spcPct val="150000"/>
              </a:lnSpc>
              <a:buClr>
                <a:srgbClr val="011893"/>
              </a:buClr>
            </a:pPr>
            <a:r>
              <a:rPr lang="es-E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Sans Unicode"/>
              </a:rPr>
              <a:t>Posee un valor de variación de Entalpía negativo;     ΔΗ = - </a:t>
            </a:r>
            <a:endParaRPr lang="es-ES" sz="24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7DB571BB-1E6B-DE43-9993-0DED1A23A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796" y="5558366"/>
            <a:ext cx="7799203" cy="95410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DA1F28"/>
              </a:buClr>
              <a:buSzPct val="80000"/>
              <a:buFont typeface="Wingdings" charset="2"/>
              <a:buNone/>
            </a:pPr>
            <a:r>
              <a:rPr lang="es-ES_tradnl" sz="3200" dirty="0">
                <a:solidFill>
                  <a:prstClr val="black"/>
                </a:solidFill>
                <a:latin typeface="Lucida Sans Unicode"/>
              </a:rPr>
              <a:t>		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 </a:t>
            </a:r>
            <a:r>
              <a:rPr lang="es-ES_tradnl" sz="28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+  b </a:t>
            </a:r>
            <a:r>
              <a:rPr lang="es-ES_tradnl" sz="28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B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c </a:t>
            </a:r>
            <a:r>
              <a:rPr lang="es-ES_tradnl" sz="28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+  d </a:t>
            </a:r>
            <a:r>
              <a:rPr lang="es-ES_tradnl" sz="2800" b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D</a:t>
            </a:r>
            <a:r>
              <a:rPr lang="es-ES_tradnl" sz="2800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 +  </a:t>
            </a:r>
            <a:r>
              <a:rPr lang="es-ES_tradnl" sz="2800" b="1" dirty="0">
                <a:solidFill>
                  <a:srgbClr val="008000"/>
                </a:solidFill>
                <a:latin typeface="Lucida Sans Unicode"/>
              </a:rPr>
              <a:t>q</a:t>
            </a:r>
            <a:r>
              <a:rPr lang="es-ES_tradnl" sz="2800" b="1" dirty="0">
                <a:solidFill>
                  <a:prstClr val="black"/>
                </a:solidFill>
                <a:latin typeface="Lucida Sans Unicode"/>
              </a:rPr>
              <a:t>  </a:t>
            </a:r>
            <a:r>
              <a:rPr lang="es-ES_tradnl" sz="2400" b="1" dirty="0">
                <a:solidFill>
                  <a:prstClr val="black"/>
                </a:solidFill>
                <a:latin typeface="Lucida Sans Unicode"/>
              </a:rPr>
              <a:t>		</a:t>
            </a:r>
            <a:endParaRPr kumimoji="1" lang="es-ES" sz="2000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13" name="Flecha derecha 16">
            <a:extLst>
              <a:ext uri="{FF2B5EF4-FFF2-40B4-BE49-F238E27FC236}">
                <a16:creationId xmlns:a16="http://schemas.microsoft.com/office/drawing/2014/main" id="{A48D7B23-1855-E64A-BD4E-44F95785F5CD}"/>
              </a:ext>
            </a:extLst>
          </p:cNvPr>
          <p:cNvSpPr/>
          <p:nvPr/>
        </p:nvSpPr>
        <p:spPr>
          <a:xfrm rot="10800000">
            <a:off x="5692862" y="6211106"/>
            <a:ext cx="1681163" cy="160337"/>
          </a:xfrm>
          <a:prstGeom prst="rightArrow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451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5750" y="571500"/>
            <a:ext cx="587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es-CL" sz="2800" b="1">
                <a:solidFill>
                  <a:srgbClr val="00B050"/>
                </a:solidFill>
                <a:latin typeface="Times New Roman" charset="0"/>
                <a:ea typeface="Times New Roman" charset="0"/>
                <a:cs typeface="Times New Roman" charset="0"/>
              </a:rPr>
              <a:t> Cambios en el Volumen y la Presión</a:t>
            </a:r>
          </a:p>
        </p:txBody>
      </p: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2928938" y="1571625"/>
            <a:ext cx="3121025" cy="457200"/>
            <a:chOff x="1723" y="1056"/>
            <a:chExt cx="1966" cy="288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1723" y="1056"/>
              <a:ext cx="196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s-CL" sz="2400">
                  <a:latin typeface="Arial" charset="0"/>
                </a:rPr>
                <a:t>A </a:t>
              </a:r>
              <a:r>
                <a:rPr lang="en-US" altLang="es-CL" sz="2000" i="1">
                  <a:latin typeface="Arial" charset="0"/>
                </a:rPr>
                <a:t>(g)</a:t>
              </a:r>
              <a:r>
                <a:rPr lang="en-US" altLang="es-CL" sz="2400">
                  <a:latin typeface="Arial" charset="0"/>
                </a:rPr>
                <a:t> + B </a:t>
              </a:r>
              <a:r>
                <a:rPr lang="en-US" altLang="es-CL" sz="2000" i="1">
                  <a:latin typeface="Arial" charset="0"/>
                </a:rPr>
                <a:t>(g)          </a:t>
              </a:r>
              <a:r>
                <a:rPr lang="en-US" altLang="es-CL" sz="2400">
                  <a:latin typeface="Arial" charset="0"/>
                </a:rPr>
                <a:t> C </a:t>
              </a:r>
              <a:r>
                <a:rPr lang="en-US" altLang="es-CL" sz="2000" i="1">
                  <a:latin typeface="Arial" charset="0"/>
                </a:rPr>
                <a:t>(g)</a:t>
              </a: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2808" y="116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 flipH="1">
              <a:off x="2808" y="125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_tradnl"/>
            </a:p>
          </p:txBody>
        </p:sp>
      </p:grpSp>
      <p:graphicFrame>
        <p:nvGraphicFramePr>
          <p:cNvPr id="22" name="22 Tabla"/>
          <p:cNvGraphicFramePr>
            <a:graphicFrameLocks noGrp="1"/>
          </p:cNvGraphicFramePr>
          <p:nvPr/>
        </p:nvGraphicFramePr>
        <p:xfrm>
          <a:off x="285750" y="2643188"/>
          <a:ext cx="8588375" cy="2932812"/>
        </p:xfrm>
        <a:graphic>
          <a:graphicData uri="http://schemas.openxmlformats.org/drawingml/2006/table">
            <a:tbl>
              <a:tblPr/>
              <a:tblGrid>
                <a:gridCol w="30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Cambio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Desplazamiento del equilibrio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Aumenta la presión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Lado con menor número de moles de gas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558ED5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Disminuye la presión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558ED5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558ED5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Lado con mayor número de moles gas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558ED5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Aumenta el volumen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Lado con mayor número de moles de gas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Disminuye el volumen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ES_tradnl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Lado con menor número de moles de gas</a:t>
                      </a:r>
                      <a:endParaRPr kumimoji="0" lang="es-ES" altLang="es-ES_tradnl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33" marR="91433" marT="45728" marB="4572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58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73AD51F-DC63-C342-89E5-7913C80CE6A7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AFE8ABF7-CE7E-DE4A-9950-0312ABB4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42" y="327450"/>
            <a:ext cx="5407249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kumimoji="1" lang="es-ES_tradnl" sz="2800" b="1" dirty="0">
                <a:solidFill>
                  <a:srgbClr val="FF2F92"/>
                </a:solidFill>
                <a:latin typeface="Lucida Sans Unicode"/>
              </a:rPr>
              <a:t>Introducción de Catalizadores</a:t>
            </a:r>
            <a:endParaRPr kumimoji="1" lang="es-ES" sz="2800" b="1" dirty="0">
              <a:solidFill>
                <a:srgbClr val="FF2F92"/>
              </a:solidFill>
              <a:latin typeface="Lucida Sans Unicode"/>
            </a:endParaRPr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CF0A51BF-2254-7043-8A07-81CDDC563B06}"/>
              </a:ext>
            </a:extLst>
          </p:cNvPr>
          <p:cNvGrpSpPr>
            <a:grpSpLocks/>
          </p:cNvGrpSpPr>
          <p:nvPr/>
        </p:nvGrpSpPr>
        <p:grpSpPr bwMode="auto">
          <a:xfrm>
            <a:off x="776775" y="1063812"/>
            <a:ext cx="9005853" cy="4082863"/>
            <a:chOff x="192" y="1104"/>
            <a:chExt cx="5376" cy="2415"/>
          </a:xfrm>
        </p:grpSpPr>
        <p:pic>
          <p:nvPicPr>
            <p:cNvPr id="8" name="Picture 11" descr="CHA56030">
              <a:extLst>
                <a:ext uri="{FF2B5EF4-FFF2-40B4-BE49-F238E27FC236}">
                  <a16:creationId xmlns:a16="http://schemas.microsoft.com/office/drawing/2014/main" id="{9B02672E-8DC9-C04A-AC8C-6BDC363C2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104"/>
              <a:ext cx="5376" cy="2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3B704C7C-EC99-F74A-BD7E-D9726007E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" y="3072"/>
              <a:ext cx="97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Lucida Sans Unicode"/>
                </a:rPr>
                <a:t>uncatalyzed</a:t>
              </a: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35A58351-A580-7C43-A0EA-30743479D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" y="3072"/>
              <a:ext cx="7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Lucida Sans Unicode"/>
                </a:rPr>
                <a:t>catalyzed</a:t>
              </a:r>
            </a:p>
          </p:txBody>
        </p:sp>
      </p:grpSp>
      <p:sp>
        <p:nvSpPr>
          <p:cNvPr id="12" name="Text Box 19">
            <a:extLst>
              <a:ext uri="{FF2B5EF4-FFF2-40B4-BE49-F238E27FC236}">
                <a16:creationId xmlns:a16="http://schemas.microsoft.com/office/drawing/2014/main" id="{48F26D8D-9FFD-BA47-A579-6E0A3E387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09" y="5462851"/>
            <a:ext cx="105185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El catalizador busca un camino alternativo de menor </a:t>
            </a:r>
            <a:r>
              <a:rPr lang="es-CL" sz="2000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</a:t>
            </a:r>
            <a:r>
              <a:rPr lang="es-CL" sz="2000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a </a:t>
            </a:r>
            <a:r>
              <a:rPr 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para las reacciones.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6B4C0DD6-33D4-7A45-B40B-822CB3CA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09" y="6148144"/>
            <a:ext cx="109691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CL" sz="2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El catalizador no cambia la constante de equilibrio. </a:t>
            </a:r>
          </a:p>
        </p:txBody>
      </p:sp>
    </p:spTree>
    <p:extLst>
      <p:ext uri="{BB962C8B-B14F-4D97-AF65-F5344CB8AC3E}">
        <p14:creationId xmlns:p14="http://schemas.microsoft.com/office/powerpoint/2010/main" val="2122301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B72E7322-F1F8-7040-A96C-7BB440904D1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E624A754-06A6-FD40-A7B6-10B796525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18" y="483640"/>
            <a:ext cx="4419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b="1" i="1" dirty="0">
                <a:solidFill>
                  <a:srgbClr val="FF2F92"/>
                </a:solidFill>
                <a:latin typeface="Lucida Sans Unicode"/>
              </a:rPr>
              <a:t>Principio de Le </a:t>
            </a:r>
            <a:r>
              <a:rPr lang="en-US" sz="2800" b="1" i="1" dirty="0" err="1">
                <a:solidFill>
                  <a:srgbClr val="FF2F92"/>
                </a:solidFill>
                <a:latin typeface="Lucida Sans Unicode"/>
              </a:rPr>
              <a:t>Ch</a:t>
            </a:r>
            <a:r>
              <a:rPr lang="en-US" sz="2800" b="1" i="1" dirty="0" err="1">
                <a:solidFill>
                  <a:srgbClr val="FF2F92"/>
                </a:solidFill>
                <a:latin typeface="Lucida Sans Unicode"/>
                <a:cs typeface="Arial" charset="0"/>
              </a:rPr>
              <a:t>âtelier</a:t>
            </a:r>
            <a:endParaRPr lang="en-US" sz="2800" b="1" i="1" dirty="0">
              <a:solidFill>
                <a:srgbClr val="FF2F92"/>
              </a:solidFill>
              <a:latin typeface="Lucida Sans Unicode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7A39D78-47AE-6F45-A022-288F72EB5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915" y="1880802"/>
            <a:ext cx="14253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400" b="1" dirty="0">
                <a:solidFill>
                  <a:srgbClr val="008000"/>
                </a:solidFill>
                <a:latin typeface="Lucida Sans Unicode"/>
                <a:ea typeface="Times New Roman" pitchFamily="18" charset="0"/>
                <a:cs typeface="Mangal" pitchFamily="2"/>
              </a:rPr>
              <a:t>Cambio 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062BC0-F515-8E45-8CB7-9F57E0127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1179" y="1827547"/>
            <a:ext cx="630808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CL" sz="2400" b="1" dirty="0">
                <a:solidFill>
                  <a:srgbClr val="008000"/>
                </a:solidFill>
                <a:latin typeface="Lucida Sans Unicode"/>
                <a:ea typeface="Times New Roman" pitchFamily="18" charset="0"/>
                <a:cs typeface="Mangal" pitchFamily="2"/>
              </a:rPr>
              <a:t>¿La reacci</a:t>
            </a:r>
            <a:r>
              <a:rPr lang="es-ES" sz="2400" b="1" dirty="0" err="1">
                <a:solidFill>
                  <a:srgbClr val="008000"/>
                </a:solidFill>
                <a:latin typeface="Lucida Sans Unicode"/>
                <a:ea typeface="Times New Roman" pitchFamily="18" charset="0"/>
                <a:cs typeface="Mangal" pitchFamily="2"/>
              </a:rPr>
              <a:t>ón</a:t>
            </a:r>
            <a:r>
              <a:rPr lang="es-ES" sz="2400" b="1" dirty="0">
                <a:solidFill>
                  <a:srgbClr val="008000"/>
                </a:solidFill>
                <a:latin typeface="Lucida Sans Unicode"/>
                <a:ea typeface="Times New Roman" pitchFamily="18" charset="0"/>
                <a:cs typeface="Mangal" pitchFamily="2"/>
              </a:rPr>
              <a:t> se desplaza para alcanzar el</a:t>
            </a:r>
            <a:endParaRPr lang="es-CL" sz="2400" b="1" dirty="0">
              <a:solidFill>
                <a:srgbClr val="008000"/>
              </a:solidFill>
              <a:latin typeface="Lucida Sans Unicode"/>
              <a:ea typeface="Times New Roman" pitchFamily="18" charset="0"/>
              <a:cs typeface="Mangal" pitchFamily="2"/>
            </a:endParaRPr>
          </a:p>
          <a:p>
            <a:pPr algn="ctr"/>
            <a:r>
              <a:rPr lang="es-CL" sz="2400" b="1" dirty="0">
                <a:solidFill>
                  <a:srgbClr val="008000"/>
                </a:solidFill>
                <a:latin typeface="Lucida Sans Unicode"/>
                <a:ea typeface="Times New Roman" pitchFamily="18" charset="0"/>
                <a:cs typeface="Mangal" pitchFamily="2"/>
              </a:rPr>
              <a:t>Equilibrio? 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24EC2DE2-452D-3744-AF5E-C4836CB8B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857" y="2554187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Concentración 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290749C1-A5D8-1B47-ABE1-C31409679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048" y="2600337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400" dirty="0">
                <a:solidFill>
                  <a:srgbClr val="FF2F92"/>
                </a:solidFill>
                <a:latin typeface="Lucida Sans Unicode"/>
              </a:rPr>
              <a:t>si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047C149F-716A-E44B-9182-A0C4EF5D8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496" y="3155212"/>
            <a:ext cx="1377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Presión 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7B1C9754-A46C-A045-B699-87A5456E2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048" y="3171837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400">
                <a:solidFill>
                  <a:srgbClr val="FF2F92"/>
                </a:solidFill>
                <a:latin typeface="Lucida Sans Unicode"/>
              </a:rPr>
              <a:t>si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9868C2AC-3CBB-0048-A212-C3EA765F0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496" y="3737767"/>
            <a:ext cx="16033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Volumen 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C53342A5-014B-B441-B56C-A82CD0384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048" y="3743337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400">
                <a:solidFill>
                  <a:srgbClr val="FF2F92"/>
                </a:solidFill>
                <a:latin typeface="Lucida Sans Unicode"/>
              </a:rPr>
              <a:t>si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27AC5A12-1EDE-1C49-96D5-27DDB6C31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496" y="4279652"/>
            <a:ext cx="21996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Temperatura 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B9FE4D11-CD13-2C45-AC9A-369C452D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048" y="4314837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sz="2400">
                <a:solidFill>
                  <a:srgbClr val="FF2F92"/>
                </a:solidFill>
                <a:latin typeface="Lucida Sans Unicode"/>
              </a:rPr>
              <a:t>si</a:t>
            </a: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3F2CB3DD-CBB1-E144-AA0D-593D38189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496" y="4838845"/>
            <a:ext cx="198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Catalizador 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Sans Unicode"/>
              <a:ea typeface="Times New Roman" pitchFamily="18" charset="0"/>
              <a:cs typeface="Mangal" pitchFamily="2"/>
            </a:endParaRP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4FFD707A-17A5-EE42-98C8-3C089232B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710" y="4886337"/>
            <a:ext cx="5645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11893"/>
                </a:solidFill>
                <a:latin typeface="Lucida Sans Unicode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7927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25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867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C19AC4-99FB-B743-A2AD-F0A24BD3FBAC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42E56D5-EA3C-1241-A5B3-55C928844ED2}"/>
              </a:ext>
            </a:extLst>
          </p:cNvPr>
          <p:cNvSpPr txBox="1"/>
          <p:nvPr/>
        </p:nvSpPr>
        <p:spPr>
          <a:xfrm>
            <a:off x="5211894" y="5579872"/>
            <a:ext cx="691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2. Equilibrio Químico</a:t>
            </a:r>
          </a:p>
        </p:txBody>
      </p:sp>
    </p:spTree>
    <p:extLst>
      <p:ext uri="{BB962C8B-B14F-4D97-AF65-F5344CB8AC3E}">
        <p14:creationId xmlns:p14="http://schemas.microsoft.com/office/powerpoint/2010/main" val="3758980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chemeClr val="accent5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6DF6B2-51F8-8D4D-8C1B-11C4EDE4F59A}"/>
              </a:ext>
            </a:extLst>
          </p:cNvPr>
          <p:cNvSpPr/>
          <p:nvPr/>
        </p:nvSpPr>
        <p:spPr>
          <a:xfrm>
            <a:off x="304800" y="114308"/>
            <a:ext cx="8966200" cy="2550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1.- 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Las concentraciones del equilibrio para la reacción entre el monóxido de carbono y cloro molecular para formar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COCl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(g) a 74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0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 son :  </a:t>
            </a:r>
          </a:p>
          <a:p>
            <a:pPr algn="just" eaLnBrk="0" hangingPunct="0"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[CO] = 0,012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 </a:t>
            </a:r>
          </a:p>
          <a:p>
            <a:pPr algn="just" eaLnBrk="0" hangingPunct="0"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[Cl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] = 0,054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</a:p>
          <a:p>
            <a:pPr algn="just" eaLnBrk="0" hangingPunct="0"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[COCl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] = 0,14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¿Calcular la constante de equilibrio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n-US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and 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n-US" i="1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?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.</a:t>
            </a:r>
          </a:p>
        </p:txBody>
      </p:sp>
      <p:sp>
        <p:nvSpPr>
          <p:cNvPr id="33" name="Text Box 7">
            <a:extLst>
              <a:ext uri="{FF2B5EF4-FFF2-40B4-BE49-F238E27FC236}">
                <a16:creationId xmlns:a16="http://schemas.microsoft.com/office/drawing/2014/main" id="{2F09041B-6084-0F4E-995A-68112E38A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9800" y="2923625"/>
            <a:ext cx="38795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CO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+ Cl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               COCl</a:t>
            </a:r>
            <a:r>
              <a: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000" b="0" i="1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sp>
        <p:nvSpPr>
          <p:cNvPr id="37" name="Text Box 12">
            <a:extLst>
              <a:ext uri="{FF2B5EF4-FFF2-40B4-BE49-F238E27FC236}">
                <a16:creationId xmlns:a16="http://schemas.microsoft.com/office/drawing/2014/main" id="{A43E24CC-D2F1-8147-BAD7-7754F665F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0200" y="3791988"/>
            <a:ext cx="7441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grpSp>
        <p:nvGrpSpPr>
          <p:cNvPr id="38" name="Group 16">
            <a:extLst>
              <a:ext uri="{FF2B5EF4-FFF2-40B4-BE49-F238E27FC236}">
                <a16:creationId xmlns:a16="http://schemas.microsoft.com/office/drawing/2014/main" id="{E26E9953-1CEC-8C4F-B136-BCC6F7B48653}"/>
              </a:ext>
            </a:extLst>
          </p:cNvPr>
          <p:cNvGrpSpPr>
            <a:grpSpLocks/>
          </p:cNvGrpSpPr>
          <p:nvPr/>
        </p:nvGrpSpPr>
        <p:grpSpPr bwMode="auto">
          <a:xfrm>
            <a:off x="3951873" y="3574497"/>
            <a:ext cx="1298575" cy="790575"/>
            <a:chOff x="3110" y="3120"/>
            <a:chExt cx="818" cy="498"/>
          </a:xfrm>
        </p:grpSpPr>
        <p:sp>
          <p:nvSpPr>
            <p:cNvPr id="39" name="Text Box 13">
              <a:extLst>
                <a:ext uri="{FF2B5EF4-FFF2-40B4-BE49-F238E27FC236}">
                  <a16:creationId xmlns:a16="http://schemas.microsoft.com/office/drawing/2014/main" id="{5A9933DF-BFFD-054F-A092-CF50D3C32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" y="3120"/>
              <a:ext cx="63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[COCl</a:t>
              </a:r>
              <a:r>
                <a:rPr kumimoji="0" lang="en-US" sz="1800" b="0" i="0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2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]</a:t>
              </a: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id="{E62E00A6-A357-254F-A2A0-583B68712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3385"/>
              <a:ext cx="7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[CO][Cl</a:t>
              </a:r>
              <a:r>
                <a:rPr kumimoji="0" lang="en-US" sz="1800" b="0" i="0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2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]</a:t>
              </a:r>
            </a:p>
          </p:txBody>
        </p:sp>
        <p:sp>
          <p:nvSpPr>
            <p:cNvPr id="41" name="Line 15">
              <a:extLst>
                <a:ext uri="{FF2B5EF4-FFF2-40B4-BE49-F238E27FC236}">
                  <a16:creationId xmlns:a16="http://schemas.microsoft.com/office/drawing/2014/main" id="{00BE1E5B-FE2C-564A-9970-FBA4916D3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" y="3397"/>
              <a:ext cx="768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grpSp>
        <p:nvGrpSpPr>
          <p:cNvPr id="42" name="Group 24">
            <a:extLst>
              <a:ext uri="{FF2B5EF4-FFF2-40B4-BE49-F238E27FC236}">
                <a16:creationId xmlns:a16="http://schemas.microsoft.com/office/drawing/2014/main" id="{FFB97E2D-C1FC-C04F-AE89-AB4BD18DF544}"/>
              </a:ext>
            </a:extLst>
          </p:cNvPr>
          <p:cNvGrpSpPr>
            <a:grpSpLocks/>
          </p:cNvGrpSpPr>
          <p:nvPr/>
        </p:nvGrpSpPr>
        <p:grpSpPr bwMode="auto">
          <a:xfrm>
            <a:off x="5342526" y="3574498"/>
            <a:ext cx="2297113" cy="790575"/>
            <a:chOff x="2470" y="1712"/>
            <a:chExt cx="1447" cy="498"/>
          </a:xfrm>
        </p:grpSpPr>
        <p:sp>
          <p:nvSpPr>
            <p:cNvPr id="43" name="Text Box 17">
              <a:extLst>
                <a:ext uri="{FF2B5EF4-FFF2-40B4-BE49-F238E27FC236}">
                  <a16:creationId xmlns:a16="http://schemas.microsoft.com/office/drawing/2014/main" id="{442F7C65-51AE-754F-8945-DFB81E513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" y="1848"/>
              <a:ext cx="23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=</a:t>
              </a:r>
            </a:p>
          </p:txBody>
        </p:sp>
        <p:grpSp>
          <p:nvGrpSpPr>
            <p:cNvPr id="44" name="Group 22">
              <a:extLst>
                <a:ext uri="{FF2B5EF4-FFF2-40B4-BE49-F238E27FC236}">
                  <a16:creationId xmlns:a16="http://schemas.microsoft.com/office/drawing/2014/main" id="{F6C4C019-5D5B-F443-B781-0EC5E65FB3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5" y="1712"/>
              <a:ext cx="1142" cy="498"/>
              <a:chOff x="3072" y="2423"/>
              <a:chExt cx="1142" cy="498"/>
            </a:xfrm>
          </p:grpSpPr>
          <p:sp>
            <p:nvSpPr>
              <p:cNvPr id="45" name="Text Box 19">
                <a:extLst>
                  <a:ext uri="{FF2B5EF4-FFF2-40B4-BE49-F238E27FC236}">
                    <a16:creationId xmlns:a16="http://schemas.microsoft.com/office/drawing/2014/main" id="{9FCF1D06-71C7-BD4E-8170-9E423E96D7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7" y="2423"/>
                <a:ext cx="43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0,14</a:t>
                </a:r>
              </a:p>
            </p:txBody>
          </p:sp>
          <p:sp>
            <p:nvSpPr>
              <p:cNvPr id="46" name="Text Box 20">
                <a:extLst>
                  <a:ext uri="{FF2B5EF4-FFF2-40B4-BE49-F238E27FC236}">
                    <a16:creationId xmlns:a16="http://schemas.microsoft.com/office/drawing/2014/main" id="{8AD7C978-E184-0F4C-B5CC-C6F6BAB140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" y="2688"/>
                <a:ext cx="112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0,012 x 0,054</a:t>
                </a:r>
              </a:p>
            </p:txBody>
          </p:sp>
          <p:sp>
            <p:nvSpPr>
              <p:cNvPr id="47" name="Line 21">
                <a:extLst>
                  <a:ext uri="{FF2B5EF4-FFF2-40B4-BE49-F238E27FC236}">
                    <a16:creationId xmlns:a16="http://schemas.microsoft.com/office/drawing/2014/main" id="{0A79F177-67CE-8441-856B-8A291F3F9A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700"/>
                <a:ext cx="1104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</p:grpSp>
      <p:sp>
        <p:nvSpPr>
          <p:cNvPr id="48" name="Text Box 23">
            <a:extLst>
              <a:ext uri="{FF2B5EF4-FFF2-40B4-BE49-F238E27FC236}">
                <a16:creationId xmlns:a16="http://schemas.microsoft.com/office/drawing/2014/main" id="{F999BD63-7552-A94F-94A6-8A070ED1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800" y="3790400"/>
            <a:ext cx="8787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220</a:t>
            </a:r>
          </a:p>
        </p:txBody>
      </p:sp>
      <p:sp>
        <p:nvSpPr>
          <p:cNvPr id="49" name="Text Box 25">
            <a:extLst>
              <a:ext uri="{FF2B5EF4-FFF2-40B4-BE49-F238E27FC236}">
                <a16:creationId xmlns:a16="http://schemas.microsoft.com/office/drawing/2014/main" id="{EDB1152B-C69C-8040-A15C-777B93A35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0100" y="4819100"/>
            <a:ext cx="16979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(RT) </a:t>
            </a:r>
            <a:r>
              <a:rPr lang="en-US" i="1" baseline="30000" dirty="0" err="1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D</a:t>
            </a:r>
            <a:r>
              <a:rPr lang="en-US" i="1" baseline="30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50" name="Text Box 26">
            <a:extLst>
              <a:ext uri="{FF2B5EF4-FFF2-40B4-BE49-F238E27FC236}">
                <a16:creationId xmlns:a16="http://schemas.microsoft.com/office/drawing/2014/main" id="{9360E5D6-C30C-F440-8100-40F3B80CA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0" y="5504900"/>
            <a:ext cx="19623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D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1 – 2 = -1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51" name="Text Box 27">
            <a:extLst>
              <a:ext uri="{FF2B5EF4-FFF2-40B4-BE49-F238E27FC236}">
                <a16:creationId xmlns:a16="http://schemas.microsoft.com/office/drawing/2014/main" id="{0E4EF02E-0C0F-044E-8ADB-932E5264E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250" y="5504900"/>
            <a:ext cx="30844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0,0821 (L atm/mol K)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52" name="Text Box 29">
            <a:extLst>
              <a:ext uri="{FF2B5EF4-FFF2-40B4-BE49-F238E27FC236}">
                <a16:creationId xmlns:a16="http://schemas.microsoft.com/office/drawing/2014/main" id="{1C3248C4-96FA-E648-AA45-2D7E3B368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288" y="6266900"/>
            <a:ext cx="40511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220 x (0,0821 x 347)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-1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7,7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116410-4AA2-6344-9B9C-26EE292E40ED}"/>
              </a:ext>
            </a:extLst>
          </p:cNvPr>
          <p:cNvSpPr/>
          <p:nvPr/>
        </p:nvSpPr>
        <p:spPr>
          <a:xfrm>
            <a:off x="5776370" y="2924584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850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7FD989F4-5BE6-0749-A8CB-69ECECADF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619" y="430970"/>
            <a:ext cx="90995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s-CL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2.-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 constante de equilibrio 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s-CL" sz="1600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para la reacción es 158 a 1000 K. ¿Cuál es la presión del equilibrio de  O</a:t>
            </a:r>
            <a:r>
              <a:rPr 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si la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</a:t>
            </a:r>
            <a:r>
              <a:rPr 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NO2 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= 0.400 atm y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</a:t>
            </a:r>
            <a:r>
              <a:rPr 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NO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= 0.270 atm?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C6E21E5-CCBB-0742-9DC1-1F4EF6CBA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726" y="1925026"/>
            <a:ext cx="521970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2NO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               2NO 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+ O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grpSp>
        <p:nvGrpSpPr>
          <p:cNvPr id="13" name="Group 30">
            <a:extLst>
              <a:ext uri="{FF2B5EF4-FFF2-40B4-BE49-F238E27FC236}">
                <a16:creationId xmlns:a16="http://schemas.microsoft.com/office/drawing/2014/main" id="{A6CC5617-DFF4-D746-8DA9-E589B7470DC3}"/>
              </a:ext>
            </a:extLst>
          </p:cNvPr>
          <p:cNvGrpSpPr>
            <a:grpSpLocks/>
          </p:cNvGrpSpPr>
          <p:nvPr/>
        </p:nvGrpSpPr>
        <p:grpSpPr bwMode="auto">
          <a:xfrm>
            <a:off x="3604943" y="2704151"/>
            <a:ext cx="2175610" cy="1093788"/>
            <a:chOff x="1238" y="2224"/>
            <a:chExt cx="1130" cy="689"/>
          </a:xfrm>
        </p:grpSpPr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AA774F0A-B58B-3E48-8C0F-9BFAECE3B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2425"/>
              <a:ext cx="3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 dirty="0" err="1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K</a:t>
              </a:r>
              <a:r>
                <a:rPr kumimoji="0" lang="en-US" sz="1800" b="0" i="1" u="none" strike="noStrike" kern="0" cap="none" spc="0" normalizeH="0" baseline="-25000" noProof="0" dirty="0" err="1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p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= </a:t>
              </a:r>
              <a:endPara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43C852B-019B-D241-834E-444299E3C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2388"/>
              <a:ext cx="9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872EE4D7-1B12-714F-A921-85F58FF76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2244"/>
              <a:ext cx="5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P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NO  </a:t>
              </a: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P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O2</a:t>
              </a:r>
              <a:endPara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D6FE6243-D511-C640-A3E5-57F29C0DA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" y="2224"/>
              <a:ext cx="19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2 </a:t>
              </a: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BB96CB9F-1C10-724C-9167-47FBCF226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2545"/>
              <a:ext cx="720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grpSp>
          <p:nvGrpSpPr>
            <p:cNvPr id="20" name="Group 21">
              <a:extLst>
                <a:ext uri="{FF2B5EF4-FFF2-40B4-BE49-F238E27FC236}">
                  <a16:creationId xmlns:a16="http://schemas.microsoft.com/office/drawing/2014/main" id="{710313AF-A7B2-B041-A012-2E143E69E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" y="2548"/>
              <a:ext cx="420" cy="365"/>
              <a:chOff x="1286" y="3568"/>
              <a:chExt cx="420" cy="365"/>
            </a:xfrm>
          </p:grpSpPr>
          <p:sp>
            <p:nvSpPr>
              <p:cNvPr id="21" name="Text Box 18">
                <a:extLst>
                  <a:ext uri="{FF2B5EF4-FFF2-40B4-BE49-F238E27FC236}">
                    <a16:creationId xmlns:a16="http://schemas.microsoft.com/office/drawing/2014/main" id="{0CA5E08C-BF56-5A4B-AEDE-FDAFE5605E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6" y="3577"/>
                <a:ext cx="33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P</a:t>
                </a:r>
                <a:r>
                  <a:rPr kumimoji="0" lang="en-US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NO2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874EF911-5018-B44C-BAEF-70370B1CC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3568"/>
                <a:ext cx="26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   2</a:t>
                </a:r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5120D789-C1B8-4A49-804F-FF2D4C93DB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720"/>
                <a:ext cx="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</p:grpSp>
      <p:grpSp>
        <p:nvGrpSpPr>
          <p:cNvPr id="24" name="Group 45">
            <a:extLst>
              <a:ext uri="{FF2B5EF4-FFF2-40B4-BE49-F238E27FC236}">
                <a16:creationId xmlns:a16="http://schemas.microsoft.com/office/drawing/2014/main" id="{776B81F1-4669-6040-8DD9-E62CAA3F4815}"/>
              </a:ext>
            </a:extLst>
          </p:cNvPr>
          <p:cNvGrpSpPr>
            <a:grpSpLocks/>
          </p:cNvGrpSpPr>
          <p:nvPr/>
        </p:nvGrpSpPr>
        <p:grpSpPr bwMode="auto">
          <a:xfrm>
            <a:off x="3353647" y="4088297"/>
            <a:ext cx="2222500" cy="935038"/>
            <a:chOff x="2160" y="2092"/>
            <a:chExt cx="1400" cy="589"/>
          </a:xfrm>
        </p:grpSpPr>
        <p:grpSp>
          <p:nvGrpSpPr>
            <p:cNvPr id="25" name="Group 33">
              <a:extLst>
                <a:ext uri="{FF2B5EF4-FFF2-40B4-BE49-F238E27FC236}">
                  <a16:creationId xmlns:a16="http://schemas.microsoft.com/office/drawing/2014/main" id="{7B1120C6-C8FB-BC45-8B16-E6F9FC7083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236"/>
              <a:ext cx="424" cy="356"/>
              <a:chOff x="806" y="3001"/>
              <a:chExt cx="424" cy="356"/>
            </a:xfrm>
          </p:grpSpPr>
          <p:sp>
            <p:nvSpPr>
              <p:cNvPr id="35" name="Text Box 31">
                <a:extLst>
                  <a:ext uri="{FF2B5EF4-FFF2-40B4-BE49-F238E27FC236}">
                    <a16:creationId xmlns:a16="http://schemas.microsoft.com/office/drawing/2014/main" id="{7DD9F278-4CD7-5E49-865C-135142639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6" y="3001"/>
                <a:ext cx="27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P</a:t>
                </a:r>
                <a:r>
                  <a:rPr kumimoji="0" lang="en-US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O</a:t>
                </a:r>
                <a:endPara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36" name="Text Box 32">
                <a:extLst>
                  <a:ext uri="{FF2B5EF4-FFF2-40B4-BE49-F238E27FC236}">
                    <a16:creationId xmlns:a16="http://schemas.microsoft.com/office/drawing/2014/main" id="{41EE3CF3-EB02-3B42-8CFF-FE1F5A918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2" y="3144"/>
                <a:ext cx="19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2</a:t>
                </a:r>
              </a:p>
            </p:txBody>
          </p:sp>
        </p:grpSp>
        <p:sp>
          <p:nvSpPr>
            <p:cNvPr id="26" name="Text Box 34">
              <a:extLst>
                <a:ext uri="{FF2B5EF4-FFF2-40B4-BE49-F238E27FC236}">
                  <a16:creationId xmlns:a16="http://schemas.microsoft.com/office/drawing/2014/main" id="{46D117BA-6579-1B49-A39C-8D94620E8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6" y="2269"/>
              <a:ext cx="4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= 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K</a:t>
              </a:r>
              <a:r>
                <a:rPr kumimoji="0" lang="en-US" sz="1800" b="0" i="1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p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grpSp>
          <p:nvGrpSpPr>
            <p:cNvPr id="27" name="Group 23">
              <a:extLst>
                <a:ext uri="{FF2B5EF4-FFF2-40B4-BE49-F238E27FC236}">
                  <a16:creationId xmlns:a16="http://schemas.microsoft.com/office/drawing/2014/main" id="{7BA80611-9BF2-164F-98EA-A9A450A42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2" y="2092"/>
              <a:ext cx="518" cy="365"/>
              <a:chOff x="1286" y="3568"/>
              <a:chExt cx="518" cy="365"/>
            </a:xfrm>
          </p:grpSpPr>
          <p:sp>
            <p:nvSpPr>
              <p:cNvPr id="32" name="Text Box 24">
                <a:extLst>
                  <a:ext uri="{FF2B5EF4-FFF2-40B4-BE49-F238E27FC236}">
                    <a16:creationId xmlns:a16="http://schemas.microsoft.com/office/drawing/2014/main" id="{C16573E5-3C28-CE42-9B3C-D960F9D66B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6" y="3577"/>
                <a:ext cx="40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P</a:t>
                </a:r>
                <a:r>
                  <a:rPr kumimoji="0" lang="en-US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NO2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33" name="Text Box 25">
                <a:extLst>
                  <a:ext uri="{FF2B5EF4-FFF2-40B4-BE49-F238E27FC236}">
                    <a16:creationId xmlns:a16="http://schemas.microsoft.com/office/drawing/2014/main" id="{94104527-25FD-B646-8820-C2381FD11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3568"/>
                <a:ext cx="36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    2</a:t>
                </a:r>
              </a:p>
            </p:txBody>
          </p:sp>
          <p:sp>
            <p:nvSpPr>
              <p:cNvPr id="34" name="Text Box 26">
                <a:extLst>
                  <a:ext uri="{FF2B5EF4-FFF2-40B4-BE49-F238E27FC236}">
                    <a16:creationId xmlns:a16="http://schemas.microsoft.com/office/drawing/2014/main" id="{4FA4C29E-6DEA-D24B-925E-9B0320C353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3720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  <p:grpSp>
          <p:nvGrpSpPr>
            <p:cNvPr id="28" name="Group 29">
              <a:extLst>
                <a:ext uri="{FF2B5EF4-FFF2-40B4-BE49-F238E27FC236}">
                  <a16:creationId xmlns:a16="http://schemas.microsoft.com/office/drawing/2014/main" id="{4A2F84A8-8BAD-0E41-A194-FA749037A5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3" y="2412"/>
              <a:ext cx="486" cy="269"/>
              <a:chOff x="3428" y="2304"/>
              <a:chExt cx="486" cy="269"/>
            </a:xfrm>
          </p:grpSpPr>
          <p:sp>
            <p:nvSpPr>
              <p:cNvPr id="30" name="Text Box 27">
                <a:extLst>
                  <a:ext uri="{FF2B5EF4-FFF2-40B4-BE49-F238E27FC236}">
                    <a16:creationId xmlns:a16="http://schemas.microsoft.com/office/drawing/2014/main" id="{2A3A602B-2040-F446-99DE-C88705E3CC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" y="2340"/>
                <a:ext cx="34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P</a:t>
                </a:r>
                <a:r>
                  <a:rPr kumimoji="0" lang="en-US" sz="18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NO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31" name="Text Box 28">
                <a:extLst>
                  <a:ext uri="{FF2B5EF4-FFF2-40B4-BE49-F238E27FC236}">
                    <a16:creationId xmlns:a16="http://schemas.microsoft.com/office/drawing/2014/main" id="{D5232624-43D0-6B4C-8199-170324A906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2" y="2304"/>
                <a:ext cx="32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   2</a:t>
                </a:r>
              </a:p>
            </p:txBody>
          </p:sp>
        </p:grpSp>
        <p:sp>
          <p:nvSpPr>
            <p:cNvPr id="29" name="Line 35">
              <a:extLst>
                <a:ext uri="{FF2B5EF4-FFF2-40B4-BE49-F238E27FC236}">
                  <a16:creationId xmlns:a16="http://schemas.microsoft.com/office/drawing/2014/main" id="{7466B1E8-DF1E-CD4C-A110-CDEE075C2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2386"/>
              <a:ext cx="384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grpSp>
        <p:nvGrpSpPr>
          <p:cNvPr id="37" name="Group 43">
            <a:extLst>
              <a:ext uri="{FF2B5EF4-FFF2-40B4-BE49-F238E27FC236}">
                <a16:creationId xmlns:a16="http://schemas.microsoft.com/office/drawing/2014/main" id="{FBFF55E9-B843-9D4F-9FEA-8BD79BF8ADC3}"/>
              </a:ext>
            </a:extLst>
          </p:cNvPr>
          <p:cNvGrpSpPr>
            <a:grpSpLocks/>
          </p:cNvGrpSpPr>
          <p:nvPr/>
        </p:nvGrpSpPr>
        <p:grpSpPr bwMode="auto">
          <a:xfrm>
            <a:off x="2282096" y="5432896"/>
            <a:ext cx="3633788" cy="565151"/>
            <a:chOff x="2160" y="3005"/>
            <a:chExt cx="2289" cy="356"/>
          </a:xfrm>
        </p:grpSpPr>
        <p:grpSp>
          <p:nvGrpSpPr>
            <p:cNvPr id="38" name="Group 39">
              <a:extLst>
                <a:ext uri="{FF2B5EF4-FFF2-40B4-BE49-F238E27FC236}">
                  <a16:creationId xmlns:a16="http://schemas.microsoft.com/office/drawing/2014/main" id="{4E33C54D-8256-9249-9BBE-70C717148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005"/>
              <a:ext cx="424" cy="356"/>
              <a:chOff x="806" y="3001"/>
              <a:chExt cx="424" cy="356"/>
            </a:xfrm>
          </p:grpSpPr>
          <p:sp>
            <p:nvSpPr>
              <p:cNvPr id="40" name="Text Box 40">
                <a:extLst>
                  <a:ext uri="{FF2B5EF4-FFF2-40B4-BE49-F238E27FC236}">
                    <a16:creationId xmlns:a16="http://schemas.microsoft.com/office/drawing/2014/main" id="{2FF01D4E-CDA9-304C-B7F8-3F76AF668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6" y="3001"/>
                <a:ext cx="27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P</a:t>
                </a:r>
                <a:r>
                  <a:rPr lang="en-US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O</a:t>
                </a:r>
                <a:endParaRPr lang="en-US" i="1">
                  <a:solidFill>
                    <a:schemeClr val="accent5">
                      <a:lumMod val="75000"/>
                    </a:schemeClr>
                  </a:solidFill>
                  <a:latin typeface="Lucida Sans Unicode"/>
                </a:endParaRPr>
              </a:p>
            </p:txBody>
          </p:sp>
          <p:sp>
            <p:nvSpPr>
              <p:cNvPr id="41" name="Text Box 41">
                <a:extLst>
                  <a:ext uri="{FF2B5EF4-FFF2-40B4-BE49-F238E27FC236}">
                    <a16:creationId xmlns:a16="http://schemas.microsoft.com/office/drawing/2014/main" id="{D3F602AA-5237-2A4D-ADA3-46DFBB679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2" y="3144"/>
                <a:ext cx="19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2</a:t>
                </a:r>
              </a:p>
            </p:txBody>
          </p:sp>
        </p:grpSp>
        <p:sp>
          <p:nvSpPr>
            <p:cNvPr id="39" name="Text Box 42">
              <a:extLst>
                <a:ext uri="{FF2B5EF4-FFF2-40B4-BE49-F238E27FC236}">
                  <a16:creationId xmlns:a16="http://schemas.microsoft.com/office/drawing/2014/main" id="{2D676EB7-BDAA-AA4D-910A-5D1AE34EB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024"/>
              <a:ext cx="19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= 158 x (0,400)</a:t>
              </a:r>
              <a:r>
                <a:rPr lang="en-US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2</a:t>
              </a:r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/(0,270)</a:t>
              </a:r>
              <a:r>
                <a:rPr lang="en-US" baseline="30000" dirty="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2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endParaRPr>
            </a:p>
          </p:txBody>
        </p:sp>
      </p:grpSp>
      <p:sp>
        <p:nvSpPr>
          <p:cNvPr id="42" name="Text Box 44">
            <a:extLst>
              <a:ext uri="{FF2B5EF4-FFF2-40B4-BE49-F238E27FC236}">
                <a16:creationId xmlns:a16="http://schemas.microsoft.com/office/drawing/2014/main" id="{3417D883-F1AA-0B4D-9EB5-5A9C44AFB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422603"/>
            <a:ext cx="13821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347 atm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2DBCAF-61B0-7B4B-A8A3-395E29043B7E}"/>
              </a:ext>
            </a:extLst>
          </p:cNvPr>
          <p:cNvSpPr/>
          <p:nvPr/>
        </p:nvSpPr>
        <p:spPr>
          <a:xfrm>
            <a:off x="4365690" y="1923170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16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28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82E8D9F6-AECC-3E4B-BEB8-E2683206E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814924"/>
            <a:ext cx="922123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s-CL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3.-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Considerar el equilibrio siguiente a 295 K:</a:t>
            </a:r>
          </a:p>
          <a:p>
            <a:pPr eaLnBrk="0" hangingPunct="0"/>
            <a:endParaRPr lang="es-CL" dirty="0">
              <a:solidFill>
                <a:srgbClr val="DA1F28"/>
              </a:solidFill>
              <a:latin typeface="Lucida Sans Unicode"/>
              <a:ea typeface="Times New Roman" pitchFamily="18" charset="0"/>
              <a:cs typeface="Mangal" pitchFamily="2"/>
            </a:endParaRPr>
          </a:p>
          <a:p>
            <a:pPr eaLnBrk="0" hangingPunct="0"/>
            <a:endParaRPr lang="es-CL" dirty="0">
              <a:solidFill>
                <a:srgbClr val="DA1F28"/>
              </a:solidFill>
              <a:latin typeface="Lucida Sans Unicode"/>
              <a:ea typeface="Times New Roman" pitchFamily="18" charset="0"/>
              <a:cs typeface="Mangal" pitchFamily="2"/>
            </a:endParaRPr>
          </a:p>
          <a:p>
            <a:pPr eaLnBrk="0" hangingPunct="0"/>
            <a:endParaRPr lang="es-CL" dirty="0">
              <a:solidFill>
                <a:srgbClr val="DA1F28"/>
              </a:solidFill>
              <a:latin typeface="Lucida Sans Unicode"/>
              <a:ea typeface="Times New Roman" pitchFamily="18" charset="0"/>
              <a:cs typeface="Mangal" pitchFamily="2"/>
            </a:endParaRPr>
          </a:p>
          <a:p>
            <a:pPr eaLnBrk="0" hangingPunct="0"/>
            <a:endParaRPr lang="es-CL" dirty="0">
              <a:solidFill>
                <a:srgbClr val="3333CC"/>
              </a:solidFill>
              <a:latin typeface="Lucida Sans Unicode"/>
              <a:ea typeface="Times New Roman" pitchFamily="18" charset="0"/>
              <a:cs typeface="Mangal" pitchFamily="2"/>
            </a:endParaRPr>
          </a:p>
          <a:p>
            <a:pPr eaLnBrk="0" hangingPunct="0"/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La presión parcial de cada gas es 0,265 atm. Calcular 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s-CL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p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y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s-CL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para la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reacción?</a:t>
            </a: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2EAB6655-6122-6543-8C4B-84DCDC304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233" y="1471858"/>
            <a:ext cx="52100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NH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4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HS 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   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  <a:sym typeface="Wingdings 3" panose="05040102010807070707" pitchFamily="18" charset="2"/>
              </a:rPr>
              <a:t>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    NH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3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 + H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S 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189A7C45-F67F-C749-81D2-7A7505A41E61}"/>
              </a:ext>
            </a:extLst>
          </p:cNvPr>
          <p:cNvGrpSpPr>
            <a:grpSpLocks/>
          </p:cNvGrpSpPr>
          <p:nvPr/>
        </p:nvGrpSpPr>
        <p:grpSpPr bwMode="auto">
          <a:xfrm>
            <a:off x="2407809" y="2934226"/>
            <a:ext cx="1933575" cy="560388"/>
            <a:chOff x="950" y="2520"/>
            <a:chExt cx="1218" cy="353"/>
          </a:xfrm>
        </p:grpSpPr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35D24BC5-4899-1F4F-BB71-410144AEE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" y="2521"/>
              <a:ext cx="56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K</a:t>
              </a:r>
              <a:r>
                <a:rPr lang="en-US" i="1" baseline="-2500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p</a:t>
              </a:r>
              <a:r>
                <a:rPr lang="en-US" i="1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 = P</a:t>
              </a:r>
            </a:p>
          </p:txBody>
        </p:sp>
        <p:sp>
          <p:nvSpPr>
            <p:cNvPr id="36" name="Text Box 10">
              <a:extLst>
                <a:ext uri="{FF2B5EF4-FFF2-40B4-BE49-F238E27FC236}">
                  <a16:creationId xmlns:a16="http://schemas.microsoft.com/office/drawing/2014/main" id="{47BD001B-8311-7740-9EC3-8ECFDA451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2640"/>
              <a:ext cx="39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NH</a:t>
              </a:r>
              <a:r>
                <a:rPr lang="en-US" baseline="-25000">
                  <a:solidFill>
                    <a:schemeClr val="accent5">
                      <a:lumMod val="75000"/>
                    </a:schemeClr>
                  </a:solidFill>
                  <a:latin typeface="Lucida Sans Unicode"/>
                </a:rPr>
                <a:t>3</a:t>
              </a:r>
              <a:endParaRPr lang="en-US">
                <a:solidFill>
                  <a:schemeClr val="accent5">
                    <a:lumMod val="75000"/>
                  </a:schemeClr>
                </a:solidFill>
                <a:latin typeface="Lucida Sans Unicode"/>
              </a:endParaRPr>
            </a:p>
          </p:txBody>
        </p:sp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7857E754-48C5-5945-B15C-3DA85C09C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2520"/>
              <a:ext cx="459" cy="342"/>
              <a:chOff x="758" y="3433"/>
              <a:chExt cx="459" cy="342"/>
            </a:xfrm>
          </p:grpSpPr>
          <p:sp>
            <p:nvSpPr>
              <p:cNvPr id="38" name="Text Box 11">
                <a:extLst>
                  <a:ext uri="{FF2B5EF4-FFF2-40B4-BE49-F238E27FC236}">
                    <a16:creationId xmlns:a16="http://schemas.microsoft.com/office/drawing/2014/main" id="{46A2CAAD-2656-344A-99E0-95179DB3A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8" y="3544"/>
                <a:ext cx="36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H</a:t>
                </a:r>
                <a:r>
                  <a:rPr lang="en-US" baseline="-25000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2</a:t>
                </a:r>
                <a:r>
                  <a:rPr lang="en-US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S</a:t>
                </a:r>
              </a:p>
            </p:txBody>
          </p:sp>
          <p:sp>
            <p:nvSpPr>
              <p:cNvPr id="39" name="Text Box 12">
                <a:extLst>
                  <a:ext uri="{FF2B5EF4-FFF2-40B4-BE49-F238E27FC236}">
                    <a16:creationId xmlns:a16="http://schemas.microsoft.com/office/drawing/2014/main" id="{7D14B0F4-8112-8A4B-8E23-68D801EB34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" y="3433"/>
                <a:ext cx="19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chemeClr val="accent5">
                        <a:lumMod val="75000"/>
                      </a:schemeClr>
                    </a:solidFill>
                    <a:latin typeface="Lucida Sans Unicode"/>
                  </a:rPr>
                  <a:t>P</a:t>
                </a:r>
              </a:p>
            </p:txBody>
          </p:sp>
        </p:grpSp>
      </p:grpSp>
      <p:sp>
        <p:nvSpPr>
          <p:cNvPr id="40" name="Text Box 15">
            <a:extLst>
              <a:ext uri="{FF2B5EF4-FFF2-40B4-BE49-F238E27FC236}">
                <a16:creationId xmlns:a16="http://schemas.microsoft.com/office/drawing/2014/main" id="{584F2C81-9953-4941-89F3-ED2450E20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2484" y="2934226"/>
            <a:ext cx="31774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0,265 x 0,265 = 0,0702</a:t>
            </a:r>
          </a:p>
        </p:txBody>
      </p:sp>
      <p:sp>
        <p:nvSpPr>
          <p:cNvPr id="41" name="Text Box 16">
            <a:extLst>
              <a:ext uri="{FF2B5EF4-FFF2-40B4-BE49-F238E27FC236}">
                <a16:creationId xmlns:a16="http://schemas.microsoft.com/office/drawing/2014/main" id="{6B7DDD68-63D8-C84C-ABAA-BE898667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434" y="3924826"/>
            <a:ext cx="1624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(RT)</a:t>
            </a:r>
            <a:r>
              <a:rPr lang="en-US" i="1" baseline="30000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D</a:t>
            </a:r>
            <a:r>
              <a:rPr lang="en-US" i="1" baseline="30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2" name="Text Box 17">
            <a:extLst>
              <a:ext uri="{FF2B5EF4-FFF2-40B4-BE49-F238E27FC236}">
                <a16:creationId xmlns:a16="http://schemas.microsoft.com/office/drawing/2014/main" id="{F630A09E-2359-AE47-9A58-FD483E48F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034" y="4610626"/>
            <a:ext cx="1757212" cy="420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= 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(RT)</a:t>
            </a:r>
            <a:r>
              <a:rPr lang="en-US" sz="3200" i="1" baseline="30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</a:t>
            </a:r>
            <a:r>
              <a:rPr lang="en-US" i="1" baseline="30000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D</a:t>
            </a:r>
            <a:r>
              <a:rPr lang="en-US" i="1" baseline="30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3" name="Text Box 18">
            <a:extLst>
              <a:ext uri="{FF2B5EF4-FFF2-40B4-BE49-F238E27FC236}">
                <a16:creationId xmlns:a16="http://schemas.microsoft.com/office/drawing/2014/main" id="{A00C72EA-FF31-A944-BB8F-B7F92736A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959" y="5296426"/>
            <a:ext cx="18293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Symbol" pitchFamily="18" charset="2"/>
              </a:rPr>
              <a:t>D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n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2 – 0 = 2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4" name="Text Box 19">
            <a:extLst>
              <a:ext uri="{FF2B5EF4-FFF2-40B4-BE49-F238E27FC236}">
                <a16:creationId xmlns:a16="http://schemas.microsoft.com/office/drawing/2014/main" id="{4863C4DA-E64E-E640-8F23-652EA167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322" y="5296426"/>
            <a:ext cx="13227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T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295 K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5" name="Text Box 20">
            <a:extLst>
              <a:ext uri="{FF2B5EF4-FFF2-40B4-BE49-F238E27FC236}">
                <a16:creationId xmlns:a16="http://schemas.microsoft.com/office/drawing/2014/main" id="{A302BFBF-E4B9-5B4C-8ECB-49A3CE1CC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159" y="5982226"/>
            <a:ext cx="53126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</a:t>
            </a:r>
            <a:r>
              <a:rPr lang="en-US" i="1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0,0702 x (0,0821 x 295)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1,20 x 10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-4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611511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29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799C45C4-3178-2347-9AD2-3FF4C3A04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308690"/>
            <a:ext cx="9365545" cy="130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s-CL" b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4.-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A 1280 ºC la constante de equilibrio (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K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c) para la reacción es 1,1 x 10</a:t>
            </a:r>
            <a:r>
              <a:rPr lang="es-CL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-3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. Si las concentraciones iniciales de [Br</a:t>
            </a:r>
            <a:r>
              <a:rPr 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] = 0,063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y [Br] = 0,012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M. ¿C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alcular las concentraciones de estas especies en el equilibrio? 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5CDBA04-D906-5B45-84D7-9F11107B0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151" y="1638783"/>
            <a:ext cx="32832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Br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 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  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  <a:sym typeface="Wingdings 3" panose="05040102010807070707" pitchFamily="18" charset="2"/>
              </a:rPr>
              <a:t>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       2Br 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(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g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/>
              </a:rPr>
              <a:t>)</a:t>
            </a:r>
          </a:p>
        </p:txBody>
      </p:sp>
      <p:grpSp>
        <p:nvGrpSpPr>
          <p:cNvPr id="14" name="Group 18">
            <a:extLst>
              <a:ext uri="{FF2B5EF4-FFF2-40B4-BE49-F238E27FC236}">
                <a16:creationId xmlns:a16="http://schemas.microsoft.com/office/drawing/2014/main" id="{6323FDFF-576D-9A4D-8BD4-6C2B22F74735}"/>
              </a:ext>
            </a:extLst>
          </p:cNvPr>
          <p:cNvGrpSpPr>
            <a:grpSpLocks/>
          </p:cNvGrpSpPr>
          <p:nvPr/>
        </p:nvGrpSpPr>
        <p:grpSpPr bwMode="auto">
          <a:xfrm>
            <a:off x="4745846" y="2816196"/>
            <a:ext cx="2874964" cy="369888"/>
            <a:chOff x="432" y="2021"/>
            <a:chExt cx="1811" cy="233"/>
          </a:xfrm>
        </p:grpSpPr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5B3923BC-F42D-404F-948A-69D7059EE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021"/>
              <a:ext cx="181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Br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2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(</a:t>
              </a: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g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)                 2Br (</a:t>
              </a: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g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)</a:t>
              </a:r>
            </a:p>
          </p:txBody>
        </p:sp>
        <p:grpSp>
          <p:nvGrpSpPr>
            <p:cNvPr id="17" name="Group 14">
              <a:extLst>
                <a:ext uri="{FF2B5EF4-FFF2-40B4-BE49-F238E27FC236}">
                  <a16:creationId xmlns:a16="http://schemas.microsoft.com/office/drawing/2014/main" id="{0FE95E0F-55EB-4D4E-990B-27384959CB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4" y="2071"/>
              <a:ext cx="384" cy="96"/>
              <a:chOff x="4896" y="192"/>
              <a:chExt cx="384" cy="96"/>
            </a:xfrm>
          </p:grpSpPr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127116F2-EB48-2E43-A4F2-AA7CE7972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7F091212-13E4-1A45-84B0-0CC8F6379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96" y="28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</p:grpSp>
      <p:sp>
        <p:nvSpPr>
          <p:cNvPr id="20" name="Text Box 17">
            <a:extLst>
              <a:ext uri="{FF2B5EF4-FFF2-40B4-BE49-F238E27FC236}">
                <a16:creationId xmlns:a16="http://schemas.microsoft.com/office/drawing/2014/main" id="{D22C1744-770E-934B-8953-160828552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71" y="2261182"/>
            <a:ext cx="57583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x representa 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el cambio en la concentración de Br</a:t>
            </a:r>
            <a:r>
              <a:rPr 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0A1576CB-3CE7-9346-AA43-16A056FEA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346" y="3265454"/>
            <a:ext cx="13388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Inicial  (</a:t>
            </a:r>
            <a:r>
              <a:rPr lang="es-CL" i="1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s-CL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)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CE5A7937-0F7F-584D-8CB0-C1C8A8062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546" y="3798854"/>
            <a:ext cx="15392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Cambio  (</a:t>
            </a:r>
            <a:r>
              <a:rPr lang="es-CL" i="1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s-CL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)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7D8FA708-2424-E74A-AA1E-2ADA4743C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546" y="4332254"/>
            <a:ext cx="17459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Equilibrio  (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)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D47DCAE-3377-4046-907A-169F83E6D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084" y="3265454"/>
            <a:ext cx="8418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0,063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A5032DB9-AD28-EF42-BA94-7DBA660C8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721" y="3265454"/>
            <a:ext cx="8418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0,012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3F7DDB58-AD18-8340-8007-4A84257F0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084" y="3798854"/>
            <a:ext cx="4587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-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endParaRPr lang="en-US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8F411E04-C8F3-DE48-92FA-56B30658B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1484" y="3798854"/>
            <a:ext cx="654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+2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endParaRPr lang="en-US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DAA29153-5349-784E-87CB-6E2BC4D0C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946" y="4332254"/>
            <a:ext cx="12634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0,063 -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75A7C153-F105-9C4C-839B-73C03940A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346" y="4332254"/>
            <a:ext cx="14590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0,012 + 2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6973D4-8211-464E-8459-2618F83D1E81}"/>
              </a:ext>
            </a:extLst>
          </p:cNvPr>
          <p:cNvGrpSpPr>
            <a:grpSpLocks/>
          </p:cNvGrpSpPr>
          <p:nvPr/>
        </p:nvGrpSpPr>
        <p:grpSpPr bwMode="auto">
          <a:xfrm>
            <a:off x="527172" y="5340514"/>
            <a:ext cx="1506538" cy="774700"/>
            <a:chOff x="2984" y="1617"/>
            <a:chExt cx="949" cy="48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22892E-0123-5F45-A99B-7DE6112E0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3" y="1617"/>
              <a:ext cx="480" cy="488"/>
              <a:chOff x="1601" y="1440"/>
              <a:chExt cx="480" cy="488"/>
            </a:xfrm>
          </p:grpSpPr>
          <p:sp>
            <p:nvSpPr>
              <p:cNvPr id="33" name="Text Box 31">
                <a:extLst>
                  <a:ext uri="{FF2B5EF4-FFF2-40B4-BE49-F238E27FC236}">
                    <a16:creationId xmlns:a16="http://schemas.microsoft.com/office/drawing/2014/main" id="{D443AA0B-D0E0-374C-9493-500BA7200A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0" y="1440"/>
                <a:ext cx="41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[Br]</a:t>
                </a:r>
                <a:r>
                  <a:rPr kumimoji="0" lang="en-US" sz="1800" b="0" i="0" u="none" strike="noStrike" kern="0" cap="none" spc="0" normalizeH="0" baseline="3000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2</a:t>
                </a: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34" name="Text Box 32">
                <a:extLst>
                  <a:ext uri="{FF2B5EF4-FFF2-40B4-BE49-F238E27FC236}">
                    <a16:creationId xmlns:a16="http://schemas.microsoft.com/office/drawing/2014/main" id="{42816B58-EEAD-444D-93C1-378C0E9E84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695"/>
                <a:ext cx="41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[Br</a:t>
                </a:r>
                <a:r>
                  <a:rPr kumimoji="0" lang="en-US" sz="1800" b="0" i="0" u="none" strike="noStrike" kern="0" cap="none" spc="0" normalizeH="0" baseline="-2500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2</a:t>
                </a: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]</a:t>
                </a:r>
              </a:p>
            </p:txBody>
          </p:sp>
          <p:sp>
            <p:nvSpPr>
              <p:cNvPr id="35" name="Line 33">
                <a:extLst>
                  <a:ext uri="{FF2B5EF4-FFF2-40B4-BE49-F238E27FC236}">
                    <a16:creationId xmlns:a16="http://schemas.microsoft.com/office/drawing/2014/main" id="{38093EC2-CF9B-A04E-BFF1-89F415A292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1" y="168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  <p:sp>
          <p:nvSpPr>
            <p:cNvPr id="32" name="Text Box 34">
              <a:extLst>
                <a:ext uri="{FF2B5EF4-FFF2-40B4-BE49-F238E27FC236}">
                  <a16:creationId xmlns:a16="http://schemas.microsoft.com/office/drawing/2014/main" id="{DAF65EFA-9EC5-1F4F-8A5E-FD574DC04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4" y="1744"/>
              <a:ext cx="46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K</a:t>
              </a:r>
              <a:r>
                <a:rPr kumimoji="0" lang="en-US" sz="1800" b="0" i="1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c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= </a:t>
              </a: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grpSp>
        <p:nvGrpSpPr>
          <p:cNvPr id="36" name="Group 48">
            <a:extLst>
              <a:ext uri="{FF2B5EF4-FFF2-40B4-BE49-F238E27FC236}">
                <a16:creationId xmlns:a16="http://schemas.microsoft.com/office/drawing/2014/main" id="{95313DBF-30DB-1146-BD2D-DB9C0E14FDD1}"/>
              </a:ext>
            </a:extLst>
          </p:cNvPr>
          <p:cNvGrpSpPr>
            <a:grpSpLocks/>
          </p:cNvGrpSpPr>
          <p:nvPr/>
        </p:nvGrpSpPr>
        <p:grpSpPr bwMode="auto">
          <a:xfrm>
            <a:off x="2530565" y="5340510"/>
            <a:ext cx="4108450" cy="800100"/>
            <a:chOff x="1488" y="3360"/>
            <a:chExt cx="2588" cy="504"/>
          </a:xfrm>
        </p:grpSpPr>
        <p:sp>
          <p:nvSpPr>
            <p:cNvPr id="37" name="Text Box 28">
              <a:extLst>
                <a:ext uri="{FF2B5EF4-FFF2-40B4-BE49-F238E27FC236}">
                  <a16:creationId xmlns:a16="http://schemas.microsoft.com/office/drawing/2014/main" id="{A51AC4BE-B62B-4D48-855D-7F73BD280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504"/>
              <a:ext cx="46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K</a:t>
              </a:r>
              <a:r>
                <a:rPr kumimoji="0" lang="en-US" sz="1800" b="0" i="1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c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= </a:t>
              </a: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grpSp>
          <p:nvGrpSpPr>
            <p:cNvPr id="38" name="Group 38">
              <a:extLst>
                <a:ext uri="{FF2B5EF4-FFF2-40B4-BE49-F238E27FC236}">
                  <a16:creationId xmlns:a16="http://schemas.microsoft.com/office/drawing/2014/main" id="{19C72BB5-5A4B-184D-8E3A-DAB094810E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3360"/>
              <a:ext cx="1118" cy="504"/>
              <a:chOff x="2246" y="3529"/>
              <a:chExt cx="1118" cy="504"/>
            </a:xfrm>
          </p:grpSpPr>
          <p:sp>
            <p:nvSpPr>
              <p:cNvPr id="40" name="Text Box 35">
                <a:extLst>
                  <a:ext uri="{FF2B5EF4-FFF2-40B4-BE49-F238E27FC236}">
                    <a16:creationId xmlns:a16="http://schemas.microsoft.com/office/drawing/2014/main" id="{5C27FE00-7020-784C-85E6-615DE3FCF2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6" y="3529"/>
                <a:ext cx="10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(0,012 + 2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x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)</a:t>
                </a:r>
                <a:r>
                  <a:rPr kumimoji="0" lang="en-US" sz="1800" b="0" i="0" u="none" strike="noStrike" kern="0" cap="none" spc="0" normalizeH="0" baseline="3000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2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41" name="Text Box 36">
                <a:extLst>
                  <a:ext uri="{FF2B5EF4-FFF2-40B4-BE49-F238E27FC236}">
                    <a16:creationId xmlns:a16="http://schemas.microsoft.com/office/drawing/2014/main" id="{B4545E34-3461-684D-9466-4B971FF42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3" y="3800"/>
                <a:ext cx="79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0,063 - 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x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42" name="Line 37">
                <a:extLst>
                  <a:ext uri="{FF2B5EF4-FFF2-40B4-BE49-F238E27FC236}">
                    <a16:creationId xmlns:a16="http://schemas.microsoft.com/office/drawing/2014/main" id="{DE3FCE12-3671-0F41-A2C7-17C536FF5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3778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6E0EBF26-5115-CD47-8338-428563E4C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3503"/>
              <a:ext cx="99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= 1,1 x 10</a:t>
              </a:r>
              <a:r>
                <a:rPr kumimoji="0" lang="en-US" sz="1800" b="0" i="0" u="none" strike="noStrike" kern="0" cap="none" spc="0" normalizeH="0" baseline="3000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-3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grpSp>
        <p:nvGrpSpPr>
          <p:cNvPr id="43" name="Group 44">
            <a:extLst>
              <a:ext uri="{FF2B5EF4-FFF2-40B4-BE49-F238E27FC236}">
                <a16:creationId xmlns:a16="http://schemas.microsoft.com/office/drawing/2014/main" id="{C41B11C9-FC56-5F4D-B579-0117973D1159}"/>
              </a:ext>
            </a:extLst>
          </p:cNvPr>
          <p:cNvGrpSpPr>
            <a:grpSpLocks/>
          </p:cNvGrpSpPr>
          <p:nvPr/>
        </p:nvGrpSpPr>
        <p:grpSpPr bwMode="auto">
          <a:xfrm>
            <a:off x="2066146" y="3265454"/>
            <a:ext cx="406400" cy="1524000"/>
            <a:chOff x="1040" y="2256"/>
            <a:chExt cx="256" cy="960"/>
          </a:xfrm>
        </p:grpSpPr>
        <p:sp>
          <p:nvSpPr>
            <p:cNvPr id="44" name="Oval 41">
              <a:extLst>
                <a:ext uri="{FF2B5EF4-FFF2-40B4-BE49-F238E27FC236}">
                  <a16:creationId xmlns:a16="http://schemas.microsoft.com/office/drawing/2014/main" id="{E17A874D-45F9-F146-AE3C-080694C1B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92"/>
              <a:ext cx="240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srgbClr val="FF2F92"/>
                </a:solidFill>
                <a:latin typeface="Lucida Sans Unicode"/>
              </a:endParaRPr>
            </a:p>
          </p:txBody>
        </p:sp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53D4D83D-6DA2-874B-876C-70B37C00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28"/>
              <a:ext cx="240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srgbClr val="FF2F92"/>
                </a:solidFill>
                <a:latin typeface="Lucida Sans Unicode"/>
              </a:endParaRPr>
            </a:p>
          </p:txBody>
        </p:sp>
        <p:sp>
          <p:nvSpPr>
            <p:cNvPr id="46" name="Oval 43">
              <a:extLst>
                <a:ext uri="{FF2B5EF4-FFF2-40B4-BE49-F238E27FC236}">
                  <a16:creationId xmlns:a16="http://schemas.microsoft.com/office/drawing/2014/main" id="{5C44486C-AE4D-374E-954A-DBE8353BE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256"/>
              <a:ext cx="240" cy="288"/>
            </a:xfrm>
            <a:prstGeom prst="ellipse">
              <a:avLst/>
            </a:prstGeom>
            <a:noFill/>
            <a:ln w="28575">
              <a:solidFill>
                <a:srgbClr val="FF2F9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CL">
                <a:solidFill>
                  <a:srgbClr val="FF2F92"/>
                </a:solidFill>
                <a:latin typeface="Lucida Sans Unicode"/>
              </a:endParaRPr>
            </a:p>
          </p:txBody>
        </p:sp>
      </p:grpSp>
      <p:sp>
        <p:nvSpPr>
          <p:cNvPr id="47" name="WordArt 46">
            <a:extLst>
              <a:ext uri="{FF2B5EF4-FFF2-40B4-BE49-F238E27FC236}">
                <a16:creationId xmlns:a16="http://schemas.microsoft.com/office/drawing/2014/main" id="{FEFDDEF4-F9B5-7145-92D1-0869FBE34E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48546" y="3570254"/>
            <a:ext cx="752475" cy="117951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s-CL" sz="3600" kern="10" dirty="0">
                <a:ln w="9525">
                  <a:noFill/>
                  <a:round/>
                  <a:headEnd/>
                  <a:tailEnd/>
                </a:ln>
                <a:solidFill>
                  <a:srgbClr val="FF2F92"/>
                </a:solidFill>
                <a:latin typeface="Arial"/>
                <a:cs typeface="Arial"/>
              </a:rPr>
              <a:t>ICE</a:t>
            </a: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6D0F3426-4F04-6D49-B4F2-C158B8CCE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153" y="5547148"/>
            <a:ext cx="24463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Solución para </a:t>
            </a:r>
            <a:r>
              <a:rPr lang="es-CL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x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5BEED21-0F55-4FEF-9163-B524637CDDD8}"/>
              </a:ext>
            </a:extLst>
          </p:cNvPr>
          <p:cNvCxnSpPr/>
          <p:nvPr/>
        </p:nvCxnSpPr>
        <p:spPr>
          <a:xfrm>
            <a:off x="1876425" y="4256054"/>
            <a:ext cx="598170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4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BD6E62EE-9FB1-BF4F-B82D-DBAFC5A5E5F6}"/>
              </a:ext>
            </a:extLst>
          </p:cNvPr>
          <p:cNvGrpSpPr>
            <a:grpSpLocks/>
          </p:cNvGrpSpPr>
          <p:nvPr/>
        </p:nvGrpSpPr>
        <p:grpSpPr bwMode="auto">
          <a:xfrm>
            <a:off x="1327086" y="570868"/>
            <a:ext cx="4108450" cy="800100"/>
            <a:chOff x="1488" y="3360"/>
            <a:chExt cx="2588" cy="504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0FECF42D-4338-C549-86DC-A01615F3E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504"/>
              <a:ext cx="46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K</a:t>
              </a:r>
              <a:r>
                <a:rPr kumimoji="0" lang="en-US" sz="1800" b="0" i="1" u="none" strike="noStrike" kern="0" cap="none" spc="0" normalizeH="0" baseline="-25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c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= </a:t>
              </a: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35A0CAFB-BE85-5049-AF8B-0418F942B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3360"/>
              <a:ext cx="1104" cy="504"/>
              <a:chOff x="2246" y="3529"/>
              <a:chExt cx="1104" cy="504"/>
            </a:xfrm>
          </p:grpSpPr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AA92C359-3103-F941-9B1F-61B0403E1D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6" y="3529"/>
                <a:ext cx="10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(0,012 + 2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x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)</a:t>
                </a:r>
                <a:r>
                  <a:rPr kumimoji="0" lang="en-US" sz="1800" b="0" i="0" u="none" strike="noStrike" kern="0" cap="none" spc="0" normalizeH="0" baseline="3000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2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4B09FFD6-2D8A-3B46-9C05-217E3CE0C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3" y="3800"/>
                <a:ext cx="79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0,063 - 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Lucida Sans Unicode"/>
                  </a:rPr>
                  <a:t>x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  <p:sp>
            <p:nvSpPr>
              <p:cNvPr id="14" name="Line 7">
                <a:extLst>
                  <a:ext uri="{FF2B5EF4-FFF2-40B4-BE49-F238E27FC236}">
                    <a16:creationId xmlns:a16="http://schemas.microsoft.com/office/drawing/2014/main" id="{13F769E1-615D-3B48-8468-58ECBA24E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6" y="377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endParaRPr>
              </a:p>
            </p:txBody>
          </p:sp>
        </p:grp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E87B6948-A88A-724D-B281-2F4F4ABA8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3503"/>
              <a:ext cx="99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= 1,1 x 10</a:t>
              </a:r>
              <a:r>
                <a:rPr kumimoji="0" lang="en-US" sz="1800" b="0" i="0" u="none" strike="noStrike" kern="0" cap="none" spc="0" normalizeH="0" baseline="3000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-3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sp>
        <p:nvSpPr>
          <p:cNvPr id="15" name="Text Box 9">
            <a:extLst>
              <a:ext uri="{FF2B5EF4-FFF2-40B4-BE49-F238E27FC236}">
                <a16:creationId xmlns:a16="http://schemas.microsoft.com/office/drawing/2014/main" id="{F447DCF2-1E91-6542-BD0A-EA175B02C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561" y="1396371"/>
            <a:ext cx="59009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4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+ 0,048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+ 0,000144 = 0,0000693 – 0,0011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7E65C87E-3A95-7946-BF59-A6A97A327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561" y="1853571"/>
            <a:ext cx="38908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4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+ 0,0491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+ 0,0000747 = 0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24770DE8-4F84-814D-AA75-CD714CD69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24" y="2463171"/>
            <a:ext cx="20201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ax</a:t>
            </a:r>
            <a:r>
              <a:rPr lang="en-US" baseline="3000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bx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+ </a:t>
            </a:r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c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=0</a:t>
            </a:r>
            <a:endParaRPr lang="en-US" i="1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grpSp>
        <p:nvGrpSpPr>
          <p:cNvPr id="19" name="Group 53">
            <a:extLst>
              <a:ext uri="{FF2B5EF4-FFF2-40B4-BE49-F238E27FC236}">
                <a16:creationId xmlns:a16="http://schemas.microsoft.com/office/drawing/2014/main" id="{3D57BF75-6730-EA48-A5AC-DC09C11CB769}"/>
              </a:ext>
            </a:extLst>
          </p:cNvPr>
          <p:cNvGrpSpPr>
            <a:grpSpLocks/>
          </p:cNvGrpSpPr>
          <p:nvPr/>
        </p:nvGrpSpPr>
        <p:grpSpPr bwMode="auto">
          <a:xfrm>
            <a:off x="6092761" y="2158372"/>
            <a:ext cx="2616200" cy="839788"/>
            <a:chOff x="3152" y="1056"/>
            <a:chExt cx="1648" cy="529"/>
          </a:xfrm>
        </p:grpSpPr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E1D443DB-DB8E-1746-A4A1-79D15241F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129"/>
              <a:ext cx="11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-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b 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cs typeface="Arial" charset="0"/>
                </a:rPr>
                <a:t>±   b</a:t>
              </a:r>
              <a:r>
                <a:rPr kumimoji="0" lang="en-US" sz="1800" b="0" i="0" u="none" strike="noStrike" kern="0" cap="none" spc="0" normalizeH="0" baseline="3000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cs typeface="Arial" charset="0"/>
                </a:rPr>
                <a:t>2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cs typeface="Arial" charset="0"/>
                </a:rPr>
                <a:t> – 4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cs typeface="Arial" charset="0"/>
                </a:rPr>
                <a:t>ac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</a:t>
              </a:r>
            </a:p>
          </p:txBody>
        </p:sp>
        <p:sp>
          <p:nvSpPr>
            <p:cNvPr id="21" name="Text Box 13">
              <a:extLst>
                <a:ext uri="{FF2B5EF4-FFF2-40B4-BE49-F238E27FC236}">
                  <a16:creationId xmlns:a16="http://schemas.microsoft.com/office/drawing/2014/main" id="{8FF82842-3C90-B546-A4EC-D79DD58B4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1056"/>
              <a:ext cx="25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sym typeface="Symbol" pitchFamily="18" charset="2"/>
                </a:rPr>
                <a:t></a:t>
              </a: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CB3EFEBC-50BA-A44C-822A-FF36C5C38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1061"/>
              <a:ext cx="672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CAAFBEF9-16FA-AA41-A2CD-1EE168896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52"/>
              <a:ext cx="1248" cy="0"/>
            </a:xfrm>
            <a:prstGeom prst="line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6425D69C-6C2F-C44C-A8C1-DA25BA9DC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1352"/>
              <a:ext cx="2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2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a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25" name="Text Box 20">
              <a:extLst>
                <a:ext uri="{FF2B5EF4-FFF2-40B4-BE49-F238E27FC236}">
                  <a16:creationId xmlns:a16="http://schemas.microsoft.com/office/drawing/2014/main" id="{8438620C-65EB-2C42-8D56-2CDE141C5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240"/>
              <a:ext cx="41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x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 = </a:t>
              </a:r>
              <a:endParaRPr kumimoji="0" lang="en-US" sz="1800" b="0" i="1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grpSp>
        <p:nvGrpSpPr>
          <p:cNvPr id="26" name="Group 40">
            <a:extLst>
              <a:ext uri="{FF2B5EF4-FFF2-40B4-BE49-F238E27FC236}">
                <a16:creationId xmlns:a16="http://schemas.microsoft.com/office/drawing/2014/main" id="{D15289D0-60B4-984E-8673-EC959A4D2879}"/>
              </a:ext>
            </a:extLst>
          </p:cNvPr>
          <p:cNvGrpSpPr>
            <a:grpSpLocks/>
          </p:cNvGrpSpPr>
          <p:nvPr/>
        </p:nvGrpSpPr>
        <p:grpSpPr bwMode="auto">
          <a:xfrm>
            <a:off x="1241361" y="3682372"/>
            <a:ext cx="5573713" cy="1970088"/>
            <a:chOff x="326" y="2112"/>
            <a:chExt cx="3511" cy="1241"/>
          </a:xfrm>
        </p:grpSpPr>
        <p:sp>
          <p:nvSpPr>
            <p:cNvPr id="37" name="Text Box 23">
              <a:extLst>
                <a:ext uri="{FF2B5EF4-FFF2-40B4-BE49-F238E27FC236}">
                  <a16:creationId xmlns:a16="http://schemas.microsoft.com/office/drawing/2014/main" id="{0B9CAE1E-2B52-5449-A20C-7E7BE67A3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8" y="2112"/>
              <a:ext cx="15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Br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2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 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(</a:t>
              </a:r>
              <a:r>
                <a:rPr kumimoji="0" lang="en-US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g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)                     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2Br 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(</a:t>
              </a:r>
              <a:r>
                <a:rPr kumimoji="0" lang="en-US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g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2F92"/>
                  </a:solidFill>
                  <a:effectLst/>
                  <a:uLnTx/>
                  <a:uFillTx/>
                  <a:latin typeface="Lucida Sans Unicode"/>
                </a:rPr>
                <a:t>)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A2A1C99A-5D7F-AA48-B08F-CCCC28F3C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" y="2448"/>
              <a:ext cx="7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Inicial 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(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M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)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A4E598B3-E975-D64A-AD2A-BB3BF8563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2784"/>
              <a:ext cx="9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Cambio 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 (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M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)</a:t>
              </a: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01B0BC1F-AEE4-C548-9CA6-5B2ADC52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3120"/>
              <a:ext cx="1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Equilibrio 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 (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M</a:t>
              </a: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  <a:ea typeface="Times New Roman" pitchFamily="18" charset="0"/>
                  <a:cs typeface="Mangal" pitchFamily="2"/>
                </a:rPr>
                <a:t>)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71D0BA8D-580B-3E48-B4C9-E054F5E6B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2448"/>
              <a:ext cx="53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0,063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D2028C32-0F08-384C-AF4A-BDEC685A8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2448"/>
              <a:ext cx="53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0,012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70F222EA-B3EB-6548-BA10-77C54ED03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5" y="2784"/>
              <a:ext cx="2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-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x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E862C49C-19D0-D84E-88C7-A29CBFA60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1" y="2784"/>
              <a:ext cx="41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+2</a:t>
              </a: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x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1EEC4A44-4AEB-B74A-938B-981D4C136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2" y="3120"/>
              <a:ext cx="79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0,063 - </a:t>
              </a: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x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95701CA-4E32-AF43-AAD3-4282B0AB3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3120"/>
              <a:ext cx="9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0,012 + 2</a:t>
              </a: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Lucida Sans Unicode"/>
                </a:rPr>
                <a:t>x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/>
              </a:endParaRPr>
            </a:p>
          </p:txBody>
        </p:sp>
      </p:grpSp>
      <p:sp>
        <p:nvSpPr>
          <p:cNvPr id="41" name="Text Box 41">
            <a:extLst>
              <a:ext uri="{FF2B5EF4-FFF2-40B4-BE49-F238E27FC236}">
                <a16:creationId xmlns:a16="http://schemas.microsoft.com/office/drawing/2014/main" id="{6637249E-0FE6-F042-B6F1-D4E5AB00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24" y="3148971"/>
            <a:ext cx="17379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-0,00178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8FF69AC5-E6F5-774E-A14C-E5374E096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24" y="3148971"/>
            <a:ext cx="15921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= -0,0105</a:t>
            </a:r>
            <a:endParaRPr lang="en-US" i="1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0FE78B99-61BA-1A4A-8E3B-63993C6AC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42" y="5856028"/>
            <a:ext cx="54601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En el equilibrio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, [Br] = 0,012 + 2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= -0,009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E9F222F1-926C-9C46-97A2-6160EF20E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345" y="5826236"/>
            <a:ext cx="16209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o 0,00844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M</a:t>
            </a:r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8D840110-EE7E-224A-852D-0D895D175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561" y="3072771"/>
            <a:ext cx="1828800" cy="609600"/>
          </a:xfrm>
          <a:prstGeom prst="ellipse">
            <a:avLst/>
          </a:prstGeom>
          <a:noFill/>
          <a:ln w="28575">
            <a:solidFill>
              <a:srgbClr val="FF2F9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CL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6" name="Oval 46">
            <a:extLst>
              <a:ext uri="{FF2B5EF4-FFF2-40B4-BE49-F238E27FC236}">
                <a16:creationId xmlns:a16="http://schemas.microsoft.com/office/drawing/2014/main" id="{3055E0CE-8B8B-274B-A294-67EDD6B68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961" y="3072771"/>
            <a:ext cx="1828800" cy="609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CL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47" name="Line 47">
            <a:extLst>
              <a:ext uri="{FF2B5EF4-FFF2-40B4-BE49-F238E27FC236}">
                <a16:creationId xmlns:a16="http://schemas.microsoft.com/office/drawing/2014/main" id="{496CD368-D43C-CF40-8E98-A8C0028B2B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3624" y="5796515"/>
            <a:ext cx="1219200" cy="457200"/>
          </a:xfrm>
          <a:prstGeom prst="line">
            <a:avLst/>
          </a:prstGeom>
          <a:noFill/>
          <a:ln w="28575">
            <a:solidFill>
              <a:srgbClr val="FF2F9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CL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</p:txBody>
      </p:sp>
      <p:sp>
        <p:nvSpPr>
          <p:cNvPr id="48" name="Oval 48">
            <a:extLst>
              <a:ext uri="{FF2B5EF4-FFF2-40B4-BE49-F238E27FC236}">
                <a16:creationId xmlns:a16="http://schemas.microsoft.com/office/drawing/2014/main" id="{54E3B9F1-EC59-D04A-BE9F-B6ABCCAD4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9961" y="3072771"/>
            <a:ext cx="1828800" cy="609600"/>
          </a:xfrm>
          <a:prstGeom prst="ellipse">
            <a:avLst/>
          </a:prstGeom>
          <a:noFill/>
          <a:ln w="28575">
            <a:solidFill>
              <a:srgbClr val="FF2F9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CL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C6ACDCC1-E2F6-AE4A-9267-657B49D69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432" y="6329660"/>
            <a:ext cx="53575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En el equilibrio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, [Br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] = 0,062 –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x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 = 0,0648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  <a:latin typeface="Lucida Sans Unicode"/>
                <a:ea typeface="Times New Roman" pitchFamily="18" charset="0"/>
                <a:cs typeface="Mangal" pitchFamily="2"/>
              </a:rPr>
              <a:t>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3D7D43-214D-C248-855E-6B71F690921D}"/>
              </a:ext>
            </a:extLst>
          </p:cNvPr>
          <p:cNvSpPr/>
          <p:nvPr/>
        </p:nvSpPr>
        <p:spPr>
          <a:xfrm>
            <a:off x="4931045" y="3668154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252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31</a:t>
            </a:fld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1379015" y="3124003"/>
            <a:ext cx="9219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 Propuestos</a:t>
            </a:r>
          </a:p>
        </p:txBody>
      </p:sp>
      <p:grpSp>
        <p:nvGrpSpPr>
          <p:cNvPr id="6" name="Shape 627"/>
          <p:cNvGrpSpPr/>
          <p:nvPr/>
        </p:nvGrpSpPr>
        <p:grpSpPr>
          <a:xfrm>
            <a:off x="5623014" y="1377791"/>
            <a:ext cx="949919" cy="978720"/>
            <a:chOff x="3951850" y="2985350"/>
            <a:chExt cx="407950" cy="416500"/>
          </a:xfrm>
        </p:grpSpPr>
        <p:sp>
          <p:nvSpPr>
            <p:cNvPr id="7" name="Shape 62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0" t="0" r="0" b="0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629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0" t="0" r="0" b="0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630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631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0" t="0" r="0" b="0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706" y="135466"/>
            <a:ext cx="2116765" cy="105838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A85C48A-CBDE-BC4D-B0BE-2D007D73B8A4}"/>
              </a:ext>
            </a:extLst>
          </p:cNvPr>
          <p:cNvSpPr txBox="1"/>
          <p:nvPr/>
        </p:nvSpPr>
        <p:spPr>
          <a:xfrm>
            <a:off x="308346" y="266867"/>
            <a:ext cx="3360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977E0C-ADAD-9B4C-957B-83A2C17A2F8B}"/>
              </a:ext>
            </a:extLst>
          </p:cNvPr>
          <p:cNvSpPr txBox="1"/>
          <p:nvPr/>
        </p:nvSpPr>
        <p:spPr>
          <a:xfrm>
            <a:off x="5211894" y="5579872"/>
            <a:ext cx="691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2. Equilibrio Químico</a:t>
            </a:r>
          </a:p>
        </p:txBody>
      </p:sp>
    </p:spTree>
    <p:extLst>
      <p:ext uri="{BB962C8B-B14F-4D97-AF65-F5344CB8AC3E}">
        <p14:creationId xmlns:p14="http://schemas.microsoft.com/office/powerpoint/2010/main" val="1399585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AC7D4232-B34D-7F40-935A-FAC3DF504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34" y="383244"/>
            <a:ext cx="9671304" cy="482824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kumimoji="1"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1.- </a:t>
            </a:r>
            <a:r>
              <a:rPr kumimoji="1"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Para la reacción:</a:t>
            </a:r>
          </a:p>
          <a:p>
            <a:endParaRPr kumimoji="1" lang="es-ES_tradnl" sz="2200" dirty="0">
              <a:solidFill>
                <a:schemeClr val="accent5">
                  <a:lumMod val="75000"/>
                </a:schemeClr>
              </a:solidFill>
              <a:latin typeface="Lucida Sans Unicode"/>
            </a:endParaRPr>
          </a:p>
          <a:p>
            <a:pPr algn="ctr"/>
            <a:r>
              <a:rPr lang="es-ES_tradnl" sz="2800" b="1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2NH</a:t>
            </a:r>
            <a:r>
              <a:rPr lang="es-ES_tradnl" sz="2800" b="1" baseline="-25000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3 (g)</a:t>
            </a:r>
            <a:r>
              <a:rPr lang="es-ES_tradnl" sz="2800" baseline="-25000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 </a:t>
            </a:r>
            <a:r>
              <a:rPr lang="es-ES_tradnl" sz="2800" b="1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sz="2800" b="1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 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</a:rPr>
              <a:t>N</a:t>
            </a:r>
            <a:r>
              <a:rPr kumimoji="1" lang="es-ES_tradnl" sz="2800" b="1" baseline="-25000" dirty="0">
                <a:solidFill>
                  <a:srgbClr val="FF2F92"/>
                </a:solidFill>
                <a:latin typeface="Lucida Sans Unicode"/>
              </a:rPr>
              <a:t>2 (g)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</a:rPr>
              <a:t> + 3H</a:t>
            </a:r>
            <a:r>
              <a:rPr kumimoji="1" lang="es-ES_tradnl" sz="2800" b="1" baseline="-25000" dirty="0">
                <a:solidFill>
                  <a:srgbClr val="FF2F92"/>
                </a:solidFill>
                <a:latin typeface="Lucida Sans Unicode"/>
              </a:rPr>
              <a:t>2 (g)</a:t>
            </a:r>
            <a:r>
              <a:rPr kumimoji="1" lang="es-ES_tradnl" sz="2800" b="1" dirty="0">
                <a:solidFill>
                  <a:srgbClr val="FF2F92"/>
                </a:solidFill>
                <a:latin typeface="Lucida Sans Unicode"/>
              </a:rPr>
              <a:t> </a:t>
            </a:r>
            <a:r>
              <a:rPr lang="es-ES_tradnl" sz="2800" baseline="-25000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    </a:t>
            </a:r>
            <a:r>
              <a:rPr lang="es-ES_tradnl" sz="2800" dirty="0">
                <a:solidFill>
                  <a:srgbClr val="FF2F92"/>
                </a:solidFill>
                <a:latin typeface="Lucida Sans Unicode"/>
                <a:sym typeface="Symbol" pitchFamily="18" charset="2"/>
              </a:rPr>
              <a:t>H = +92 KJ</a:t>
            </a:r>
            <a:endParaRPr lang="es-ES_tradnl" sz="2800" u="sng" baseline="30000" dirty="0">
              <a:solidFill>
                <a:srgbClr val="FF2F92"/>
              </a:solidFill>
              <a:latin typeface="Lucida Sans Unicode"/>
              <a:sym typeface="Symbol" pitchFamily="18" charset="2"/>
            </a:endParaRPr>
          </a:p>
          <a:p>
            <a:r>
              <a:rPr lang="es-ES_tradnl" sz="22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			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¿Hacia dónde ocurre el desplazamiento si: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Aumenta la concentración de H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2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Aumenta la concentración de NH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3</a:t>
            </a:r>
            <a:endParaRPr lang="es-ES_tradnl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Aumenta la concentración de N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2</a:t>
            </a:r>
            <a:endParaRPr lang="es-ES_tradnl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Disminución de la concentración de NH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3</a:t>
            </a:r>
            <a:endParaRPr lang="es-ES_tradnl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Disminución de la concentración de H</a:t>
            </a:r>
            <a:r>
              <a:rPr lang="es-ES_tradnl" baseline="-25000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2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Aumenta la presión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Symbol" pitchFamily="18" charset="2"/>
              </a:rPr>
              <a:t> Aumenta la temperatura</a:t>
            </a:r>
            <a:endParaRPr lang="es-ES" baseline="-25000" dirty="0">
              <a:solidFill>
                <a:schemeClr val="accent5">
                  <a:lumMod val="75000"/>
                </a:schemeClr>
              </a:solidFill>
              <a:latin typeface="Lucida Sans Unicode"/>
              <a:sym typeface="Symbol" pitchFamily="18" charset="2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6A5231C-4ABE-1349-BF46-20BC63DC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17" y="5625441"/>
            <a:ext cx="9973584" cy="888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2.- Exprese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 la constante de equilibrio (de la reacción anterior) en función de la presión (</a:t>
            </a:r>
            <a:r>
              <a:rPr lang="es-ES_tradnl" dirty="0" err="1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Kp</a:t>
            </a:r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</a:rPr>
              <a:t>) y la constante de equilibrio en función de la concentración (Kc).</a:t>
            </a:r>
          </a:p>
        </p:txBody>
      </p:sp>
    </p:spTree>
    <p:extLst>
      <p:ext uri="{BB962C8B-B14F-4D97-AF65-F5344CB8AC3E}">
        <p14:creationId xmlns:p14="http://schemas.microsoft.com/office/powerpoint/2010/main" val="1315566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8" name="1 Rectángulo">
            <a:extLst>
              <a:ext uri="{FF2B5EF4-FFF2-40B4-BE49-F238E27FC236}">
                <a16:creationId xmlns:a16="http://schemas.microsoft.com/office/drawing/2014/main" id="{4A1A6A75-AE15-6948-8064-E39E2904A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30" y="714375"/>
            <a:ext cx="9772650" cy="267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2010 K, la constante de equilibrio, </a:t>
            </a:r>
            <a:r>
              <a:rPr lang="es-ES" altLang="es-CL" sz="1800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Kc, para la siguiente reacción es 4,0 x 10 </a:t>
            </a:r>
            <a:r>
              <a:rPr lang="es-ES" altLang="es-CL" sz="1800" i="1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-4</a:t>
            </a:r>
            <a:r>
              <a:rPr lang="es-ES" altLang="es-CL" sz="1800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              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      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NO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endParaRPr lang="es-ES" altLang="es-CL" sz="2400" baseline="-25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Si las concentraciones de N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y 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el equilibrio son 0,28 mol/L y 0,38 mol/L a 2010 K, ¿cuál es la concentración de equilibrio de NO?</a:t>
            </a:r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2076C341-DB3C-8A40-AD75-B15F5936F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39" y="4031956"/>
            <a:ext cx="2129291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1,8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-9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2,1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4,3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d) 6,5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-3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e) 6,1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CC46FC-74BA-6347-94BD-4D18DFAF2CE6}"/>
              </a:ext>
            </a:extLst>
          </p:cNvPr>
          <p:cNvSpPr/>
          <p:nvPr/>
        </p:nvSpPr>
        <p:spPr>
          <a:xfrm>
            <a:off x="4667839" y="1444722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565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0" name="1 Rectángulo">
            <a:extLst>
              <a:ext uri="{FF2B5EF4-FFF2-40B4-BE49-F238E27FC236}">
                <a16:creationId xmlns:a16="http://schemas.microsoft.com/office/drawing/2014/main" id="{FC513DB3-52A9-D347-84CF-267822C5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98974"/>
            <a:ext cx="882015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4.- 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mezcla de 0,200 mol de NO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y 0,200 mol de CO se adiciona a un recipiente de 1,00 L y se espera hasta que se alcanza el equilibrio. El análisis de la mezcla del equilibrio indica que 0,134 mol de CO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están presentes.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Kc para la reacción: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altLang="es-CL" sz="2800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alt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  <a:r>
              <a:rPr lang="es-ES" alt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CO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    </a:t>
            </a:r>
            <a:r>
              <a:rPr lang="es-ES" alt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NO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  <a:r>
              <a:rPr lang="es-ES" alt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CO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</a:p>
        </p:txBody>
      </p:sp>
      <p:sp>
        <p:nvSpPr>
          <p:cNvPr id="12" name="2 Rectángulo">
            <a:extLst>
              <a:ext uri="{FF2B5EF4-FFF2-40B4-BE49-F238E27FC236}">
                <a16:creationId xmlns:a16="http://schemas.microsoft.com/office/drawing/2014/main" id="{5C1A9901-7FD6-1E4F-9489-B010B4A2F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91" y="4301135"/>
            <a:ext cx="146431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a) 0,27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b) 0,45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c) 0,67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d) 2,0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CL" sz="1800" b="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e) 4,1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9087BAA-0623-6E4C-AB5A-A188C4A93385}"/>
              </a:ext>
            </a:extLst>
          </p:cNvPr>
          <p:cNvSpPr/>
          <p:nvPr/>
        </p:nvSpPr>
        <p:spPr>
          <a:xfrm>
            <a:off x="4454842" y="3686341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800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67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F78C862-294A-A548-B76B-DB362CFB8C29}"/>
              </a:ext>
            </a:extLst>
          </p:cNvPr>
          <p:cNvSpPr/>
          <p:nvPr/>
        </p:nvSpPr>
        <p:spPr>
          <a:xfrm>
            <a:off x="419100" y="475417"/>
            <a:ext cx="9204580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s-ES" altLang="es-C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5.- 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mezcla de 0,100 moles de CO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0,05000 moles de 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y 0,1000 moles de H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se colocan en un recipiente de 1,000 L. Se establece el equilibrio siguiente:</a:t>
            </a:r>
          </a:p>
          <a:p>
            <a:pPr algn="just">
              <a:spcBef>
                <a:spcPct val="0"/>
              </a:spcBef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spcBef>
                <a:spcPct val="0"/>
              </a:spcBef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H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CO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H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</a:p>
          <a:p>
            <a:pPr algn="ctr">
              <a:spcBef>
                <a:spcPct val="0"/>
              </a:spcBef>
            </a:pPr>
            <a:endParaRPr lang="es-ES" altLang="es-C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el equilibrio [CO</a:t>
            </a:r>
            <a:r>
              <a:rPr lang="es-ES" altLang="es-C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0,0954 M.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la concentración en el equilibrio de todas las demás especies.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Kc de la reacción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¿Se dispone de suficiente información para calcular </a:t>
            </a:r>
            <a:r>
              <a:rPr lang="es-ES" altLang="es-C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</a:t>
            </a:r>
            <a:r>
              <a:rPr lang="es-ES" altLang="es-C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?</a:t>
            </a:r>
          </a:p>
          <a:p>
            <a:pPr algn="just">
              <a:spcBef>
                <a:spcPct val="50000"/>
              </a:spcBef>
            </a:pPr>
            <a:endParaRPr lang="es-ES" altLang="es-CL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F16BA23-D39D-FF49-9557-1C1CD93D7400}"/>
              </a:ext>
            </a:extLst>
          </p:cNvPr>
          <p:cNvSpPr/>
          <p:nvPr/>
        </p:nvSpPr>
        <p:spPr>
          <a:xfrm>
            <a:off x="4768756" y="1724954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42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A1E6568D-1E9A-C04D-86D3-EB77CE99C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8974"/>
            <a:ext cx="8977312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6.-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Escribir la expresión de la constante de equilibrio Kc o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según sea el caso: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Tx/>
              <a:buAutoNum type="alphaLcPeriod"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2CO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(g)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(g)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2CO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(g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Tx/>
              <a:buAutoNum type="alphaLcPeriod"/>
            </a:pPr>
            <a:endParaRPr lang="es-ES" altLang="es-CL" sz="1800" baseline="-25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b. 3O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(g).   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2O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 (g)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baseline="-25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c. HCOOH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s-ES" altLang="es-CL" sz="18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             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s-ES" altLang="es-CL" sz="18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HCOO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 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</a:t>
            </a:r>
            <a:r>
              <a:rPr lang="es-ES" altLang="es-CL" sz="18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ac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es-CL" sz="18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1099A4-FABB-FD46-A94E-D5BE92B5A3A6}"/>
              </a:ext>
            </a:extLst>
          </p:cNvPr>
          <p:cNvSpPr/>
          <p:nvPr/>
        </p:nvSpPr>
        <p:spPr>
          <a:xfrm>
            <a:off x="2704307" y="1628185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0D30F7-EDBC-4740-A462-13D2F77B8826}"/>
              </a:ext>
            </a:extLst>
          </p:cNvPr>
          <p:cNvSpPr/>
          <p:nvPr/>
        </p:nvSpPr>
        <p:spPr>
          <a:xfrm>
            <a:off x="1609154" y="2329935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39AC5A-5A2E-3F40-90AF-2B1DFC3A2C49}"/>
              </a:ext>
            </a:extLst>
          </p:cNvPr>
          <p:cNvSpPr/>
          <p:nvPr/>
        </p:nvSpPr>
        <p:spPr>
          <a:xfrm>
            <a:off x="2002371" y="299587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5">
                    <a:lumMod val="75000"/>
                  </a:schemeClr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95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1B75FC59-93E2-E645-97B2-48D056A2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1" y="383244"/>
            <a:ext cx="8731249" cy="4443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bromuro de hidrógeno gaseoso se introduce en un matraz a 425ºC, en donde se descompone parcialmente a hidrógeno y bromo de acuerdo a la siguiente reacción: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2HBr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  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</a:t>
            </a:r>
            <a:r>
              <a:rPr lang="es-ES" altLang="es-CL" sz="28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ES" altLang="es-CL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Br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el equilibrio se tienen las siguientes concentraciones: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[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HBr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4,30*10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-1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M, [H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2,78*10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 y [Br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2,78*10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-5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Determine el valor de Kc a esa temperatura. Este equilibrio, ¿favorece a reactivos o productos?.</a:t>
            </a:r>
          </a:p>
        </p:txBody>
      </p:sp>
    </p:spTree>
    <p:extLst>
      <p:ext uri="{BB962C8B-B14F-4D97-AF65-F5344CB8AC3E}">
        <p14:creationId xmlns:p14="http://schemas.microsoft.com/office/powerpoint/2010/main" val="1257888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F6BC7D41-3FE7-DC4A-A45E-04B784F8A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1" y="620713"/>
            <a:ext cx="88011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8.-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constante de equilibrio para la reacción:             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2NO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          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Kc= 2.4x10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2000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ºC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Calcule Kc para: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    </a:t>
            </a:r>
            <a:r>
              <a:rPr lang="es-ES" altLang="es-CL" sz="36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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2NO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29CC10-3E59-DF48-AABC-FA6BF2922C49}"/>
              </a:ext>
            </a:extLst>
          </p:cNvPr>
          <p:cNvSpPr/>
          <p:nvPr/>
        </p:nvSpPr>
        <p:spPr>
          <a:xfrm>
            <a:off x="4288559" y="1585655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764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39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0447E42-288E-A344-882D-5E64860CA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94" y="614077"/>
            <a:ext cx="8856906" cy="310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9.-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 coloca yoduro de hidrógeno gaseoso en un recipiente cerrado a 425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ºC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donde se descompone parcialmente en hidrógeno y yodo según: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2HI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     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I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2(g)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" altLang="es-CL" sz="18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En la posición de equilibrio se encuentra que [HI] = 3,53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M; [H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4,79 x 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M; [I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] = 4,79x10</a:t>
            </a:r>
            <a:r>
              <a:rPr lang="es-ES" altLang="es-CL" sz="18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M. Calcule Kc y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esta temperatura.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41D7E6-8C75-8649-8D6C-5A245719F035}"/>
              </a:ext>
            </a:extLst>
          </p:cNvPr>
          <p:cNvSpPr/>
          <p:nvPr/>
        </p:nvSpPr>
        <p:spPr>
          <a:xfrm>
            <a:off x="4309823" y="1935592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endParaRPr lang="en-US" sz="2400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31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824AF3B-8580-4F49-87BF-8EE9956F0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483640"/>
            <a:ext cx="8642350" cy="310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altLang="es-CL" sz="18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10.- 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la reacción 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s-ES" altLang="es-CL" sz="24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2NO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 Cl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       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 </a:t>
            </a:r>
            <a:r>
              <a:rPr lang="es-ES" altLang="es-CL" sz="2400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NOCl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s-ES" altLang="es-CL" sz="24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500 K la constante de equilibrio de la reacción es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52,0. Una mezcla de los tres gases en equilibrio presenta presiones parciales de 0,095 atm para NO y 0,171 atm para Cl</a:t>
            </a:r>
            <a:r>
              <a:rPr lang="es-ES" altLang="es-CL" sz="18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¿Cuál es la presión parcial del </a:t>
            </a:r>
            <a:r>
              <a:rPr lang="es-ES" altLang="es-CL" sz="18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NOCl</a:t>
            </a:r>
            <a:r>
              <a:rPr lang="es-ES" altLang="es-CL" sz="18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en la mezcla?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D0AC21-C8F7-1545-B183-510051CE3C52}"/>
              </a:ext>
            </a:extLst>
          </p:cNvPr>
          <p:cNvSpPr/>
          <p:nvPr/>
        </p:nvSpPr>
        <p:spPr>
          <a:xfrm>
            <a:off x="5064735" y="1191334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rgbClr val="FF2F92"/>
                </a:solidFill>
                <a:latin typeface="Lucida Sans Unicode"/>
                <a:sym typeface="Wingdings 3" panose="05040102010807070707" pitchFamily="18" charset="2"/>
              </a:rPr>
              <a:t></a:t>
            </a:r>
            <a:r>
              <a:rPr lang="es-ES_tradnl" dirty="0">
                <a:latin typeface="Lucida Sans Unicode"/>
                <a:sym typeface="Symbol" pitchFamily="18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898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800941-FB8A-D54B-BEC8-1E28D9B7627D}"/>
              </a:ext>
            </a:extLst>
          </p:cNvPr>
          <p:cNvSpPr/>
          <p:nvPr/>
        </p:nvSpPr>
        <p:spPr>
          <a:xfrm>
            <a:off x="189976" y="383244"/>
            <a:ext cx="905883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ES" altLang="es-CL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11.- 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tricloruro de fósforo gaseoso y el cloro gaseoso reaccionan para formar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pentacloruro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fósforo gaseoso: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PCl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+ Cl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  </a:t>
            </a:r>
            <a:r>
              <a:rPr lang="es-ES" altLang="es-CL" sz="36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Wingdings 3" panose="05040102010807070707" pitchFamily="18" charset="2"/>
              </a:rPr>
              <a:t>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PCl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s-ES" alt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(g)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s-ES" altLang="es-CL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Un recipiente para gases se carga con una mezcla de PCl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(g) y 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(g) la cual se deja que alcance el equilibrio a 450 K. En el equilibrio las presiones parciales de los tres gases son PPCl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0,124 atm PPCl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5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1,30 atm PPCl</a:t>
            </a:r>
            <a:r>
              <a:rPr lang="es-ES" altLang="es-CL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= 0,157 atm. Calcular el valor de </a:t>
            </a:r>
            <a:r>
              <a:rPr lang="es-ES" altLang="es-CL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Kp</a:t>
            </a:r>
            <a:r>
              <a:rPr lang="es-ES" altLang="es-CL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 esta temperatura. Discuta hacia que dirección esta desplazado el equilibrio.</a:t>
            </a:r>
          </a:p>
          <a:p>
            <a:pPr algn="just">
              <a:spcBef>
                <a:spcPct val="50000"/>
              </a:spcBef>
            </a:pPr>
            <a:endParaRPr lang="es-ES" altLang="es-CL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643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42</a:t>
            </a:fld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6684" y="1426351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5266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12774</TotalTime>
  <Words>2880</Words>
  <Application>Microsoft Office PowerPoint</Application>
  <PresentationFormat>Panorámica</PresentationFormat>
  <Paragraphs>416</Paragraphs>
  <Slides>42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42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Impact</vt:lpstr>
      <vt:lpstr>Karla</vt:lpstr>
      <vt:lpstr>Lucida Calligraphy</vt:lpstr>
      <vt:lpstr>Lucida Sans Unicode</vt:lpstr>
      <vt:lpstr>Symbol</vt:lpstr>
      <vt:lpstr>Times New Roman</vt:lpstr>
      <vt:lpstr>Wingdings</vt:lpstr>
      <vt:lpstr>1_Tema de Office</vt:lpstr>
      <vt:lpstr>Ecuación</vt:lpstr>
      <vt:lpstr>Image</vt:lpstr>
      <vt:lpstr>Equation</vt:lpstr>
      <vt:lpstr>Presentación de PowerPoint</vt:lpstr>
      <vt:lpstr>Presentación de PowerPoint</vt:lpstr>
      <vt:lpstr>Equilibrio de moléculas   H2 + I2  2 HI</vt:lpstr>
      <vt:lpstr>H2 + I2  2 HI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Cociente de reacción (Q)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Patricio Hermosilla Ibáñez</dc:creator>
  <cp:lastModifiedBy>Patricio Hermosilla Ibáñez</cp:lastModifiedBy>
  <cp:revision>187</cp:revision>
  <cp:lastPrinted>2019-12-16T11:08:08Z</cp:lastPrinted>
  <dcterms:created xsi:type="dcterms:W3CDTF">2017-08-15T01:11:26Z</dcterms:created>
  <dcterms:modified xsi:type="dcterms:W3CDTF">2020-08-06T14:01:29Z</dcterms:modified>
</cp:coreProperties>
</file>