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2"/>
  </p:notesMasterIdLst>
  <p:sldIdLst>
    <p:sldId id="471" r:id="rId2"/>
    <p:sldId id="483" r:id="rId3"/>
    <p:sldId id="491" r:id="rId4"/>
    <p:sldId id="492" r:id="rId5"/>
    <p:sldId id="493" r:id="rId6"/>
    <p:sldId id="494" r:id="rId7"/>
    <p:sldId id="512" r:id="rId8"/>
    <p:sldId id="495" r:id="rId9"/>
    <p:sldId id="496" r:id="rId10"/>
    <p:sldId id="490" r:id="rId11"/>
    <p:sldId id="423" r:id="rId12"/>
    <p:sldId id="473" r:id="rId13"/>
    <p:sldId id="498" r:id="rId14"/>
    <p:sldId id="513" r:id="rId15"/>
    <p:sldId id="499" r:id="rId16"/>
    <p:sldId id="514" r:id="rId17"/>
    <p:sldId id="502" r:id="rId18"/>
    <p:sldId id="507" r:id="rId19"/>
    <p:sldId id="475" r:id="rId20"/>
    <p:sldId id="476" r:id="rId21"/>
    <p:sldId id="509" r:id="rId22"/>
    <p:sldId id="515" r:id="rId23"/>
    <p:sldId id="510" r:id="rId24"/>
    <p:sldId id="516" r:id="rId25"/>
    <p:sldId id="511" r:id="rId26"/>
    <p:sldId id="517" r:id="rId27"/>
    <p:sldId id="477" r:id="rId28"/>
    <p:sldId id="478" r:id="rId29"/>
    <p:sldId id="479" r:id="rId30"/>
    <p:sldId id="503" r:id="rId31"/>
    <p:sldId id="504" r:id="rId32"/>
    <p:sldId id="506" r:id="rId33"/>
    <p:sldId id="480" r:id="rId34"/>
    <p:sldId id="518" r:id="rId35"/>
    <p:sldId id="519" r:id="rId36"/>
    <p:sldId id="520" r:id="rId37"/>
    <p:sldId id="485" r:id="rId38"/>
    <p:sldId id="526" r:id="rId39"/>
    <p:sldId id="527" r:id="rId40"/>
    <p:sldId id="530" r:id="rId41"/>
    <p:sldId id="528" r:id="rId42"/>
    <p:sldId id="488" r:id="rId43"/>
    <p:sldId id="481" r:id="rId44"/>
    <p:sldId id="489" r:id="rId45"/>
    <p:sldId id="306" r:id="rId46"/>
    <p:sldId id="392" r:id="rId47"/>
    <p:sldId id="522" r:id="rId48"/>
    <p:sldId id="523" r:id="rId49"/>
    <p:sldId id="524" r:id="rId50"/>
    <p:sldId id="331" r:id="rId51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7979"/>
    <a:srgbClr val="008000"/>
    <a:srgbClr val="FF2F92"/>
    <a:srgbClr val="011893"/>
    <a:srgbClr val="FF9300"/>
    <a:srgbClr val="0000FF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43" autoAdjust="0"/>
    <p:restoredTop sz="94660"/>
  </p:normalViewPr>
  <p:slideViewPr>
    <p:cSldViewPr snapToGrid="0">
      <p:cViewPr varScale="1">
        <p:scale>
          <a:sx n="67" d="100"/>
          <a:sy n="67" d="100"/>
        </p:scale>
        <p:origin x="6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4FB450-3C2F-444B-9D8A-00853E938C60}" type="datetimeFigureOut">
              <a:rPr lang="es-ES_tradnl" smtClean="0"/>
              <a:t>22/12/2020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E8BF0D-A6A6-FD4D-A9E6-5DEC166F13E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37344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21189-4162-4095-A72D-97D1D0A4C38F}" type="datetime1">
              <a:rPr lang="es-CL" smtClean="0"/>
              <a:t>22-12-2020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00936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6C988-3886-4209-952F-6F2351060C4F}" type="datetime1">
              <a:rPr lang="es-CL" smtClean="0"/>
              <a:t>22-12-2020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62385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3FF90-380B-4198-AAB4-EFE3F7E59A8E}" type="datetime1">
              <a:rPr lang="es-CL" smtClean="0"/>
              <a:t>22-12-2020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61957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7B498-9DDE-410B-8204-6F21FFA6E274}" type="datetime1">
              <a:rPr lang="es-CL" smtClean="0"/>
              <a:t>22-12-2020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77543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0F5E6-CD69-49CD-B7D6-2AEC969E30DA}" type="datetime1">
              <a:rPr lang="es-CL" smtClean="0"/>
              <a:t>22-12-2020</a:t>
            </a:fld>
            <a:endParaRPr lang="es-C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41783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C499-432E-4F9C-A348-9F1EBD53816F}" type="datetime1">
              <a:rPr lang="es-CL" smtClean="0"/>
              <a:t>22-12-2020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95183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92564-0253-46B2-8B97-04702F236E08}" type="datetime1">
              <a:rPr lang="es-CL" smtClean="0"/>
              <a:t>22-12-2020</a:t>
            </a:fld>
            <a:endParaRPr lang="es-C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20944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75F27-AD8C-4F52-BAB6-7A4ECCF43A56}" type="datetime1">
              <a:rPr lang="es-CL" smtClean="0"/>
              <a:t>22-12-2020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7934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418ED-4B89-441E-BDE8-0FDAD45DABC3}" type="datetime1">
              <a:rPr lang="es-CL" smtClean="0"/>
              <a:t>22-12-2020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7335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73A9-F609-4366-8CB2-D4C393F6FD2B}" type="datetime1">
              <a:rPr lang="es-CL" smtClean="0"/>
              <a:t>22-12-2020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4626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3A19F-DB7A-441A-B859-6E2BBEF27AD9}" type="datetime1">
              <a:rPr lang="es-CL" smtClean="0"/>
              <a:t>22-12-2020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53360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Empt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sldNum" idx="12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7803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304801" y="-13915"/>
            <a:ext cx="10972420" cy="6885849"/>
          </a:xfrm>
          <a:custGeom>
            <a:avLst/>
            <a:gdLst/>
            <a:ahLst/>
            <a:cxnLst/>
            <a:rect l="0" t="0" r="0" b="0"/>
            <a:pathLst>
              <a:path w="328450" h="206122" extrusionOk="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37" name="Shape 37"/>
          <p:cNvSpPr/>
          <p:nvPr/>
        </p:nvSpPr>
        <p:spPr>
          <a:xfrm>
            <a:off x="1" y="-13915"/>
            <a:ext cx="10972420" cy="6885849"/>
          </a:xfrm>
          <a:custGeom>
            <a:avLst/>
            <a:gdLst/>
            <a:ahLst/>
            <a:cxnLst/>
            <a:rect l="0" t="0" r="0" b="0"/>
            <a:pathLst>
              <a:path w="328450" h="206122" extrusionOk="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1117800" y="1191333"/>
            <a:ext cx="7098800" cy="6476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1117667" y="2006600"/>
            <a:ext cx="7098800" cy="3007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SzPts val="2000"/>
              <a:buChar char="▸"/>
              <a:defRPr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04637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BC72F-1C79-4B24-AFC2-4A1995B30CAF}" type="datetime1">
              <a:rPr lang="es-CL" smtClean="0"/>
              <a:t>22-12-2020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L"/>
              <a:t>PHI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72148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4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</a:t>
            </a:fld>
            <a:endParaRPr lang="es-CL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F6BF646-913E-F443-9239-35877B264A20}"/>
              </a:ext>
            </a:extLst>
          </p:cNvPr>
          <p:cNvSpPr txBox="1"/>
          <p:nvPr/>
        </p:nvSpPr>
        <p:spPr>
          <a:xfrm>
            <a:off x="3895870" y="5365948"/>
            <a:ext cx="82961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1. Teoría de Gases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DD84254E-89DC-CA43-8FB9-7B95733BF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4A0C9A27-BC19-6B48-9953-B583514660F8}"/>
              </a:ext>
            </a:extLst>
          </p:cNvPr>
          <p:cNvSpPr txBox="1"/>
          <p:nvPr/>
        </p:nvSpPr>
        <p:spPr>
          <a:xfrm>
            <a:off x="308345" y="224147"/>
            <a:ext cx="70332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2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D996AA1-3373-BC43-989B-2F6B2E2D7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51" y="2055274"/>
            <a:ext cx="4058571" cy="340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363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2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2" name="4 Subtítulo">
            <a:extLst>
              <a:ext uri="{FF2B5EF4-FFF2-40B4-BE49-F238E27FC236}">
                <a16:creationId xmlns:a16="http://schemas.microsoft.com/office/drawing/2014/main" id="{D75FDF36-E78F-2149-B97D-B9C233083B72}"/>
              </a:ext>
            </a:extLst>
          </p:cNvPr>
          <p:cNvSpPr txBox="1">
            <a:spLocks/>
          </p:cNvSpPr>
          <p:nvPr/>
        </p:nvSpPr>
        <p:spPr bwMode="auto">
          <a:xfrm>
            <a:off x="366154" y="226111"/>
            <a:ext cx="6829776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5pPr>
            <a:lvl6pPr marL="22860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/>
            <a:r>
              <a:rPr lang="es-ES" sz="2800" kern="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Características de los Gases </a:t>
            </a:r>
            <a:endParaRPr lang="es-MX" sz="2800" kern="0" dirty="0">
              <a:solidFill>
                <a:srgbClr val="FF2F92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just"/>
            <a:endParaRPr lang="es-MX" sz="2800" kern="0" dirty="0">
              <a:solidFill>
                <a:srgbClr val="FF2F92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3" name="3 CuadroTexto">
            <a:extLst>
              <a:ext uri="{FF2B5EF4-FFF2-40B4-BE49-F238E27FC236}">
                <a16:creationId xmlns:a16="http://schemas.microsoft.com/office/drawing/2014/main" id="{31B8841B-2C9B-AC4E-99B8-56C54345E284}"/>
              </a:ext>
            </a:extLst>
          </p:cNvPr>
          <p:cNvSpPr txBox="1"/>
          <p:nvPr/>
        </p:nvSpPr>
        <p:spPr>
          <a:xfrm>
            <a:off x="266014" y="1227920"/>
            <a:ext cx="9239929" cy="2823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s-MX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Los gases adoptan el volumen y forma del recipiente que los contiene. 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s-MX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Se consideran los más compresibles de los estados de la materia. 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s-MX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Cuando se encuentran confinados en el mismo recipiente se mezclan uniforme y completamente. 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s-MX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Variación de volumen al pasar de liquido o solido a gas.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s-MX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Cuentan con densidades mucho menores que los líquidos y sólidos.</a:t>
            </a:r>
          </a:p>
        </p:txBody>
      </p:sp>
      <p:pic>
        <p:nvPicPr>
          <p:cNvPr id="8" name="Picture 8" descr="P174a">
            <a:extLst>
              <a:ext uri="{FF2B5EF4-FFF2-40B4-BE49-F238E27FC236}">
                <a16:creationId xmlns:a16="http://schemas.microsoft.com/office/drawing/2014/main" id="{DC3FEF88-3705-934D-8D79-F56C2A02C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06022" y="4259242"/>
            <a:ext cx="2701925" cy="186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0" descr="cha56011_ma0501">
            <a:extLst>
              <a:ext uri="{FF2B5EF4-FFF2-40B4-BE49-F238E27FC236}">
                <a16:creationId xmlns:a16="http://schemas.microsoft.com/office/drawing/2014/main" id="{8D564800-CC2D-6541-8F66-687AA5CB3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43009" y="4471116"/>
            <a:ext cx="1412875" cy="183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1">
            <a:extLst>
              <a:ext uri="{FF2B5EF4-FFF2-40B4-BE49-F238E27FC236}">
                <a16:creationId xmlns:a16="http://schemas.microsoft.com/office/drawing/2014/main" id="{0B43D7B0-4F41-684E-AF52-93EF93236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63597" y="4259242"/>
            <a:ext cx="22098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3897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3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0" name="object 5">
            <a:extLst>
              <a:ext uri="{FF2B5EF4-FFF2-40B4-BE49-F238E27FC236}">
                <a16:creationId xmlns:a16="http://schemas.microsoft.com/office/drawing/2014/main" id="{80D5AA78-5368-6C45-8748-F6ED3E2C9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741" y="1191334"/>
            <a:ext cx="4065588" cy="4429125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CL" altLang="es-CL" dirty="0"/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62DD646E-90E1-0E41-8BD3-F4569F6C1ECB}"/>
              </a:ext>
            </a:extLst>
          </p:cNvPr>
          <p:cNvSpPr txBox="1"/>
          <p:nvPr/>
        </p:nvSpPr>
        <p:spPr>
          <a:xfrm>
            <a:off x="336272" y="377132"/>
            <a:ext cx="3505200" cy="736600"/>
          </a:xfrm>
          <a:prstGeom prst="rect">
            <a:avLst/>
          </a:prstGeom>
          <a:ln w="28575">
            <a:noFill/>
          </a:ln>
        </p:spPr>
        <p:txBody>
          <a:bodyPr lIns="0" tIns="0" rIns="0" bIns="0" anchor="ctr"/>
          <a:lstStyle/>
          <a:p>
            <a:pPr marL="12700" algn="ctr" eaLnBrk="1" hangingPunct="1">
              <a:lnSpc>
                <a:spcPct val="150000"/>
              </a:lnSpc>
              <a:spcBef>
                <a:spcPts val="127"/>
              </a:spcBef>
              <a:defRPr/>
            </a:pPr>
            <a:r>
              <a:rPr sz="2000" b="1" spc="-184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</a:t>
            </a:r>
            <a:r>
              <a:rPr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</a:t>
            </a:r>
            <a:r>
              <a:rPr sz="2000" b="1" spc="-9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</a:t>
            </a:r>
            <a:r>
              <a:rPr sz="2000" b="1" spc="-9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</a:t>
            </a:r>
            <a:r>
              <a:rPr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eme</a:t>
            </a:r>
            <a:r>
              <a:rPr sz="2000" b="1" spc="-4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</a:t>
            </a:r>
            <a:r>
              <a:rPr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tos</a:t>
            </a:r>
            <a:r>
              <a:rPr sz="2000" b="1" spc="19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son</a:t>
            </a:r>
            <a:r>
              <a:rPr sz="2000" b="1" spc="9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</a:t>
            </a:r>
            <a:r>
              <a:rPr sz="2000" b="1" spc="-4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</a:t>
            </a:r>
            <a:r>
              <a:rPr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ses a</a:t>
            </a:r>
            <a:r>
              <a:rPr 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25</a:t>
            </a:r>
            <a:r>
              <a:rPr sz="2000" b="1" baseline="25364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0</a:t>
            </a:r>
            <a:r>
              <a:rPr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</a:t>
            </a:r>
            <a:r>
              <a:rPr sz="2000" b="1" spc="-8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y 1</a:t>
            </a:r>
            <a:r>
              <a:rPr 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atmósfera</a:t>
            </a:r>
            <a:endParaRPr sz="2000" b="1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7" name="object 4">
            <a:extLst>
              <a:ext uri="{FF2B5EF4-FFF2-40B4-BE49-F238E27FC236}">
                <a16:creationId xmlns:a16="http://schemas.microsoft.com/office/drawing/2014/main" id="{2A6D4369-DCBB-DE44-8454-29076901D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258" y="1191334"/>
            <a:ext cx="4143375" cy="3043238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CL" altLang="es-CL"/>
          </a:p>
        </p:txBody>
      </p:sp>
      <p:pic>
        <p:nvPicPr>
          <p:cNvPr id="18" name="Picture 4" descr="https://encrypted-tbn0.gstatic.com/images?q=tbn:ANd9GcQbbefQgono7qYqtBSmdztE6V6a5_ibDnASNPrwQckES-vPp6Ak">
            <a:extLst>
              <a:ext uri="{FF2B5EF4-FFF2-40B4-BE49-F238E27FC236}">
                <a16:creationId xmlns:a16="http://schemas.microsoft.com/office/drawing/2014/main" id="{C15A5D3F-09E3-BA4B-989B-2780C7D3F6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27360" y="3815657"/>
            <a:ext cx="22098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6" descr="http://www.independent.co.uk/incoming/article8558345.ece/alternates/w620/climate-change.jpg">
            <a:extLst>
              <a:ext uri="{FF2B5EF4-FFF2-40B4-BE49-F238E27FC236}">
                <a16:creationId xmlns:a16="http://schemas.microsoft.com/office/drawing/2014/main" id="{B94FA89F-2553-C647-B9EC-2C7442D7F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42454" y="1663549"/>
            <a:ext cx="1979613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object 2">
            <a:extLst>
              <a:ext uri="{FF2B5EF4-FFF2-40B4-BE49-F238E27FC236}">
                <a16:creationId xmlns:a16="http://schemas.microsoft.com/office/drawing/2014/main" id="{032F7454-9D51-F745-B825-3BC20F10E8AD}"/>
              </a:ext>
            </a:extLst>
          </p:cNvPr>
          <p:cNvSpPr txBox="1"/>
          <p:nvPr/>
        </p:nvSpPr>
        <p:spPr>
          <a:xfrm>
            <a:off x="5028349" y="4212130"/>
            <a:ext cx="3886200" cy="1441787"/>
          </a:xfrm>
          <a:prstGeom prst="rect">
            <a:avLst/>
          </a:prstGeom>
          <a:ln w="28575">
            <a:noFill/>
          </a:ln>
        </p:spPr>
        <p:txBody>
          <a:bodyPr lIns="0" tIns="0" rIns="0" bIns="0"/>
          <a:lstStyle/>
          <a:p>
            <a:pPr algn="ctr" eaLnBrk="1" hangingPunct="1">
              <a:lnSpc>
                <a:spcPct val="150000"/>
              </a:lnSpc>
              <a:spcBef>
                <a:spcPts val="127"/>
              </a:spcBef>
              <a:defRPr/>
            </a:pPr>
            <a:r>
              <a:rPr lang="es-CL" sz="20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Algunos ejemplos </a:t>
            </a:r>
            <a:r>
              <a:rPr sz="20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de</a:t>
            </a:r>
            <a:r>
              <a:rPr lang="es-CL" sz="20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compuestos moleculares gaseosos</a:t>
            </a:r>
            <a:endParaRPr sz="2000" b="1" dirty="0">
              <a:solidFill>
                <a:srgbClr val="00800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946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4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2" name="object 2">
            <a:extLst>
              <a:ext uri="{FF2B5EF4-FFF2-40B4-BE49-F238E27FC236}">
                <a16:creationId xmlns:a16="http://schemas.microsoft.com/office/drawing/2014/main" id="{EF0ED93C-DD55-AD44-8A5F-CC1650CC2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7170" y="1511831"/>
            <a:ext cx="509230" cy="219133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s-CL" altLang="es-CL"/>
          </a:p>
        </p:txBody>
      </p:sp>
      <p:pic>
        <p:nvPicPr>
          <p:cNvPr id="13" name="Picture 2" descr="http://www.chem4kids.com/files/art/matter-gas-01.jpg">
            <a:extLst>
              <a:ext uri="{FF2B5EF4-FFF2-40B4-BE49-F238E27FC236}">
                <a16:creationId xmlns:a16="http://schemas.microsoft.com/office/drawing/2014/main" id="{6EC42C28-3430-1F40-B2D8-081A73E95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41730" y="4031784"/>
            <a:ext cx="7406543" cy="2530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4 Subtítulo">
            <a:extLst>
              <a:ext uri="{FF2B5EF4-FFF2-40B4-BE49-F238E27FC236}">
                <a16:creationId xmlns:a16="http://schemas.microsoft.com/office/drawing/2014/main" id="{1D39BA0C-CA51-F74A-A9E6-912992103D0D}"/>
              </a:ext>
            </a:extLst>
          </p:cNvPr>
          <p:cNvSpPr txBox="1">
            <a:spLocks/>
          </p:cNvSpPr>
          <p:nvPr/>
        </p:nvSpPr>
        <p:spPr bwMode="auto">
          <a:xfrm>
            <a:off x="226408" y="121563"/>
            <a:ext cx="9029105" cy="10583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5pPr>
            <a:lvl6pPr marL="22860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sz="2800" kern="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¿Qué propiedades determinan el comportamiento físico de un gas ?</a:t>
            </a:r>
            <a:endParaRPr lang="es-MX" sz="2800" kern="0" dirty="0">
              <a:solidFill>
                <a:srgbClr val="FF2F92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just"/>
            <a:endParaRPr lang="es-MX" sz="2800" kern="0" dirty="0">
              <a:solidFill>
                <a:srgbClr val="FF2F92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20" name="3 CuadroTexto">
            <a:extLst>
              <a:ext uri="{FF2B5EF4-FFF2-40B4-BE49-F238E27FC236}">
                <a16:creationId xmlns:a16="http://schemas.microsoft.com/office/drawing/2014/main" id="{79869F95-5014-9D4E-905D-B72763FA6EFD}"/>
              </a:ext>
            </a:extLst>
          </p:cNvPr>
          <p:cNvSpPr txBox="1"/>
          <p:nvPr/>
        </p:nvSpPr>
        <p:spPr>
          <a:xfrm>
            <a:off x="1164217" y="1655605"/>
            <a:ext cx="4189488" cy="1900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s-MX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La cantidad de gas (moles)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s-MX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El volumen (v)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s-MX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La temperatura (T)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s-MX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La presión (P)</a:t>
            </a:r>
          </a:p>
        </p:txBody>
      </p:sp>
      <p:sp>
        <p:nvSpPr>
          <p:cNvPr id="21" name="3 CuadroTexto">
            <a:extLst>
              <a:ext uri="{FF2B5EF4-FFF2-40B4-BE49-F238E27FC236}">
                <a16:creationId xmlns:a16="http://schemas.microsoft.com/office/drawing/2014/main" id="{29A5BF0C-A344-864B-8649-433DD8A9C37A}"/>
              </a:ext>
            </a:extLst>
          </p:cNvPr>
          <p:cNvSpPr txBox="1"/>
          <p:nvPr/>
        </p:nvSpPr>
        <p:spPr>
          <a:xfrm>
            <a:off x="5780420" y="2000880"/>
            <a:ext cx="2959501" cy="1438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MX" sz="20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Vinculadas mediante una ecuacion de estado</a:t>
            </a:r>
          </a:p>
        </p:txBody>
      </p:sp>
    </p:spTree>
    <p:extLst>
      <p:ext uri="{BB962C8B-B14F-4D97-AF65-F5344CB8AC3E}">
        <p14:creationId xmlns:p14="http://schemas.microsoft.com/office/powerpoint/2010/main" val="2138903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5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graphicFrame>
        <p:nvGraphicFramePr>
          <p:cNvPr id="6" name="10 Tabla">
            <a:extLst>
              <a:ext uri="{FF2B5EF4-FFF2-40B4-BE49-F238E27FC236}">
                <a16:creationId xmlns:a16="http://schemas.microsoft.com/office/drawing/2014/main" id="{EE513D5E-CEA2-A44C-85FA-375F7B6F3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810796"/>
              </p:ext>
            </p:extLst>
          </p:nvPr>
        </p:nvGraphicFramePr>
        <p:xfrm>
          <a:off x="117969" y="280753"/>
          <a:ext cx="9800859" cy="249927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33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1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55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95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95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05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55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7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L" sz="1600" dirty="0"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PROPIEDAD</a:t>
                      </a:r>
                    </a:p>
                  </a:txBody>
                  <a:tcPr marT="45711" marB="45711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L" sz="1600" dirty="0"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UNIDADES</a:t>
                      </a:r>
                    </a:p>
                  </a:txBody>
                  <a:tcPr marT="45711" marB="45711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L" sz="1600" b="1" dirty="0">
                          <a:solidFill>
                            <a:schemeClr val="accent1"/>
                          </a:solidFill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Presión</a:t>
                      </a:r>
                    </a:p>
                  </a:txBody>
                  <a:tcPr marT="45711" marB="45711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L" sz="1600" dirty="0"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1 atm</a:t>
                      </a:r>
                    </a:p>
                  </a:txBody>
                  <a:tcPr marT="45711" marB="45711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L" sz="1600" dirty="0"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760 </a:t>
                      </a:r>
                      <a:r>
                        <a:rPr lang="es-CL" sz="1600" dirty="0" err="1"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mmHg</a:t>
                      </a:r>
                      <a:endParaRPr lang="es-CL" sz="1600" dirty="0">
                        <a:latin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T="45711" marB="45711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L" sz="1600" dirty="0"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760 Torr</a:t>
                      </a:r>
                    </a:p>
                  </a:txBody>
                  <a:tcPr marT="45711" marB="45711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L" sz="1600" dirty="0"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1,013 Bar</a:t>
                      </a:r>
                    </a:p>
                  </a:txBody>
                  <a:tcPr marT="45711" marB="45711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b="0" dirty="0"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1,013 x10</a:t>
                      </a:r>
                      <a:r>
                        <a:rPr lang="es-MX" sz="1600" b="0" baseline="30000" dirty="0"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5</a:t>
                      </a:r>
                      <a:r>
                        <a:rPr lang="es-MX" sz="1600" b="0" dirty="0"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Pa</a:t>
                      </a:r>
                      <a:r>
                        <a:rPr lang="es-CL" sz="1600" dirty="0"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</a:p>
                  </a:txBody>
                  <a:tcPr marT="45711" marB="45711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L" sz="1600" dirty="0"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101,3 </a:t>
                      </a:r>
                      <a:r>
                        <a:rPr lang="es-CL" sz="1600" dirty="0" err="1"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kPa</a:t>
                      </a:r>
                      <a:endParaRPr lang="es-CL" sz="1600" dirty="0">
                        <a:latin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T="45711" marB="45711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L" sz="1600" b="1" dirty="0">
                          <a:solidFill>
                            <a:schemeClr val="accent1"/>
                          </a:solidFill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Volumen</a:t>
                      </a:r>
                    </a:p>
                  </a:txBody>
                  <a:tcPr marT="45711" marB="45711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L" sz="1600" dirty="0"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1 L</a:t>
                      </a:r>
                    </a:p>
                  </a:txBody>
                  <a:tcPr marT="45711" marB="45711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L" sz="1600" dirty="0"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1 dm</a:t>
                      </a:r>
                      <a:r>
                        <a:rPr lang="es-CL" sz="1600" baseline="30000" dirty="0"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3</a:t>
                      </a:r>
                    </a:p>
                  </a:txBody>
                  <a:tcPr marT="45711" marB="45711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L" sz="1600" dirty="0"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1000</a:t>
                      </a:r>
                      <a:r>
                        <a:rPr lang="es-CL" sz="1600" baseline="0" dirty="0"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lang="es-CL" sz="1600" dirty="0"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cm</a:t>
                      </a:r>
                      <a:r>
                        <a:rPr lang="es-CL" sz="1600" baseline="30000" dirty="0"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3</a:t>
                      </a:r>
                    </a:p>
                  </a:txBody>
                  <a:tcPr marT="45711" marB="45711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L" sz="1600" baseline="0" dirty="0"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1000 </a:t>
                      </a:r>
                      <a:r>
                        <a:rPr lang="es-CL" sz="1600" baseline="0" dirty="0" err="1"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mL</a:t>
                      </a:r>
                      <a:endParaRPr lang="es-CL" sz="1600" baseline="0" dirty="0">
                        <a:latin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T="45711" marB="45711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dirty="0"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1 x10</a:t>
                      </a:r>
                      <a:r>
                        <a:rPr lang="es-CL" sz="1600" baseline="30000" dirty="0"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-3 </a:t>
                      </a:r>
                      <a:r>
                        <a:rPr lang="es-CL" sz="1600" baseline="0" dirty="0"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</a:t>
                      </a:r>
                      <a:r>
                        <a:rPr lang="es-CL" sz="1600" baseline="30000" dirty="0"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3</a:t>
                      </a:r>
                    </a:p>
                  </a:txBody>
                  <a:tcPr marT="45711" marB="45711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s-CL" sz="1600">
                        <a:latin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T="45711" marB="45711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L" sz="1600" b="1" dirty="0">
                          <a:solidFill>
                            <a:schemeClr val="accent1"/>
                          </a:solidFill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Temperatura</a:t>
                      </a:r>
                    </a:p>
                  </a:txBody>
                  <a:tcPr marT="45711" marB="45711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L" sz="1600" dirty="0"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0°C</a:t>
                      </a:r>
                    </a:p>
                  </a:txBody>
                  <a:tcPr marT="45711" marB="45711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L" sz="1600" dirty="0"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273,15 K</a:t>
                      </a:r>
                    </a:p>
                  </a:txBody>
                  <a:tcPr marT="45711" marB="45711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L" sz="1600" dirty="0"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32 °F</a:t>
                      </a:r>
                    </a:p>
                  </a:txBody>
                  <a:tcPr marT="45711" marB="45711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s-CL" sz="1600" dirty="0">
                        <a:latin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T="45711" marB="45711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s-CL" sz="1600" dirty="0">
                        <a:latin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T="45711" marB="45711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s-CL" sz="1600">
                        <a:latin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T="45711" marB="45711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0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L" sz="1600" b="1" dirty="0">
                          <a:solidFill>
                            <a:schemeClr val="accent1"/>
                          </a:solidFill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Cantidad de sustancia</a:t>
                      </a:r>
                    </a:p>
                  </a:txBody>
                  <a:tcPr marT="45711" marB="45711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L" sz="1600" dirty="0"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mol</a:t>
                      </a:r>
                    </a:p>
                  </a:txBody>
                  <a:tcPr marT="45711" marB="45711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s-CL" sz="1600">
                        <a:latin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T="45711" marB="45711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s-CL" sz="1600">
                        <a:latin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T="45711" marB="45711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s-CL" sz="1600" dirty="0">
                        <a:latin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T="45711" marB="45711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s-CL" sz="1600" dirty="0">
                        <a:latin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T="45711" marB="45711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s-CL" sz="1600" dirty="0">
                        <a:latin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T="45711" marB="45711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2" descr="http://upload.wikimedia.org/wikipedia/commons/thumb/6/60/CelsiusKelvin.svg/200px-CelsiusKelvin.svg.png">
            <a:extLst>
              <a:ext uri="{FF2B5EF4-FFF2-40B4-BE49-F238E27FC236}">
                <a16:creationId xmlns:a16="http://schemas.microsoft.com/office/drawing/2014/main" id="{24B81F18-9089-904F-9841-407B17D20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5648" y="3428999"/>
            <a:ext cx="1588573" cy="3026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13 Rectángulo">
            <a:extLst>
              <a:ext uri="{FF2B5EF4-FFF2-40B4-BE49-F238E27FC236}">
                <a16:creationId xmlns:a16="http://schemas.microsoft.com/office/drawing/2014/main" id="{F1F5D3F2-7D84-0C45-8879-F8CCAB1A3CC3}"/>
              </a:ext>
            </a:extLst>
          </p:cNvPr>
          <p:cNvSpPr/>
          <p:nvPr/>
        </p:nvSpPr>
        <p:spPr>
          <a:xfrm>
            <a:off x="3273260" y="3136612"/>
            <a:ext cx="5058210" cy="584775"/>
          </a:xfrm>
          <a:prstGeom prst="rect">
            <a:avLst/>
          </a:prstGeom>
          <a:ln w="28575">
            <a:noFill/>
          </a:ln>
        </p:spPr>
        <p:txBody>
          <a:bodyPr wrap="square" anchor="ctr">
            <a:spAutoFit/>
          </a:bodyPr>
          <a:lstStyle/>
          <a:p>
            <a:pPr marL="1588" algn="ctr">
              <a:spcBef>
                <a:spcPts val="300"/>
              </a:spcBef>
              <a:defRPr/>
            </a:pPr>
            <a:r>
              <a:rPr lang="de-DE" sz="32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</a:t>
            </a:r>
            <a:r>
              <a:rPr lang="de-DE" sz="3200" spc="-34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de-DE" sz="32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(K) =</a:t>
            </a:r>
            <a:r>
              <a:rPr lang="de-DE" sz="3200" spc="-19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de-DE" sz="32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</a:t>
            </a:r>
            <a:r>
              <a:rPr lang="de-DE" sz="3200" spc="-34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de-DE" sz="3200" spc="4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</a:t>
            </a:r>
            <a:r>
              <a:rPr lang="de-DE" sz="3200" spc="4" baseline="2473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0</a:t>
            </a:r>
            <a:r>
              <a:rPr lang="de-DE" sz="32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C)</a:t>
            </a:r>
            <a:r>
              <a:rPr lang="de-DE" sz="3200" spc="-33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de-DE" sz="32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+</a:t>
            </a:r>
            <a:r>
              <a:rPr lang="de-DE" sz="3200" spc="-19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de-DE" sz="32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273,15</a:t>
            </a:r>
          </a:p>
        </p:txBody>
      </p:sp>
      <p:pic>
        <p:nvPicPr>
          <p:cNvPr id="9" name="Picture 2" descr="http://webquest.carm.es/majwq/public/files/files_user/101420/covnersion_de_unidades_fisicas.jpg">
            <a:extLst>
              <a:ext uri="{FF2B5EF4-FFF2-40B4-BE49-F238E27FC236}">
                <a16:creationId xmlns:a16="http://schemas.microsoft.com/office/drawing/2014/main" id="{110F19CC-7742-634A-B156-0D4429980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99453" y="4077976"/>
            <a:ext cx="2619375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 descr="http://upload.wikimedia.org/wikipedia/commons/thumb/1/13/Manometre_bleu.jpg/200px-Manometre_bleu.jpg">
            <a:extLst>
              <a:ext uri="{FF2B5EF4-FFF2-40B4-BE49-F238E27FC236}">
                <a16:creationId xmlns:a16="http://schemas.microsoft.com/office/drawing/2014/main" id="{B98A35D5-1ADA-0D40-8A75-AB05A908B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91458" y="4498913"/>
            <a:ext cx="190500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5918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6</a:t>
            </a:fld>
            <a:endParaRPr lang="es-CL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A5B10B2-2873-5F4D-B732-D2A589EE09C6}"/>
              </a:ext>
            </a:extLst>
          </p:cNvPr>
          <p:cNvSpPr txBox="1"/>
          <p:nvPr/>
        </p:nvSpPr>
        <p:spPr>
          <a:xfrm>
            <a:off x="2027436" y="2931560"/>
            <a:ext cx="77809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Ejercicios</a:t>
            </a:r>
          </a:p>
        </p:txBody>
      </p:sp>
      <p:grpSp>
        <p:nvGrpSpPr>
          <p:cNvPr id="4" name="Shape 257">
            <a:extLst>
              <a:ext uri="{FF2B5EF4-FFF2-40B4-BE49-F238E27FC236}">
                <a16:creationId xmlns:a16="http://schemas.microsoft.com/office/drawing/2014/main" id="{04B9F9FE-CAD3-B543-8CDF-E1698D657268}"/>
              </a:ext>
            </a:extLst>
          </p:cNvPr>
          <p:cNvGrpSpPr/>
          <p:nvPr/>
        </p:nvGrpSpPr>
        <p:grpSpPr>
          <a:xfrm>
            <a:off x="5125820" y="1447365"/>
            <a:ext cx="1171845" cy="1045591"/>
            <a:chOff x="5233525" y="4954450"/>
            <a:chExt cx="538275" cy="516350"/>
          </a:xfrm>
        </p:grpSpPr>
        <p:sp>
          <p:nvSpPr>
            <p:cNvPr id="5" name="Shape 258">
              <a:extLst>
                <a:ext uri="{FF2B5EF4-FFF2-40B4-BE49-F238E27FC236}">
                  <a16:creationId xmlns:a16="http://schemas.microsoft.com/office/drawing/2014/main" id="{3E8DF75F-16CC-044D-B3EB-21E22FDE5D71}"/>
                </a:ext>
              </a:extLst>
            </p:cNvPr>
            <p:cNvSpPr/>
            <p:nvPr/>
          </p:nvSpPr>
          <p:spPr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" name="Shape 259">
              <a:extLst>
                <a:ext uri="{FF2B5EF4-FFF2-40B4-BE49-F238E27FC236}">
                  <a16:creationId xmlns:a16="http://schemas.microsoft.com/office/drawing/2014/main" id="{00E51DBF-8113-B84A-A35D-3F18272B4179}"/>
                </a:ext>
              </a:extLst>
            </p:cNvPr>
            <p:cNvSpPr/>
            <p:nvPr/>
          </p:nvSpPr>
          <p:spPr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0" t="0" r="0" b="0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" name="Shape 260">
              <a:extLst>
                <a:ext uri="{FF2B5EF4-FFF2-40B4-BE49-F238E27FC236}">
                  <a16:creationId xmlns:a16="http://schemas.microsoft.com/office/drawing/2014/main" id="{05CBC384-9B02-6C47-A556-79B0CE94ACE9}"/>
                </a:ext>
              </a:extLst>
            </p:cNvPr>
            <p:cNvSpPr/>
            <p:nvPr/>
          </p:nvSpPr>
          <p:spPr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" name="Shape 261">
              <a:extLst>
                <a:ext uri="{FF2B5EF4-FFF2-40B4-BE49-F238E27FC236}">
                  <a16:creationId xmlns:a16="http://schemas.microsoft.com/office/drawing/2014/main" id="{7CB79486-E909-DD4B-8865-6C314698F68D}"/>
                </a:ext>
              </a:extLst>
            </p:cNvPr>
            <p:cNvSpPr/>
            <p:nvPr/>
          </p:nvSpPr>
          <p:spPr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0" t="0" r="0" b="0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Shape 262">
              <a:extLst>
                <a:ext uri="{FF2B5EF4-FFF2-40B4-BE49-F238E27FC236}">
                  <a16:creationId xmlns:a16="http://schemas.microsoft.com/office/drawing/2014/main" id="{BAF265E0-CBE6-4040-907F-05F1F377C216}"/>
                </a:ext>
              </a:extLst>
            </p:cNvPr>
            <p:cNvSpPr/>
            <p:nvPr/>
          </p:nvSpPr>
          <p:spPr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0" t="0" r="0" b="0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Shape 263">
              <a:extLst>
                <a:ext uri="{FF2B5EF4-FFF2-40B4-BE49-F238E27FC236}">
                  <a16:creationId xmlns:a16="http://schemas.microsoft.com/office/drawing/2014/main" id="{86187FDB-D2A0-B342-A64D-09F3799BCEDF}"/>
                </a:ext>
              </a:extLst>
            </p:cNvPr>
            <p:cNvSpPr/>
            <p:nvPr/>
          </p:nvSpPr>
          <p:spPr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0" t="0" r="0" b="0"/>
              <a:pathLst>
                <a:path w="7551" h="7576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" name="Shape 264">
              <a:extLst>
                <a:ext uri="{FF2B5EF4-FFF2-40B4-BE49-F238E27FC236}">
                  <a16:creationId xmlns:a16="http://schemas.microsoft.com/office/drawing/2014/main" id="{82924474-FA90-8C42-A57C-5842FE291D36}"/>
                </a:ext>
              </a:extLst>
            </p:cNvPr>
            <p:cNvSpPr/>
            <p:nvPr/>
          </p:nvSpPr>
          <p:spPr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0" t="0" r="0" b="0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" name="Shape 265">
              <a:extLst>
                <a:ext uri="{FF2B5EF4-FFF2-40B4-BE49-F238E27FC236}">
                  <a16:creationId xmlns:a16="http://schemas.microsoft.com/office/drawing/2014/main" id="{D426B43C-121B-804D-A231-BA36FA3616A2}"/>
                </a:ext>
              </a:extLst>
            </p:cNvPr>
            <p:cNvSpPr/>
            <p:nvPr/>
          </p:nvSpPr>
          <p:spPr>
            <a:xfrm>
              <a:off x="5567800" y="4999500"/>
              <a:ext cx="115100" cy="133975"/>
            </a:xfrm>
            <a:custGeom>
              <a:avLst/>
              <a:gdLst/>
              <a:ahLst/>
              <a:cxnLst/>
              <a:rect l="0" t="0" r="0" b="0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" name="Shape 266">
              <a:extLst>
                <a:ext uri="{FF2B5EF4-FFF2-40B4-BE49-F238E27FC236}">
                  <a16:creationId xmlns:a16="http://schemas.microsoft.com/office/drawing/2014/main" id="{00D2FF67-53FB-234F-B3A8-8CFDF5C33ECF}"/>
                </a:ext>
              </a:extLst>
            </p:cNvPr>
            <p:cNvSpPr/>
            <p:nvPr/>
          </p:nvSpPr>
          <p:spPr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0" t="0" r="0" b="0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" name="Shape 267">
              <a:extLst>
                <a:ext uri="{FF2B5EF4-FFF2-40B4-BE49-F238E27FC236}">
                  <a16:creationId xmlns:a16="http://schemas.microsoft.com/office/drawing/2014/main" id="{3F48E860-50C8-9B4E-B0BD-C55D0C2FE270}"/>
                </a:ext>
              </a:extLst>
            </p:cNvPr>
            <p:cNvSpPr/>
            <p:nvPr/>
          </p:nvSpPr>
          <p:spPr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0" t="0" r="0" b="0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" name="Shape 268">
              <a:extLst>
                <a:ext uri="{FF2B5EF4-FFF2-40B4-BE49-F238E27FC236}">
                  <a16:creationId xmlns:a16="http://schemas.microsoft.com/office/drawing/2014/main" id="{AC1A6B39-DB16-724E-A189-8011253BEA2F}"/>
                </a:ext>
              </a:extLst>
            </p:cNvPr>
            <p:cNvSpPr/>
            <p:nvPr/>
          </p:nvSpPr>
          <p:spPr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0" t="0" r="0" b="0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5B8DDD4-2C36-AA4E-9E46-E55CBAA0C24A}"/>
              </a:ext>
            </a:extLst>
          </p:cNvPr>
          <p:cNvSpPr txBox="1"/>
          <p:nvPr/>
        </p:nvSpPr>
        <p:spPr>
          <a:xfrm>
            <a:off x="3895870" y="5365948"/>
            <a:ext cx="82961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1. Teoría de Gases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A47E410-6910-5442-9C5D-4740EC514D3F}"/>
              </a:ext>
            </a:extLst>
          </p:cNvPr>
          <p:cNvSpPr txBox="1"/>
          <p:nvPr/>
        </p:nvSpPr>
        <p:spPr>
          <a:xfrm>
            <a:off x="308345" y="224147"/>
            <a:ext cx="70332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2</a:t>
            </a:r>
          </a:p>
        </p:txBody>
      </p:sp>
    </p:spTree>
    <p:extLst>
      <p:ext uri="{BB962C8B-B14F-4D97-AF65-F5344CB8AC3E}">
        <p14:creationId xmlns:p14="http://schemas.microsoft.com/office/powerpoint/2010/main" val="320902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7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chemeClr val="accent5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id="{7256655D-8FF9-AE4B-9933-13E86B5B1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094" y="374889"/>
            <a:ext cx="8856599" cy="5501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altLang="es-CL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1.- </a:t>
            </a:r>
            <a:r>
              <a:rPr lang="es-E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Transforme las siguientes unidades</a:t>
            </a:r>
            <a:r>
              <a:rPr lang="es-ES" altLang="es-CL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:</a:t>
            </a:r>
          </a:p>
          <a:p>
            <a:pPr algn="just">
              <a:lnSpc>
                <a:spcPct val="150000"/>
              </a:lnSpc>
            </a:pPr>
            <a:endParaRPr lang="es-ES" altLang="es-CL" b="1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0,9 atm a </a:t>
            </a:r>
            <a:r>
              <a:rPr lang="es-ES" altLang="es-CL" sz="2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mmHg</a:t>
            </a:r>
            <a:endParaRPr lang="es-ES" altLang="es-CL" sz="20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25°C a Kelvin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5 </a:t>
            </a:r>
            <a:r>
              <a:rPr lang="es-ES" altLang="es-CL" sz="2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mL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a m</a:t>
            </a:r>
            <a:r>
              <a:rPr lang="es-ES" altLang="es-C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100 Torr a </a:t>
            </a:r>
            <a:r>
              <a:rPr lang="es-ES" altLang="es-CL" sz="2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kPa</a:t>
            </a:r>
            <a:endParaRPr lang="es-ES" altLang="es-CL" sz="20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75 </a:t>
            </a:r>
            <a:r>
              <a:rPr lang="es-ES" altLang="es-CL" sz="2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Pa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a atm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- 11 K a °C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122 </a:t>
            </a:r>
            <a:r>
              <a:rPr lang="es-ES" altLang="es-CL" sz="2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mmHg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a atm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2,4 L a cm</a:t>
            </a:r>
            <a:r>
              <a:rPr lang="es-ES" altLang="es-C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300 cm</a:t>
            </a:r>
            <a:r>
              <a:rPr lang="es-ES" altLang="es-C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a m</a:t>
            </a:r>
            <a:r>
              <a:rPr lang="es-ES" altLang="es-C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75 </a:t>
            </a:r>
            <a:r>
              <a:rPr lang="es-ES" altLang="es-CL" sz="2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kPa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a atm</a:t>
            </a:r>
          </a:p>
        </p:txBody>
      </p:sp>
    </p:spTree>
    <p:extLst>
      <p:ext uri="{BB962C8B-B14F-4D97-AF65-F5344CB8AC3E}">
        <p14:creationId xmlns:p14="http://schemas.microsoft.com/office/powerpoint/2010/main" val="516484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8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chemeClr val="accent5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id="{7256655D-8FF9-AE4B-9933-13E86B5B1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094" y="374889"/>
            <a:ext cx="8856599" cy="5501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altLang="es-CL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1.- </a:t>
            </a:r>
            <a:r>
              <a:rPr lang="es-E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Transforme las siguientes unidades</a:t>
            </a:r>
            <a:r>
              <a:rPr lang="es-ES" altLang="es-CL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:</a:t>
            </a:r>
          </a:p>
          <a:p>
            <a:pPr algn="just">
              <a:lnSpc>
                <a:spcPct val="150000"/>
              </a:lnSpc>
            </a:pPr>
            <a:endParaRPr lang="es-ES" altLang="es-CL" b="1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0,9 atm a </a:t>
            </a:r>
            <a:r>
              <a:rPr lang="es-ES" altLang="es-CL" sz="2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mmHg</a:t>
            </a:r>
            <a:endParaRPr lang="es-ES" altLang="es-CL" sz="20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25°C a Kelvin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5 </a:t>
            </a:r>
            <a:r>
              <a:rPr lang="es-ES" altLang="es-CL" sz="2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mL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a m</a:t>
            </a:r>
            <a:r>
              <a:rPr lang="es-ES" altLang="es-C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100 Torr a </a:t>
            </a:r>
            <a:r>
              <a:rPr lang="es-ES" altLang="es-CL" sz="2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kPa</a:t>
            </a:r>
            <a:endParaRPr lang="es-ES" altLang="es-CL" sz="20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75 </a:t>
            </a:r>
            <a:r>
              <a:rPr lang="es-ES" altLang="es-CL" sz="2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Pa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a atm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- 11 K a °C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122 </a:t>
            </a:r>
            <a:r>
              <a:rPr lang="es-ES" altLang="es-CL" sz="2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mmHg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a atm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2,4 L a cm</a:t>
            </a:r>
            <a:r>
              <a:rPr lang="es-ES" altLang="es-C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300 cm</a:t>
            </a:r>
            <a:r>
              <a:rPr lang="es-ES" altLang="es-C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a m</a:t>
            </a:r>
            <a:r>
              <a:rPr lang="es-ES" altLang="es-C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75 </a:t>
            </a:r>
            <a:r>
              <a:rPr lang="es-ES" altLang="es-CL" sz="2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kPa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a atm</a:t>
            </a:r>
          </a:p>
        </p:txBody>
      </p:sp>
      <p:grpSp>
        <p:nvGrpSpPr>
          <p:cNvPr id="9" name="20 Grupo">
            <a:extLst>
              <a:ext uri="{FF2B5EF4-FFF2-40B4-BE49-F238E27FC236}">
                <a16:creationId xmlns:a16="http://schemas.microsoft.com/office/drawing/2014/main" id="{BCB09B02-1D60-C141-9C72-1AEFC7555078}"/>
              </a:ext>
            </a:extLst>
          </p:cNvPr>
          <p:cNvGrpSpPr>
            <a:grpSpLocks/>
          </p:cNvGrpSpPr>
          <p:nvPr/>
        </p:nvGrpSpPr>
        <p:grpSpPr bwMode="auto">
          <a:xfrm>
            <a:off x="2823459" y="1399893"/>
            <a:ext cx="1995694" cy="4479751"/>
            <a:chOff x="2903387" y="2221468"/>
            <a:chExt cx="1995373" cy="4479134"/>
          </a:xfrm>
        </p:grpSpPr>
        <p:sp>
          <p:nvSpPr>
            <p:cNvPr id="10" name="9 CuadroTexto">
              <a:extLst>
                <a:ext uri="{FF2B5EF4-FFF2-40B4-BE49-F238E27FC236}">
                  <a16:creationId xmlns:a16="http://schemas.microsoft.com/office/drawing/2014/main" id="{DB4E18F6-2094-6549-9AC5-4BE9C3CCC1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4200" y="2221468"/>
              <a:ext cx="1579024" cy="4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CL" altLang="es-CL" sz="2000" b="1" dirty="0">
                  <a:solidFill>
                    <a:srgbClr val="008000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684 mmHg</a:t>
              </a:r>
            </a:p>
          </p:txBody>
        </p:sp>
        <p:sp>
          <p:nvSpPr>
            <p:cNvPr id="12" name="10 CuadroTexto">
              <a:extLst>
                <a:ext uri="{FF2B5EF4-FFF2-40B4-BE49-F238E27FC236}">
                  <a16:creationId xmlns:a16="http://schemas.microsoft.com/office/drawing/2014/main" id="{4E0D3232-ED45-BA43-B24A-1B0B692EEF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6959" y="6300547"/>
              <a:ext cx="1309764" cy="4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CL" altLang="es-CL" sz="2000" b="1" dirty="0">
                  <a:solidFill>
                    <a:srgbClr val="008000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0,74 atm</a:t>
              </a:r>
            </a:p>
          </p:txBody>
        </p:sp>
        <p:sp>
          <p:nvSpPr>
            <p:cNvPr id="13" name="11 CuadroTexto">
              <a:extLst>
                <a:ext uri="{FF2B5EF4-FFF2-40B4-BE49-F238E27FC236}">
                  <a16:creationId xmlns:a16="http://schemas.microsoft.com/office/drawing/2014/main" id="{AFF5820D-FC96-024E-875B-8468B67EA8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4325" y="2634939"/>
              <a:ext cx="1325791" cy="4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CL" altLang="es-CL" sz="2000" b="1" dirty="0">
                  <a:solidFill>
                    <a:srgbClr val="008000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298,15 K</a:t>
              </a:r>
            </a:p>
          </p:txBody>
        </p:sp>
        <p:sp>
          <p:nvSpPr>
            <p:cNvPr id="14" name="12 CuadroTexto">
              <a:extLst>
                <a:ext uri="{FF2B5EF4-FFF2-40B4-BE49-F238E27FC236}">
                  <a16:creationId xmlns:a16="http://schemas.microsoft.com/office/drawing/2014/main" id="{21E61318-9C65-8247-95DD-B74299C5A3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6763" y="3061720"/>
              <a:ext cx="1583834" cy="4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CL" altLang="es-CL" sz="2000" b="1" dirty="0">
                  <a:solidFill>
                    <a:srgbClr val="008000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5 x10</a:t>
              </a:r>
              <a:r>
                <a:rPr lang="es-CL" altLang="es-CL" sz="2000" b="1" baseline="30000" dirty="0">
                  <a:solidFill>
                    <a:srgbClr val="008000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−6</a:t>
              </a:r>
              <a:r>
                <a:rPr lang="es-CL" altLang="es-CL" sz="2000" b="1" dirty="0">
                  <a:solidFill>
                    <a:srgbClr val="008000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 m</a:t>
              </a:r>
              <a:r>
                <a:rPr lang="es-CL" altLang="es-CL" sz="2000" b="1" baseline="30000" dirty="0">
                  <a:solidFill>
                    <a:srgbClr val="008000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3</a:t>
              </a:r>
            </a:p>
          </p:txBody>
        </p:sp>
        <p:sp>
          <p:nvSpPr>
            <p:cNvPr id="15" name="14 CuadroTexto">
              <a:extLst>
                <a:ext uri="{FF2B5EF4-FFF2-40B4-BE49-F238E27FC236}">
                  <a16:creationId xmlns:a16="http://schemas.microsoft.com/office/drawing/2014/main" id="{D6D2FF2E-A5F3-8F4A-8C44-B911DD4AE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0337" y="5336678"/>
              <a:ext cx="1393106" cy="4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CL" altLang="es-CL" sz="2000" b="1" dirty="0">
                  <a:solidFill>
                    <a:srgbClr val="008000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2400 cm</a:t>
              </a:r>
              <a:r>
                <a:rPr lang="es-CL" altLang="es-CL" sz="2000" b="1" baseline="30000" dirty="0">
                  <a:solidFill>
                    <a:srgbClr val="008000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3</a:t>
              </a:r>
            </a:p>
          </p:txBody>
        </p:sp>
        <p:sp>
          <p:nvSpPr>
            <p:cNvPr id="17" name="15 CuadroTexto">
              <a:extLst>
                <a:ext uri="{FF2B5EF4-FFF2-40B4-BE49-F238E27FC236}">
                  <a16:creationId xmlns:a16="http://schemas.microsoft.com/office/drawing/2014/main" id="{060844B4-9ABD-7C44-83F9-433D0D310A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4200" y="4850545"/>
              <a:ext cx="1309764" cy="4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CL" altLang="es-CL" sz="2000" b="1" dirty="0">
                  <a:solidFill>
                    <a:srgbClr val="008000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0,16 atm</a:t>
              </a:r>
            </a:p>
          </p:txBody>
        </p:sp>
        <p:sp>
          <p:nvSpPr>
            <p:cNvPr id="18" name="16 CuadroTexto">
              <a:extLst>
                <a:ext uri="{FF2B5EF4-FFF2-40B4-BE49-F238E27FC236}">
                  <a16:creationId xmlns:a16="http://schemas.microsoft.com/office/drawing/2014/main" id="{FD2B301A-5571-D34C-8F7B-C8D9230263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6763" y="3504734"/>
              <a:ext cx="1429970" cy="4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CL" altLang="es-CL" sz="2000" b="1" dirty="0">
                  <a:solidFill>
                    <a:srgbClr val="008000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13,33 kPa</a:t>
              </a:r>
            </a:p>
          </p:txBody>
        </p:sp>
        <p:sp>
          <p:nvSpPr>
            <p:cNvPr id="19" name="17 CuadroTexto">
              <a:extLst>
                <a:ext uri="{FF2B5EF4-FFF2-40B4-BE49-F238E27FC236}">
                  <a16:creationId xmlns:a16="http://schemas.microsoft.com/office/drawing/2014/main" id="{BB66BC4F-4A87-8C47-B502-FAAB03B09C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0337" y="3965915"/>
              <a:ext cx="1928423" cy="4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CL" altLang="es-CL" sz="2000" b="1" dirty="0">
                  <a:solidFill>
                    <a:srgbClr val="008000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7,4 x10</a:t>
              </a:r>
              <a:r>
                <a:rPr lang="es-CL" altLang="es-CL" sz="2000" b="1" baseline="30000" dirty="0">
                  <a:solidFill>
                    <a:srgbClr val="008000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−4 </a:t>
              </a:r>
              <a:r>
                <a:rPr lang="es-CL" altLang="es-CL" sz="2000" b="1" dirty="0">
                  <a:solidFill>
                    <a:srgbClr val="008000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atm</a:t>
              </a:r>
            </a:p>
          </p:txBody>
        </p:sp>
        <p:sp>
          <p:nvSpPr>
            <p:cNvPr id="20" name="18 CuadroTexto">
              <a:extLst>
                <a:ext uri="{FF2B5EF4-FFF2-40B4-BE49-F238E27FC236}">
                  <a16:creationId xmlns:a16="http://schemas.microsoft.com/office/drawing/2014/main" id="{2A47CA58-DE65-1449-A717-78A63A12EF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3387" y="4378665"/>
              <a:ext cx="1636724" cy="4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CL" altLang="es-CL" sz="2000" b="1" dirty="0">
                  <a:solidFill>
                    <a:srgbClr val="008000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- 284,15 °C</a:t>
              </a:r>
            </a:p>
          </p:txBody>
        </p:sp>
        <p:sp>
          <p:nvSpPr>
            <p:cNvPr id="21" name="19 CuadroTexto">
              <a:extLst>
                <a:ext uri="{FF2B5EF4-FFF2-40B4-BE49-F238E27FC236}">
                  <a16:creationId xmlns:a16="http://schemas.microsoft.com/office/drawing/2014/main" id="{51672AEB-A34B-5848-AF5A-4E29817741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0337" y="5808558"/>
              <a:ext cx="1583833" cy="4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CL" altLang="es-CL" sz="2000" b="1" dirty="0">
                  <a:solidFill>
                    <a:srgbClr val="008000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3 x10</a:t>
              </a:r>
              <a:r>
                <a:rPr lang="es-CL" altLang="es-CL" sz="2000" b="1" baseline="30000" dirty="0">
                  <a:solidFill>
                    <a:srgbClr val="008000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−4</a:t>
              </a:r>
              <a:r>
                <a:rPr lang="es-CL" altLang="es-CL" sz="2000" b="1" dirty="0">
                  <a:solidFill>
                    <a:srgbClr val="008000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 m</a:t>
              </a:r>
              <a:r>
                <a:rPr lang="es-CL" altLang="es-CL" sz="2000" b="1" baseline="30000" dirty="0">
                  <a:solidFill>
                    <a:srgbClr val="008000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0420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9</a:t>
            </a:fld>
            <a:endParaRPr lang="es-CL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F6BF646-913E-F443-9239-35877B264A20}"/>
              </a:ext>
            </a:extLst>
          </p:cNvPr>
          <p:cNvSpPr txBox="1"/>
          <p:nvPr/>
        </p:nvSpPr>
        <p:spPr>
          <a:xfrm>
            <a:off x="3895870" y="5365948"/>
            <a:ext cx="82961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1. Teoría de Gases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DD84254E-89DC-CA43-8FB9-7B95733BF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4A0C9A27-BC19-6B48-9953-B583514660F8}"/>
              </a:ext>
            </a:extLst>
          </p:cNvPr>
          <p:cNvSpPr txBox="1"/>
          <p:nvPr/>
        </p:nvSpPr>
        <p:spPr>
          <a:xfrm>
            <a:off x="308345" y="224147"/>
            <a:ext cx="70332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2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D996AA1-3373-BC43-989B-2F6B2E2D7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51" y="2055274"/>
            <a:ext cx="4058571" cy="340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655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10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6" name="4 Subtítulo">
            <a:extLst>
              <a:ext uri="{FF2B5EF4-FFF2-40B4-BE49-F238E27FC236}">
                <a16:creationId xmlns:a16="http://schemas.microsoft.com/office/drawing/2014/main" id="{98A32B1C-F019-F040-A16C-EF740ECEFCD3}"/>
              </a:ext>
            </a:extLst>
          </p:cNvPr>
          <p:cNvSpPr txBox="1">
            <a:spLocks/>
          </p:cNvSpPr>
          <p:nvPr/>
        </p:nvSpPr>
        <p:spPr>
          <a:xfrm>
            <a:off x="238608" y="1944547"/>
            <a:ext cx="9030810" cy="4490977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▹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▹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8113" indent="-3175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s-MX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Las moléculas de un gas son infinitamente pequeñas y el volumen real que ocupan es despreciable frente al recipiente que las contiene.</a:t>
            </a:r>
          </a:p>
          <a:p>
            <a:pPr marL="138113" indent="-3175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s-MX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Las moléculas sufren choques elásticos en el recipiente, no se pierde energía, aunque cambien de dirección luego del choque.</a:t>
            </a:r>
          </a:p>
          <a:p>
            <a:pPr marL="138113" indent="-3175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s-MX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Como consecuencia del choque con las paredes del recipiente, se origina una presión.</a:t>
            </a:r>
          </a:p>
          <a:p>
            <a:pPr marL="138113" indent="-3175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s-MX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Las fuerzas de interacción moleculares son nulas.</a:t>
            </a:r>
          </a:p>
          <a:p>
            <a:pPr marL="138113" indent="-3175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s-MX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La energía cinética media de las moléculas es directamente proporcional a la temperatura absoluta.</a:t>
            </a:r>
          </a:p>
          <a:p>
            <a:pPr algn="just">
              <a:buFont typeface="Wingdings" pitchFamily="2" charset="2"/>
              <a:buChar char="ü"/>
            </a:pPr>
            <a:endParaRPr lang="es-MX" sz="18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0" name="Picture 2" descr="Resultado de imagen para teoria cinetica de los gases">
            <a:extLst>
              <a:ext uri="{FF2B5EF4-FFF2-40B4-BE49-F238E27FC236}">
                <a16:creationId xmlns:a16="http://schemas.microsoft.com/office/drawing/2014/main" id="{6F888374-D05F-9C4F-B2A4-6E928710A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25849" y="1987433"/>
            <a:ext cx="1391886" cy="2449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4 Subtítulo">
            <a:extLst>
              <a:ext uri="{FF2B5EF4-FFF2-40B4-BE49-F238E27FC236}">
                <a16:creationId xmlns:a16="http://schemas.microsoft.com/office/drawing/2014/main" id="{D75FDF36-E78F-2149-B97D-B9C233083B72}"/>
              </a:ext>
            </a:extLst>
          </p:cNvPr>
          <p:cNvSpPr txBox="1">
            <a:spLocks/>
          </p:cNvSpPr>
          <p:nvPr/>
        </p:nvSpPr>
        <p:spPr bwMode="auto">
          <a:xfrm>
            <a:off x="366154" y="156100"/>
            <a:ext cx="4796155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5pPr>
            <a:lvl6pPr marL="22860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/>
            <a:r>
              <a:rPr lang="es-CL" sz="2800" kern="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Teoría Cinética</a:t>
            </a:r>
            <a:endParaRPr lang="es-MX" sz="2800" kern="0" dirty="0">
              <a:solidFill>
                <a:srgbClr val="FF2F92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just"/>
            <a:endParaRPr lang="es-MX" sz="2800" kern="0" dirty="0">
              <a:solidFill>
                <a:srgbClr val="FF2F92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3" name="3 CuadroTexto">
            <a:extLst>
              <a:ext uri="{FF2B5EF4-FFF2-40B4-BE49-F238E27FC236}">
                <a16:creationId xmlns:a16="http://schemas.microsoft.com/office/drawing/2014/main" id="{31B8841B-2C9B-AC4E-99B8-56C54345E284}"/>
              </a:ext>
            </a:extLst>
          </p:cNvPr>
          <p:cNvSpPr txBox="1"/>
          <p:nvPr/>
        </p:nvSpPr>
        <p:spPr>
          <a:xfrm>
            <a:off x="238608" y="804172"/>
            <a:ext cx="9320178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Si se tiene en cuenta la Teoría Cinética para interpretar la ley de los gases ideales se debe considerar:</a:t>
            </a:r>
            <a:endParaRPr lang="es-CL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890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11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8" name="14 Rectángulo">
            <a:extLst>
              <a:ext uri="{FF2B5EF4-FFF2-40B4-BE49-F238E27FC236}">
                <a16:creationId xmlns:a16="http://schemas.microsoft.com/office/drawing/2014/main" id="{E63DFA06-77F9-014E-83C5-AABF0525A3A9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E1B7E156-5C3A-874B-A5F2-B2B4E0034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455" y="152412"/>
            <a:ext cx="9246729" cy="56130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lvl="0" algn="just" defTabSz="190500">
              <a:lnSpc>
                <a:spcPct val="125000"/>
              </a:lnSpc>
              <a:buClr>
                <a:srgbClr val="1769B5"/>
              </a:buClr>
              <a:defRPr/>
            </a:pPr>
            <a:r>
              <a:rPr kumimoji="1" lang="es-ES_tradnl" sz="2800" kern="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Ecuación de Estado de un Gas</a:t>
            </a:r>
          </a:p>
          <a:p>
            <a:pPr lvl="0" algn="just" defTabSz="190500">
              <a:lnSpc>
                <a:spcPct val="125000"/>
              </a:lnSpc>
              <a:buClr>
                <a:srgbClr val="1769B5"/>
              </a:buClr>
              <a:defRPr/>
            </a:pPr>
            <a:endParaRPr kumimoji="1" lang="es-ES_tradnl" sz="2000" kern="0" dirty="0">
              <a:solidFill>
                <a:srgbClr val="1769B5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lvl="0" algn="just" defTabSz="190500">
              <a:lnSpc>
                <a:spcPct val="125000"/>
              </a:lnSpc>
              <a:buClr>
                <a:srgbClr val="1769B5"/>
              </a:buClr>
              <a:defRPr/>
            </a:pPr>
            <a:r>
              <a:rPr kumimoji="1" lang="es-ES_tradnl" sz="2000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El estado gaseoso esta sujeto a leyes que se puede resumir en que la presión es función del volumen y la temperatura.</a:t>
            </a:r>
          </a:p>
          <a:p>
            <a:pPr lvl="0" algn="just" defTabSz="190500">
              <a:lnSpc>
                <a:spcPct val="125000"/>
              </a:lnSpc>
              <a:buClr>
                <a:srgbClr val="1769B5"/>
              </a:buClr>
              <a:defRPr/>
            </a:pPr>
            <a:endParaRPr kumimoji="1" lang="es-ES_tradnl" sz="2000" kern="0" dirty="0">
              <a:solidFill>
                <a:srgbClr val="1769B5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lvl="0" algn="ctr" defTabSz="190500">
              <a:lnSpc>
                <a:spcPct val="125000"/>
              </a:lnSpc>
              <a:buClr>
                <a:srgbClr val="1769B5"/>
              </a:buClr>
              <a:defRPr/>
            </a:pPr>
            <a:r>
              <a:rPr kumimoji="1" lang="es-ES_tradnl" sz="2000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 = f (V, T)</a:t>
            </a:r>
          </a:p>
          <a:p>
            <a:pPr lvl="0" algn="just" defTabSz="190500">
              <a:lnSpc>
                <a:spcPct val="125000"/>
              </a:lnSpc>
              <a:buClr>
                <a:srgbClr val="1769B5"/>
              </a:buClr>
              <a:defRPr/>
            </a:pPr>
            <a:endParaRPr kumimoji="1" lang="es-ES_tradnl" sz="2000" kern="0" dirty="0">
              <a:solidFill>
                <a:srgbClr val="1769B5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lvl="0" algn="just" defTabSz="190500">
              <a:lnSpc>
                <a:spcPct val="125000"/>
              </a:lnSpc>
              <a:buClr>
                <a:srgbClr val="1769B5"/>
              </a:buClr>
              <a:defRPr/>
            </a:pPr>
            <a:endParaRPr kumimoji="1" lang="es-ES_tradnl" sz="2000" kern="0" dirty="0">
              <a:solidFill>
                <a:srgbClr val="1769B5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lvl="0" algn="just" defTabSz="190500">
              <a:lnSpc>
                <a:spcPct val="125000"/>
              </a:lnSpc>
              <a:buClr>
                <a:srgbClr val="1769B5"/>
              </a:buClr>
              <a:defRPr/>
            </a:pPr>
            <a:r>
              <a:rPr kumimoji="1" lang="es-ES_tradnl" sz="2000" b="1" kern="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Unidades de presión </a:t>
            </a:r>
            <a:r>
              <a:rPr kumimoji="1" lang="es-ES_tradnl" sz="2000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</a:t>
            </a:r>
            <a:r>
              <a:rPr kumimoji="1" lang="es-ES_tradnl" sz="2000" kern="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</a:t>
            </a:r>
            <a:r>
              <a:rPr kumimoji="1" lang="es-ES_tradnl" sz="2000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):		1 </a:t>
            </a:r>
            <a:r>
              <a:rPr kumimoji="1" lang="es-ES_tradnl" sz="2000" kern="0" dirty="0" err="1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Pa</a:t>
            </a:r>
            <a:r>
              <a:rPr kumimoji="1" lang="es-ES_tradnl" sz="2000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1 N m-2  (S.I.)</a:t>
            </a:r>
          </a:p>
          <a:p>
            <a:pPr lvl="0" algn="just" defTabSz="190500">
              <a:lnSpc>
                <a:spcPct val="125000"/>
              </a:lnSpc>
              <a:buClr>
                <a:srgbClr val="1769B5"/>
              </a:buClr>
              <a:defRPr/>
            </a:pPr>
            <a:r>
              <a:rPr kumimoji="1" lang="es-ES_tradnl" sz="2000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			       		                     1 atm = 101292.8 </a:t>
            </a:r>
            <a:r>
              <a:rPr kumimoji="1" lang="es-ES_tradnl" sz="2000" kern="0" dirty="0" err="1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Pa</a:t>
            </a:r>
            <a:r>
              <a:rPr kumimoji="1" lang="es-ES_tradnl" sz="2000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760 mm Hg</a:t>
            </a:r>
          </a:p>
          <a:p>
            <a:pPr lvl="0" algn="just" defTabSz="190500">
              <a:lnSpc>
                <a:spcPct val="125000"/>
              </a:lnSpc>
              <a:buClr>
                <a:srgbClr val="1769B5"/>
              </a:buClr>
              <a:defRPr/>
            </a:pPr>
            <a:endParaRPr kumimoji="1" lang="es-ES_tradnl" sz="2000" kern="0" dirty="0">
              <a:solidFill>
                <a:srgbClr val="1769B5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lvl="0" algn="just" defTabSz="190500">
              <a:lnSpc>
                <a:spcPct val="125000"/>
              </a:lnSpc>
              <a:buClr>
                <a:srgbClr val="1769B5"/>
              </a:buClr>
              <a:defRPr/>
            </a:pPr>
            <a:r>
              <a:rPr kumimoji="1" lang="es-ES_tradnl" sz="2000" b="1" kern="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Unidades de Volumen </a:t>
            </a:r>
            <a:r>
              <a:rPr kumimoji="1" lang="es-ES_tradnl" sz="2000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</a:t>
            </a:r>
            <a:r>
              <a:rPr kumimoji="1" lang="es-ES_tradnl" sz="2000" b="1" kern="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V</a:t>
            </a:r>
            <a:r>
              <a:rPr kumimoji="1" lang="es-ES_tradnl" sz="2000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):	1 L = 1000 cm</a:t>
            </a:r>
            <a:r>
              <a:rPr kumimoji="1" lang="es-ES_tradnl" sz="2000" kern="0" baseline="3000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kumimoji="1" lang="es-ES_tradnl" sz="2000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1000 </a:t>
            </a:r>
            <a:r>
              <a:rPr kumimoji="1" lang="es-ES_tradnl" sz="2000" kern="0" dirty="0" err="1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mL</a:t>
            </a:r>
            <a:endParaRPr kumimoji="1" lang="es-ES_tradnl" sz="2000" kern="0" dirty="0">
              <a:solidFill>
                <a:srgbClr val="1769B5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lvl="0" algn="just" defTabSz="190500">
              <a:lnSpc>
                <a:spcPct val="125000"/>
              </a:lnSpc>
              <a:buClr>
                <a:srgbClr val="1769B5"/>
              </a:buClr>
              <a:defRPr/>
            </a:pPr>
            <a:endParaRPr kumimoji="1" lang="es-ES_tradnl" sz="2000" kern="0" dirty="0">
              <a:solidFill>
                <a:srgbClr val="1769B5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lvl="0" algn="just" defTabSz="190500">
              <a:lnSpc>
                <a:spcPct val="125000"/>
              </a:lnSpc>
              <a:buClr>
                <a:srgbClr val="1769B5"/>
              </a:buClr>
              <a:defRPr/>
            </a:pPr>
            <a:r>
              <a:rPr kumimoji="1" lang="es-ES_tradnl" sz="2000" b="1" kern="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Unidades de Temperatura </a:t>
            </a:r>
            <a:r>
              <a:rPr kumimoji="1" lang="es-ES_tradnl" sz="2000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</a:t>
            </a:r>
            <a:r>
              <a:rPr kumimoji="1" lang="es-ES_tradnl" sz="2000" b="1" kern="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</a:t>
            </a:r>
            <a:r>
              <a:rPr kumimoji="1" lang="es-ES_tradnl" sz="2000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):  K = 273,15 + </a:t>
            </a:r>
            <a:r>
              <a:rPr kumimoji="1" lang="es-ES_tradnl" sz="2000" kern="0" baseline="3000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°</a:t>
            </a:r>
            <a:r>
              <a:rPr kumimoji="1" lang="es-ES_tradnl" sz="2000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 </a:t>
            </a:r>
          </a:p>
        </p:txBody>
      </p:sp>
    </p:spTree>
    <p:extLst>
      <p:ext uri="{BB962C8B-B14F-4D97-AF65-F5344CB8AC3E}">
        <p14:creationId xmlns:p14="http://schemas.microsoft.com/office/powerpoint/2010/main" val="1037262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pPr/>
              <a:t>12</a:t>
            </a:fld>
            <a:endParaRPr lang="es-CL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8" name="14 Rectángulo">
            <a:extLst>
              <a:ext uri="{FF2B5EF4-FFF2-40B4-BE49-F238E27FC236}">
                <a16:creationId xmlns:a16="http://schemas.microsoft.com/office/drawing/2014/main" id="{E63DFA06-77F9-014E-83C5-AABF0525A3A9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7" name="4 Subtítulo">
            <a:extLst>
              <a:ext uri="{FF2B5EF4-FFF2-40B4-BE49-F238E27FC236}">
                <a16:creationId xmlns:a16="http://schemas.microsoft.com/office/drawing/2014/main" id="{031A7A75-C3BC-8347-9F61-C0A8B1E1847D}"/>
              </a:ext>
            </a:extLst>
          </p:cNvPr>
          <p:cNvSpPr txBox="1">
            <a:spLocks/>
          </p:cNvSpPr>
          <p:nvPr/>
        </p:nvSpPr>
        <p:spPr>
          <a:xfrm>
            <a:off x="107504" y="74712"/>
            <a:ext cx="9719388" cy="229809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▹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▹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5464" indent="0" algn="just">
              <a:buNone/>
            </a:pPr>
            <a:r>
              <a:rPr lang="es-CL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Ley de Boyle - Mariotte</a:t>
            </a:r>
          </a:p>
          <a:p>
            <a:pPr marL="135464" indent="0" algn="just">
              <a:lnSpc>
                <a:spcPct val="150000"/>
              </a:lnSpc>
              <a:buNone/>
            </a:pPr>
            <a:r>
              <a:rPr lang="es-MX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Para una determinada masa de gas, a temperatura constante, las magnitudes presión y volumen se relacionan de manera inversa. 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E15817D9-65FA-134F-94F2-A9F2387696C9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6002" b="16002"/>
          <a:stretch>
            <a:fillRect/>
          </a:stretch>
        </p:blipFill>
        <p:spPr bwMode="auto">
          <a:xfrm>
            <a:off x="4886066" y="2779449"/>
            <a:ext cx="5357812" cy="3945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9EDFB16-BB95-8642-88A6-87F8E2CB9249}"/>
              </a:ext>
            </a:extLst>
          </p:cNvPr>
          <p:cNvSpPr txBox="1"/>
          <p:nvPr/>
        </p:nvSpPr>
        <p:spPr>
          <a:xfrm>
            <a:off x="271425" y="1803258"/>
            <a:ext cx="4187365" cy="22621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4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V </a:t>
            </a:r>
            <a:r>
              <a:rPr lang="el-GR" sz="24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α</a:t>
            </a:r>
            <a:r>
              <a:rPr lang="es-ES" sz="24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1 / P     </a:t>
            </a:r>
            <a:r>
              <a:rPr lang="es-ES" sz="24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(a T y n </a:t>
            </a:r>
            <a:r>
              <a:rPr lang="es-ES" sz="24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ctes</a:t>
            </a:r>
            <a:r>
              <a:rPr lang="es-ES" sz="24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.)</a:t>
            </a:r>
          </a:p>
          <a:p>
            <a:pPr>
              <a:lnSpc>
                <a:spcPct val="150000"/>
              </a:lnSpc>
            </a:pPr>
            <a:r>
              <a:rPr lang="es-ES" sz="24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Transformación Isotérmica</a:t>
            </a:r>
            <a:endParaRPr lang="es-ES" sz="24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es-ES" sz="24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V = k / P</a:t>
            </a:r>
          </a:p>
          <a:p>
            <a:pPr>
              <a:lnSpc>
                <a:spcPct val="150000"/>
              </a:lnSpc>
            </a:pPr>
            <a:r>
              <a:rPr lang="es-MX" sz="24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</a:t>
            </a:r>
            <a:r>
              <a:rPr lang="es-MX" sz="24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</a:t>
            </a:r>
            <a:r>
              <a:rPr lang="es-MX" sz="24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V</a:t>
            </a:r>
            <a:r>
              <a:rPr lang="es-MX" sz="24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</a:t>
            </a:r>
            <a:r>
              <a:rPr lang="es-MX" sz="24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P</a:t>
            </a:r>
            <a:r>
              <a:rPr lang="es-MX" sz="24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MX" sz="24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V</a:t>
            </a:r>
            <a:r>
              <a:rPr lang="es-MX" sz="24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endParaRPr lang="es-MX" sz="2400" b="1" dirty="0">
              <a:solidFill>
                <a:srgbClr val="00800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C939138-21CD-944C-84D9-180D6B6548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0583" y="3089225"/>
            <a:ext cx="2755483" cy="376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605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13</a:t>
            </a:fld>
            <a:endParaRPr lang="es-CL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A5B10B2-2873-5F4D-B732-D2A589EE09C6}"/>
              </a:ext>
            </a:extLst>
          </p:cNvPr>
          <p:cNvSpPr txBox="1"/>
          <p:nvPr/>
        </p:nvSpPr>
        <p:spPr>
          <a:xfrm>
            <a:off x="2027436" y="2931560"/>
            <a:ext cx="77809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Ejercicios</a:t>
            </a:r>
          </a:p>
        </p:txBody>
      </p:sp>
      <p:grpSp>
        <p:nvGrpSpPr>
          <p:cNvPr id="4" name="Shape 257">
            <a:extLst>
              <a:ext uri="{FF2B5EF4-FFF2-40B4-BE49-F238E27FC236}">
                <a16:creationId xmlns:a16="http://schemas.microsoft.com/office/drawing/2014/main" id="{04B9F9FE-CAD3-B543-8CDF-E1698D657268}"/>
              </a:ext>
            </a:extLst>
          </p:cNvPr>
          <p:cNvGrpSpPr/>
          <p:nvPr/>
        </p:nvGrpSpPr>
        <p:grpSpPr>
          <a:xfrm>
            <a:off x="5125820" y="1447365"/>
            <a:ext cx="1171845" cy="1045591"/>
            <a:chOff x="5233525" y="4954450"/>
            <a:chExt cx="538275" cy="516350"/>
          </a:xfrm>
        </p:grpSpPr>
        <p:sp>
          <p:nvSpPr>
            <p:cNvPr id="5" name="Shape 258">
              <a:extLst>
                <a:ext uri="{FF2B5EF4-FFF2-40B4-BE49-F238E27FC236}">
                  <a16:creationId xmlns:a16="http://schemas.microsoft.com/office/drawing/2014/main" id="{3E8DF75F-16CC-044D-B3EB-21E22FDE5D71}"/>
                </a:ext>
              </a:extLst>
            </p:cNvPr>
            <p:cNvSpPr/>
            <p:nvPr/>
          </p:nvSpPr>
          <p:spPr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" name="Shape 259">
              <a:extLst>
                <a:ext uri="{FF2B5EF4-FFF2-40B4-BE49-F238E27FC236}">
                  <a16:creationId xmlns:a16="http://schemas.microsoft.com/office/drawing/2014/main" id="{00E51DBF-8113-B84A-A35D-3F18272B4179}"/>
                </a:ext>
              </a:extLst>
            </p:cNvPr>
            <p:cNvSpPr/>
            <p:nvPr/>
          </p:nvSpPr>
          <p:spPr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0" t="0" r="0" b="0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" name="Shape 260">
              <a:extLst>
                <a:ext uri="{FF2B5EF4-FFF2-40B4-BE49-F238E27FC236}">
                  <a16:creationId xmlns:a16="http://schemas.microsoft.com/office/drawing/2014/main" id="{05CBC384-9B02-6C47-A556-79B0CE94ACE9}"/>
                </a:ext>
              </a:extLst>
            </p:cNvPr>
            <p:cNvSpPr/>
            <p:nvPr/>
          </p:nvSpPr>
          <p:spPr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" name="Shape 261">
              <a:extLst>
                <a:ext uri="{FF2B5EF4-FFF2-40B4-BE49-F238E27FC236}">
                  <a16:creationId xmlns:a16="http://schemas.microsoft.com/office/drawing/2014/main" id="{7CB79486-E909-DD4B-8865-6C314698F68D}"/>
                </a:ext>
              </a:extLst>
            </p:cNvPr>
            <p:cNvSpPr/>
            <p:nvPr/>
          </p:nvSpPr>
          <p:spPr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0" t="0" r="0" b="0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Shape 262">
              <a:extLst>
                <a:ext uri="{FF2B5EF4-FFF2-40B4-BE49-F238E27FC236}">
                  <a16:creationId xmlns:a16="http://schemas.microsoft.com/office/drawing/2014/main" id="{BAF265E0-CBE6-4040-907F-05F1F377C216}"/>
                </a:ext>
              </a:extLst>
            </p:cNvPr>
            <p:cNvSpPr/>
            <p:nvPr/>
          </p:nvSpPr>
          <p:spPr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0" t="0" r="0" b="0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Shape 263">
              <a:extLst>
                <a:ext uri="{FF2B5EF4-FFF2-40B4-BE49-F238E27FC236}">
                  <a16:creationId xmlns:a16="http://schemas.microsoft.com/office/drawing/2014/main" id="{86187FDB-D2A0-B342-A64D-09F3799BCEDF}"/>
                </a:ext>
              </a:extLst>
            </p:cNvPr>
            <p:cNvSpPr/>
            <p:nvPr/>
          </p:nvSpPr>
          <p:spPr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0" t="0" r="0" b="0"/>
              <a:pathLst>
                <a:path w="7551" h="7576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" name="Shape 264">
              <a:extLst>
                <a:ext uri="{FF2B5EF4-FFF2-40B4-BE49-F238E27FC236}">
                  <a16:creationId xmlns:a16="http://schemas.microsoft.com/office/drawing/2014/main" id="{82924474-FA90-8C42-A57C-5842FE291D36}"/>
                </a:ext>
              </a:extLst>
            </p:cNvPr>
            <p:cNvSpPr/>
            <p:nvPr/>
          </p:nvSpPr>
          <p:spPr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0" t="0" r="0" b="0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" name="Shape 265">
              <a:extLst>
                <a:ext uri="{FF2B5EF4-FFF2-40B4-BE49-F238E27FC236}">
                  <a16:creationId xmlns:a16="http://schemas.microsoft.com/office/drawing/2014/main" id="{D426B43C-121B-804D-A231-BA36FA3616A2}"/>
                </a:ext>
              </a:extLst>
            </p:cNvPr>
            <p:cNvSpPr/>
            <p:nvPr/>
          </p:nvSpPr>
          <p:spPr>
            <a:xfrm>
              <a:off x="5567800" y="4999500"/>
              <a:ext cx="115100" cy="133975"/>
            </a:xfrm>
            <a:custGeom>
              <a:avLst/>
              <a:gdLst/>
              <a:ahLst/>
              <a:cxnLst/>
              <a:rect l="0" t="0" r="0" b="0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" name="Shape 266">
              <a:extLst>
                <a:ext uri="{FF2B5EF4-FFF2-40B4-BE49-F238E27FC236}">
                  <a16:creationId xmlns:a16="http://schemas.microsoft.com/office/drawing/2014/main" id="{00D2FF67-53FB-234F-B3A8-8CFDF5C33ECF}"/>
                </a:ext>
              </a:extLst>
            </p:cNvPr>
            <p:cNvSpPr/>
            <p:nvPr/>
          </p:nvSpPr>
          <p:spPr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0" t="0" r="0" b="0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" name="Shape 267">
              <a:extLst>
                <a:ext uri="{FF2B5EF4-FFF2-40B4-BE49-F238E27FC236}">
                  <a16:creationId xmlns:a16="http://schemas.microsoft.com/office/drawing/2014/main" id="{3F48E860-50C8-9B4E-B0BD-C55D0C2FE270}"/>
                </a:ext>
              </a:extLst>
            </p:cNvPr>
            <p:cNvSpPr/>
            <p:nvPr/>
          </p:nvSpPr>
          <p:spPr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0" t="0" r="0" b="0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" name="Shape 268">
              <a:extLst>
                <a:ext uri="{FF2B5EF4-FFF2-40B4-BE49-F238E27FC236}">
                  <a16:creationId xmlns:a16="http://schemas.microsoft.com/office/drawing/2014/main" id="{AC1A6B39-DB16-724E-A189-8011253BEA2F}"/>
                </a:ext>
              </a:extLst>
            </p:cNvPr>
            <p:cNvSpPr/>
            <p:nvPr/>
          </p:nvSpPr>
          <p:spPr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0" t="0" r="0" b="0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5B8DDD4-2C36-AA4E-9E46-E55CBAA0C24A}"/>
              </a:ext>
            </a:extLst>
          </p:cNvPr>
          <p:cNvSpPr txBox="1"/>
          <p:nvPr/>
        </p:nvSpPr>
        <p:spPr>
          <a:xfrm>
            <a:off x="3895870" y="5365948"/>
            <a:ext cx="82961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1. Teoría de Gases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A47E410-6910-5442-9C5D-4740EC514D3F}"/>
              </a:ext>
            </a:extLst>
          </p:cNvPr>
          <p:cNvSpPr txBox="1"/>
          <p:nvPr/>
        </p:nvSpPr>
        <p:spPr>
          <a:xfrm>
            <a:off x="308345" y="224147"/>
            <a:ext cx="70332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2</a:t>
            </a:r>
          </a:p>
        </p:txBody>
      </p:sp>
    </p:spTree>
    <p:extLst>
      <p:ext uri="{BB962C8B-B14F-4D97-AF65-F5344CB8AC3E}">
        <p14:creationId xmlns:p14="http://schemas.microsoft.com/office/powerpoint/2010/main" val="2261902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14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chemeClr val="accent5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id="{7256655D-8FF9-AE4B-9933-13E86B5B1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58907"/>
            <a:ext cx="8856599" cy="1304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altLang="es-CL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2.- </a:t>
            </a:r>
            <a:r>
              <a:rPr lang="es-E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Una muestra de gas de cloro (Cl</a:t>
            </a:r>
            <a:r>
              <a:rPr lang="es-ES" altLang="es-CL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 ocupa un volumen de 946 </a:t>
            </a:r>
            <a:r>
              <a:rPr lang="es-ES" altLang="es-CL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mL</a:t>
            </a:r>
            <a:r>
              <a:rPr lang="es-E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a una presión de 726 </a:t>
            </a:r>
            <a:r>
              <a:rPr lang="es-ES" altLang="es-CL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mmHg</a:t>
            </a:r>
            <a:r>
              <a:rPr lang="es-E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 ¿Cuál es la presión del gas (en </a:t>
            </a:r>
            <a:r>
              <a:rPr lang="es-ES" altLang="es-CL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mmHg</a:t>
            </a:r>
            <a:r>
              <a:rPr lang="es-E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 si el volumen está reducido a temperatura constante de 154 </a:t>
            </a:r>
            <a:r>
              <a:rPr lang="es-ES" altLang="es-CL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mL</a:t>
            </a:r>
            <a:r>
              <a:rPr lang="es-E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377464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15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chemeClr val="accent5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id="{7256655D-8FF9-AE4B-9933-13E86B5B1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58907"/>
            <a:ext cx="8856599" cy="1304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altLang="es-CL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2.- </a:t>
            </a:r>
            <a:r>
              <a:rPr lang="es-E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Una muestra de gas de cloro ocupa un volumen de 946 </a:t>
            </a:r>
            <a:r>
              <a:rPr lang="es-ES" altLang="es-CL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mL</a:t>
            </a:r>
            <a:r>
              <a:rPr lang="es-E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a una presión de 726 </a:t>
            </a:r>
            <a:r>
              <a:rPr lang="es-ES" altLang="es-CL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mmHg</a:t>
            </a:r>
            <a:r>
              <a:rPr lang="es-E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 ¿Cuál es la presión del gas (en </a:t>
            </a:r>
            <a:r>
              <a:rPr lang="es-ES" altLang="es-CL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mmHg</a:t>
            </a:r>
            <a:r>
              <a:rPr lang="es-E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 si el volumen está reducido a temperatura constante de 154 </a:t>
            </a:r>
            <a:r>
              <a:rPr lang="es-ES" altLang="es-CL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mL</a:t>
            </a:r>
            <a:r>
              <a:rPr lang="es-E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? </a:t>
            </a:r>
          </a:p>
        </p:txBody>
      </p:sp>
      <p:sp>
        <p:nvSpPr>
          <p:cNvPr id="12" name="1 Rectángulo">
            <a:extLst>
              <a:ext uri="{FF2B5EF4-FFF2-40B4-BE49-F238E27FC236}">
                <a16:creationId xmlns:a16="http://schemas.microsoft.com/office/drawing/2014/main" id="{CFE0DB85-5E4B-3D4D-A363-1759B1B42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807" y="1845272"/>
            <a:ext cx="2987675" cy="40011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1B587C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4E854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es-CL" sz="2000" b="1" i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</a:t>
            </a:r>
            <a:r>
              <a:rPr lang="en-US" altLang="es-CL" sz="20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</a:t>
            </a:r>
            <a:r>
              <a:rPr lang="en-US" altLang="es-CL" sz="20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x </a:t>
            </a:r>
            <a:r>
              <a:rPr lang="en-US" altLang="es-CL" sz="2000" b="1" i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V</a:t>
            </a:r>
            <a:r>
              <a:rPr lang="en-US" altLang="es-CL" sz="20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</a:t>
            </a:r>
            <a:r>
              <a:rPr lang="en-US" altLang="es-CL" sz="20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</a:t>
            </a:r>
            <a:r>
              <a:rPr lang="en-US" altLang="es-CL" sz="2000" b="1" i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</a:t>
            </a:r>
            <a:r>
              <a:rPr lang="en-US" altLang="es-CL" sz="20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n-US" altLang="es-CL" sz="20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x </a:t>
            </a:r>
            <a:r>
              <a:rPr lang="en-US" altLang="es-CL" sz="2000" b="1" i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V</a:t>
            </a:r>
            <a:r>
              <a:rPr lang="en-US" altLang="es-CL" sz="20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endParaRPr lang="en-US" altLang="es-CL" sz="2000" b="1" dirty="0">
              <a:solidFill>
                <a:srgbClr val="00800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3" name="2 Rectángulo">
            <a:extLst>
              <a:ext uri="{FF2B5EF4-FFF2-40B4-BE49-F238E27FC236}">
                <a16:creationId xmlns:a16="http://schemas.microsoft.com/office/drawing/2014/main" id="{42268E5D-E77A-EA4B-825A-B118EACAF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4083" y="2620260"/>
            <a:ext cx="21948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1B587C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4E854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s-CL" sz="2000" i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</a:t>
            </a:r>
            <a:r>
              <a:rPr lang="en-US" altLang="es-CL" sz="2000" baseline="-2500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</a:t>
            </a:r>
            <a:r>
              <a:rPr lang="en-US" altLang="es-CL" sz="200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726 mmHg</a:t>
            </a:r>
            <a:endParaRPr lang="en-US" altLang="es-CL" sz="2000" baseline="-2500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4" name="Text Box 7">
            <a:extLst>
              <a:ext uri="{FF2B5EF4-FFF2-40B4-BE49-F238E27FC236}">
                <a16:creationId xmlns:a16="http://schemas.microsoft.com/office/drawing/2014/main" id="{6C5E3D91-D643-A046-B180-7BF09E6BAE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0795" y="2596447"/>
            <a:ext cx="9092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1B587C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4E854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s-CL" sz="2000" i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</a:t>
            </a:r>
            <a:r>
              <a:rPr lang="en-US" altLang="es-CL" sz="2000" baseline="-2500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n-US" altLang="es-CL" sz="200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?</a:t>
            </a:r>
            <a:endParaRPr lang="en-US" altLang="es-CL" sz="2000" baseline="-2500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5" name="Text Box 6">
            <a:extLst>
              <a:ext uri="{FF2B5EF4-FFF2-40B4-BE49-F238E27FC236}">
                <a16:creationId xmlns:a16="http://schemas.microsoft.com/office/drawing/2014/main" id="{4642D162-EBFC-334A-8E32-8FEE60435D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2170" y="3142547"/>
            <a:ext cx="177003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1B587C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4E854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s-CL" sz="2000" i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V</a:t>
            </a:r>
            <a:r>
              <a:rPr lang="en-US" altLang="es-CL" sz="2000" baseline="-2500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</a:t>
            </a:r>
            <a:r>
              <a:rPr lang="en-US" altLang="es-CL" sz="200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946 mL</a:t>
            </a:r>
            <a:endParaRPr lang="en-US" altLang="es-CL" sz="2000" baseline="-2500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7" name="Text Box 8">
            <a:extLst>
              <a:ext uri="{FF2B5EF4-FFF2-40B4-BE49-F238E27FC236}">
                <a16:creationId xmlns:a16="http://schemas.microsoft.com/office/drawing/2014/main" id="{7D34E3B0-0FD2-AA4B-A4EE-620289D31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4933" y="3077460"/>
            <a:ext cx="177003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1B587C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4E854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s-CL" sz="2000" i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V</a:t>
            </a:r>
            <a:r>
              <a:rPr lang="en-US" altLang="es-CL" sz="2000" baseline="-2500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n-US" altLang="es-CL" sz="200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154 mL</a:t>
            </a:r>
            <a:endParaRPr lang="en-US" altLang="es-CL" sz="2000" baseline="-2500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8" name="Text Box 9">
            <a:extLst>
              <a:ext uri="{FF2B5EF4-FFF2-40B4-BE49-F238E27FC236}">
                <a16:creationId xmlns:a16="http://schemas.microsoft.com/office/drawing/2014/main" id="{688BA824-857F-C24B-B5B8-BD5B70E9A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1861" y="4115715"/>
            <a:ext cx="80021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1B587C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4E854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s-CL" sz="2000" i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</a:t>
            </a:r>
            <a:r>
              <a:rPr lang="en-US" alt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n-U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</a:t>
            </a:r>
            <a:endParaRPr lang="en-US" altLang="es-CL" sz="2000" i="1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grpSp>
        <p:nvGrpSpPr>
          <p:cNvPr id="19" name="Group 15">
            <a:extLst>
              <a:ext uri="{FF2B5EF4-FFF2-40B4-BE49-F238E27FC236}">
                <a16:creationId xmlns:a16="http://schemas.microsoft.com/office/drawing/2014/main" id="{AB7981CF-1D91-E84A-AD2F-C6B7820B8668}"/>
              </a:ext>
            </a:extLst>
          </p:cNvPr>
          <p:cNvGrpSpPr>
            <a:grpSpLocks/>
          </p:cNvGrpSpPr>
          <p:nvPr/>
        </p:nvGrpSpPr>
        <p:grpSpPr bwMode="auto">
          <a:xfrm>
            <a:off x="2945020" y="3804532"/>
            <a:ext cx="1143000" cy="933449"/>
            <a:chOff x="1500" y="2928"/>
            <a:chExt cx="720" cy="588"/>
          </a:xfrm>
        </p:grpSpPr>
        <p:sp>
          <p:nvSpPr>
            <p:cNvPr id="20" name="Text Box 12">
              <a:extLst>
                <a:ext uri="{FF2B5EF4-FFF2-40B4-BE49-F238E27FC236}">
                  <a16:creationId xmlns:a16="http://schemas.microsoft.com/office/drawing/2014/main" id="{973DBAF0-3823-3548-9DC7-D15D119768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928"/>
              <a:ext cx="64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1B587C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4E854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s-CL" sz="2000" i="1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P</a:t>
              </a:r>
              <a:r>
                <a:rPr lang="en-US" altLang="es-CL" sz="2000" baseline="-25000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1</a:t>
              </a:r>
              <a:r>
                <a:rPr lang="en-US" altLang="es-CL" sz="2000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 x </a:t>
              </a:r>
              <a:r>
                <a:rPr lang="en-US" altLang="es-CL" sz="2000" i="1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V</a:t>
              </a:r>
              <a:r>
                <a:rPr lang="en-US" altLang="es-CL" sz="2000" baseline="-25000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1</a:t>
              </a:r>
              <a:endParaRPr lang="en-US" altLang="es-CL" sz="2000" i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21" name="Line 13">
              <a:extLst>
                <a:ext uri="{FF2B5EF4-FFF2-40B4-BE49-F238E27FC236}">
                  <a16:creationId xmlns:a16="http://schemas.microsoft.com/office/drawing/2014/main" id="{B4E7B540-E0C3-0743-88AF-1AC97B0A42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0" y="3250"/>
              <a:ext cx="720" cy="0"/>
            </a:xfrm>
            <a:prstGeom prst="line">
              <a:avLst/>
            </a:prstGeom>
            <a:noFill/>
            <a:ln w="28575">
              <a:solidFill>
                <a:schemeClr val="accent5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_tradnl" sz="200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22" name="Text Box 14">
              <a:extLst>
                <a:ext uri="{FF2B5EF4-FFF2-40B4-BE49-F238E27FC236}">
                  <a16:creationId xmlns:a16="http://schemas.microsoft.com/office/drawing/2014/main" id="{2F3BDC7B-488A-4C4B-B991-54FCD87413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1" y="3264"/>
              <a:ext cx="29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1B587C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4E854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s-CL" sz="2000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V</a:t>
              </a:r>
              <a:r>
                <a:rPr lang="en-US" altLang="es-CL" sz="2000" baseline="-2500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2</a:t>
              </a:r>
              <a:endParaRPr lang="en-US" altLang="es-CL" sz="2000" i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</p:grpSp>
      <p:sp>
        <p:nvSpPr>
          <p:cNvPr id="23" name="Text Box 21">
            <a:extLst>
              <a:ext uri="{FF2B5EF4-FFF2-40B4-BE49-F238E27FC236}">
                <a16:creationId xmlns:a16="http://schemas.microsoft.com/office/drawing/2014/main" id="{6D84971D-F1B3-8640-A04C-0DD1B774EC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8889" y="4115715"/>
            <a:ext cx="20265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1B587C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4E854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= 4460 mmHg</a:t>
            </a:r>
          </a:p>
        </p:txBody>
      </p:sp>
    </p:spTree>
    <p:extLst>
      <p:ext uri="{BB962C8B-B14F-4D97-AF65-F5344CB8AC3E}">
        <p14:creationId xmlns:p14="http://schemas.microsoft.com/office/powerpoint/2010/main" val="704839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16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chemeClr val="accent5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id="{7256655D-8FF9-AE4B-9933-13E86B5B1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58907"/>
            <a:ext cx="9105210" cy="4208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alt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.- Una muestra de aire ocupa un volumen de 3.8 L cuando la presión es de 1.2 atm.</a:t>
            </a:r>
          </a:p>
          <a:p>
            <a:pPr algn="just">
              <a:lnSpc>
                <a:spcPct val="150000"/>
              </a:lnSpc>
            </a:pPr>
            <a:endParaRPr lang="es-ES" altLang="es-CL" sz="20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457200" indent="-457200" algn="just">
              <a:lnSpc>
                <a:spcPct val="150000"/>
              </a:lnSpc>
              <a:buAutoNum type="alphaLcParenR"/>
            </a:pP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¿Qué volumen ocupará a 6.6 atm? </a:t>
            </a:r>
          </a:p>
          <a:p>
            <a:pPr marL="457200" indent="-457200" algn="just">
              <a:lnSpc>
                <a:spcPct val="150000"/>
              </a:lnSpc>
              <a:buAutoNum type="alphaLcParenR"/>
            </a:pPr>
            <a:endParaRPr lang="es-ES" altLang="es-CL" sz="20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457200" indent="-457200" algn="just">
              <a:lnSpc>
                <a:spcPct val="150000"/>
              </a:lnSpc>
              <a:buAutoNum type="alphaLcParenR"/>
            </a:pPr>
            <a:endParaRPr lang="es-ES" altLang="es-CL" sz="20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just">
              <a:lnSpc>
                <a:spcPct val="150000"/>
              </a:lnSpc>
            </a:pPr>
            <a:endParaRPr lang="es-ES" altLang="es-CL" sz="20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just">
              <a:lnSpc>
                <a:spcPct val="150000"/>
              </a:lnSpc>
            </a:pPr>
            <a:endParaRPr lang="es-ES" altLang="es-CL" sz="20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b) ¿Cuál es la presión requerida para comprimir 0.075 L a T constante?</a:t>
            </a:r>
          </a:p>
        </p:txBody>
      </p:sp>
      <p:sp>
        <p:nvSpPr>
          <p:cNvPr id="25" name="6 Rectángulo">
            <a:extLst>
              <a:ext uri="{FF2B5EF4-FFF2-40B4-BE49-F238E27FC236}">
                <a16:creationId xmlns:a16="http://schemas.microsoft.com/office/drawing/2014/main" id="{FA03BDB5-18A9-3244-A453-385808FD43FA}"/>
              </a:ext>
            </a:extLst>
          </p:cNvPr>
          <p:cNvSpPr/>
          <p:nvPr/>
        </p:nvSpPr>
        <p:spPr>
          <a:xfrm>
            <a:off x="745435" y="911086"/>
            <a:ext cx="8610600" cy="51816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09393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17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chemeClr val="accent5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id="{7256655D-8FF9-AE4B-9933-13E86B5B1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58907"/>
            <a:ext cx="9105210" cy="4208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3.- Una muestra de aire ocupa un volumen de 3.8 L cuando la presión es de 1.2 atm.</a:t>
            </a:r>
          </a:p>
          <a:p>
            <a:pPr algn="just">
              <a:lnSpc>
                <a:spcPct val="150000"/>
              </a:lnSpc>
            </a:pPr>
            <a:endParaRPr lang="es-ES" altLang="es-CL" sz="20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457200" indent="-457200" algn="just">
              <a:lnSpc>
                <a:spcPct val="150000"/>
              </a:lnSpc>
              <a:buAutoNum type="alphaLcParenR"/>
            </a:pP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¿Qué volumen ocupará a 6.6 atm? </a:t>
            </a:r>
          </a:p>
          <a:p>
            <a:pPr marL="457200" indent="-457200" algn="just">
              <a:lnSpc>
                <a:spcPct val="150000"/>
              </a:lnSpc>
              <a:buAutoNum type="alphaLcParenR"/>
            </a:pPr>
            <a:endParaRPr lang="es-ES" altLang="es-CL" sz="20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457200" indent="-457200" algn="just">
              <a:lnSpc>
                <a:spcPct val="150000"/>
              </a:lnSpc>
              <a:buAutoNum type="alphaLcParenR"/>
            </a:pPr>
            <a:endParaRPr lang="es-ES" altLang="es-CL" sz="20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just">
              <a:lnSpc>
                <a:spcPct val="150000"/>
              </a:lnSpc>
            </a:pPr>
            <a:endParaRPr lang="es-ES" altLang="es-CL" sz="20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just">
              <a:lnSpc>
                <a:spcPct val="150000"/>
              </a:lnSpc>
            </a:pPr>
            <a:endParaRPr lang="es-ES" altLang="es-CL" sz="20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b) ¿Cuál es la presión requerida para comprimir 0.075 L a T constante?</a:t>
            </a:r>
          </a:p>
        </p:txBody>
      </p:sp>
      <p:sp>
        <p:nvSpPr>
          <p:cNvPr id="25" name="6 Rectángulo">
            <a:extLst>
              <a:ext uri="{FF2B5EF4-FFF2-40B4-BE49-F238E27FC236}">
                <a16:creationId xmlns:a16="http://schemas.microsoft.com/office/drawing/2014/main" id="{FA03BDB5-18A9-3244-A453-385808FD43FA}"/>
              </a:ext>
            </a:extLst>
          </p:cNvPr>
          <p:cNvSpPr/>
          <p:nvPr/>
        </p:nvSpPr>
        <p:spPr>
          <a:xfrm>
            <a:off x="745435" y="911086"/>
            <a:ext cx="8610600" cy="51816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CL"/>
          </a:p>
        </p:txBody>
      </p:sp>
      <p:sp>
        <p:nvSpPr>
          <p:cNvPr id="27" name="8 CuadroTexto">
            <a:extLst>
              <a:ext uri="{FF2B5EF4-FFF2-40B4-BE49-F238E27FC236}">
                <a16:creationId xmlns:a16="http://schemas.microsoft.com/office/drawing/2014/main" id="{4960910B-AC02-8842-BA15-D0CD1E459620}"/>
              </a:ext>
            </a:extLst>
          </p:cNvPr>
          <p:cNvSpPr txBox="1"/>
          <p:nvPr/>
        </p:nvSpPr>
        <p:spPr>
          <a:xfrm>
            <a:off x="5471160" y="923012"/>
            <a:ext cx="3505200" cy="40011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s-MX" sz="20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</a:t>
            </a:r>
            <a:r>
              <a:rPr lang="es-MX" sz="20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 </a:t>
            </a:r>
            <a:r>
              <a:rPr lang="es-MX" sz="20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x V</a:t>
            </a:r>
            <a:r>
              <a:rPr lang="es-MX" sz="20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</a:t>
            </a:r>
            <a:r>
              <a:rPr lang="es-MX" sz="20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P</a:t>
            </a:r>
            <a:r>
              <a:rPr lang="es-MX" sz="20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 </a:t>
            </a:r>
            <a:r>
              <a:rPr lang="es-MX" sz="20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x V</a:t>
            </a:r>
            <a:r>
              <a:rPr lang="es-MX" sz="20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MX" sz="20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endParaRPr lang="es-CL" sz="2000" b="1" dirty="0">
              <a:solidFill>
                <a:srgbClr val="00800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29" name="10 Rectángulo">
            <a:extLst>
              <a:ext uri="{FF2B5EF4-FFF2-40B4-BE49-F238E27FC236}">
                <a16:creationId xmlns:a16="http://schemas.microsoft.com/office/drawing/2014/main" id="{920528EA-4A52-024D-AD09-BAD7743AF098}"/>
              </a:ext>
            </a:extLst>
          </p:cNvPr>
          <p:cNvSpPr/>
          <p:nvPr/>
        </p:nvSpPr>
        <p:spPr>
          <a:xfrm>
            <a:off x="455875" y="2549537"/>
            <a:ext cx="83058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	P</a:t>
            </a:r>
            <a:r>
              <a:rPr lang="es-CL" sz="2000" b="1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 </a:t>
            </a:r>
            <a:r>
              <a:rPr 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= 1.2 atm	P</a:t>
            </a:r>
            <a:r>
              <a:rPr lang="es-CL" sz="2000" b="1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6.6 atm	V</a:t>
            </a:r>
            <a:r>
              <a:rPr lang="es-CL" sz="2000" b="1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</a:t>
            </a:r>
            <a:r>
              <a:rPr 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3.8	L	V</a:t>
            </a:r>
            <a:r>
              <a:rPr lang="es-CL" sz="2000" b="1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?</a:t>
            </a:r>
          </a:p>
          <a:p>
            <a:pPr marL="342900" indent="-342900" eaLnBrk="1" hangingPunct="1">
              <a:defRPr/>
            </a:pPr>
            <a:endParaRPr lang="es-CL" sz="2000" b="1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 eaLnBrk="1" hangingPunct="1">
              <a:defRPr/>
            </a:pPr>
            <a:r>
              <a:rPr 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Reemplazando:	           1.2 atm x 3.8 L = 6.6 atm x V</a:t>
            </a:r>
            <a:r>
              <a:rPr 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</a:p>
          <a:p>
            <a:pPr marL="342900" indent="-342900" algn="ctr" eaLnBrk="1" hangingPunct="1">
              <a:defRPr/>
            </a:pPr>
            <a:r>
              <a:rPr lang="es-CL" sz="20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V</a:t>
            </a:r>
            <a:r>
              <a:rPr lang="es-CL" sz="20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CL" sz="20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0.69 L</a:t>
            </a:r>
          </a:p>
        </p:txBody>
      </p:sp>
      <p:sp>
        <p:nvSpPr>
          <p:cNvPr id="30" name="11 Rectángulo">
            <a:extLst>
              <a:ext uri="{FF2B5EF4-FFF2-40B4-BE49-F238E27FC236}">
                <a16:creationId xmlns:a16="http://schemas.microsoft.com/office/drawing/2014/main" id="{EF0198CE-C7A4-4046-B981-BB9999F4D56A}"/>
              </a:ext>
            </a:extLst>
          </p:cNvPr>
          <p:cNvSpPr/>
          <p:nvPr/>
        </p:nvSpPr>
        <p:spPr>
          <a:xfrm>
            <a:off x="670560" y="4964319"/>
            <a:ext cx="83058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		P</a:t>
            </a:r>
            <a:r>
              <a:rPr lang="es-CL" sz="2000" b="1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</a:t>
            </a:r>
            <a:r>
              <a:rPr 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1.2 atm	V</a:t>
            </a:r>
            <a:r>
              <a:rPr lang="es-CL" sz="2000" b="1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 </a:t>
            </a:r>
            <a:r>
              <a:rPr 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= 3.8 L	P</a:t>
            </a:r>
            <a:r>
              <a:rPr lang="es-CL" sz="2000" b="1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?	 V</a:t>
            </a:r>
            <a:r>
              <a:rPr lang="es-CL" sz="2000" b="1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0.075 L</a:t>
            </a:r>
          </a:p>
          <a:p>
            <a:pPr marL="342900" indent="-342900" eaLnBrk="1" hangingPunct="1">
              <a:defRPr/>
            </a:pPr>
            <a:endParaRPr lang="es-CL" sz="2000" b="1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 eaLnBrk="1" hangingPunct="1">
              <a:defRPr/>
            </a:pPr>
            <a:r>
              <a:rPr 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Reemplazando:</a:t>
            </a:r>
          </a:p>
          <a:p>
            <a:pPr marL="342900" indent="-342900" algn="ctr" eaLnBrk="1" hangingPunct="1">
              <a:defRPr/>
            </a:pPr>
            <a:r>
              <a:rPr 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1.2 atm x 3.8 L = P</a:t>
            </a:r>
            <a:r>
              <a:rPr 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 </a:t>
            </a:r>
            <a:r>
              <a:rPr 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x 0.075 L</a:t>
            </a:r>
          </a:p>
          <a:p>
            <a:pPr marL="342900" indent="-342900" algn="ctr" eaLnBrk="1" hangingPunct="1">
              <a:defRPr/>
            </a:pPr>
            <a:r>
              <a:rPr lang="es-CL" sz="20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</a:t>
            </a:r>
            <a:r>
              <a:rPr lang="es-CL" sz="20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CL" sz="20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= 60.8 atm</a:t>
            </a:r>
          </a:p>
        </p:txBody>
      </p:sp>
    </p:spTree>
    <p:extLst>
      <p:ext uri="{BB962C8B-B14F-4D97-AF65-F5344CB8AC3E}">
        <p14:creationId xmlns:p14="http://schemas.microsoft.com/office/powerpoint/2010/main" val="3861411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18</a:t>
            </a:fld>
            <a:endParaRPr lang="es-CL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F6BF646-913E-F443-9239-35877B264A20}"/>
              </a:ext>
            </a:extLst>
          </p:cNvPr>
          <p:cNvSpPr txBox="1"/>
          <p:nvPr/>
        </p:nvSpPr>
        <p:spPr>
          <a:xfrm>
            <a:off x="3895870" y="5365948"/>
            <a:ext cx="82961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1. Teoría de Gases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DD84254E-89DC-CA43-8FB9-7B95733BF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4A0C9A27-BC19-6B48-9953-B583514660F8}"/>
              </a:ext>
            </a:extLst>
          </p:cNvPr>
          <p:cNvSpPr txBox="1"/>
          <p:nvPr/>
        </p:nvSpPr>
        <p:spPr>
          <a:xfrm>
            <a:off x="308345" y="224147"/>
            <a:ext cx="70332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2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D996AA1-3373-BC43-989B-2F6B2E2D7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51" y="2055274"/>
            <a:ext cx="4058571" cy="340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033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19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8" name="14 Rectángulo">
            <a:extLst>
              <a:ext uri="{FF2B5EF4-FFF2-40B4-BE49-F238E27FC236}">
                <a16:creationId xmlns:a16="http://schemas.microsoft.com/office/drawing/2014/main" id="{E63DFA06-77F9-014E-83C5-AABF0525A3A9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4 Subtítulo">
                <a:extLst>
                  <a:ext uri="{FF2B5EF4-FFF2-40B4-BE49-F238E27FC236}">
                    <a16:creationId xmlns:a16="http://schemas.microsoft.com/office/drawing/2014/main" id="{F0C4C8DC-1A87-F040-9416-723C78A62B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1520" y="227259"/>
                <a:ext cx="9002208" cy="5305440"/>
              </a:xfrm>
              <a:prstGeom prst="rect">
                <a:avLst/>
              </a:prstGeom>
            </p:spPr>
            <p:txBody>
              <a:bodyPr spcFirstLastPara="1" vert="horz" wrap="square" lIns="91425" tIns="91425" rIns="91425" bIns="91425" rtlCol="0" anchor="t" anchorCtr="0">
                <a:noAutofit/>
              </a:bodyPr>
              <a:lstStyle>
                <a:lvl1pPr marL="609585" lvl="0" indent="-474121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▸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219170" lvl="1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▹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28754" lvl="2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▹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438339" lvl="3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●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47924" lvl="4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○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657509" lvl="5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■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267093" lvl="6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●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876678" lvl="7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○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486263" lvl="8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■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35464" indent="0" algn="just">
                  <a:lnSpc>
                    <a:spcPct val="150000"/>
                  </a:lnSpc>
                  <a:buNone/>
                </a:pPr>
                <a:r>
                  <a:rPr lang="es-CL" b="1" dirty="0">
                    <a:solidFill>
                      <a:srgbClr val="FF2F92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Ley de Charles–Gay-lussac</a:t>
                </a:r>
              </a:p>
              <a:p>
                <a:pPr marL="135464" indent="0" algn="just">
                  <a:lnSpc>
                    <a:spcPct val="150000"/>
                  </a:lnSpc>
                  <a:buNone/>
                </a:pPr>
                <a:r>
                  <a:rPr lang="es-MX" sz="2000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El volumen de una determinada masa de gas es directamente proporcional a la temperatura absoluta, si la presión se mantiene constante. </a:t>
                </a:r>
                <a:endParaRPr lang="es-MX" sz="2000" b="1" dirty="0"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  <a:p>
                <a:pPr marL="135464" indent="0" algn="ctr">
                  <a:lnSpc>
                    <a:spcPct val="150000"/>
                  </a:lnSpc>
                  <a:buNone/>
                </a:pPr>
                <a:r>
                  <a:rPr lang="es-MX" sz="2000" b="1" dirty="0">
                    <a:solidFill>
                      <a:srgbClr val="008000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V = </a:t>
                </a:r>
                <a:r>
                  <a:rPr lang="es-MX" sz="2000" b="1" dirty="0" err="1">
                    <a:solidFill>
                      <a:srgbClr val="008000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V</a:t>
                </a:r>
                <a:r>
                  <a:rPr lang="es-MX" sz="2000" b="1" baseline="-25000" dirty="0" err="1">
                    <a:solidFill>
                      <a:srgbClr val="008000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o</a:t>
                </a:r>
                <a:r>
                  <a:rPr lang="es-MX" sz="2000" b="1" dirty="0">
                    <a:solidFill>
                      <a:srgbClr val="008000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 (1 + </a:t>
                </a:r>
                <a:r>
                  <a:rPr lang="es-MX" sz="2000" b="1" dirty="0">
                    <a:solidFill>
                      <a:srgbClr val="008000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  <a:sym typeface="Symbol"/>
                  </a:rPr>
                  <a:t> T)</a:t>
                </a:r>
              </a:p>
              <a:p>
                <a:pPr marL="135464" indent="0"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s-MX" sz="2000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  <a:sym typeface="Symbol"/>
                  </a:rPr>
                  <a:t>Siendo</a:t>
                </a:r>
              </a:p>
              <a:p>
                <a:pPr marL="135464" indent="0"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s-MX" sz="2000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  <a:sym typeface="Symbol"/>
                  </a:rPr>
                  <a:t>            V = volumen final a la temperatura T (en K)</a:t>
                </a:r>
              </a:p>
              <a:p>
                <a:pPr marL="135464" indent="0"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s-MX" sz="2000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  <a:sym typeface="Symbol"/>
                  </a:rPr>
                  <a:t>            V</a:t>
                </a:r>
                <a:r>
                  <a:rPr lang="es-MX" sz="2000" baseline="-25000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  <a:sym typeface="Symbol"/>
                  </a:rPr>
                  <a:t>o</a:t>
                </a:r>
                <a:r>
                  <a:rPr lang="es-MX" sz="2000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  <a:sym typeface="Symbol"/>
                  </a:rPr>
                  <a:t> = volumen inicial a la temperatura T (en K)</a:t>
                </a:r>
              </a:p>
              <a:p>
                <a:pPr marL="342900" indent="-342900" algn="just">
                  <a:lnSpc>
                    <a:spcPct val="150000"/>
                  </a:lnSpc>
                  <a:spcBef>
                    <a:spcPts val="0"/>
                  </a:spcBef>
                  <a:buFont typeface="Symbol"/>
                  <a:buChar char="a"/>
                </a:pPr>
                <a:r>
                  <a:rPr lang="es-MX" sz="2000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  <a:sym typeface="Symbol"/>
                  </a:rPr>
                  <a:t>= 1/273 coeficiente de dilatación (igual valor para todos los gases)</a:t>
                </a:r>
              </a:p>
              <a:p>
                <a:pPr marL="342900" indent="-342900" algn="just">
                  <a:lnSpc>
                    <a:spcPct val="150000"/>
                  </a:lnSpc>
                  <a:spcBef>
                    <a:spcPts val="0"/>
                  </a:spcBef>
                  <a:buFont typeface="Symbol"/>
                  <a:buChar char="a"/>
                </a:pPr>
                <a:endParaRPr lang="es-MX" sz="2000" b="1" dirty="0">
                  <a:latin typeface="Lucida Sans Unicode" panose="020B0602030504020204" pitchFamily="34" charset="0"/>
                  <a:cs typeface="Lucida Sans Unicode" panose="020B0602030504020204" pitchFamily="34" charset="0"/>
                  <a:sym typeface="Symbol"/>
                </a:endParaRPr>
              </a:p>
              <a:p>
                <a:pPr marL="135464" indent="0" algn="ctr">
                  <a:lnSpc>
                    <a:spcPct val="150000"/>
                  </a:lnSpc>
                  <a:buNone/>
                </a:pPr>
                <a:r>
                  <a:rPr lang="es-MX" sz="2000" b="1" dirty="0">
                    <a:latin typeface="Lucida Sans Unicode" panose="020B0602030504020204" pitchFamily="34" charset="0"/>
                    <a:cs typeface="Lucida Sans Unicode" panose="020B0602030504020204" pitchFamily="34" charset="0"/>
                    <a:sym typeface="Symbol"/>
                  </a:rPr>
                  <a:t> </a:t>
                </a:r>
                <a:r>
                  <a:rPr lang="es-MX" sz="2000" b="1" dirty="0">
                    <a:solidFill>
                      <a:srgbClr val="008000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  <a:sym typeface="Symbol"/>
                  </a:rPr>
                  <a:t>Ecuación reducida :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MX" sz="3200" b="1" i="1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fPr>
                      <m:num>
                        <m:r>
                          <a:rPr lang="es-MX" sz="3200" b="1">
                            <a:solidFill>
                              <a:srgbClr val="008000"/>
                            </a:solidFill>
                            <a:latin typeface="Cambria Math"/>
                            <a:sym typeface="Symbol"/>
                          </a:rPr>
                          <m:t>𝐕</m:t>
                        </m:r>
                        <m:r>
                          <a:rPr lang="es-MX" sz="3200" b="1" baseline="-25000">
                            <a:solidFill>
                              <a:srgbClr val="008000"/>
                            </a:solidFill>
                            <a:latin typeface="Cambria Math"/>
                            <a:sym typeface="Symbol"/>
                          </a:rPr>
                          <m:t>𝟏</m:t>
                        </m:r>
                      </m:num>
                      <m:den>
                        <m:r>
                          <a:rPr lang="es-MX" sz="3200" b="1" smtClean="0">
                            <a:solidFill>
                              <a:srgbClr val="008000"/>
                            </a:solidFill>
                            <a:latin typeface="Cambria Math"/>
                            <a:sym typeface="Symbol"/>
                          </a:rPr>
                          <m:t>𝐓</m:t>
                        </m:r>
                        <m:r>
                          <a:rPr lang="es-MX" sz="3200" b="1" baseline="-25000">
                            <a:solidFill>
                              <a:srgbClr val="008000"/>
                            </a:solidFill>
                            <a:latin typeface="Cambria Math"/>
                            <a:sym typeface="Symbol"/>
                          </a:rPr>
                          <m:t>𝟏</m:t>
                        </m:r>
                      </m:den>
                    </m:f>
                    <m:r>
                      <a:rPr lang="es-MX" sz="3200" b="1">
                        <a:solidFill>
                          <a:srgbClr val="008000"/>
                        </a:solidFill>
                        <a:latin typeface="Cambria Math"/>
                        <a:ea typeface="Cambria Math"/>
                        <a:sym typeface="Symbol"/>
                      </a:rPr>
                      <m:t>=</m:t>
                    </m:r>
                    <m:f>
                      <m:fPr>
                        <m:ctrlPr>
                          <a:rPr lang="es-MX" sz="3200" b="1" i="1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  <a:ea typeface="Cambria Math"/>
                            <a:sym typeface="Symbol"/>
                          </a:rPr>
                        </m:ctrlPr>
                      </m:fPr>
                      <m:num>
                        <m:r>
                          <a:rPr lang="es-MX" sz="3200" b="1">
                            <a:solidFill>
                              <a:srgbClr val="008000"/>
                            </a:solidFill>
                            <a:latin typeface="Cambria Math"/>
                            <a:ea typeface="Cambria Math"/>
                            <a:sym typeface="Symbol"/>
                          </a:rPr>
                          <m:t>𝐕</m:t>
                        </m:r>
                        <m:r>
                          <a:rPr lang="es-MX" sz="3200" b="1" baseline="-25000">
                            <a:solidFill>
                              <a:srgbClr val="008000"/>
                            </a:solidFill>
                            <a:latin typeface="Cambria Math"/>
                            <a:ea typeface="Cambria Math"/>
                            <a:sym typeface="Symbol"/>
                          </a:rPr>
                          <m:t>𝟐</m:t>
                        </m:r>
                      </m:num>
                      <m:den>
                        <m:r>
                          <a:rPr lang="es-MX" sz="3200" b="1">
                            <a:solidFill>
                              <a:srgbClr val="008000"/>
                            </a:solidFill>
                            <a:latin typeface="Cambria Math"/>
                            <a:ea typeface="Cambria Math"/>
                            <a:sym typeface="Symbol"/>
                          </a:rPr>
                          <m:t>𝐓</m:t>
                        </m:r>
                        <m:r>
                          <a:rPr lang="es-MX" sz="3200" b="1" baseline="-25000">
                            <a:solidFill>
                              <a:srgbClr val="008000"/>
                            </a:solidFill>
                            <a:latin typeface="Cambria Math"/>
                            <a:ea typeface="Cambria Math"/>
                            <a:sym typeface="Symbol"/>
                          </a:rPr>
                          <m:t>𝟐</m:t>
                        </m:r>
                      </m:den>
                    </m:f>
                  </m:oMath>
                </a14:m>
                <a:r>
                  <a:rPr lang="es-MX" sz="3200" b="1" i="1" dirty="0">
                    <a:solidFill>
                      <a:srgbClr val="008000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	</a:t>
                </a:r>
                <a:r>
                  <a:rPr lang="es-MX" sz="2000" b="1" dirty="0">
                    <a:solidFill>
                      <a:srgbClr val="008000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(dilatación isóbara)</a:t>
                </a:r>
              </a:p>
              <a:p>
                <a:pPr algn="just">
                  <a:lnSpc>
                    <a:spcPct val="150000"/>
                  </a:lnSpc>
                </a:pPr>
                <a:endParaRPr lang="es-MX" sz="2000" dirty="0"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</mc:Choice>
        <mc:Fallback xmlns="">
          <p:sp>
            <p:nvSpPr>
              <p:cNvPr id="7" name="4 Subtítulo">
                <a:extLst>
                  <a:ext uri="{FF2B5EF4-FFF2-40B4-BE49-F238E27FC236}">
                    <a16:creationId xmlns:a16="http://schemas.microsoft.com/office/drawing/2014/main" id="{F0C4C8DC-1A87-F040-9416-723C78A62B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227259"/>
                <a:ext cx="9002208" cy="5305440"/>
              </a:xfrm>
              <a:prstGeom prst="rect">
                <a:avLst/>
              </a:prstGeom>
              <a:blipFill>
                <a:blip r:embed="rId3"/>
                <a:stretch>
                  <a:fillRect l="-704" r="-563" b="-1980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3215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20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8" name="14 Rectángulo">
            <a:extLst>
              <a:ext uri="{FF2B5EF4-FFF2-40B4-BE49-F238E27FC236}">
                <a16:creationId xmlns:a16="http://schemas.microsoft.com/office/drawing/2014/main" id="{E63DFA06-77F9-014E-83C5-AABF0525A3A9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4 Subtítulo">
                <a:extLst>
                  <a:ext uri="{FF2B5EF4-FFF2-40B4-BE49-F238E27FC236}">
                    <a16:creationId xmlns:a16="http://schemas.microsoft.com/office/drawing/2014/main" id="{43FC1C11-EF8C-B843-800D-8B718CC9B7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4736" y="298974"/>
                <a:ext cx="10105262" cy="6243923"/>
              </a:xfrm>
              <a:prstGeom prst="rect">
                <a:avLst/>
              </a:prstGeom>
            </p:spPr>
            <p:txBody>
              <a:bodyPr spcFirstLastPara="1" vert="horz" wrap="square" lIns="91425" tIns="91425" rIns="91425" bIns="91425" rtlCol="0" anchor="t" anchorCtr="0">
                <a:normAutofit lnSpcReduction="10000"/>
              </a:bodyPr>
              <a:lstStyle>
                <a:lvl1pPr marL="609585" lvl="0" indent="-474121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▸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219170" lvl="1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▹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28754" lvl="2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▹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438339" lvl="3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●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47924" lvl="4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○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657509" lvl="5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■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267093" lvl="6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●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876678" lvl="7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○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486263" lvl="8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■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35464" indent="0" algn="just">
                  <a:lnSpc>
                    <a:spcPct val="150000"/>
                  </a:lnSpc>
                  <a:buNone/>
                </a:pPr>
                <a:r>
                  <a:rPr lang="es-MX" sz="2000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Análogamente, la P varía de la misma manera con la temperatura a V constante.</a:t>
                </a:r>
              </a:p>
              <a:p>
                <a:pPr marL="135464" indent="0" algn="ctr">
                  <a:lnSpc>
                    <a:spcPct val="150000"/>
                  </a:lnSpc>
                  <a:buNone/>
                </a:pPr>
                <a:r>
                  <a:rPr lang="es-MX" sz="2000" b="1" dirty="0">
                    <a:solidFill>
                      <a:srgbClr val="008000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P = P</a:t>
                </a:r>
                <a:r>
                  <a:rPr lang="es-MX" sz="2000" b="1" baseline="-25000" dirty="0">
                    <a:solidFill>
                      <a:srgbClr val="008000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o</a:t>
                </a:r>
                <a:r>
                  <a:rPr lang="es-MX" sz="2000" b="1" dirty="0">
                    <a:solidFill>
                      <a:srgbClr val="008000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 (1 + </a:t>
                </a:r>
                <a:r>
                  <a:rPr lang="es-MX" sz="2000" b="1" dirty="0">
                    <a:solidFill>
                      <a:srgbClr val="008000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  <a:sym typeface="Symbol"/>
                  </a:rPr>
                  <a:t> T)</a:t>
                </a:r>
              </a:p>
              <a:p>
                <a:pPr marL="135464" indent="0"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s-MX" sz="2000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  <a:sym typeface="Symbol"/>
                  </a:rPr>
                  <a:t>Siendo</a:t>
                </a:r>
              </a:p>
              <a:p>
                <a:pPr marL="135464" indent="0"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s-MX" sz="2000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  <a:sym typeface="Symbol"/>
                  </a:rPr>
                  <a:t>          P = presión a la temperatura T (en K)</a:t>
                </a:r>
              </a:p>
              <a:p>
                <a:pPr marL="135464" indent="0"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s-MX" sz="2000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  <a:sym typeface="Symbol"/>
                  </a:rPr>
                  <a:t>          P</a:t>
                </a:r>
                <a:r>
                  <a:rPr lang="es-MX" sz="2000" baseline="-25000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  <a:sym typeface="Symbol"/>
                  </a:rPr>
                  <a:t>o</a:t>
                </a:r>
                <a:r>
                  <a:rPr lang="es-MX" sz="2000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  <a:sym typeface="Symbol"/>
                  </a:rPr>
                  <a:t> = presión a la temperatura T</a:t>
                </a:r>
                <a:r>
                  <a:rPr lang="es-MX" sz="2000" baseline="-25000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  <a:sym typeface="Symbol"/>
                  </a:rPr>
                  <a:t>o</a:t>
                </a:r>
                <a:r>
                  <a:rPr lang="es-MX" sz="2000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  <a:sym typeface="Symbol"/>
                  </a:rPr>
                  <a:t> (en K)</a:t>
                </a:r>
              </a:p>
              <a:p>
                <a:pPr marL="135464" indent="0"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s-MX" sz="2000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  <a:sym typeface="Symbol"/>
                  </a:rPr>
                  <a:t>           =  = 1/273</a:t>
                </a:r>
              </a:p>
              <a:p>
                <a:pPr algn="just"/>
                <a:endParaRPr lang="es-MX" sz="2000" dirty="0">
                  <a:latin typeface="Lucida Sans Unicode" panose="020B0602030504020204" pitchFamily="34" charset="0"/>
                  <a:cs typeface="Lucida Sans Unicode" panose="020B0602030504020204" pitchFamily="34" charset="0"/>
                  <a:sym typeface="Symbol"/>
                </a:endParaRPr>
              </a:p>
              <a:p>
                <a:pPr marL="135464" indent="0" algn="ctr">
                  <a:buNone/>
                </a:pPr>
                <a:r>
                  <a:rPr lang="es-MX" b="1" dirty="0">
                    <a:solidFill>
                      <a:srgbClr val="008000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  <a:sym typeface="Symbol"/>
                  </a:rPr>
                  <a:t>Ecuación reducida :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MX" b="1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  <a:ea typeface="Cambria Math"/>
                            <a:sym typeface="Symbol"/>
                          </a:rPr>
                        </m:ctrlPr>
                      </m:fPr>
                      <m:num>
                        <m:r>
                          <a:rPr lang="es-ES" b="1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  <a:ea typeface="Cambria Math"/>
                            <a:sym typeface="Symbol"/>
                          </a:rPr>
                          <m:t>𝑷</m:t>
                        </m:r>
                        <m:r>
                          <a:rPr lang="es-MX" b="1" i="1" baseline="-25000" smtClean="0">
                            <a:solidFill>
                              <a:srgbClr val="008000"/>
                            </a:solidFill>
                            <a:latin typeface="Cambria Math"/>
                            <a:ea typeface="Cambria Math"/>
                            <a:sym typeface="Symbol"/>
                          </a:rPr>
                          <m:t>𝟏</m:t>
                        </m:r>
                      </m:num>
                      <m:den>
                        <m:r>
                          <a:rPr lang="es-MX" b="1" i="0" smtClean="0">
                            <a:solidFill>
                              <a:srgbClr val="008000"/>
                            </a:solidFill>
                            <a:latin typeface="Cambria Math"/>
                            <a:ea typeface="Cambria Math"/>
                            <a:sym typeface="Symbol"/>
                          </a:rPr>
                          <m:t>𝐓</m:t>
                        </m:r>
                        <m:r>
                          <a:rPr lang="es-MX" b="1" i="0" baseline="-25000" smtClean="0">
                            <a:solidFill>
                              <a:srgbClr val="008000"/>
                            </a:solidFill>
                            <a:latin typeface="Cambria Math"/>
                            <a:ea typeface="Cambria Math"/>
                            <a:sym typeface="Symbol"/>
                          </a:rPr>
                          <m:t>𝟏</m:t>
                        </m:r>
                      </m:den>
                    </m:f>
                    <m:r>
                      <a:rPr lang="es-MX" b="1" i="1" smtClean="0">
                        <a:solidFill>
                          <a:srgbClr val="008000"/>
                        </a:solidFill>
                        <a:latin typeface="Cambria Math"/>
                        <a:ea typeface="Cambria Math"/>
                        <a:sym typeface="Symbol"/>
                      </a:rPr>
                      <m:t>=</m:t>
                    </m:r>
                    <m:f>
                      <m:fPr>
                        <m:ctrlPr>
                          <a:rPr lang="es-MX" b="1" i="1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  <a:ea typeface="Cambria Math"/>
                            <a:sym typeface="Symbol"/>
                          </a:rPr>
                        </m:ctrlPr>
                      </m:fPr>
                      <m:num>
                        <m:r>
                          <a:rPr lang="es-ES" b="1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  <a:ea typeface="Cambria Math"/>
                            <a:sym typeface="Symbol"/>
                          </a:rPr>
                          <m:t>𝑷</m:t>
                        </m:r>
                        <m:r>
                          <a:rPr lang="es-MX" b="1" i="1" baseline="-25000" smtClean="0">
                            <a:solidFill>
                              <a:srgbClr val="008000"/>
                            </a:solidFill>
                            <a:latin typeface="Cambria Math"/>
                            <a:ea typeface="Cambria Math"/>
                            <a:sym typeface="Symbol"/>
                          </a:rPr>
                          <m:t>𝟐</m:t>
                        </m:r>
                      </m:num>
                      <m:den>
                        <m:r>
                          <a:rPr lang="es-MX" b="1" i="1" smtClean="0">
                            <a:solidFill>
                              <a:srgbClr val="008000"/>
                            </a:solidFill>
                            <a:latin typeface="Cambria Math"/>
                            <a:ea typeface="Cambria Math"/>
                            <a:sym typeface="Symbol"/>
                          </a:rPr>
                          <m:t>𝑻</m:t>
                        </m:r>
                        <m:r>
                          <a:rPr lang="es-MX" b="1" i="1" baseline="-25000" smtClean="0">
                            <a:solidFill>
                              <a:srgbClr val="008000"/>
                            </a:solidFill>
                            <a:latin typeface="Cambria Math"/>
                            <a:ea typeface="Cambria Math"/>
                            <a:sym typeface="Symbol"/>
                          </a:rPr>
                          <m:t>𝟐</m:t>
                        </m:r>
                      </m:den>
                    </m:f>
                  </m:oMath>
                </a14:m>
                <a:r>
                  <a:rPr lang="es-MX" i="1" dirty="0">
                    <a:solidFill>
                      <a:srgbClr val="008000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	</a:t>
                </a:r>
                <a:r>
                  <a:rPr lang="es-MX" dirty="0">
                    <a:solidFill>
                      <a:srgbClr val="008000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(dilatación isócora)</a:t>
                </a:r>
              </a:p>
              <a:p>
                <a:pPr algn="just"/>
                <a:endParaRPr lang="es-MX" dirty="0"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  <a:p>
                <a:pPr marL="135464" indent="0" algn="just">
                  <a:lnSpc>
                    <a:spcPct val="150000"/>
                  </a:lnSpc>
                  <a:buNone/>
                </a:pPr>
                <a:r>
                  <a:rPr lang="es-MX" sz="2000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La Ley de Gay-Lussac dice que la presión de cierta masa de gas es directamente proporcional a la temperatura absoluta, cuando el volumen es constante.</a:t>
                </a:r>
              </a:p>
            </p:txBody>
          </p:sp>
        </mc:Choice>
        <mc:Fallback xmlns="">
          <p:sp>
            <p:nvSpPr>
              <p:cNvPr id="7" name="4 Subtítulo">
                <a:extLst>
                  <a:ext uri="{FF2B5EF4-FFF2-40B4-BE49-F238E27FC236}">
                    <a16:creationId xmlns:a16="http://schemas.microsoft.com/office/drawing/2014/main" id="{43FC1C11-EF8C-B843-800D-8B718CC9B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736" y="298974"/>
                <a:ext cx="10105262" cy="6243923"/>
              </a:xfrm>
              <a:prstGeom prst="rect">
                <a:avLst/>
              </a:prstGeom>
              <a:blipFill>
                <a:blip r:embed="rId3"/>
                <a:stretch>
                  <a:fillRect r="-663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75449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21</a:t>
            </a:fld>
            <a:endParaRPr lang="es-CL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A5B10B2-2873-5F4D-B732-D2A589EE09C6}"/>
              </a:ext>
            </a:extLst>
          </p:cNvPr>
          <p:cNvSpPr txBox="1"/>
          <p:nvPr/>
        </p:nvSpPr>
        <p:spPr>
          <a:xfrm>
            <a:off x="2027436" y="2931560"/>
            <a:ext cx="77809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Ejercicios</a:t>
            </a:r>
          </a:p>
        </p:txBody>
      </p:sp>
      <p:grpSp>
        <p:nvGrpSpPr>
          <p:cNvPr id="4" name="Shape 257">
            <a:extLst>
              <a:ext uri="{FF2B5EF4-FFF2-40B4-BE49-F238E27FC236}">
                <a16:creationId xmlns:a16="http://schemas.microsoft.com/office/drawing/2014/main" id="{04B9F9FE-CAD3-B543-8CDF-E1698D657268}"/>
              </a:ext>
            </a:extLst>
          </p:cNvPr>
          <p:cNvGrpSpPr/>
          <p:nvPr/>
        </p:nvGrpSpPr>
        <p:grpSpPr>
          <a:xfrm>
            <a:off x="5125820" y="1447365"/>
            <a:ext cx="1171845" cy="1045591"/>
            <a:chOff x="5233525" y="4954450"/>
            <a:chExt cx="538275" cy="516350"/>
          </a:xfrm>
        </p:grpSpPr>
        <p:sp>
          <p:nvSpPr>
            <p:cNvPr id="5" name="Shape 258">
              <a:extLst>
                <a:ext uri="{FF2B5EF4-FFF2-40B4-BE49-F238E27FC236}">
                  <a16:creationId xmlns:a16="http://schemas.microsoft.com/office/drawing/2014/main" id="{3E8DF75F-16CC-044D-B3EB-21E22FDE5D71}"/>
                </a:ext>
              </a:extLst>
            </p:cNvPr>
            <p:cNvSpPr/>
            <p:nvPr/>
          </p:nvSpPr>
          <p:spPr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" name="Shape 259">
              <a:extLst>
                <a:ext uri="{FF2B5EF4-FFF2-40B4-BE49-F238E27FC236}">
                  <a16:creationId xmlns:a16="http://schemas.microsoft.com/office/drawing/2014/main" id="{00E51DBF-8113-B84A-A35D-3F18272B4179}"/>
                </a:ext>
              </a:extLst>
            </p:cNvPr>
            <p:cNvSpPr/>
            <p:nvPr/>
          </p:nvSpPr>
          <p:spPr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0" t="0" r="0" b="0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" name="Shape 260">
              <a:extLst>
                <a:ext uri="{FF2B5EF4-FFF2-40B4-BE49-F238E27FC236}">
                  <a16:creationId xmlns:a16="http://schemas.microsoft.com/office/drawing/2014/main" id="{05CBC384-9B02-6C47-A556-79B0CE94ACE9}"/>
                </a:ext>
              </a:extLst>
            </p:cNvPr>
            <p:cNvSpPr/>
            <p:nvPr/>
          </p:nvSpPr>
          <p:spPr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" name="Shape 261">
              <a:extLst>
                <a:ext uri="{FF2B5EF4-FFF2-40B4-BE49-F238E27FC236}">
                  <a16:creationId xmlns:a16="http://schemas.microsoft.com/office/drawing/2014/main" id="{7CB79486-E909-DD4B-8865-6C314698F68D}"/>
                </a:ext>
              </a:extLst>
            </p:cNvPr>
            <p:cNvSpPr/>
            <p:nvPr/>
          </p:nvSpPr>
          <p:spPr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0" t="0" r="0" b="0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Shape 262">
              <a:extLst>
                <a:ext uri="{FF2B5EF4-FFF2-40B4-BE49-F238E27FC236}">
                  <a16:creationId xmlns:a16="http://schemas.microsoft.com/office/drawing/2014/main" id="{BAF265E0-CBE6-4040-907F-05F1F377C216}"/>
                </a:ext>
              </a:extLst>
            </p:cNvPr>
            <p:cNvSpPr/>
            <p:nvPr/>
          </p:nvSpPr>
          <p:spPr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0" t="0" r="0" b="0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Shape 263">
              <a:extLst>
                <a:ext uri="{FF2B5EF4-FFF2-40B4-BE49-F238E27FC236}">
                  <a16:creationId xmlns:a16="http://schemas.microsoft.com/office/drawing/2014/main" id="{86187FDB-D2A0-B342-A64D-09F3799BCEDF}"/>
                </a:ext>
              </a:extLst>
            </p:cNvPr>
            <p:cNvSpPr/>
            <p:nvPr/>
          </p:nvSpPr>
          <p:spPr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0" t="0" r="0" b="0"/>
              <a:pathLst>
                <a:path w="7551" h="7576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" name="Shape 264">
              <a:extLst>
                <a:ext uri="{FF2B5EF4-FFF2-40B4-BE49-F238E27FC236}">
                  <a16:creationId xmlns:a16="http://schemas.microsoft.com/office/drawing/2014/main" id="{82924474-FA90-8C42-A57C-5842FE291D36}"/>
                </a:ext>
              </a:extLst>
            </p:cNvPr>
            <p:cNvSpPr/>
            <p:nvPr/>
          </p:nvSpPr>
          <p:spPr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0" t="0" r="0" b="0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" name="Shape 265">
              <a:extLst>
                <a:ext uri="{FF2B5EF4-FFF2-40B4-BE49-F238E27FC236}">
                  <a16:creationId xmlns:a16="http://schemas.microsoft.com/office/drawing/2014/main" id="{D426B43C-121B-804D-A231-BA36FA3616A2}"/>
                </a:ext>
              </a:extLst>
            </p:cNvPr>
            <p:cNvSpPr/>
            <p:nvPr/>
          </p:nvSpPr>
          <p:spPr>
            <a:xfrm>
              <a:off x="5567800" y="4999500"/>
              <a:ext cx="115100" cy="133975"/>
            </a:xfrm>
            <a:custGeom>
              <a:avLst/>
              <a:gdLst/>
              <a:ahLst/>
              <a:cxnLst/>
              <a:rect l="0" t="0" r="0" b="0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" name="Shape 266">
              <a:extLst>
                <a:ext uri="{FF2B5EF4-FFF2-40B4-BE49-F238E27FC236}">
                  <a16:creationId xmlns:a16="http://schemas.microsoft.com/office/drawing/2014/main" id="{00D2FF67-53FB-234F-B3A8-8CFDF5C33ECF}"/>
                </a:ext>
              </a:extLst>
            </p:cNvPr>
            <p:cNvSpPr/>
            <p:nvPr/>
          </p:nvSpPr>
          <p:spPr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0" t="0" r="0" b="0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" name="Shape 267">
              <a:extLst>
                <a:ext uri="{FF2B5EF4-FFF2-40B4-BE49-F238E27FC236}">
                  <a16:creationId xmlns:a16="http://schemas.microsoft.com/office/drawing/2014/main" id="{3F48E860-50C8-9B4E-B0BD-C55D0C2FE270}"/>
                </a:ext>
              </a:extLst>
            </p:cNvPr>
            <p:cNvSpPr/>
            <p:nvPr/>
          </p:nvSpPr>
          <p:spPr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0" t="0" r="0" b="0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" name="Shape 268">
              <a:extLst>
                <a:ext uri="{FF2B5EF4-FFF2-40B4-BE49-F238E27FC236}">
                  <a16:creationId xmlns:a16="http://schemas.microsoft.com/office/drawing/2014/main" id="{AC1A6B39-DB16-724E-A189-8011253BEA2F}"/>
                </a:ext>
              </a:extLst>
            </p:cNvPr>
            <p:cNvSpPr/>
            <p:nvPr/>
          </p:nvSpPr>
          <p:spPr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0" t="0" r="0" b="0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5B8DDD4-2C36-AA4E-9E46-E55CBAA0C24A}"/>
              </a:ext>
            </a:extLst>
          </p:cNvPr>
          <p:cNvSpPr txBox="1"/>
          <p:nvPr/>
        </p:nvSpPr>
        <p:spPr>
          <a:xfrm>
            <a:off x="3895870" y="5365948"/>
            <a:ext cx="82961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1. Teoría de Gases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A47E410-6910-5442-9C5D-4740EC514D3F}"/>
              </a:ext>
            </a:extLst>
          </p:cNvPr>
          <p:cNvSpPr txBox="1"/>
          <p:nvPr/>
        </p:nvSpPr>
        <p:spPr>
          <a:xfrm>
            <a:off x="308345" y="224147"/>
            <a:ext cx="70332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2</a:t>
            </a:r>
          </a:p>
        </p:txBody>
      </p:sp>
    </p:spTree>
    <p:extLst>
      <p:ext uri="{BB962C8B-B14F-4D97-AF65-F5344CB8AC3E}">
        <p14:creationId xmlns:p14="http://schemas.microsoft.com/office/powerpoint/2010/main" val="31892655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22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chemeClr val="accent5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id="{7256655D-8FF9-AE4B-9933-13E86B5B1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58907"/>
            <a:ext cx="8856599" cy="1438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altLang="es-CL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4.- 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Una muestra de gas de monóxido de carbono ocupa 3.20 L a 125 °C. ¿A qué temperatura el gas ocupará un volumen de 1.54 L si la presión permanece constante? </a:t>
            </a:r>
          </a:p>
        </p:txBody>
      </p:sp>
      <p:sp>
        <p:nvSpPr>
          <p:cNvPr id="47" name="1 Título">
            <a:extLst>
              <a:ext uri="{FF2B5EF4-FFF2-40B4-BE49-F238E27FC236}">
                <a16:creationId xmlns:a16="http://schemas.microsoft.com/office/drawing/2014/main" id="{647FCD9C-84DC-1A41-A8CF-2A4034281299}"/>
              </a:ext>
            </a:extLst>
          </p:cNvPr>
          <p:cNvSpPr txBox="1">
            <a:spLocks/>
          </p:cNvSpPr>
          <p:nvPr/>
        </p:nvSpPr>
        <p:spPr>
          <a:xfrm>
            <a:off x="1552575" y="617538"/>
            <a:ext cx="7553325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600" kern="1200" spc="-1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endParaRPr lang="es-CL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" name="6 Rectángulo">
            <a:extLst>
              <a:ext uri="{FF2B5EF4-FFF2-40B4-BE49-F238E27FC236}">
                <a16:creationId xmlns:a16="http://schemas.microsoft.com/office/drawing/2014/main" id="{925730EF-5506-AE49-BA4E-55F2E3C4638D}"/>
              </a:ext>
            </a:extLst>
          </p:cNvPr>
          <p:cNvSpPr/>
          <p:nvPr/>
        </p:nvSpPr>
        <p:spPr>
          <a:xfrm>
            <a:off x="1257300" y="1790700"/>
            <a:ext cx="8015288" cy="51816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CL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9719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23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chemeClr val="accent5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id="{7256655D-8FF9-AE4B-9933-13E86B5B1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58907"/>
            <a:ext cx="8856599" cy="1438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altLang="es-CL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4.- 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Una muestra de gas de monóxido de carbono ocupa 3.20 L a 125 °C. ¿A qué temperatura el gas ocupará un volumen de 1.54 L si la presión permanece constante? </a:t>
            </a:r>
          </a:p>
        </p:txBody>
      </p:sp>
      <p:grpSp>
        <p:nvGrpSpPr>
          <p:cNvPr id="25" name="Group 4">
            <a:extLst>
              <a:ext uri="{FF2B5EF4-FFF2-40B4-BE49-F238E27FC236}">
                <a16:creationId xmlns:a16="http://schemas.microsoft.com/office/drawing/2014/main" id="{3110B0E9-A253-9344-8F4C-DFB15FB6A347}"/>
              </a:ext>
            </a:extLst>
          </p:cNvPr>
          <p:cNvGrpSpPr>
            <a:grpSpLocks/>
          </p:cNvGrpSpPr>
          <p:nvPr/>
        </p:nvGrpSpPr>
        <p:grpSpPr bwMode="auto">
          <a:xfrm>
            <a:off x="1601787" y="4760911"/>
            <a:ext cx="7504113" cy="1057274"/>
            <a:chOff x="480" y="2856"/>
            <a:chExt cx="4727" cy="666"/>
          </a:xfrm>
        </p:grpSpPr>
        <p:sp>
          <p:nvSpPr>
            <p:cNvPr id="26" name="Text Box 5">
              <a:extLst>
                <a:ext uri="{FF2B5EF4-FFF2-40B4-BE49-F238E27FC236}">
                  <a16:creationId xmlns:a16="http://schemas.microsoft.com/office/drawing/2014/main" id="{120F0AE9-E041-094F-8017-A5B98DD567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3017"/>
              <a:ext cx="67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1B587C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4E854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s-CL" sz="2800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T</a:t>
              </a:r>
              <a:r>
                <a:rPr lang="en-US" altLang="es-CL" sz="2800" baseline="-2500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2</a:t>
              </a:r>
              <a:r>
                <a:rPr lang="en-US" altLang="es-CL" sz="280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 = </a:t>
              </a:r>
              <a:endParaRPr lang="en-US" altLang="es-CL" sz="2800" i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grpSp>
          <p:nvGrpSpPr>
            <p:cNvPr id="27" name="Group 6">
              <a:extLst>
                <a:ext uri="{FF2B5EF4-FFF2-40B4-BE49-F238E27FC236}">
                  <a16:creationId xmlns:a16="http://schemas.microsoft.com/office/drawing/2014/main" id="{E3882FA5-10B5-5343-BA5E-F50826CD8B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5" y="2856"/>
              <a:ext cx="879" cy="666"/>
              <a:chOff x="1507" y="2928"/>
              <a:chExt cx="879" cy="666"/>
            </a:xfrm>
          </p:grpSpPr>
          <p:sp>
            <p:nvSpPr>
              <p:cNvPr id="37" name="Text Box 7">
                <a:extLst>
                  <a:ext uri="{FF2B5EF4-FFF2-40B4-BE49-F238E27FC236}">
                    <a16:creationId xmlns:a16="http://schemas.microsoft.com/office/drawing/2014/main" id="{56694C2B-B210-4E4F-BFC0-93FE3C9A36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07" y="2928"/>
                <a:ext cx="87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1B587C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4E854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604878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604878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604878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604878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604878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s-CL" sz="2800" i="1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V</a:t>
                </a:r>
                <a:r>
                  <a:rPr lang="en-US" altLang="es-CL" sz="2800" baseline="-2500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2</a:t>
                </a:r>
                <a:r>
                  <a:rPr lang="en-US" altLang="es-CL" sz="280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 x </a:t>
                </a:r>
                <a:r>
                  <a:rPr lang="en-US" altLang="es-CL" sz="2800" i="1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T</a:t>
                </a:r>
                <a:r>
                  <a:rPr lang="en-US" altLang="es-CL" sz="2800" baseline="-2500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1</a:t>
                </a:r>
                <a:endParaRPr lang="en-US" altLang="es-CL" sz="2800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  <p:sp>
            <p:nvSpPr>
              <p:cNvPr id="38" name="Line 8">
                <a:extLst>
                  <a:ext uri="{FF2B5EF4-FFF2-40B4-BE49-F238E27FC236}">
                    <a16:creationId xmlns:a16="http://schemas.microsoft.com/office/drawing/2014/main" id="{7652705C-9F73-A349-B4DB-EC59D24BD0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6" y="3259"/>
                <a:ext cx="72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_tradn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  <p:sp>
            <p:nvSpPr>
              <p:cNvPr id="39" name="Text Box 9">
                <a:extLst>
                  <a:ext uri="{FF2B5EF4-FFF2-40B4-BE49-F238E27FC236}">
                    <a16:creationId xmlns:a16="http://schemas.microsoft.com/office/drawing/2014/main" id="{8F77CA9C-D065-E84A-8290-AB3D2144A2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67" y="3264"/>
                <a:ext cx="35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1B587C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4E854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604878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604878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604878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604878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604878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s-CL" sz="2800" i="1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V</a:t>
                </a:r>
                <a:r>
                  <a:rPr lang="en-US" altLang="es-CL" sz="2800" baseline="-2500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1</a:t>
                </a:r>
                <a:endParaRPr lang="en-US" altLang="es-CL" sz="2800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</p:grpSp>
        <p:grpSp>
          <p:nvGrpSpPr>
            <p:cNvPr id="29" name="Group 10">
              <a:extLst>
                <a:ext uri="{FF2B5EF4-FFF2-40B4-BE49-F238E27FC236}">
                  <a16:creationId xmlns:a16="http://schemas.microsoft.com/office/drawing/2014/main" id="{C15DBC83-7E2E-4544-A55C-4893890A72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4" y="2896"/>
              <a:ext cx="2436" cy="586"/>
              <a:chOff x="2024" y="2896"/>
              <a:chExt cx="2436" cy="586"/>
            </a:xfrm>
          </p:grpSpPr>
          <p:sp>
            <p:nvSpPr>
              <p:cNvPr id="33" name="Text Box 11">
                <a:extLst>
                  <a:ext uri="{FF2B5EF4-FFF2-40B4-BE49-F238E27FC236}">
                    <a16:creationId xmlns:a16="http://schemas.microsoft.com/office/drawing/2014/main" id="{270C8332-8477-A04D-A2E0-1CD857D428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7" y="2896"/>
                <a:ext cx="2100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1B587C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4E854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604878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604878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604878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604878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604878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s-CL" sz="280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1.54 L x 398.15 K</a:t>
                </a:r>
              </a:p>
            </p:txBody>
          </p:sp>
          <p:sp>
            <p:nvSpPr>
              <p:cNvPr id="34" name="Line 12">
                <a:extLst>
                  <a:ext uri="{FF2B5EF4-FFF2-40B4-BE49-F238E27FC236}">
                    <a16:creationId xmlns:a16="http://schemas.microsoft.com/office/drawing/2014/main" id="{0ABE5DA9-C12B-F446-8FE7-4AFBA2DC69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48" y="3188"/>
                <a:ext cx="21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_tradn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  <p:sp>
            <p:nvSpPr>
              <p:cNvPr id="35" name="Text Box 13">
                <a:extLst>
                  <a:ext uri="{FF2B5EF4-FFF2-40B4-BE49-F238E27FC236}">
                    <a16:creationId xmlns:a16="http://schemas.microsoft.com/office/drawing/2014/main" id="{0F749AE2-5B3C-9B46-B312-E973319DE2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00" y="3152"/>
                <a:ext cx="810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1B587C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4E854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604878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604878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604878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604878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604878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s-CL" sz="280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3.20 L</a:t>
                </a:r>
              </a:p>
            </p:txBody>
          </p:sp>
          <p:sp>
            <p:nvSpPr>
              <p:cNvPr id="36" name="Text Box 14">
                <a:extLst>
                  <a:ext uri="{FF2B5EF4-FFF2-40B4-BE49-F238E27FC236}">
                    <a16:creationId xmlns:a16="http://schemas.microsoft.com/office/drawing/2014/main" id="{64A38F61-F231-734C-B4FC-4FDF40D30F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24" y="3017"/>
                <a:ext cx="296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1B587C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4E854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604878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604878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604878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604878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604878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s-CL" sz="280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=</a:t>
                </a:r>
              </a:p>
            </p:txBody>
          </p:sp>
        </p:grpSp>
        <p:sp>
          <p:nvSpPr>
            <p:cNvPr id="30" name="Text Box 15">
              <a:extLst>
                <a:ext uri="{FF2B5EF4-FFF2-40B4-BE49-F238E27FC236}">
                  <a16:creationId xmlns:a16="http://schemas.microsoft.com/office/drawing/2014/main" id="{9A016D4E-4445-CB40-81C5-1191A0054D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0" y="3017"/>
              <a:ext cx="101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1B587C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4E854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s-CL" sz="280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= 192 K</a:t>
              </a:r>
            </a:p>
          </p:txBody>
        </p:sp>
        <p:sp>
          <p:nvSpPr>
            <p:cNvPr id="31" name="Line 16">
              <a:extLst>
                <a:ext uri="{FF2B5EF4-FFF2-40B4-BE49-F238E27FC236}">
                  <a16:creationId xmlns:a16="http://schemas.microsoft.com/office/drawing/2014/main" id="{DDA30EE8-8718-5D4C-9A26-ED562ED892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98" y="3024"/>
              <a:ext cx="288" cy="14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ES_tradnl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32" name="Line 17">
              <a:extLst>
                <a:ext uri="{FF2B5EF4-FFF2-40B4-BE49-F238E27FC236}">
                  <a16:creationId xmlns:a16="http://schemas.microsoft.com/office/drawing/2014/main" id="{BCEC4388-C179-E94F-AC20-4562F69FE6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74" y="3272"/>
              <a:ext cx="288" cy="14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ES_tradnl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</p:grpSp>
      <p:sp>
        <p:nvSpPr>
          <p:cNvPr id="40" name="Text Box 19">
            <a:extLst>
              <a:ext uri="{FF2B5EF4-FFF2-40B4-BE49-F238E27FC236}">
                <a16:creationId xmlns:a16="http://schemas.microsoft.com/office/drawing/2014/main" id="{D0140BE1-DB18-F14A-9269-09F0C6129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7662" y="1825812"/>
            <a:ext cx="2605201" cy="52322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1B587C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4E854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es-CL" sz="28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V</a:t>
            </a:r>
            <a:r>
              <a:rPr lang="en-US" altLang="es-CL" sz="28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</a:t>
            </a:r>
            <a:r>
              <a:rPr lang="en-US" altLang="es-CL" sz="28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/T</a:t>
            </a:r>
            <a:r>
              <a:rPr lang="en-US" altLang="es-CL" sz="28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</a:t>
            </a:r>
            <a:r>
              <a:rPr lang="en-US" altLang="es-CL" sz="28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V</a:t>
            </a:r>
            <a:r>
              <a:rPr lang="en-US" altLang="es-CL" sz="28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n-US" altLang="es-CL" sz="28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/T</a:t>
            </a:r>
            <a:r>
              <a:rPr lang="en-US" altLang="es-CL" sz="28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endParaRPr lang="en-US" altLang="es-CL" sz="2800" b="1" dirty="0">
              <a:solidFill>
                <a:srgbClr val="00800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grpSp>
        <p:nvGrpSpPr>
          <p:cNvPr id="41" name="Group 20">
            <a:extLst>
              <a:ext uri="{FF2B5EF4-FFF2-40B4-BE49-F238E27FC236}">
                <a16:creationId xmlns:a16="http://schemas.microsoft.com/office/drawing/2014/main" id="{25BF0DC6-F971-4E40-A85E-D399A4D60B91}"/>
              </a:ext>
            </a:extLst>
          </p:cNvPr>
          <p:cNvGrpSpPr>
            <a:grpSpLocks/>
          </p:cNvGrpSpPr>
          <p:nvPr/>
        </p:nvGrpSpPr>
        <p:grpSpPr bwMode="auto">
          <a:xfrm>
            <a:off x="2405063" y="3128963"/>
            <a:ext cx="5784851" cy="1289050"/>
            <a:chOff x="986" y="1828"/>
            <a:chExt cx="3644" cy="812"/>
          </a:xfrm>
        </p:grpSpPr>
        <p:sp>
          <p:nvSpPr>
            <p:cNvPr id="42" name="Text Box 21">
              <a:extLst>
                <a:ext uri="{FF2B5EF4-FFF2-40B4-BE49-F238E27FC236}">
                  <a16:creationId xmlns:a16="http://schemas.microsoft.com/office/drawing/2014/main" id="{8107AFD6-A525-204B-97DF-C4C8D215B7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0" y="1828"/>
              <a:ext cx="137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1B587C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4E854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s-CL" sz="2800" i="1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V</a:t>
              </a:r>
              <a:r>
                <a:rPr lang="en-US" altLang="es-CL" sz="2800" baseline="-25000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1</a:t>
              </a:r>
              <a:r>
                <a:rPr lang="en-US" altLang="es-CL" sz="2800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 = 3.20 L</a:t>
              </a:r>
              <a:endParaRPr lang="en-US" altLang="es-CL" sz="28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43" name="Text Box 22">
              <a:extLst>
                <a:ext uri="{FF2B5EF4-FFF2-40B4-BE49-F238E27FC236}">
                  <a16:creationId xmlns:a16="http://schemas.microsoft.com/office/drawing/2014/main" id="{0B0A8F6B-D8D7-534E-A0BB-93B45FABE2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6" y="2252"/>
              <a:ext cx="168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1B587C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4E854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s-CL" sz="2800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T</a:t>
              </a:r>
              <a:r>
                <a:rPr lang="en-US" altLang="es-CL" sz="2800" baseline="-2500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1</a:t>
              </a:r>
              <a:r>
                <a:rPr lang="en-US" altLang="es-CL" sz="280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 = 398.15 K</a:t>
              </a:r>
              <a:endParaRPr lang="en-US" altLang="es-CL" sz="2800" baseline="-2500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44" name="Text Box 23">
              <a:extLst>
                <a:ext uri="{FF2B5EF4-FFF2-40B4-BE49-F238E27FC236}">
                  <a16:creationId xmlns:a16="http://schemas.microsoft.com/office/drawing/2014/main" id="{CA10EA34-0E29-C74F-900A-94AD709C47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4" y="1829"/>
              <a:ext cx="137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1B587C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4E854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s-CL" sz="2800" i="1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V</a:t>
              </a:r>
              <a:r>
                <a:rPr lang="en-US" altLang="es-CL" sz="2800" baseline="-25000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2</a:t>
              </a:r>
              <a:r>
                <a:rPr lang="en-US" altLang="es-CL" sz="2800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 = 1.54 L</a:t>
              </a:r>
              <a:endParaRPr lang="en-US" altLang="es-CL" sz="28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45" name="Text Box 24">
              <a:extLst>
                <a:ext uri="{FF2B5EF4-FFF2-40B4-BE49-F238E27FC236}">
                  <a16:creationId xmlns:a16="http://schemas.microsoft.com/office/drawing/2014/main" id="{7CDC03D7-1E94-8C48-AB6A-AA8DCDD7FA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0" y="2253"/>
              <a:ext cx="77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1B587C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4E854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s-CL" sz="2800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T</a:t>
              </a:r>
              <a:r>
                <a:rPr lang="en-US" altLang="es-CL" sz="2800" baseline="-2500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2</a:t>
              </a:r>
              <a:r>
                <a:rPr lang="en-US" altLang="es-CL" sz="280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 = ?</a:t>
              </a:r>
              <a:endParaRPr lang="en-US" altLang="es-CL" sz="2800" baseline="-2500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46" name="Oval 25">
              <a:extLst>
                <a:ext uri="{FF2B5EF4-FFF2-40B4-BE49-F238E27FC236}">
                  <a16:creationId xmlns:a16="http://schemas.microsoft.com/office/drawing/2014/main" id="{836346BA-807A-5445-9216-5B6A9376C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160"/>
              <a:ext cx="384" cy="48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1B587C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4E854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s-CL" altLang="es-CL" sz="180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</p:grpSp>
      <p:sp>
        <p:nvSpPr>
          <p:cNvPr id="47" name="1 Título">
            <a:extLst>
              <a:ext uri="{FF2B5EF4-FFF2-40B4-BE49-F238E27FC236}">
                <a16:creationId xmlns:a16="http://schemas.microsoft.com/office/drawing/2014/main" id="{647FCD9C-84DC-1A41-A8CF-2A4034281299}"/>
              </a:ext>
            </a:extLst>
          </p:cNvPr>
          <p:cNvSpPr txBox="1">
            <a:spLocks/>
          </p:cNvSpPr>
          <p:nvPr/>
        </p:nvSpPr>
        <p:spPr>
          <a:xfrm>
            <a:off x="1552575" y="617538"/>
            <a:ext cx="7553325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600" kern="1200" spc="-1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endParaRPr lang="es-CL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" name="6 Rectángulo">
            <a:extLst>
              <a:ext uri="{FF2B5EF4-FFF2-40B4-BE49-F238E27FC236}">
                <a16:creationId xmlns:a16="http://schemas.microsoft.com/office/drawing/2014/main" id="{925730EF-5506-AE49-BA4E-55F2E3C4638D}"/>
              </a:ext>
            </a:extLst>
          </p:cNvPr>
          <p:cNvSpPr/>
          <p:nvPr/>
        </p:nvSpPr>
        <p:spPr>
          <a:xfrm>
            <a:off x="1257300" y="1790700"/>
            <a:ext cx="8015288" cy="51816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CL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23023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24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chemeClr val="accent5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id="{7256655D-8FF9-AE4B-9933-13E86B5B1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55" y="114308"/>
            <a:ext cx="9017565" cy="977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altLang="es-CL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5</a:t>
            </a:r>
            <a:r>
              <a:rPr lang="es-ES" alt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.- 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Se tiene un globo con 1.5 L de H</a:t>
            </a:r>
            <a:r>
              <a:rPr lang="es-ES" alt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a 25ºC ¿Cuál será su volumen a -78°C?</a:t>
            </a:r>
          </a:p>
        </p:txBody>
      </p:sp>
      <p:sp>
        <p:nvSpPr>
          <p:cNvPr id="17" name="7 Rectángulo">
            <a:extLst>
              <a:ext uri="{FF2B5EF4-FFF2-40B4-BE49-F238E27FC236}">
                <a16:creationId xmlns:a16="http://schemas.microsoft.com/office/drawing/2014/main" id="{86D03713-A3B4-5549-8129-0A38BC46E802}"/>
              </a:ext>
            </a:extLst>
          </p:cNvPr>
          <p:cNvSpPr/>
          <p:nvPr/>
        </p:nvSpPr>
        <p:spPr>
          <a:xfrm>
            <a:off x="685800" y="1809750"/>
            <a:ext cx="8610600" cy="44196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L" sz="280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3698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25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chemeClr val="accent5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id="{7256655D-8FF9-AE4B-9933-13E86B5B1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55" y="114308"/>
            <a:ext cx="9017565" cy="977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alt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5.- 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Se tiene un globo con 1.5 L de H2 a 25ºC ¿Cuál será su volumen a -78°C?</a:t>
            </a:r>
          </a:p>
        </p:txBody>
      </p:sp>
      <p:sp>
        <p:nvSpPr>
          <p:cNvPr id="17" name="7 Rectángulo">
            <a:extLst>
              <a:ext uri="{FF2B5EF4-FFF2-40B4-BE49-F238E27FC236}">
                <a16:creationId xmlns:a16="http://schemas.microsoft.com/office/drawing/2014/main" id="{86D03713-A3B4-5549-8129-0A38BC46E802}"/>
              </a:ext>
            </a:extLst>
          </p:cNvPr>
          <p:cNvSpPr/>
          <p:nvPr/>
        </p:nvSpPr>
        <p:spPr>
          <a:xfrm>
            <a:off x="685800" y="1809750"/>
            <a:ext cx="8610600" cy="44196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L" sz="280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8" name="8 CuadroTexto">
            <a:extLst>
              <a:ext uri="{FF2B5EF4-FFF2-40B4-BE49-F238E27FC236}">
                <a16:creationId xmlns:a16="http://schemas.microsoft.com/office/drawing/2014/main" id="{6D070C0F-0AAA-E44E-BA6C-D5D76512A0E3}"/>
              </a:ext>
            </a:extLst>
          </p:cNvPr>
          <p:cNvSpPr txBox="1"/>
          <p:nvPr/>
        </p:nvSpPr>
        <p:spPr>
          <a:xfrm>
            <a:off x="5696820" y="1469474"/>
            <a:ext cx="3505200" cy="52322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s-MX" sz="28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V</a:t>
            </a:r>
            <a:r>
              <a:rPr lang="es-MX" sz="28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</a:t>
            </a:r>
            <a:r>
              <a:rPr lang="es-MX" sz="28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/ T</a:t>
            </a:r>
            <a:r>
              <a:rPr lang="es-MX" sz="28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</a:t>
            </a:r>
            <a:r>
              <a:rPr lang="es-MX" sz="28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V</a:t>
            </a:r>
            <a:r>
              <a:rPr lang="es-MX" sz="28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MX" sz="28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/ T</a:t>
            </a:r>
            <a:r>
              <a:rPr lang="es-MX" sz="28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endParaRPr lang="es-CL" sz="2800" b="1" dirty="0">
              <a:solidFill>
                <a:srgbClr val="00800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9" name="9 Rectángulo">
            <a:extLst>
              <a:ext uri="{FF2B5EF4-FFF2-40B4-BE49-F238E27FC236}">
                <a16:creationId xmlns:a16="http://schemas.microsoft.com/office/drawing/2014/main" id="{1B32F64A-147E-194E-9662-8173612E4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760" y="3156914"/>
            <a:ext cx="64770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s-CL" altLang="es-CL" sz="28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V</a:t>
            </a:r>
            <a:r>
              <a:rPr lang="es-CL" altLang="es-CL" sz="2800" b="1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</a:t>
            </a:r>
            <a:r>
              <a:rPr lang="es-CL" altLang="es-CL" sz="28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1,50 L	T</a:t>
            </a:r>
            <a:r>
              <a:rPr lang="es-CL" altLang="es-CL" sz="2800" b="1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</a:t>
            </a:r>
            <a:r>
              <a:rPr lang="es-CL" altLang="es-CL" sz="28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298 K	V</a:t>
            </a:r>
            <a:r>
              <a:rPr lang="es-CL" altLang="es-CL" sz="2800" b="1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sz="28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?	T</a:t>
            </a:r>
            <a:r>
              <a:rPr lang="es-CL" altLang="es-CL" sz="2800" b="1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sz="28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195 K</a:t>
            </a:r>
          </a:p>
        </p:txBody>
      </p:sp>
      <p:sp>
        <p:nvSpPr>
          <p:cNvPr id="21" name="11 Rectángulo">
            <a:extLst>
              <a:ext uri="{FF2B5EF4-FFF2-40B4-BE49-F238E27FC236}">
                <a16:creationId xmlns:a16="http://schemas.microsoft.com/office/drawing/2014/main" id="{80FF5173-0241-DA40-AC22-79B0871C9388}"/>
              </a:ext>
            </a:extLst>
          </p:cNvPr>
          <p:cNvSpPr/>
          <p:nvPr/>
        </p:nvSpPr>
        <p:spPr>
          <a:xfrm>
            <a:off x="566137" y="1015503"/>
            <a:ext cx="8077200" cy="54245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endParaRPr lang="es-CL" sz="28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defRPr/>
            </a:pPr>
            <a:r>
              <a:rPr lang="es-CL" sz="2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T1= 25 + 273 = 298 K</a:t>
            </a:r>
          </a:p>
          <a:p>
            <a:pPr>
              <a:defRPr/>
            </a:pPr>
            <a:r>
              <a:rPr lang="es-CL" sz="2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T2= -78 + 273 = 195 K</a:t>
            </a:r>
          </a:p>
          <a:p>
            <a:pPr>
              <a:defRPr/>
            </a:pPr>
            <a:endParaRPr lang="es-CL" sz="28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defRPr/>
            </a:pPr>
            <a:endParaRPr lang="es-CL" sz="28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defRPr/>
            </a:pPr>
            <a:endParaRPr lang="es-CL" sz="28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defRPr/>
            </a:pPr>
            <a:endParaRPr lang="es-CL" sz="28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defRPr/>
            </a:pPr>
            <a:endParaRPr lang="es-CL" sz="28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defRPr/>
            </a:pPr>
            <a:r>
              <a:rPr lang="es-CL" sz="2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Reemplazando:</a:t>
            </a:r>
          </a:p>
          <a:p>
            <a:pPr algn="ctr">
              <a:defRPr/>
            </a:pPr>
            <a:r>
              <a:rPr lang="es-CL" sz="2800" u="sng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1.5 L x 195 K</a:t>
            </a:r>
            <a:r>
              <a:rPr lang="es-CL" sz="2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V</a:t>
            </a:r>
            <a:r>
              <a:rPr lang="es-CL" sz="28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endParaRPr lang="es-CL" sz="2800" u="sng" baseline="-250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defRPr/>
            </a:pPr>
            <a:r>
              <a:rPr lang="es-CL" sz="2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			             298 K</a:t>
            </a:r>
          </a:p>
          <a:p>
            <a:pPr algn="ctr">
              <a:lnSpc>
                <a:spcPct val="150000"/>
              </a:lnSpc>
              <a:defRPr/>
            </a:pPr>
            <a:r>
              <a:rPr lang="es-CL" sz="28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V</a:t>
            </a:r>
            <a:r>
              <a:rPr lang="es-CL" sz="28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CL" sz="28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0,98 L</a:t>
            </a:r>
          </a:p>
        </p:txBody>
      </p:sp>
    </p:spTree>
    <p:extLst>
      <p:ext uri="{BB962C8B-B14F-4D97-AF65-F5344CB8AC3E}">
        <p14:creationId xmlns:p14="http://schemas.microsoft.com/office/powerpoint/2010/main" val="42692679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26</a:t>
            </a:fld>
            <a:endParaRPr lang="es-CL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F6BF646-913E-F443-9239-35877B264A20}"/>
              </a:ext>
            </a:extLst>
          </p:cNvPr>
          <p:cNvSpPr txBox="1"/>
          <p:nvPr/>
        </p:nvSpPr>
        <p:spPr>
          <a:xfrm>
            <a:off x="3895870" y="5365948"/>
            <a:ext cx="82961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1. Teoría de Gases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DD84254E-89DC-CA43-8FB9-7B95733BF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4A0C9A27-BC19-6B48-9953-B583514660F8}"/>
              </a:ext>
            </a:extLst>
          </p:cNvPr>
          <p:cNvSpPr txBox="1"/>
          <p:nvPr/>
        </p:nvSpPr>
        <p:spPr>
          <a:xfrm>
            <a:off x="308345" y="224147"/>
            <a:ext cx="70332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2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D996AA1-3373-BC43-989B-2F6B2E2D7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51" y="2055274"/>
            <a:ext cx="4058571" cy="340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213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27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8" name="14 Rectángulo">
            <a:extLst>
              <a:ext uri="{FF2B5EF4-FFF2-40B4-BE49-F238E27FC236}">
                <a16:creationId xmlns:a16="http://schemas.microsoft.com/office/drawing/2014/main" id="{E63DFA06-77F9-014E-83C5-AABF0525A3A9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FAEC513-9511-7B48-8705-F2081C3E7B76}"/>
              </a:ext>
            </a:extLst>
          </p:cNvPr>
          <p:cNvSpPr txBox="1"/>
          <p:nvPr/>
        </p:nvSpPr>
        <p:spPr>
          <a:xfrm>
            <a:off x="191088" y="1245161"/>
            <a:ext cx="8003788" cy="2362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Un globo aerostático asciende porque se calienta el aire en su interior, por lo tanto, aumenta la temperatura.</a:t>
            </a:r>
          </a:p>
          <a:p>
            <a:pPr algn="just">
              <a:lnSpc>
                <a:spcPct val="150000"/>
              </a:lnSpc>
            </a:pPr>
            <a:endParaRPr lang="es-ES" sz="20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s-ES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Al aumentar la temperatura, aumenta también la presión (ley de Gay-Lussac) ya que el globo tiene un volumen constante.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E3BC4F3-18FA-3449-8781-7099F9BBDE67}"/>
              </a:ext>
            </a:extLst>
          </p:cNvPr>
          <p:cNvSpPr txBox="1"/>
          <p:nvPr/>
        </p:nvSpPr>
        <p:spPr>
          <a:xfrm>
            <a:off x="481734" y="265252"/>
            <a:ext cx="71352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¿Cómo Asciende un Globo Aerostático?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CA800D3-6699-F34A-B0BF-ECAA6C834743}"/>
              </a:ext>
            </a:extLst>
          </p:cNvPr>
          <p:cNvSpPr txBox="1"/>
          <p:nvPr/>
        </p:nvSpPr>
        <p:spPr>
          <a:xfrm>
            <a:off x="191088" y="3988806"/>
            <a:ext cx="8003788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Entonces, como la presión del interior del globo es mucho mayor que la presión atmosférica, el globo tiende a ascender.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8804C9B-CF05-F34F-85FA-9784FB6BEC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44829" y="2195421"/>
            <a:ext cx="3050836" cy="284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0669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28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8" name="14 Rectángulo">
            <a:extLst>
              <a:ext uri="{FF2B5EF4-FFF2-40B4-BE49-F238E27FC236}">
                <a16:creationId xmlns:a16="http://schemas.microsoft.com/office/drawing/2014/main" id="{E63DFA06-77F9-014E-83C5-AABF0525A3A9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7" name="3 Marcador de fecha">
            <a:extLst>
              <a:ext uri="{FF2B5EF4-FFF2-40B4-BE49-F238E27FC236}">
                <a16:creationId xmlns:a16="http://schemas.microsoft.com/office/drawing/2014/main" id="{EC1D4BEC-2C06-C349-AB5A-BD75ED8346F4}"/>
              </a:ext>
            </a:extLst>
          </p:cNvPr>
          <p:cNvSpPr txBox="1">
            <a:spLocks/>
          </p:cNvSpPr>
          <p:nvPr/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1804B9F5-2F42-9C4F-83BD-4BD3BE2071A9}"/>
              </a:ext>
            </a:extLst>
          </p:cNvPr>
          <p:cNvGrpSpPr/>
          <p:nvPr/>
        </p:nvGrpSpPr>
        <p:grpSpPr>
          <a:xfrm>
            <a:off x="270121" y="730569"/>
            <a:ext cx="8935121" cy="6103047"/>
            <a:chOff x="270121" y="730569"/>
            <a:chExt cx="8935121" cy="6103047"/>
          </a:xfrm>
        </p:grpSpPr>
        <p:pic>
          <p:nvPicPr>
            <p:cNvPr id="12" name="Picture 2" descr="http://www.actiweb.es/miclasevirtual/imagen48.gif?1111090403">
              <a:extLst>
                <a:ext uri="{FF2B5EF4-FFF2-40B4-BE49-F238E27FC236}">
                  <a16:creationId xmlns:a16="http://schemas.microsoft.com/office/drawing/2014/main" id="{FC72103E-8A68-9E4C-B508-C4C58AA1E47E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0121" y="754953"/>
              <a:ext cx="8898545" cy="5988739"/>
            </a:xfrm>
            <a:prstGeom prst="rect">
              <a:avLst/>
            </a:prstGeom>
            <a:noFill/>
          </p:spPr>
        </p:pic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DCD64847-FFD1-FD49-9F4A-2CFA9F5FF63D}"/>
                </a:ext>
              </a:extLst>
            </p:cNvPr>
            <p:cNvSpPr/>
            <p:nvPr/>
          </p:nvSpPr>
          <p:spPr>
            <a:xfrm>
              <a:off x="9119616" y="730569"/>
              <a:ext cx="85626" cy="61030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</p:grpSp>
    </p:spTree>
    <p:extLst>
      <p:ext uri="{BB962C8B-B14F-4D97-AF65-F5344CB8AC3E}">
        <p14:creationId xmlns:p14="http://schemas.microsoft.com/office/powerpoint/2010/main" val="32536263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29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8" name="14 Rectángulo">
            <a:extLst>
              <a:ext uri="{FF2B5EF4-FFF2-40B4-BE49-F238E27FC236}">
                <a16:creationId xmlns:a16="http://schemas.microsoft.com/office/drawing/2014/main" id="{E63DFA06-77F9-014E-83C5-AABF0525A3A9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pic>
        <p:nvPicPr>
          <p:cNvPr id="12" name="Picture 2" descr="Resultado de imagen para leyes de los gases">
            <a:extLst>
              <a:ext uri="{FF2B5EF4-FFF2-40B4-BE49-F238E27FC236}">
                <a16:creationId xmlns:a16="http://schemas.microsoft.com/office/drawing/2014/main" id="{3397AD7C-1C5A-354D-9BC9-09555D02F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34817" y="720496"/>
            <a:ext cx="7153279" cy="5838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4 Subtítulo">
            <a:extLst>
              <a:ext uri="{FF2B5EF4-FFF2-40B4-BE49-F238E27FC236}">
                <a16:creationId xmlns:a16="http://schemas.microsoft.com/office/drawing/2014/main" id="{BAE422EC-6CE5-9C47-B1C0-FA3281071424}"/>
              </a:ext>
            </a:extLst>
          </p:cNvPr>
          <p:cNvSpPr txBox="1">
            <a:spLocks/>
          </p:cNvSpPr>
          <p:nvPr/>
        </p:nvSpPr>
        <p:spPr>
          <a:xfrm>
            <a:off x="391667" y="345490"/>
            <a:ext cx="2045387" cy="56945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buNone/>
            </a:pPr>
            <a:r>
              <a:rPr lang="es-CL" sz="2800" kern="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Resumen</a:t>
            </a:r>
            <a:endParaRPr lang="es-MX" sz="2800" kern="0" dirty="0">
              <a:solidFill>
                <a:srgbClr val="FF2F92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9332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30</a:t>
            </a:fld>
            <a:endParaRPr lang="es-CL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A5B10B2-2873-5F4D-B732-D2A589EE09C6}"/>
              </a:ext>
            </a:extLst>
          </p:cNvPr>
          <p:cNvSpPr txBox="1"/>
          <p:nvPr/>
        </p:nvSpPr>
        <p:spPr>
          <a:xfrm>
            <a:off x="2027436" y="2931560"/>
            <a:ext cx="77809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Ejercicios</a:t>
            </a:r>
          </a:p>
        </p:txBody>
      </p:sp>
      <p:grpSp>
        <p:nvGrpSpPr>
          <p:cNvPr id="4" name="Shape 257">
            <a:extLst>
              <a:ext uri="{FF2B5EF4-FFF2-40B4-BE49-F238E27FC236}">
                <a16:creationId xmlns:a16="http://schemas.microsoft.com/office/drawing/2014/main" id="{04B9F9FE-CAD3-B543-8CDF-E1698D657268}"/>
              </a:ext>
            </a:extLst>
          </p:cNvPr>
          <p:cNvGrpSpPr/>
          <p:nvPr/>
        </p:nvGrpSpPr>
        <p:grpSpPr>
          <a:xfrm>
            <a:off x="5125820" y="1447365"/>
            <a:ext cx="1171845" cy="1045591"/>
            <a:chOff x="5233525" y="4954450"/>
            <a:chExt cx="538275" cy="516350"/>
          </a:xfrm>
        </p:grpSpPr>
        <p:sp>
          <p:nvSpPr>
            <p:cNvPr id="5" name="Shape 258">
              <a:extLst>
                <a:ext uri="{FF2B5EF4-FFF2-40B4-BE49-F238E27FC236}">
                  <a16:creationId xmlns:a16="http://schemas.microsoft.com/office/drawing/2014/main" id="{3E8DF75F-16CC-044D-B3EB-21E22FDE5D71}"/>
                </a:ext>
              </a:extLst>
            </p:cNvPr>
            <p:cNvSpPr/>
            <p:nvPr/>
          </p:nvSpPr>
          <p:spPr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" name="Shape 259">
              <a:extLst>
                <a:ext uri="{FF2B5EF4-FFF2-40B4-BE49-F238E27FC236}">
                  <a16:creationId xmlns:a16="http://schemas.microsoft.com/office/drawing/2014/main" id="{00E51DBF-8113-B84A-A35D-3F18272B4179}"/>
                </a:ext>
              </a:extLst>
            </p:cNvPr>
            <p:cNvSpPr/>
            <p:nvPr/>
          </p:nvSpPr>
          <p:spPr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0" t="0" r="0" b="0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" name="Shape 260">
              <a:extLst>
                <a:ext uri="{FF2B5EF4-FFF2-40B4-BE49-F238E27FC236}">
                  <a16:creationId xmlns:a16="http://schemas.microsoft.com/office/drawing/2014/main" id="{05CBC384-9B02-6C47-A556-79B0CE94ACE9}"/>
                </a:ext>
              </a:extLst>
            </p:cNvPr>
            <p:cNvSpPr/>
            <p:nvPr/>
          </p:nvSpPr>
          <p:spPr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" name="Shape 261">
              <a:extLst>
                <a:ext uri="{FF2B5EF4-FFF2-40B4-BE49-F238E27FC236}">
                  <a16:creationId xmlns:a16="http://schemas.microsoft.com/office/drawing/2014/main" id="{7CB79486-E909-DD4B-8865-6C314698F68D}"/>
                </a:ext>
              </a:extLst>
            </p:cNvPr>
            <p:cNvSpPr/>
            <p:nvPr/>
          </p:nvSpPr>
          <p:spPr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0" t="0" r="0" b="0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Shape 262">
              <a:extLst>
                <a:ext uri="{FF2B5EF4-FFF2-40B4-BE49-F238E27FC236}">
                  <a16:creationId xmlns:a16="http://schemas.microsoft.com/office/drawing/2014/main" id="{BAF265E0-CBE6-4040-907F-05F1F377C216}"/>
                </a:ext>
              </a:extLst>
            </p:cNvPr>
            <p:cNvSpPr/>
            <p:nvPr/>
          </p:nvSpPr>
          <p:spPr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0" t="0" r="0" b="0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Shape 263">
              <a:extLst>
                <a:ext uri="{FF2B5EF4-FFF2-40B4-BE49-F238E27FC236}">
                  <a16:creationId xmlns:a16="http://schemas.microsoft.com/office/drawing/2014/main" id="{86187FDB-D2A0-B342-A64D-09F3799BCEDF}"/>
                </a:ext>
              </a:extLst>
            </p:cNvPr>
            <p:cNvSpPr/>
            <p:nvPr/>
          </p:nvSpPr>
          <p:spPr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0" t="0" r="0" b="0"/>
              <a:pathLst>
                <a:path w="7551" h="7576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" name="Shape 264">
              <a:extLst>
                <a:ext uri="{FF2B5EF4-FFF2-40B4-BE49-F238E27FC236}">
                  <a16:creationId xmlns:a16="http://schemas.microsoft.com/office/drawing/2014/main" id="{82924474-FA90-8C42-A57C-5842FE291D36}"/>
                </a:ext>
              </a:extLst>
            </p:cNvPr>
            <p:cNvSpPr/>
            <p:nvPr/>
          </p:nvSpPr>
          <p:spPr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0" t="0" r="0" b="0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" name="Shape 265">
              <a:extLst>
                <a:ext uri="{FF2B5EF4-FFF2-40B4-BE49-F238E27FC236}">
                  <a16:creationId xmlns:a16="http://schemas.microsoft.com/office/drawing/2014/main" id="{D426B43C-121B-804D-A231-BA36FA3616A2}"/>
                </a:ext>
              </a:extLst>
            </p:cNvPr>
            <p:cNvSpPr/>
            <p:nvPr/>
          </p:nvSpPr>
          <p:spPr>
            <a:xfrm>
              <a:off x="5567800" y="4999500"/>
              <a:ext cx="115100" cy="133975"/>
            </a:xfrm>
            <a:custGeom>
              <a:avLst/>
              <a:gdLst/>
              <a:ahLst/>
              <a:cxnLst/>
              <a:rect l="0" t="0" r="0" b="0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" name="Shape 266">
              <a:extLst>
                <a:ext uri="{FF2B5EF4-FFF2-40B4-BE49-F238E27FC236}">
                  <a16:creationId xmlns:a16="http://schemas.microsoft.com/office/drawing/2014/main" id="{00D2FF67-53FB-234F-B3A8-8CFDF5C33ECF}"/>
                </a:ext>
              </a:extLst>
            </p:cNvPr>
            <p:cNvSpPr/>
            <p:nvPr/>
          </p:nvSpPr>
          <p:spPr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0" t="0" r="0" b="0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" name="Shape 267">
              <a:extLst>
                <a:ext uri="{FF2B5EF4-FFF2-40B4-BE49-F238E27FC236}">
                  <a16:creationId xmlns:a16="http://schemas.microsoft.com/office/drawing/2014/main" id="{3F48E860-50C8-9B4E-B0BD-C55D0C2FE270}"/>
                </a:ext>
              </a:extLst>
            </p:cNvPr>
            <p:cNvSpPr/>
            <p:nvPr/>
          </p:nvSpPr>
          <p:spPr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0" t="0" r="0" b="0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" name="Shape 268">
              <a:extLst>
                <a:ext uri="{FF2B5EF4-FFF2-40B4-BE49-F238E27FC236}">
                  <a16:creationId xmlns:a16="http://schemas.microsoft.com/office/drawing/2014/main" id="{AC1A6B39-DB16-724E-A189-8011253BEA2F}"/>
                </a:ext>
              </a:extLst>
            </p:cNvPr>
            <p:cNvSpPr/>
            <p:nvPr/>
          </p:nvSpPr>
          <p:spPr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0" t="0" r="0" b="0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5B8DDD4-2C36-AA4E-9E46-E55CBAA0C24A}"/>
              </a:ext>
            </a:extLst>
          </p:cNvPr>
          <p:cNvSpPr txBox="1"/>
          <p:nvPr/>
        </p:nvSpPr>
        <p:spPr>
          <a:xfrm>
            <a:off x="3895870" y="5365948"/>
            <a:ext cx="82961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1. Teoría de Gases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A47E410-6910-5442-9C5D-4740EC514D3F}"/>
              </a:ext>
            </a:extLst>
          </p:cNvPr>
          <p:cNvSpPr txBox="1"/>
          <p:nvPr/>
        </p:nvSpPr>
        <p:spPr>
          <a:xfrm>
            <a:off x="308345" y="224147"/>
            <a:ext cx="70332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2</a:t>
            </a:r>
          </a:p>
        </p:txBody>
      </p:sp>
    </p:spTree>
    <p:extLst>
      <p:ext uri="{BB962C8B-B14F-4D97-AF65-F5344CB8AC3E}">
        <p14:creationId xmlns:p14="http://schemas.microsoft.com/office/powerpoint/2010/main" val="24323398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31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chemeClr val="accent5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id="{7256655D-8FF9-AE4B-9933-13E86B5B1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58907"/>
            <a:ext cx="8856599" cy="2362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s-ES" alt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6.- 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El Argón es un gas inerte usado en ampolletas para retardar la vaporización del filamento.  Ciertas ampolletas contienen argón a 1,20 atm. Al encenderlas pasan de 18 </a:t>
            </a:r>
            <a:r>
              <a:rPr lang="es-ES" altLang="es-C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0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 a 85 </a:t>
            </a:r>
            <a:r>
              <a:rPr lang="es-ES" altLang="es-C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0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 a volumen constante. ¿Cuál es la presión final (en atm) del argón en la ampolleta?</a:t>
            </a:r>
          </a:p>
        </p:txBody>
      </p:sp>
      <p:sp>
        <p:nvSpPr>
          <p:cNvPr id="32" name="Text Box 51">
            <a:extLst>
              <a:ext uri="{FF2B5EF4-FFF2-40B4-BE49-F238E27FC236}">
                <a16:creationId xmlns:a16="http://schemas.microsoft.com/office/drawing/2014/main" id="{8515A3E0-6D5E-F647-B736-0FF7D9BFD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4888" y="5966422"/>
            <a:ext cx="17778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1B587C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4E854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s-AR" altLang="es-CL" sz="18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R= 1.48 atm</a:t>
            </a:r>
            <a:endParaRPr lang="es-ES" altLang="es-CL" sz="1800" dirty="0">
              <a:solidFill>
                <a:srgbClr val="FF2F92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33" name="1 Título">
            <a:extLst>
              <a:ext uri="{FF2B5EF4-FFF2-40B4-BE49-F238E27FC236}">
                <a16:creationId xmlns:a16="http://schemas.microsoft.com/office/drawing/2014/main" id="{23A0DA29-44DB-5E47-9642-4FCCE750BAC4}"/>
              </a:ext>
            </a:extLst>
          </p:cNvPr>
          <p:cNvSpPr txBox="1">
            <a:spLocks/>
          </p:cNvSpPr>
          <p:nvPr/>
        </p:nvSpPr>
        <p:spPr>
          <a:xfrm>
            <a:off x="834888" y="1089647"/>
            <a:ext cx="7620000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600" kern="1200" spc="-1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endParaRPr lang="es-CL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7 Rectángulo">
            <a:extLst>
              <a:ext uri="{FF2B5EF4-FFF2-40B4-BE49-F238E27FC236}">
                <a16:creationId xmlns:a16="http://schemas.microsoft.com/office/drawing/2014/main" id="{992FE172-F869-DF4C-B555-E997AD2B7C72}"/>
              </a:ext>
            </a:extLst>
          </p:cNvPr>
          <p:cNvSpPr/>
          <p:nvPr/>
        </p:nvSpPr>
        <p:spPr>
          <a:xfrm>
            <a:off x="606288" y="2262809"/>
            <a:ext cx="7848600" cy="44196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775161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32</a:t>
            </a:fld>
            <a:endParaRPr lang="es-CL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F6BF646-913E-F443-9239-35877B264A20}"/>
              </a:ext>
            </a:extLst>
          </p:cNvPr>
          <p:cNvSpPr txBox="1"/>
          <p:nvPr/>
        </p:nvSpPr>
        <p:spPr>
          <a:xfrm>
            <a:off x="3895870" y="5365948"/>
            <a:ext cx="82961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1. Teoría de Gases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DD84254E-89DC-CA43-8FB9-7B95733BF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4A0C9A27-BC19-6B48-9953-B583514660F8}"/>
              </a:ext>
            </a:extLst>
          </p:cNvPr>
          <p:cNvSpPr txBox="1"/>
          <p:nvPr/>
        </p:nvSpPr>
        <p:spPr>
          <a:xfrm>
            <a:off x="308345" y="224147"/>
            <a:ext cx="70332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2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D996AA1-3373-BC43-989B-2F6B2E2D7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51" y="2055274"/>
            <a:ext cx="4058571" cy="340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282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33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8" name="14 Rectángulo">
            <a:extLst>
              <a:ext uri="{FF2B5EF4-FFF2-40B4-BE49-F238E27FC236}">
                <a16:creationId xmlns:a16="http://schemas.microsoft.com/office/drawing/2014/main" id="{E63DFA06-77F9-014E-83C5-AABF0525A3A9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4 Subtítulo">
                <a:extLst>
                  <a:ext uri="{FF2B5EF4-FFF2-40B4-BE49-F238E27FC236}">
                    <a16:creationId xmlns:a16="http://schemas.microsoft.com/office/drawing/2014/main" id="{8A8C3C1E-9602-3B4F-A3F6-7F98BE96AA6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5432" y="962975"/>
                <a:ext cx="8856984" cy="5194757"/>
              </a:xfrm>
              <a:prstGeom prst="rect">
                <a:avLst/>
              </a:prstGeom>
            </p:spPr>
            <p:txBody>
              <a:bodyPr spcFirstLastPara="1" vert="horz" wrap="square" lIns="91425" tIns="91425" rIns="91425" bIns="91425" rtlCol="0" anchor="t" anchorCtr="0">
                <a:normAutofit lnSpcReduction="10000"/>
              </a:bodyPr>
              <a:lstStyle>
                <a:lvl1pPr marL="609585" lvl="0" indent="-474121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▸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219170" lvl="1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▹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28754" lvl="2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▹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438339" lvl="3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●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47924" lvl="4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○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657509" lvl="5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■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267093" lvl="6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●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876678" lvl="7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○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486263" lvl="8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■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35464" indent="0"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s-MX" sz="2000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Relacionando las tres variables P - V – T se obtiene</a:t>
                </a:r>
              </a:p>
              <a:p>
                <a:pPr algn="just">
                  <a:spcBef>
                    <a:spcPts val="0"/>
                  </a:spcBef>
                </a:pPr>
                <a:endParaRPr lang="es-MX" sz="2000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  <a:p>
                <a:pPr marL="135464" indent="0" algn="just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s-MX" b="0" i="1" baseline="-2500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s-MX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V</m:t>
                          </m:r>
                          <m:r>
                            <a:rPr lang="es-MX" b="0" i="1" baseline="-2500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MX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a:rPr lang="es-MX" b="0" i="1" baseline="-2500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1</m:t>
                          </m:r>
                        </m:den>
                      </m:f>
                      <m:r>
                        <a:rPr lang="es-MX" b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s-MX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s-CL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𝑃</m:t>
                          </m:r>
                          <m:r>
                            <a:rPr lang="es-MX" b="0" i="1" baseline="-2500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s-MX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V</m:t>
                          </m:r>
                          <m:r>
                            <a:rPr lang="es-MX" b="0" i="1" baseline="-2500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MX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T</m:t>
                          </m:r>
                          <m:r>
                            <a:rPr lang="es-MX" b="0" i="1" baseline="-2500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den>
                      </m:f>
                      <m:r>
                        <a:rPr lang="es-MX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s-MX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𝑐𝑡𝑒</m:t>
                      </m:r>
                    </m:oMath>
                  </m:oMathPara>
                </a14:m>
                <a:endParaRPr lang="es-MX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  <a:p>
                <a:pPr algn="just">
                  <a:spcBef>
                    <a:spcPts val="0"/>
                  </a:spcBef>
                </a:pPr>
                <a:endParaRPr lang="es-MX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  <a:p>
                <a:pPr marL="135464" indent="0"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s-MX" sz="2000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Como el volumen de 1 mol de cualquier gas ocupa 22.4 L (a P=1 atm y T=273 K): </a:t>
                </a:r>
              </a:p>
              <a:p>
                <a:pPr marL="135464" indent="0"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s-MX" sz="2000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  <a:p>
                <a:pPr algn="just">
                  <a:spcBef>
                    <a:spcPts val="0"/>
                  </a:spcBef>
                </a:pPr>
                <a:endParaRPr lang="es-MX" sz="2000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  <a:p>
                <a:pPr marL="135464" indent="0" algn="ctr">
                  <a:spcBef>
                    <a:spcPts val="0"/>
                  </a:spcBef>
                  <a:buNone/>
                </a:pPr>
                <a:endParaRPr lang="es-MX" sz="2000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  <a:p>
                <a:pPr algn="just">
                  <a:spcBef>
                    <a:spcPts val="0"/>
                  </a:spcBef>
                </a:pPr>
                <a:endParaRPr lang="es-MX" sz="2000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  <a:p>
                <a:pPr marL="135464" indent="0">
                  <a:spcBef>
                    <a:spcPts val="0"/>
                  </a:spcBef>
                  <a:buNone/>
                </a:pPr>
                <a:r>
                  <a:rPr lang="es-MX" sz="2000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Para n moles </a:t>
                </a:r>
              </a:p>
              <a:p>
                <a:pPr marL="135464" indent="0" algn="ctr">
                  <a:spcBef>
                    <a:spcPts val="0"/>
                  </a:spcBef>
                  <a:buNone/>
                </a:pPr>
                <a:endParaRPr lang="es-MX" b="1" dirty="0">
                  <a:solidFill>
                    <a:srgbClr val="008000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  <a:p>
                <a:pPr marL="135464" indent="0" algn="ctr">
                  <a:spcBef>
                    <a:spcPts val="0"/>
                  </a:spcBef>
                  <a:buNone/>
                </a:pPr>
                <a:r>
                  <a:rPr lang="es-MX" b="1" dirty="0">
                    <a:solidFill>
                      <a:srgbClr val="008000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P V = n R T       ; R: </a:t>
                </a:r>
                <a:r>
                  <a:rPr lang="es-MX" b="1" dirty="0" err="1">
                    <a:solidFill>
                      <a:srgbClr val="008000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Cte</a:t>
                </a:r>
                <a:r>
                  <a:rPr lang="es-MX" b="1" dirty="0">
                    <a:solidFill>
                      <a:srgbClr val="008000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 de los gases</a:t>
                </a:r>
              </a:p>
            </p:txBody>
          </p:sp>
        </mc:Choice>
        <mc:Fallback xmlns="">
          <p:sp>
            <p:nvSpPr>
              <p:cNvPr id="6" name="4 Subtítulo">
                <a:extLst>
                  <a:ext uri="{FF2B5EF4-FFF2-40B4-BE49-F238E27FC236}">
                    <a16:creationId xmlns:a16="http://schemas.microsoft.com/office/drawing/2014/main" id="{8A8C3C1E-9602-3B4F-A3F6-7F98BE96A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32" y="962975"/>
                <a:ext cx="8856984" cy="5194757"/>
              </a:xfrm>
              <a:prstGeom prst="rect">
                <a:avLst/>
              </a:prstGeom>
              <a:blipFill>
                <a:blip r:embed="rId3"/>
                <a:stretch>
                  <a:fillRect r="-688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>
            <a:extLst>
              <a:ext uri="{FF2B5EF4-FFF2-40B4-BE49-F238E27FC236}">
                <a16:creationId xmlns:a16="http://schemas.microsoft.com/office/drawing/2014/main" id="{73B12C02-D249-7A44-A27D-C095BE917152}"/>
              </a:ext>
            </a:extLst>
          </p:cNvPr>
          <p:cNvSpPr/>
          <p:nvPr/>
        </p:nvSpPr>
        <p:spPr>
          <a:xfrm>
            <a:off x="570353" y="276379"/>
            <a:ext cx="74738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35464" indent="0" algn="just">
              <a:spcBef>
                <a:spcPts val="0"/>
              </a:spcBef>
              <a:buNone/>
            </a:pPr>
            <a:r>
              <a:rPr lang="es-CL" sz="2800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Ecuación de Estado de los Gases Ideales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318030FF-CE6F-614C-A1C8-29CFE39A0E41}"/>
                  </a:ext>
                </a:extLst>
              </p:cNvPr>
              <p:cNvSpPr/>
              <p:nvPr/>
            </p:nvSpPr>
            <p:spPr>
              <a:xfrm>
                <a:off x="1900761" y="4023402"/>
                <a:ext cx="5571846" cy="7331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sz="20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s-CL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Lucida Sans Unicode" panose="020B0602030504020204" pitchFamily="34" charset="0"/>
                              <a:cs typeface="Lucida Sans Unicode" panose="020B0602030504020204" pitchFamily="34" charset="0"/>
                            </a:rPr>
                            <m:t>P</m:t>
                          </m:r>
                          <m:r>
                            <m:rPr>
                              <m:nor/>
                            </m:rPr>
                            <a:rPr lang="es-MX" sz="2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Lucida Sans Unicode" panose="020B0602030504020204" pitchFamily="34" charset="0"/>
                              <a:cs typeface="Lucida Sans Unicode" panose="020B0602030504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s-MX" sz="2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Lucida Sans Unicode" panose="020B0602030504020204" pitchFamily="34" charset="0"/>
                              <a:cs typeface="Lucida Sans Unicode" panose="020B0602030504020204" pitchFamily="34" charset="0"/>
                            </a:rPr>
                            <m:t>V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s-MX" sz="2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Lucida Sans Unicode" panose="020B0602030504020204" pitchFamily="34" charset="0"/>
                              <a:cs typeface="Lucida Sans Unicode" panose="020B0602030504020204" pitchFamily="34" charset="0"/>
                            </a:rPr>
                            <m:t>T</m:t>
                          </m:r>
                        </m:den>
                      </m:f>
                      <m:r>
                        <a:rPr lang="es-MX" sz="200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ucida Sans Unicode" panose="020B0602030504020204" pitchFamily="34" charset="0"/>
                        </a:rPr>
                        <m:t>=</m:t>
                      </m:r>
                      <m:r>
                        <a:rPr lang="es-ES" sz="2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ucida Sans Unicode" panose="020B0602030504020204" pitchFamily="34" charset="0"/>
                        </a:rPr>
                        <m:t>𝑅</m:t>
                      </m:r>
                      <m:r>
                        <a:rPr lang="es-ES" sz="2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ucida Sans Unicode" panose="020B0602030504020204" pitchFamily="34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ucida Sans Unicode" panose="020B0602030504020204" pitchFamily="34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ES" sz="20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Lucida Sans Unicode" panose="020B0602030504020204" pitchFamily="34" charset="0"/>
                                </a:rPr>
                              </m:ctrlPr>
                            </m:dPr>
                            <m:e>
                              <m:r>
                                <a:rPr lang="es-ES" sz="20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Lucida Sans Unicode" panose="020B0602030504020204" pitchFamily="34" charset="0"/>
                                </a:rPr>
                                <m:t>1 </m:t>
                              </m:r>
                              <m:r>
                                <a:rPr lang="es-ES" sz="20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Lucida Sans Unicode" panose="020B0602030504020204" pitchFamily="34" charset="0"/>
                                </a:rPr>
                                <m:t>𝑎𝑡𝑚</m:t>
                              </m:r>
                            </m:e>
                          </m:d>
                          <m:r>
                            <a:rPr lang="es-ES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s-ES" sz="20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Lucida Sans Unicode" panose="020B0602030504020204" pitchFamily="34" charset="0"/>
                                </a:rPr>
                              </m:ctrlPr>
                            </m:dPr>
                            <m:e>
                              <m:r>
                                <a:rPr lang="es-ES" sz="20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Lucida Sans Unicode" panose="020B0602030504020204" pitchFamily="34" charset="0"/>
                                </a:rPr>
                                <m:t>22,412 </m:t>
                              </m:r>
                              <m:r>
                                <a:rPr lang="es-ES" sz="20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Lucida Sans Unicode" panose="020B0602030504020204" pitchFamily="34" charset="0"/>
                                </a:rPr>
                                <m:t>𝐿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s-ES" sz="20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Lucida Sans Unicode" panose="020B0602030504020204" pitchFamily="34" charset="0"/>
                                </a:rPr>
                              </m:ctrlPr>
                            </m:dPr>
                            <m:e>
                              <m:r>
                                <a:rPr lang="es-ES" sz="20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Lucida Sans Unicode" panose="020B0602030504020204" pitchFamily="34" charset="0"/>
                                </a:rPr>
                                <m:t>1 </m:t>
                              </m:r>
                              <m:r>
                                <a:rPr lang="es-ES" sz="20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Lucida Sans Unicode" panose="020B0602030504020204" pitchFamily="34" charset="0"/>
                                </a:rPr>
                                <m:t>𝑚𝑜𝑙</m:t>
                              </m:r>
                            </m:e>
                          </m:d>
                          <m:r>
                            <a:rPr lang="es-ES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s-ES" sz="20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Lucida Sans Unicode" panose="020B0602030504020204" pitchFamily="34" charset="0"/>
                                </a:rPr>
                              </m:ctrlPr>
                            </m:dPr>
                            <m:e>
                              <m:r>
                                <a:rPr lang="es-ES" sz="20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Lucida Sans Unicode" panose="020B0602030504020204" pitchFamily="34" charset="0"/>
                                </a:rPr>
                                <m:t>273,15 </m:t>
                              </m:r>
                              <m:r>
                                <a:rPr lang="es-ES" sz="20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Lucida Sans Unicode" panose="020B0602030504020204" pitchFamily="34" charset="0"/>
                                </a:rPr>
                                <m:t>𝐾</m:t>
                              </m:r>
                            </m:e>
                          </m:d>
                        </m:den>
                      </m:f>
                      <m:r>
                        <a:rPr lang="es-ES" sz="2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ucida Sans Unicode" panose="020B0602030504020204" pitchFamily="34" charset="0"/>
                        </a:rPr>
                        <m:t>=0.082</m:t>
                      </m:r>
                      <m:f>
                        <m:fPr>
                          <m:ctrlPr>
                            <a:rPr lang="es-ES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ucida Sans Unicode" panose="020B0602030504020204" pitchFamily="34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𝑎𝑡𝑚</m:t>
                          </m:r>
                          <m:r>
                            <a:rPr lang="es-ES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∙</m:t>
                          </m:r>
                          <m:r>
                            <a:rPr lang="es-ES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𝐿</m:t>
                          </m:r>
                        </m:num>
                        <m:den>
                          <m:r>
                            <a:rPr lang="es-ES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𝑚𝑜𝑙</m:t>
                          </m:r>
                          <m:r>
                            <a:rPr lang="es-ES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∙</m:t>
                          </m:r>
                          <m:r>
                            <a:rPr lang="es-ES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𝐾</m:t>
                          </m:r>
                        </m:den>
                      </m:f>
                    </m:oMath>
                  </m:oMathPara>
                </a14:m>
                <a:endParaRPr lang="es-CL" sz="2000" dirty="0"/>
              </a:p>
            </p:txBody>
          </p:sp>
        </mc:Choice>
        <mc:Fallback xmlns="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318030FF-CE6F-614C-A1C8-29CFE39A0E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761" y="4023402"/>
                <a:ext cx="5571846" cy="7331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11651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34</a:t>
            </a:fld>
            <a:endParaRPr lang="es-CL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A5B10B2-2873-5F4D-B732-D2A589EE09C6}"/>
              </a:ext>
            </a:extLst>
          </p:cNvPr>
          <p:cNvSpPr txBox="1"/>
          <p:nvPr/>
        </p:nvSpPr>
        <p:spPr>
          <a:xfrm>
            <a:off x="2027436" y="2931560"/>
            <a:ext cx="77809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Ejercicios</a:t>
            </a:r>
          </a:p>
        </p:txBody>
      </p:sp>
      <p:grpSp>
        <p:nvGrpSpPr>
          <p:cNvPr id="4" name="Shape 257">
            <a:extLst>
              <a:ext uri="{FF2B5EF4-FFF2-40B4-BE49-F238E27FC236}">
                <a16:creationId xmlns:a16="http://schemas.microsoft.com/office/drawing/2014/main" id="{04B9F9FE-CAD3-B543-8CDF-E1698D657268}"/>
              </a:ext>
            </a:extLst>
          </p:cNvPr>
          <p:cNvGrpSpPr/>
          <p:nvPr/>
        </p:nvGrpSpPr>
        <p:grpSpPr>
          <a:xfrm>
            <a:off x="5125820" y="1447365"/>
            <a:ext cx="1171845" cy="1045591"/>
            <a:chOff x="5233525" y="4954450"/>
            <a:chExt cx="538275" cy="516350"/>
          </a:xfrm>
        </p:grpSpPr>
        <p:sp>
          <p:nvSpPr>
            <p:cNvPr id="5" name="Shape 258">
              <a:extLst>
                <a:ext uri="{FF2B5EF4-FFF2-40B4-BE49-F238E27FC236}">
                  <a16:creationId xmlns:a16="http://schemas.microsoft.com/office/drawing/2014/main" id="{3E8DF75F-16CC-044D-B3EB-21E22FDE5D71}"/>
                </a:ext>
              </a:extLst>
            </p:cNvPr>
            <p:cNvSpPr/>
            <p:nvPr/>
          </p:nvSpPr>
          <p:spPr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" name="Shape 259">
              <a:extLst>
                <a:ext uri="{FF2B5EF4-FFF2-40B4-BE49-F238E27FC236}">
                  <a16:creationId xmlns:a16="http://schemas.microsoft.com/office/drawing/2014/main" id="{00E51DBF-8113-B84A-A35D-3F18272B4179}"/>
                </a:ext>
              </a:extLst>
            </p:cNvPr>
            <p:cNvSpPr/>
            <p:nvPr/>
          </p:nvSpPr>
          <p:spPr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0" t="0" r="0" b="0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" name="Shape 260">
              <a:extLst>
                <a:ext uri="{FF2B5EF4-FFF2-40B4-BE49-F238E27FC236}">
                  <a16:creationId xmlns:a16="http://schemas.microsoft.com/office/drawing/2014/main" id="{05CBC384-9B02-6C47-A556-79B0CE94ACE9}"/>
                </a:ext>
              </a:extLst>
            </p:cNvPr>
            <p:cNvSpPr/>
            <p:nvPr/>
          </p:nvSpPr>
          <p:spPr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" name="Shape 261">
              <a:extLst>
                <a:ext uri="{FF2B5EF4-FFF2-40B4-BE49-F238E27FC236}">
                  <a16:creationId xmlns:a16="http://schemas.microsoft.com/office/drawing/2014/main" id="{7CB79486-E909-DD4B-8865-6C314698F68D}"/>
                </a:ext>
              </a:extLst>
            </p:cNvPr>
            <p:cNvSpPr/>
            <p:nvPr/>
          </p:nvSpPr>
          <p:spPr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0" t="0" r="0" b="0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Shape 262">
              <a:extLst>
                <a:ext uri="{FF2B5EF4-FFF2-40B4-BE49-F238E27FC236}">
                  <a16:creationId xmlns:a16="http://schemas.microsoft.com/office/drawing/2014/main" id="{BAF265E0-CBE6-4040-907F-05F1F377C216}"/>
                </a:ext>
              </a:extLst>
            </p:cNvPr>
            <p:cNvSpPr/>
            <p:nvPr/>
          </p:nvSpPr>
          <p:spPr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0" t="0" r="0" b="0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Shape 263">
              <a:extLst>
                <a:ext uri="{FF2B5EF4-FFF2-40B4-BE49-F238E27FC236}">
                  <a16:creationId xmlns:a16="http://schemas.microsoft.com/office/drawing/2014/main" id="{86187FDB-D2A0-B342-A64D-09F3799BCEDF}"/>
                </a:ext>
              </a:extLst>
            </p:cNvPr>
            <p:cNvSpPr/>
            <p:nvPr/>
          </p:nvSpPr>
          <p:spPr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0" t="0" r="0" b="0"/>
              <a:pathLst>
                <a:path w="7551" h="7576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" name="Shape 264">
              <a:extLst>
                <a:ext uri="{FF2B5EF4-FFF2-40B4-BE49-F238E27FC236}">
                  <a16:creationId xmlns:a16="http://schemas.microsoft.com/office/drawing/2014/main" id="{82924474-FA90-8C42-A57C-5842FE291D36}"/>
                </a:ext>
              </a:extLst>
            </p:cNvPr>
            <p:cNvSpPr/>
            <p:nvPr/>
          </p:nvSpPr>
          <p:spPr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0" t="0" r="0" b="0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" name="Shape 265">
              <a:extLst>
                <a:ext uri="{FF2B5EF4-FFF2-40B4-BE49-F238E27FC236}">
                  <a16:creationId xmlns:a16="http://schemas.microsoft.com/office/drawing/2014/main" id="{D426B43C-121B-804D-A231-BA36FA3616A2}"/>
                </a:ext>
              </a:extLst>
            </p:cNvPr>
            <p:cNvSpPr/>
            <p:nvPr/>
          </p:nvSpPr>
          <p:spPr>
            <a:xfrm>
              <a:off x="5567800" y="4999500"/>
              <a:ext cx="115100" cy="133975"/>
            </a:xfrm>
            <a:custGeom>
              <a:avLst/>
              <a:gdLst/>
              <a:ahLst/>
              <a:cxnLst/>
              <a:rect l="0" t="0" r="0" b="0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" name="Shape 266">
              <a:extLst>
                <a:ext uri="{FF2B5EF4-FFF2-40B4-BE49-F238E27FC236}">
                  <a16:creationId xmlns:a16="http://schemas.microsoft.com/office/drawing/2014/main" id="{00D2FF67-53FB-234F-B3A8-8CFDF5C33ECF}"/>
                </a:ext>
              </a:extLst>
            </p:cNvPr>
            <p:cNvSpPr/>
            <p:nvPr/>
          </p:nvSpPr>
          <p:spPr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0" t="0" r="0" b="0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" name="Shape 267">
              <a:extLst>
                <a:ext uri="{FF2B5EF4-FFF2-40B4-BE49-F238E27FC236}">
                  <a16:creationId xmlns:a16="http://schemas.microsoft.com/office/drawing/2014/main" id="{3F48E860-50C8-9B4E-B0BD-C55D0C2FE270}"/>
                </a:ext>
              </a:extLst>
            </p:cNvPr>
            <p:cNvSpPr/>
            <p:nvPr/>
          </p:nvSpPr>
          <p:spPr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0" t="0" r="0" b="0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" name="Shape 268">
              <a:extLst>
                <a:ext uri="{FF2B5EF4-FFF2-40B4-BE49-F238E27FC236}">
                  <a16:creationId xmlns:a16="http://schemas.microsoft.com/office/drawing/2014/main" id="{AC1A6B39-DB16-724E-A189-8011253BEA2F}"/>
                </a:ext>
              </a:extLst>
            </p:cNvPr>
            <p:cNvSpPr/>
            <p:nvPr/>
          </p:nvSpPr>
          <p:spPr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0" t="0" r="0" b="0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5B8DDD4-2C36-AA4E-9E46-E55CBAA0C24A}"/>
              </a:ext>
            </a:extLst>
          </p:cNvPr>
          <p:cNvSpPr txBox="1"/>
          <p:nvPr/>
        </p:nvSpPr>
        <p:spPr>
          <a:xfrm>
            <a:off x="3895870" y="5365948"/>
            <a:ext cx="82961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1. Teoría de Gases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A47E410-6910-5442-9C5D-4740EC514D3F}"/>
              </a:ext>
            </a:extLst>
          </p:cNvPr>
          <p:cNvSpPr txBox="1"/>
          <p:nvPr/>
        </p:nvSpPr>
        <p:spPr>
          <a:xfrm>
            <a:off x="308345" y="224147"/>
            <a:ext cx="70332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2</a:t>
            </a:r>
          </a:p>
        </p:txBody>
      </p:sp>
    </p:spTree>
    <p:extLst>
      <p:ext uri="{BB962C8B-B14F-4D97-AF65-F5344CB8AC3E}">
        <p14:creationId xmlns:p14="http://schemas.microsoft.com/office/powerpoint/2010/main" val="28921588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35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chemeClr val="accent5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id="{7256655D-8FF9-AE4B-9933-13E86B5B1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58907"/>
            <a:ext cx="885659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s-ES" alt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7.- 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¿Cuál es la temperatura (en Kelvin) de un gas ideal, si 0,717 moles ocupan un volumen de 5480 </a:t>
            </a:r>
            <a:r>
              <a:rPr lang="es-ES" altLang="es-CL" sz="2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mL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a una presión de 910 </a:t>
            </a:r>
            <a:r>
              <a:rPr lang="es-ES" altLang="es-CL" sz="2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mmHg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? </a:t>
            </a:r>
          </a:p>
        </p:txBody>
      </p:sp>
      <p:sp>
        <p:nvSpPr>
          <p:cNvPr id="33" name="1 Título">
            <a:extLst>
              <a:ext uri="{FF2B5EF4-FFF2-40B4-BE49-F238E27FC236}">
                <a16:creationId xmlns:a16="http://schemas.microsoft.com/office/drawing/2014/main" id="{23A0DA29-44DB-5E47-9642-4FCCE750BAC4}"/>
              </a:ext>
            </a:extLst>
          </p:cNvPr>
          <p:cNvSpPr txBox="1">
            <a:spLocks/>
          </p:cNvSpPr>
          <p:nvPr/>
        </p:nvSpPr>
        <p:spPr>
          <a:xfrm>
            <a:off x="834888" y="1089647"/>
            <a:ext cx="7620000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600" kern="1200" spc="-1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endParaRPr lang="es-CL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817FA21-C223-8341-864D-1AC7B89BB2B8}"/>
              </a:ext>
            </a:extLst>
          </p:cNvPr>
          <p:cNvSpPr/>
          <p:nvPr/>
        </p:nvSpPr>
        <p:spPr>
          <a:xfrm>
            <a:off x="521916" y="1611668"/>
            <a:ext cx="929264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CL" sz="28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PV = nRT</a:t>
            </a:r>
          </a:p>
          <a:p>
            <a:pPr algn="ctr">
              <a:defRPr/>
            </a:pPr>
            <a:endParaRPr lang="es-CL" sz="2000" b="1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 algn="just">
              <a:defRPr/>
            </a:pPr>
            <a:r>
              <a:rPr 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1. </a:t>
            </a:r>
            <a:r>
              <a:rPr 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Transformar todos los datos a las unidades de los gases ideales.</a:t>
            </a:r>
          </a:p>
          <a:p>
            <a:pPr marL="342900" indent="-342900" algn="just">
              <a:buFontTx/>
              <a:buAutoNum type="arabicPeriod"/>
              <a:defRPr/>
            </a:pPr>
            <a:endParaRPr lang="es-CL" sz="2000" b="1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 algn="just">
              <a:defRPr/>
            </a:pPr>
            <a:r>
              <a:rPr 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 = </a:t>
            </a:r>
            <a:r>
              <a:rPr 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0,717 moles </a:t>
            </a:r>
          </a:p>
          <a:p>
            <a:pPr marL="342900" indent="-342900" algn="just">
              <a:defRPr/>
            </a:pPr>
            <a:r>
              <a:rPr 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V = </a:t>
            </a:r>
            <a:r>
              <a:rPr 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5,480 L</a:t>
            </a:r>
          </a:p>
          <a:p>
            <a:pPr marL="342900" indent="-342900" algn="just">
              <a:defRPr/>
            </a:pPr>
            <a:r>
              <a:rPr 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 = </a:t>
            </a:r>
            <a:r>
              <a:rPr 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1,197 atm</a:t>
            </a:r>
          </a:p>
          <a:p>
            <a:pPr marL="342900" indent="-342900" algn="just">
              <a:defRPr/>
            </a:pPr>
            <a:r>
              <a:rPr 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 = 0,082 atm L / mol K</a:t>
            </a:r>
          </a:p>
          <a:p>
            <a:pPr marL="342900" indent="-342900" algn="just">
              <a:defRPr/>
            </a:pPr>
            <a:endParaRPr lang="es-CL" sz="20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 algn="just">
              <a:defRPr/>
            </a:pPr>
            <a:r>
              <a:rPr 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2. </a:t>
            </a:r>
            <a:r>
              <a:rPr 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Reemplazar en la ecuación de los gases ideales</a:t>
            </a:r>
          </a:p>
          <a:p>
            <a:pPr marL="342900" indent="-342900" algn="just">
              <a:defRPr/>
            </a:pPr>
            <a:endParaRPr lang="es-CL" sz="20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 algn="just">
              <a:defRPr/>
            </a:pPr>
            <a:r>
              <a:rPr 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 = PV / nR</a:t>
            </a:r>
          </a:p>
          <a:p>
            <a:pPr marL="342900" indent="-342900" algn="just">
              <a:defRPr/>
            </a:pPr>
            <a:r>
              <a:rPr 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 = </a:t>
            </a:r>
            <a:r>
              <a:rPr lang="es-CL" sz="2000" u="sng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       1,197 atm • 5,48 L               </a:t>
            </a:r>
            <a:r>
              <a:rPr 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</a:t>
            </a:r>
            <a:r>
              <a:rPr 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111,6 K</a:t>
            </a:r>
            <a:endParaRPr lang="es-CL" sz="2000" b="1" u="sng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 algn="just">
              <a:defRPr/>
            </a:pPr>
            <a:r>
              <a:rPr 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    0,717 moles • 0,082 atm L / mol K</a:t>
            </a:r>
            <a:endParaRPr lang="es-ES_tradnl" sz="20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0771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36</a:t>
            </a:fld>
            <a:endParaRPr lang="es-CL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F6BF646-913E-F443-9239-35877B264A20}"/>
              </a:ext>
            </a:extLst>
          </p:cNvPr>
          <p:cNvSpPr txBox="1"/>
          <p:nvPr/>
        </p:nvSpPr>
        <p:spPr>
          <a:xfrm>
            <a:off x="3895870" y="5365948"/>
            <a:ext cx="82961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1. Teoría de Gases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DD84254E-89DC-CA43-8FB9-7B95733BF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4A0C9A27-BC19-6B48-9953-B583514660F8}"/>
              </a:ext>
            </a:extLst>
          </p:cNvPr>
          <p:cNvSpPr txBox="1"/>
          <p:nvPr/>
        </p:nvSpPr>
        <p:spPr>
          <a:xfrm>
            <a:off x="308345" y="224147"/>
            <a:ext cx="70332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2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D996AA1-3373-BC43-989B-2F6B2E2D7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51" y="2055274"/>
            <a:ext cx="4058571" cy="340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9069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37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8" name="14 Rectángulo">
            <a:extLst>
              <a:ext uri="{FF2B5EF4-FFF2-40B4-BE49-F238E27FC236}">
                <a16:creationId xmlns:a16="http://schemas.microsoft.com/office/drawing/2014/main" id="{E63DFA06-77F9-014E-83C5-AABF0525A3A9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6" name="4 Subtítulo">
            <a:extLst>
              <a:ext uri="{FF2B5EF4-FFF2-40B4-BE49-F238E27FC236}">
                <a16:creationId xmlns:a16="http://schemas.microsoft.com/office/drawing/2014/main" id="{DFF3A0FC-CA7B-8947-81AA-712A78FD4D9C}"/>
              </a:ext>
            </a:extLst>
          </p:cNvPr>
          <p:cNvSpPr txBox="1">
            <a:spLocks/>
          </p:cNvSpPr>
          <p:nvPr/>
        </p:nvSpPr>
        <p:spPr>
          <a:xfrm>
            <a:off x="306816" y="1653505"/>
            <a:ext cx="9300480" cy="491358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92500" lnSpcReduction="20000"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▹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▹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5464" indent="0" algn="just">
              <a:lnSpc>
                <a:spcPct val="150000"/>
              </a:lnSpc>
              <a:buNone/>
            </a:pPr>
            <a:r>
              <a:rPr lang="es-MX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En una mezcla de gases, cada uno de los que forman la mezcla ejerce su propia presión independiente de los demás y la presión total es la suma de las presiones parciales de los gases de la mezcla.</a:t>
            </a:r>
          </a:p>
          <a:p>
            <a:pPr marL="135464" indent="0" algn="just">
              <a:lnSpc>
                <a:spcPct val="150000"/>
              </a:lnSpc>
              <a:buNone/>
            </a:pPr>
            <a:r>
              <a:rPr lang="es-MX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La presión parcial de un gas es directamente proporcional a la fracción molar (moles del gas / moles totales)</a:t>
            </a:r>
          </a:p>
          <a:p>
            <a:pPr marL="135464" indent="0" algn="ctr">
              <a:buNone/>
            </a:pPr>
            <a:endParaRPr lang="es-MX" dirty="0">
              <a:solidFill>
                <a:srgbClr val="00800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135464" indent="0" algn="ctr">
              <a:buNone/>
            </a:pPr>
            <a:r>
              <a:rPr lang="es-MX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</a:t>
            </a:r>
            <a:r>
              <a:rPr lang="es-MX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</a:t>
            </a:r>
            <a:r>
              <a:rPr lang="es-MX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</a:t>
            </a:r>
            <a:r>
              <a:rPr lang="es-MX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  <a:sym typeface="Symbol"/>
              </a:rPr>
              <a:t></a:t>
            </a:r>
            <a:r>
              <a:rPr lang="es-MX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  <a:sym typeface="Symbol"/>
              </a:rPr>
              <a:t>i</a:t>
            </a:r>
            <a:r>
              <a:rPr lang="es-MX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P</a:t>
            </a:r>
            <a:r>
              <a:rPr lang="es-MX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</a:t>
            </a:r>
          </a:p>
          <a:p>
            <a:pPr marL="135464" indent="0">
              <a:buNone/>
            </a:pPr>
            <a:endParaRPr lang="es-MX" baseline="-25000" dirty="0">
              <a:solidFill>
                <a:schemeClr val="accent5">
                  <a:lumMod val="75000"/>
                </a:schemeClr>
              </a:solidFill>
              <a:latin typeface="Calibri" pitchFamily="34" charset="0"/>
            </a:endParaRPr>
          </a:p>
          <a:p>
            <a:pPr marL="135464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s-MX" sz="18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sym typeface="Symbol"/>
              </a:rPr>
              <a:t>p</a:t>
            </a:r>
            <a:r>
              <a:rPr lang="es-MX" sz="1800" baseline="-250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sym typeface="Symbol"/>
              </a:rPr>
              <a:t>i</a:t>
            </a:r>
            <a:r>
              <a:rPr lang="es-MX" sz="18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sym typeface="Symbol"/>
              </a:rPr>
              <a:t> = presión parcial del gas i;</a:t>
            </a:r>
          </a:p>
          <a:p>
            <a:pPr marL="135464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s-MX" sz="18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sym typeface="Symbol"/>
              </a:rPr>
              <a:t>p</a:t>
            </a:r>
            <a:r>
              <a:rPr lang="es-MX" sz="1800" baseline="-250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sym typeface="Symbol"/>
              </a:rPr>
              <a:t>T</a:t>
            </a:r>
            <a:r>
              <a:rPr lang="es-MX" sz="18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sym typeface="Symbol"/>
              </a:rPr>
              <a:t> = presión total de la mezcla;</a:t>
            </a:r>
          </a:p>
          <a:p>
            <a:pPr marL="135464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s-MX" sz="18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sym typeface="Symbol"/>
              </a:rPr>
              <a:t></a:t>
            </a:r>
            <a:r>
              <a:rPr lang="es-MX" sz="1800" baseline="-250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sym typeface="Symbol"/>
              </a:rPr>
              <a:t>i </a:t>
            </a:r>
            <a:r>
              <a:rPr lang="es-MX" sz="18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sym typeface="Symbol"/>
              </a:rPr>
              <a:t>= fracción molar del gas i;</a:t>
            </a:r>
          </a:p>
          <a:p>
            <a:pPr marL="135464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s-MX" sz="18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sym typeface="Symbol"/>
              </a:rPr>
              <a:t>n</a:t>
            </a:r>
            <a:r>
              <a:rPr lang="es-MX" sz="1800" baseline="-250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sym typeface="Symbol"/>
              </a:rPr>
              <a:t>i</a:t>
            </a:r>
            <a:r>
              <a:rPr lang="es-MX" sz="18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sym typeface="Symbol"/>
              </a:rPr>
              <a:t> = moles del gas i.</a:t>
            </a:r>
            <a:endParaRPr lang="es-MX" sz="1800" dirty="0">
              <a:solidFill>
                <a:schemeClr val="accent5">
                  <a:lumMod val="75000"/>
                </a:schemeClr>
              </a:solidFill>
              <a:latin typeface="Calibri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8A04FFB5-0037-3743-99AC-CE4353B8CE75}"/>
              </a:ext>
            </a:extLst>
          </p:cNvPr>
          <p:cNvGrpSpPr/>
          <p:nvPr/>
        </p:nvGrpSpPr>
        <p:grpSpPr>
          <a:xfrm>
            <a:off x="4843923" y="5036503"/>
            <a:ext cx="3381069" cy="837280"/>
            <a:chOff x="5612019" y="5414455"/>
            <a:chExt cx="3381069" cy="8372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3 CuadroTexto">
                  <a:extLst>
                    <a:ext uri="{FF2B5EF4-FFF2-40B4-BE49-F238E27FC236}">
                      <a16:creationId xmlns:a16="http://schemas.microsoft.com/office/drawing/2014/main" id="{E3F74793-35AD-C647-A5EF-775DDAFA3C09}"/>
                    </a:ext>
                  </a:extLst>
                </p:cNvPr>
                <p:cNvSpPr txBox="1"/>
                <p:nvPr/>
              </p:nvSpPr>
              <p:spPr>
                <a:xfrm>
                  <a:off x="6321587" y="5414455"/>
                  <a:ext cx="2671501" cy="8372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CL" sz="2800" i="1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s-MX" sz="2800" b="0" i="0" smtClean="0">
                                <a:solidFill>
                                  <a:srgbClr val="008000"/>
                                </a:solidFill>
                                <a:latin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es-MX" sz="2800" b="0" i="0" baseline="-25000" smtClean="0">
                                <a:solidFill>
                                  <a:srgbClr val="008000"/>
                                </a:solidFill>
                                <a:latin typeface="Cambria Math"/>
                              </a:rPr>
                              <m:t>i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s-MX" sz="2800" b="0" i="0" smtClean="0">
                                <a:solidFill>
                                  <a:srgbClr val="008000"/>
                                </a:solidFill>
                                <a:latin typeface="Cambria Math"/>
                              </a:rPr>
                              <m:t>n</m:t>
                            </m:r>
                            <m:r>
                              <a:rPr lang="es-MX" sz="2800" b="0" i="0" baseline="-25000" smtClean="0">
                                <a:solidFill>
                                  <a:srgbClr val="008000"/>
                                </a:solidFill>
                                <a:latin typeface="Cambria Math"/>
                              </a:rPr>
                              <m:t>1</m:t>
                            </m:r>
                            <m:r>
                              <a:rPr lang="es-MX" sz="2800" b="0" i="0" smtClean="0">
                                <a:solidFill>
                                  <a:srgbClr val="008000"/>
                                </a:solidFill>
                                <a:latin typeface="Cambria Math"/>
                              </a:rPr>
                              <m:t> +</m:t>
                            </m:r>
                            <m:r>
                              <m:rPr>
                                <m:sty m:val="p"/>
                              </m:rPr>
                              <a:rPr lang="es-MX" sz="2800" b="0" i="0" smtClean="0">
                                <a:solidFill>
                                  <a:srgbClr val="008000"/>
                                </a:solidFill>
                                <a:latin typeface="Cambria Math"/>
                              </a:rPr>
                              <m:t>n</m:t>
                            </m:r>
                            <m:r>
                              <a:rPr lang="es-MX" sz="2800" b="0" i="0" baseline="-25000" smtClean="0">
                                <a:solidFill>
                                  <a:srgbClr val="008000"/>
                                </a:solidFill>
                                <a:latin typeface="Cambria Math"/>
                              </a:rPr>
                              <m:t>2</m:t>
                            </m:r>
                            <m:r>
                              <a:rPr lang="es-MX" sz="2800" b="0" i="0" smtClean="0">
                                <a:solidFill>
                                  <a:srgbClr val="008000"/>
                                </a:solidFill>
                                <a:latin typeface="Cambria Math"/>
                              </a:rPr>
                              <m:t>+ …</m:t>
                            </m:r>
                            <m:r>
                              <m:rPr>
                                <m:sty m:val="p"/>
                              </m:rPr>
                              <a:rPr lang="es-MX" sz="2800" b="0" i="0" smtClean="0">
                                <a:solidFill>
                                  <a:srgbClr val="008000"/>
                                </a:solidFill>
                                <a:latin typeface="Cambria Math"/>
                              </a:rPr>
                              <m:t>ni</m:t>
                            </m:r>
                          </m:den>
                        </m:f>
                      </m:oMath>
                    </m:oMathPara>
                  </a14:m>
                  <a:endParaRPr lang="es-CL" sz="2800" dirty="0">
                    <a:solidFill>
                      <a:srgbClr val="008000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endParaRPr>
                </a:p>
              </p:txBody>
            </p:sp>
          </mc:Choice>
          <mc:Fallback xmlns="">
            <p:sp>
              <p:nvSpPr>
                <p:cNvPr id="10" name="3 CuadroTexto">
                  <a:extLst>
                    <a:ext uri="{FF2B5EF4-FFF2-40B4-BE49-F238E27FC236}">
                      <a16:creationId xmlns:a16="http://schemas.microsoft.com/office/drawing/2014/main" id="{E3F74793-35AD-C647-A5EF-775DDAFA3C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1587" y="5414455"/>
                  <a:ext cx="2671501" cy="837280"/>
                </a:xfrm>
                <a:prstGeom prst="rect">
                  <a:avLst/>
                </a:prstGeom>
                <a:blipFill>
                  <a:blip r:embed="rId3"/>
                  <a:stretch>
                    <a:fillRect b="-2174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5 Rectángulo">
              <a:extLst>
                <a:ext uri="{FF2B5EF4-FFF2-40B4-BE49-F238E27FC236}">
                  <a16:creationId xmlns:a16="http://schemas.microsoft.com/office/drawing/2014/main" id="{FCA66411-0A74-1044-99A3-72C4411D3B86}"/>
                </a:ext>
              </a:extLst>
            </p:cNvPr>
            <p:cNvSpPr/>
            <p:nvPr/>
          </p:nvSpPr>
          <p:spPr>
            <a:xfrm>
              <a:off x="5612019" y="5594635"/>
              <a:ext cx="92525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MX" sz="2800" dirty="0">
                  <a:solidFill>
                    <a:srgbClr val="008000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  <a:sym typeface="Symbol"/>
                </a:rPr>
                <a:t></a:t>
              </a:r>
              <a:r>
                <a:rPr lang="es-MX" sz="2800" baseline="-25000" dirty="0">
                  <a:solidFill>
                    <a:srgbClr val="008000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  <a:sym typeface="Symbol"/>
                </a:rPr>
                <a:t>i </a:t>
              </a:r>
              <a:r>
                <a:rPr lang="es-MX" sz="2800" dirty="0">
                  <a:solidFill>
                    <a:srgbClr val="008000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  <a:sym typeface="Symbol"/>
                </a:rPr>
                <a:t>= </a:t>
              </a:r>
              <a:endParaRPr lang="es-CL" sz="28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95D90F7D-9CFF-C745-8693-0729B651C0AF}"/>
              </a:ext>
            </a:extLst>
          </p:cNvPr>
          <p:cNvSpPr/>
          <p:nvPr/>
        </p:nvSpPr>
        <p:spPr>
          <a:xfrm>
            <a:off x="306816" y="290911"/>
            <a:ext cx="7465584" cy="13311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5464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s-CL" sz="28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Ley de Dalton de las Presiones Parciales.  </a:t>
            </a:r>
          </a:p>
          <a:p>
            <a:pPr marL="135464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s-CL" sz="28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Mezcla de Gases</a:t>
            </a:r>
          </a:p>
        </p:txBody>
      </p:sp>
    </p:spTree>
    <p:extLst>
      <p:ext uri="{BB962C8B-B14F-4D97-AF65-F5344CB8AC3E}">
        <p14:creationId xmlns:p14="http://schemas.microsoft.com/office/powerpoint/2010/main" val="5521891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38</a:t>
            </a:fld>
            <a:endParaRPr lang="es-CL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A5B10B2-2873-5F4D-B732-D2A589EE09C6}"/>
              </a:ext>
            </a:extLst>
          </p:cNvPr>
          <p:cNvSpPr txBox="1"/>
          <p:nvPr/>
        </p:nvSpPr>
        <p:spPr>
          <a:xfrm>
            <a:off x="2027436" y="2931560"/>
            <a:ext cx="77809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Ejercicios</a:t>
            </a:r>
          </a:p>
        </p:txBody>
      </p:sp>
      <p:grpSp>
        <p:nvGrpSpPr>
          <p:cNvPr id="4" name="Shape 257">
            <a:extLst>
              <a:ext uri="{FF2B5EF4-FFF2-40B4-BE49-F238E27FC236}">
                <a16:creationId xmlns:a16="http://schemas.microsoft.com/office/drawing/2014/main" id="{04B9F9FE-CAD3-B543-8CDF-E1698D657268}"/>
              </a:ext>
            </a:extLst>
          </p:cNvPr>
          <p:cNvGrpSpPr/>
          <p:nvPr/>
        </p:nvGrpSpPr>
        <p:grpSpPr>
          <a:xfrm>
            <a:off x="5125820" y="1447365"/>
            <a:ext cx="1171845" cy="1045591"/>
            <a:chOff x="5233525" y="4954450"/>
            <a:chExt cx="538275" cy="516350"/>
          </a:xfrm>
        </p:grpSpPr>
        <p:sp>
          <p:nvSpPr>
            <p:cNvPr id="5" name="Shape 258">
              <a:extLst>
                <a:ext uri="{FF2B5EF4-FFF2-40B4-BE49-F238E27FC236}">
                  <a16:creationId xmlns:a16="http://schemas.microsoft.com/office/drawing/2014/main" id="{3E8DF75F-16CC-044D-B3EB-21E22FDE5D71}"/>
                </a:ext>
              </a:extLst>
            </p:cNvPr>
            <p:cNvSpPr/>
            <p:nvPr/>
          </p:nvSpPr>
          <p:spPr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" name="Shape 259">
              <a:extLst>
                <a:ext uri="{FF2B5EF4-FFF2-40B4-BE49-F238E27FC236}">
                  <a16:creationId xmlns:a16="http://schemas.microsoft.com/office/drawing/2014/main" id="{00E51DBF-8113-B84A-A35D-3F18272B4179}"/>
                </a:ext>
              </a:extLst>
            </p:cNvPr>
            <p:cNvSpPr/>
            <p:nvPr/>
          </p:nvSpPr>
          <p:spPr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0" t="0" r="0" b="0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" name="Shape 260">
              <a:extLst>
                <a:ext uri="{FF2B5EF4-FFF2-40B4-BE49-F238E27FC236}">
                  <a16:creationId xmlns:a16="http://schemas.microsoft.com/office/drawing/2014/main" id="{05CBC384-9B02-6C47-A556-79B0CE94ACE9}"/>
                </a:ext>
              </a:extLst>
            </p:cNvPr>
            <p:cNvSpPr/>
            <p:nvPr/>
          </p:nvSpPr>
          <p:spPr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" name="Shape 261">
              <a:extLst>
                <a:ext uri="{FF2B5EF4-FFF2-40B4-BE49-F238E27FC236}">
                  <a16:creationId xmlns:a16="http://schemas.microsoft.com/office/drawing/2014/main" id="{7CB79486-E909-DD4B-8865-6C314698F68D}"/>
                </a:ext>
              </a:extLst>
            </p:cNvPr>
            <p:cNvSpPr/>
            <p:nvPr/>
          </p:nvSpPr>
          <p:spPr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0" t="0" r="0" b="0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Shape 262">
              <a:extLst>
                <a:ext uri="{FF2B5EF4-FFF2-40B4-BE49-F238E27FC236}">
                  <a16:creationId xmlns:a16="http://schemas.microsoft.com/office/drawing/2014/main" id="{BAF265E0-CBE6-4040-907F-05F1F377C216}"/>
                </a:ext>
              </a:extLst>
            </p:cNvPr>
            <p:cNvSpPr/>
            <p:nvPr/>
          </p:nvSpPr>
          <p:spPr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0" t="0" r="0" b="0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Shape 263">
              <a:extLst>
                <a:ext uri="{FF2B5EF4-FFF2-40B4-BE49-F238E27FC236}">
                  <a16:creationId xmlns:a16="http://schemas.microsoft.com/office/drawing/2014/main" id="{86187FDB-D2A0-B342-A64D-09F3799BCEDF}"/>
                </a:ext>
              </a:extLst>
            </p:cNvPr>
            <p:cNvSpPr/>
            <p:nvPr/>
          </p:nvSpPr>
          <p:spPr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0" t="0" r="0" b="0"/>
              <a:pathLst>
                <a:path w="7551" h="7576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" name="Shape 264">
              <a:extLst>
                <a:ext uri="{FF2B5EF4-FFF2-40B4-BE49-F238E27FC236}">
                  <a16:creationId xmlns:a16="http://schemas.microsoft.com/office/drawing/2014/main" id="{82924474-FA90-8C42-A57C-5842FE291D36}"/>
                </a:ext>
              </a:extLst>
            </p:cNvPr>
            <p:cNvSpPr/>
            <p:nvPr/>
          </p:nvSpPr>
          <p:spPr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0" t="0" r="0" b="0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" name="Shape 265">
              <a:extLst>
                <a:ext uri="{FF2B5EF4-FFF2-40B4-BE49-F238E27FC236}">
                  <a16:creationId xmlns:a16="http://schemas.microsoft.com/office/drawing/2014/main" id="{D426B43C-121B-804D-A231-BA36FA3616A2}"/>
                </a:ext>
              </a:extLst>
            </p:cNvPr>
            <p:cNvSpPr/>
            <p:nvPr/>
          </p:nvSpPr>
          <p:spPr>
            <a:xfrm>
              <a:off x="5567800" y="4999500"/>
              <a:ext cx="115100" cy="133975"/>
            </a:xfrm>
            <a:custGeom>
              <a:avLst/>
              <a:gdLst/>
              <a:ahLst/>
              <a:cxnLst/>
              <a:rect l="0" t="0" r="0" b="0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" name="Shape 266">
              <a:extLst>
                <a:ext uri="{FF2B5EF4-FFF2-40B4-BE49-F238E27FC236}">
                  <a16:creationId xmlns:a16="http://schemas.microsoft.com/office/drawing/2014/main" id="{00D2FF67-53FB-234F-B3A8-8CFDF5C33ECF}"/>
                </a:ext>
              </a:extLst>
            </p:cNvPr>
            <p:cNvSpPr/>
            <p:nvPr/>
          </p:nvSpPr>
          <p:spPr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0" t="0" r="0" b="0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" name="Shape 267">
              <a:extLst>
                <a:ext uri="{FF2B5EF4-FFF2-40B4-BE49-F238E27FC236}">
                  <a16:creationId xmlns:a16="http://schemas.microsoft.com/office/drawing/2014/main" id="{3F48E860-50C8-9B4E-B0BD-C55D0C2FE270}"/>
                </a:ext>
              </a:extLst>
            </p:cNvPr>
            <p:cNvSpPr/>
            <p:nvPr/>
          </p:nvSpPr>
          <p:spPr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0" t="0" r="0" b="0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" name="Shape 268">
              <a:extLst>
                <a:ext uri="{FF2B5EF4-FFF2-40B4-BE49-F238E27FC236}">
                  <a16:creationId xmlns:a16="http://schemas.microsoft.com/office/drawing/2014/main" id="{AC1A6B39-DB16-724E-A189-8011253BEA2F}"/>
                </a:ext>
              </a:extLst>
            </p:cNvPr>
            <p:cNvSpPr/>
            <p:nvPr/>
          </p:nvSpPr>
          <p:spPr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0" t="0" r="0" b="0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5B8DDD4-2C36-AA4E-9E46-E55CBAA0C24A}"/>
              </a:ext>
            </a:extLst>
          </p:cNvPr>
          <p:cNvSpPr txBox="1"/>
          <p:nvPr/>
        </p:nvSpPr>
        <p:spPr>
          <a:xfrm>
            <a:off x="3895870" y="5365948"/>
            <a:ext cx="82961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1. Teoría de Gases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A47E410-6910-5442-9C5D-4740EC514D3F}"/>
              </a:ext>
            </a:extLst>
          </p:cNvPr>
          <p:cNvSpPr txBox="1"/>
          <p:nvPr/>
        </p:nvSpPr>
        <p:spPr>
          <a:xfrm>
            <a:off x="308345" y="224147"/>
            <a:ext cx="70332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2</a:t>
            </a:r>
          </a:p>
        </p:txBody>
      </p:sp>
    </p:spTree>
    <p:extLst>
      <p:ext uri="{BB962C8B-B14F-4D97-AF65-F5344CB8AC3E}">
        <p14:creationId xmlns:p14="http://schemas.microsoft.com/office/powerpoint/2010/main" val="19644541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39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chemeClr val="accent5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id="{7256655D-8FF9-AE4B-9933-13E86B5B1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58907"/>
            <a:ext cx="8856599" cy="1438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s-ES" alt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8.- 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Una muestra de gas natural contiene 8.24 moles de CH</a:t>
            </a:r>
            <a:r>
              <a:rPr lang="es-ES" alt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4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 0.421 moles de C</a:t>
            </a:r>
            <a:r>
              <a:rPr lang="es-ES" alt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H</a:t>
            </a:r>
            <a:r>
              <a:rPr lang="es-ES" alt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6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 y  0.116 moles de C</a:t>
            </a:r>
            <a:r>
              <a:rPr lang="es-ES" alt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H</a:t>
            </a:r>
            <a:r>
              <a:rPr lang="es-ES" alt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8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 Si la presión total de los gases es 1.37 atm, ¿cuál es la presión parcial del propano (C</a:t>
            </a:r>
            <a:r>
              <a:rPr lang="es-ES" alt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H</a:t>
            </a:r>
            <a:r>
              <a:rPr lang="es-ES" alt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8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)?</a:t>
            </a:r>
          </a:p>
        </p:txBody>
      </p:sp>
      <p:sp>
        <p:nvSpPr>
          <p:cNvPr id="33" name="1 Título">
            <a:extLst>
              <a:ext uri="{FF2B5EF4-FFF2-40B4-BE49-F238E27FC236}">
                <a16:creationId xmlns:a16="http://schemas.microsoft.com/office/drawing/2014/main" id="{23A0DA29-44DB-5E47-9642-4FCCE750BAC4}"/>
              </a:ext>
            </a:extLst>
          </p:cNvPr>
          <p:cNvSpPr txBox="1">
            <a:spLocks/>
          </p:cNvSpPr>
          <p:nvPr/>
        </p:nvSpPr>
        <p:spPr>
          <a:xfrm>
            <a:off x="834888" y="1089647"/>
            <a:ext cx="7620000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600" kern="1200" spc="-1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endParaRPr lang="es-CL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7979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40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chemeClr val="accent5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id="{7256655D-8FF9-AE4B-9933-13E86B5B1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58907"/>
            <a:ext cx="8856599" cy="1438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s-ES" alt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8.- 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Una muestra de gas natural contiene 8.24 moles de CH</a:t>
            </a:r>
            <a:r>
              <a:rPr lang="es-ES" alt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4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 0.421 moles de C</a:t>
            </a:r>
            <a:r>
              <a:rPr lang="es-ES" alt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H</a:t>
            </a:r>
            <a:r>
              <a:rPr lang="es-ES" alt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6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 y  0.116 moles de C</a:t>
            </a:r>
            <a:r>
              <a:rPr lang="es-ES" alt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H</a:t>
            </a:r>
            <a:r>
              <a:rPr lang="es-ES" alt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8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 Si la presión total de los gases es 1.37 atm, ¿cuál es la presión parcial del propano (C</a:t>
            </a:r>
            <a:r>
              <a:rPr lang="es-ES" alt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H</a:t>
            </a:r>
            <a:r>
              <a:rPr lang="es-ES" alt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8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)?</a:t>
            </a:r>
          </a:p>
        </p:txBody>
      </p:sp>
      <p:sp>
        <p:nvSpPr>
          <p:cNvPr id="33" name="1 Título">
            <a:extLst>
              <a:ext uri="{FF2B5EF4-FFF2-40B4-BE49-F238E27FC236}">
                <a16:creationId xmlns:a16="http://schemas.microsoft.com/office/drawing/2014/main" id="{23A0DA29-44DB-5E47-9642-4FCCE750BAC4}"/>
              </a:ext>
            </a:extLst>
          </p:cNvPr>
          <p:cNvSpPr txBox="1">
            <a:spLocks/>
          </p:cNvSpPr>
          <p:nvPr/>
        </p:nvSpPr>
        <p:spPr>
          <a:xfrm>
            <a:off x="834888" y="1089647"/>
            <a:ext cx="7620000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600" kern="1200" spc="-1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endParaRPr lang="es-CL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4AA50899-271C-D64F-90AA-728155FD2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6" y="1973996"/>
            <a:ext cx="205280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cmpd="thinThick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74320" tIns="137160" rIns="274320" bIns="13716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1B587C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4E854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s-CL" sz="2800" i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</a:t>
            </a:r>
            <a:r>
              <a:rPr lang="en-US" altLang="es-CL" sz="2800" i="1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</a:t>
            </a:r>
            <a:r>
              <a:rPr lang="en-US" altLang="es-CL" sz="28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</a:t>
            </a:r>
            <a:r>
              <a:rPr lang="en-US" altLang="es-CL" sz="2800" i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X</a:t>
            </a:r>
            <a:r>
              <a:rPr lang="en-US" altLang="es-CL" sz="2800" i="1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</a:t>
            </a:r>
            <a:r>
              <a:rPr lang="en-US" altLang="es-CL" sz="2800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s-CL" sz="2800" i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</a:t>
            </a:r>
            <a:r>
              <a:rPr lang="en-US" altLang="es-CL" sz="2800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</a:t>
            </a:r>
            <a:endParaRPr lang="en-US" altLang="es-CL" sz="2800" i="1" dirty="0">
              <a:solidFill>
                <a:srgbClr val="00800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9F433FA6-749E-754D-A82D-DB2E2209C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832" y="3510866"/>
            <a:ext cx="189667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1B587C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4E854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s-CL" sz="2800" i="1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X</a:t>
            </a:r>
            <a:r>
              <a:rPr lang="en-US" altLang="es-CL" sz="2800" baseline="-25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propano</a:t>
            </a:r>
            <a:r>
              <a:rPr lang="en-US" altLang="es-CL" sz="2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</a:t>
            </a:r>
            <a:endParaRPr lang="en-US" altLang="es-CL" sz="2800" i="1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grpSp>
        <p:nvGrpSpPr>
          <p:cNvPr id="14" name="Group 9">
            <a:extLst>
              <a:ext uri="{FF2B5EF4-FFF2-40B4-BE49-F238E27FC236}">
                <a16:creationId xmlns:a16="http://schemas.microsoft.com/office/drawing/2014/main" id="{FA0E7A84-51CA-FE47-93C5-4EA2A1C1B3D2}"/>
              </a:ext>
            </a:extLst>
          </p:cNvPr>
          <p:cNvGrpSpPr>
            <a:grpSpLocks/>
          </p:cNvGrpSpPr>
          <p:nvPr/>
        </p:nvGrpSpPr>
        <p:grpSpPr bwMode="auto">
          <a:xfrm>
            <a:off x="2356329" y="3299858"/>
            <a:ext cx="4148138" cy="992188"/>
            <a:chOff x="1488" y="2489"/>
            <a:chExt cx="2613" cy="625"/>
          </a:xfrm>
        </p:grpSpPr>
        <p:sp>
          <p:nvSpPr>
            <p:cNvPr id="15" name="Text Box 6">
              <a:extLst>
                <a:ext uri="{FF2B5EF4-FFF2-40B4-BE49-F238E27FC236}">
                  <a16:creationId xmlns:a16="http://schemas.microsoft.com/office/drawing/2014/main" id="{47913DAC-82F7-0644-A034-FDF960CD7C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1" y="2489"/>
              <a:ext cx="76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1B587C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4E854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s-CL" sz="2800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0.116</a:t>
              </a:r>
            </a:p>
          </p:txBody>
        </p:sp>
        <p:sp>
          <p:nvSpPr>
            <p:cNvPr id="17" name="Text Box 7">
              <a:extLst>
                <a:ext uri="{FF2B5EF4-FFF2-40B4-BE49-F238E27FC236}">
                  <a16:creationId xmlns:a16="http://schemas.microsoft.com/office/drawing/2014/main" id="{AC59439F-A114-8B48-8669-213D8F8F18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6" y="2784"/>
              <a:ext cx="25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1B587C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4E854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04878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s-CL" sz="280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8.24 + 0.421 + 0.116</a:t>
              </a:r>
            </a:p>
          </p:txBody>
        </p:sp>
        <p:sp>
          <p:nvSpPr>
            <p:cNvPr id="18" name="Line 8">
              <a:extLst>
                <a:ext uri="{FF2B5EF4-FFF2-40B4-BE49-F238E27FC236}">
                  <a16:creationId xmlns:a16="http://schemas.microsoft.com/office/drawing/2014/main" id="{D1EA0D28-5971-0843-A83F-C1162C6EBA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800"/>
              <a:ext cx="2304" cy="0"/>
            </a:xfrm>
            <a:prstGeom prst="line">
              <a:avLst/>
            </a:prstGeom>
            <a:noFill/>
            <a:ln w="28575">
              <a:solidFill>
                <a:schemeClr val="accent5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_tradnl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</p:grpSp>
      <p:sp>
        <p:nvSpPr>
          <p:cNvPr id="19" name="Text Box 10">
            <a:extLst>
              <a:ext uri="{FF2B5EF4-FFF2-40B4-BE49-F238E27FC236}">
                <a16:creationId xmlns:a16="http://schemas.microsoft.com/office/drawing/2014/main" id="{A82D605B-560F-3C4D-A205-FC480E5BA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6967" y="2246722"/>
            <a:ext cx="262604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1B587C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4E854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s-CL" sz="2800" i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</a:t>
            </a:r>
            <a:r>
              <a:rPr lang="en-US" altLang="es-CL" sz="2800" baseline="-2500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</a:t>
            </a:r>
            <a:r>
              <a:rPr lang="en-US" altLang="es-CL" sz="280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1.37 atm</a:t>
            </a:r>
            <a:endParaRPr lang="en-US" altLang="es-CL" sz="2800" i="1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20" name="Text Box 11">
            <a:extLst>
              <a:ext uri="{FF2B5EF4-FFF2-40B4-BE49-F238E27FC236}">
                <a16:creationId xmlns:a16="http://schemas.microsoft.com/office/drawing/2014/main" id="{D8D1F580-257A-6D40-B0B2-2AA4297545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4727" y="3506561"/>
            <a:ext cx="183575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1B587C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4E854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s-CL" sz="2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= 0.0132</a:t>
            </a:r>
          </a:p>
        </p:txBody>
      </p:sp>
      <p:sp>
        <p:nvSpPr>
          <p:cNvPr id="21" name="Text Box 12">
            <a:extLst>
              <a:ext uri="{FF2B5EF4-FFF2-40B4-BE49-F238E27FC236}">
                <a16:creationId xmlns:a16="http://schemas.microsoft.com/office/drawing/2014/main" id="{E730F7DD-125E-F543-AAA8-E65A920E2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19" y="4892436"/>
            <a:ext cx="51491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1B587C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4E854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s-CL" sz="2800" i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</a:t>
            </a:r>
            <a:r>
              <a:rPr lang="en-US" altLang="es-CL" sz="2800" baseline="-2500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propano</a:t>
            </a:r>
            <a:r>
              <a:rPr lang="en-US" altLang="es-CL" sz="280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0.0132 x 1.37 atm</a:t>
            </a:r>
            <a:endParaRPr lang="en-US" altLang="es-CL" sz="2800" i="1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22" name="Text Box 13">
            <a:extLst>
              <a:ext uri="{FF2B5EF4-FFF2-40B4-BE49-F238E27FC236}">
                <a16:creationId xmlns:a16="http://schemas.microsoft.com/office/drawing/2014/main" id="{03A42BC2-E086-414C-87A6-6A5044EC2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7242" y="4880157"/>
            <a:ext cx="26180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1B587C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4E854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s-CL" sz="2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= 0.0181 atm</a:t>
            </a:r>
          </a:p>
        </p:txBody>
      </p:sp>
    </p:spTree>
    <p:extLst>
      <p:ext uri="{BB962C8B-B14F-4D97-AF65-F5344CB8AC3E}">
        <p14:creationId xmlns:p14="http://schemas.microsoft.com/office/powerpoint/2010/main" val="33150382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41</a:t>
            </a:fld>
            <a:endParaRPr lang="es-CL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F6BF646-913E-F443-9239-35877B264A20}"/>
              </a:ext>
            </a:extLst>
          </p:cNvPr>
          <p:cNvSpPr txBox="1"/>
          <p:nvPr/>
        </p:nvSpPr>
        <p:spPr>
          <a:xfrm>
            <a:off x="3895870" y="5365948"/>
            <a:ext cx="82961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1. Teoría de Gases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DD84254E-89DC-CA43-8FB9-7B95733BF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4A0C9A27-BC19-6B48-9953-B583514660F8}"/>
              </a:ext>
            </a:extLst>
          </p:cNvPr>
          <p:cNvSpPr txBox="1"/>
          <p:nvPr/>
        </p:nvSpPr>
        <p:spPr>
          <a:xfrm>
            <a:off x="308345" y="224147"/>
            <a:ext cx="70332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2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D996AA1-3373-BC43-989B-2F6B2E2D7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51" y="2055274"/>
            <a:ext cx="4058571" cy="340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8311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42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8" name="14 Rectángulo">
            <a:extLst>
              <a:ext uri="{FF2B5EF4-FFF2-40B4-BE49-F238E27FC236}">
                <a16:creationId xmlns:a16="http://schemas.microsoft.com/office/drawing/2014/main" id="{E63DFA06-77F9-014E-83C5-AABF0525A3A9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6" name="4 Subtítulo">
            <a:extLst>
              <a:ext uri="{FF2B5EF4-FFF2-40B4-BE49-F238E27FC236}">
                <a16:creationId xmlns:a16="http://schemas.microsoft.com/office/drawing/2014/main" id="{E2B64497-E5CA-1748-8C75-40C8C322D800}"/>
              </a:ext>
            </a:extLst>
          </p:cNvPr>
          <p:cNvSpPr txBox="1">
            <a:spLocks/>
          </p:cNvSpPr>
          <p:nvPr/>
        </p:nvSpPr>
        <p:spPr>
          <a:xfrm>
            <a:off x="107504" y="44625"/>
            <a:ext cx="9871776" cy="338437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▹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▹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5464" indent="0" algn="just">
              <a:buNone/>
            </a:pPr>
            <a:r>
              <a:rPr lang="es-CL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Gases con Humedad</a:t>
            </a:r>
            <a:endParaRPr lang="es-CL" sz="36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135464" indent="0" algn="just">
              <a:lnSpc>
                <a:spcPct val="150000"/>
              </a:lnSpc>
              <a:buNone/>
            </a:pPr>
            <a:r>
              <a:rPr lang="es-MX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Como la humedad es el vapor de agua contenido en un gas, cuando el aire está saturado de vapor de agua a una determinada temperatura, se dice que la humedad relativa es del 100 por 100 (100%). </a:t>
            </a:r>
          </a:p>
          <a:p>
            <a:pPr marL="135464" indent="0" algn="just">
              <a:lnSpc>
                <a:spcPct val="150000"/>
              </a:lnSpc>
              <a:buNone/>
            </a:pPr>
            <a:r>
              <a:rPr lang="es-MX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Luego, se habla de humedad relativa como la relación entre la concentración de vapor de agua presente y la que debiera tener si estuviese saturado</a:t>
            </a:r>
            <a:r>
              <a:rPr lang="es-MX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</a:t>
            </a:r>
            <a:endParaRPr lang="es-MX" sz="24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0" name="Picture 2" descr="Resultado de imagen para humedad relativa">
            <a:extLst>
              <a:ext uri="{FF2B5EF4-FFF2-40B4-BE49-F238E27FC236}">
                <a16:creationId xmlns:a16="http://schemas.microsoft.com/office/drawing/2014/main" id="{2DC618F2-C263-3548-BD49-C50D9CACE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75104" y="3520037"/>
            <a:ext cx="6371101" cy="3185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74133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43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8" name="14 Rectángulo">
            <a:extLst>
              <a:ext uri="{FF2B5EF4-FFF2-40B4-BE49-F238E27FC236}">
                <a16:creationId xmlns:a16="http://schemas.microsoft.com/office/drawing/2014/main" id="{E63DFA06-77F9-014E-83C5-AABF0525A3A9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6" name="4 Subtítulo">
            <a:extLst>
              <a:ext uri="{FF2B5EF4-FFF2-40B4-BE49-F238E27FC236}">
                <a16:creationId xmlns:a16="http://schemas.microsoft.com/office/drawing/2014/main" id="{6E46EB51-A9A3-D146-BE8D-BD8BB1EAEFB6}"/>
              </a:ext>
            </a:extLst>
          </p:cNvPr>
          <p:cNvSpPr txBox="1">
            <a:spLocks/>
          </p:cNvSpPr>
          <p:nvPr/>
        </p:nvSpPr>
        <p:spPr>
          <a:xfrm>
            <a:off x="125981" y="766736"/>
            <a:ext cx="9754101" cy="557039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▹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▹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5464" indent="0" algn="just">
              <a:lnSpc>
                <a:spcPct val="150000"/>
              </a:lnSpc>
              <a:buNone/>
            </a:pPr>
            <a:r>
              <a:rPr lang="es-MX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Los gases no siguen totalmente estas leyes, pues existen interacciones moleculares que alteran la E potencial del sistema. Las moléculas de los gases tienen masa 	que no se pueden despreciar y ocupan volúmenes. Por eso se ocupa la ecuación de Van der Waals</a:t>
            </a:r>
          </a:p>
          <a:p>
            <a:pPr algn="just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es-MX" sz="2000" dirty="0">
              <a:latin typeface="Calibri" pitchFamily="34" charset="0"/>
            </a:endParaRPr>
          </a:p>
          <a:p>
            <a:pPr algn="just">
              <a:spcBef>
                <a:spcPts val="0"/>
              </a:spcBef>
            </a:pPr>
            <a:endParaRPr lang="es-MX" sz="2000" dirty="0">
              <a:latin typeface="Calibri" pitchFamily="34" charset="0"/>
            </a:endParaRPr>
          </a:p>
          <a:p>
            <a:pPr algn="just">
              <a:spcBef>
                <a:spcPts val="0"/>
              </a:spcBef>
            </a:pPr>
            <a:endParaRPr lang="es-MX" sz="2000" dirty="0">
              <a:latin typeface="Calibri" pitchFamily="34" charset="0"/>
            </a:endParaRPr>
          </a:p>
          <a:p>
            <a:pPr algn="just">
              <a:spcBef>
                <a:spcPts val="0"/>
              </a:spcBef>
            </a:pPr>
            <a:endParaRPr lang="es-MX" sz="2000" dirty="0">
              <a:latin typeface="Calibri" pitchFamily="34" charset="0"/>
            </a:endParaRPr>
          </a:p>
          <a:p>
            <a:pPr algn="just">
              <a:spcBef>
                <a:spcPts val="0"/>
              </a:spcBef>
            </a:pPr>
            <a:endParaRPr lang="es-MX" sz="2000" dirty="0">
              <a:latin typeface="Calibri" pitchFamily="34" charset="0"/>
            </a:endParaRPr>
          </a:p>
          <a:p>
            <a:pPr marL="135464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s-MX" sz="20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</a:rPr>
              <a:t>V = volumen molar del gas;</a:t>
            </a:r>
          </a:p>
          <a:p>
            <a:pPr marL="135464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s-MX" sz="20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</a:rPr>
              <a:t>a y b = constantes de Van der Waals tabulada para cada gas;</a:t>
            </a:r>
          </a:p>
          <a:p>
            <a:pPr marL="135464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s-MX" sz="20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</a:rPr>
              <a:t>a/V</a:t>
            </a:r>
            <a:r>
              <a:rPr lang="es-MX" sz="2000" baseline="300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</a:rPr>
              <a:t>2</a:t>
            </a:r>
            <a:r>
              <a:rPr lang="es-MX" sz="20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</a:rPr>
              <a:t> = se refiere a las fuerzas de interacción molecular;</a:t>
            </a:r>
          </a:p>
          <a:p>
            <a:pPr marL="135464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s-MX" sz="20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</a:rPr>
              <a:t>b = volumen que ocupan realmente las moléculas de gas (covolumen)</a:t>
            </a:r>
          </a:p>
          <a:p>
            <a:pPr marL="135464" indent="0" algn="just">
              <a:buNone/>
            </a:pPr>
            <a:endParaRPr lang="es-MX" sz="2000" dirty="0">
              <a:latin typeface="Calibri" pitchFamily="34" charset="0"/>
            </a:endParaRPr>
          </a:p>
          <a:p>
            <a:pPr algn="just"/>
            <a:endParaRPr lang="es-MX" sz="2000" dirty="0">
              <a:latin typeface="Calibri" pitchFamily="34" charset="0"/>
            </a:endParaRPr>
          </a:p>
          <a:p>
            <a:pPr algn="just"/>
            <a:endParaRPr lang="es-MX" sz="2000" dirty="0">
              <a:latin typeface="Calibri" pitchFamily="34" charset="0"/>
            </a:endParaRPr>
          </a:p>
        </p:txBody>
      </p:sp>
      <p:pic>
        <p:nvPicPr>
          <p:cNvPr id="10" name="Picture 2" descr="http://www2.montes.upm.es/dptos/digfa/cfisica/termo1p/gasreal_files/van_der_waals_eq.gif">
            <a:extLst>
              <a:ext uri="{FF2B5EF4-FFF2-40B4-BE49-F238E27FC236}">
                <a16:creationId xmlns:a16="http://schemas.microsoft.com/office/drawing/2014/main" id="{1C74C752-E5E6-9846-B3DE-27CAF0DBE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00924" y="2938825"/>
            <a:ext cx="5007061" cy="1226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1E2D5CFF-FB13-E240-BADF-103440689CDC}"/>
              </a:ext>
            </a:extLst>
          </p:cNvPr>
          <p:cNvSpPr/>
          <p:nvPr/>
        </p:nvSpPr>
        <p:spPr>
          <a:xfrm>
            <a:off x="89483" y="222030"/>
            <a:ext cx="55149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35464" indent="0" algn="just">
              <a:buNone/>
            </a:pPr>
            <a:r>
              <a:rPr lang="es-CL" sz="2800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Ecuación de los Gases Reales</a:t>
            </a:r>
            <a:endParaRPr lang="es-MX" sz="2800" b="1" dirty="0">
              <a:solidFill>
                <a:srgbClr val="FF2F92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5048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s-C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s-C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24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8" name="14 Rectángulo">
            <a:extLst>
              <a:ext uri="{FF2B5EF4-FFF2-40B4-BE49-F238E27FC236}">
                <a16:creationId xmlns:a16="http://schemas.microsoft.com/office/drawing/2014/main" id="{E63DFA06-77F9-014E-83C5-AABF0525A3A9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8B4E831D-5FFA-43CB-A631-F06121288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20634" y="483640"/>
            <a:ext cx="6336704" cy="3456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5">
            <a:extLst>
              <a:ext uri="{FF2B5EF4-FFF2-40B4-BE49-F238E27FC236}">
                <a16:creationId xmlns:a16="http://schemas.microsoft.com/office/drawing/2014/main" id="{D609434A-29E6-4E70-83CA-4B1357B91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05394" y="3474720"/>
            <a:ext cx="6336704" cy="2517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578775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45</a:t>
            </a:fld>
            <a:endParaRPr lang="es-CL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A5B10B2-2873-5F4D-B732-D2A589EE09C6}"/>
              </a:ext>
            </a:extLst>
          </p:cNvPr>
          <p:cNvSpPr txBox="1"/>
          <p:nvPr/>
        </p:nvSpPr>
        <p:spPr>
          <a:xfrm>
            <a:off x="2027436" y="2931560"/>
            <a:ext cx="77809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Ejercicios Propuestos </a:t>
            </a:r>
          </a:p>
        </p:txBody>
      </p:sp>
      <p:grpSp>
        <p:nvGrpSpPr>
          <p:cNvPr id="4" name="Shape 257">
            <a:extLst>
              <a:ext uri="{FF2B5EF4-FFF2-40B4-BE49-F238E27FC236}">
                <a16:creationId xmlns:a16="http://schemas.microsoft.com/office/drawing/2014/main" id="{04B9F9FE-CAD3-B543-8CDF-E1698D657268}"/>
              </a:ext>
            </a:extLst>
          </p:cNvPr>
          <p:cNvGrpSpPr/>
          <p:nvPr/>
        </p:nvGrpSpPr>
        <p:grpSpPr>
          <a:xfrm>
            <a:off x="5125820" y="1447365"/>
            <a:ext cx="1171845" cy="1045591"/>
            <a:chOff x="5233525" y="4954450"/>
            <a:chExt cx="538275" cy="516350"/>
          </a:xfrm>
        </p:grpSpPr>
        <p:sp>
          <p:nvSpPr>
            <p:cNvPr id="5" name="Shape 258">
              <a:extLst>
                <a:ext uri="{FF2B5EF4-FFF2-40B4-BE49-F238E27FC236}">
                  <a16:creationId xmlns:a16="http://schemas.microsoft.com/office/drawing/2014/main" id="{3E8DF75F-16CC-044D-B3EB-21E22FDE5D71}"/>
                </a:ext>
              </a:extLst>
            </p:cNvPr>
            <p:cNvSpPr/>
            <p:nvPr/>
          </p:nvSpPr>
          <p:spPr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" name="Shape 259">
              <a:extLst>
                <a:ext uri="{FF2B5EF4-FFF2-40B4-BE49-F238E27FC236}">
                  <a16:creationId xmlns:a16="http://schemas.microsoft.com/office/drawing/2014/main" id="{00E51DBF-8113-B84A-A35D-3F18272B4179}"/>
                </a:ext>
              </a:extLst>
            </p:cNvPr>
            <p:cNvSpPr/>
            <p:nvPr/>
          </p:nvSpPr>
          <p:spPr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0" t="0" r="0" b="0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" name="Shape 260">
              <a:extLst>
                <a:ext uri="{FF2B5EF4-FFF2-40B4-BE49-F238E27FC236}">
                  <a16:creationId xmlns:a16="http://schemas.microsoft.com/office/drawing/2014/main" id="{05CBC384-9B02-6C47-A556-79B0CE94ACE9}"/>
                </a:ext>
              </a:extLst>
            </p:cNvPr>
            <p:cNvSpPr/>
            <p:nvPr/>
          </p:nvSpPr>
          <p:spPr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" name="Shape 261">
              <a:extLst>
                <a:ext uri="{FF2B5EF4-FFF2-40B4-BE49-F238E27FC236}">
                  <a16:creationId xmlns:a16="http://schemas.microsoft.com/office/drawing/2014/main" id="{7CB79486-E909-DD4B-8865-6C314698F68D}"/>
                </a:ext>
              </a:extLst>
            </p:cNvPr>
            <p:cNvSpPr/>
            <p:nvPr/>
          </p:nvSpPr>
          <p:spPr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0" t="0" r="0" b="0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Shape 262">
              <a:extLst>
                <a:ext uri="{FF2B5EF4-FFF2-40B4-BE49-F238E27FC236}">
                  <a16:creationId xmlns:a16="http://schemas.microsoft.com/office/drawing/2014/main" id="{BAF265E0-CBE6-4040-907F-05F1F377C216}"/>
                </a:ext>
              </a:extLst>
            </p:cNvPr>
            <p:cNvSpPr/>
            <p:nvPr/>
          </p:nvSpPr>
          <p:spPr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0" t="0" r="0" b="0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Shape 263">
              <a:extLst>
                <a:ext uri="{FF2B5EF4-FFF2-40B4-BE49-F238E27FC236}">
                  <a16:creationId xmlns:a16="http://schemas.microsoft.com/office/drawing/2014/main" id="{86187FDB-D2A0-B342-A64D-09F3799BCEDF}"/>
                </a:ext>
              </a:extLst>
            </p:cNvPr>
            <p:cNvSpPr/>
            <p:nvPr/>
          </p:nvSpPr>
          <p:spPr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0" t="0" r="0" b="0"/>
              <a:pathLst>
                <a:path w="7551" h="7576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" name="Shape 264">
              <a:extLst>
                <a:ext uri="{FF2B5EF4-FFF2-40B4-BE49-F238E27FC236}">
                  <a16:creationId xmlns:a16="http://schemas.microsoft.com/office/drawing/2014/main" id="{82924474-FA90-8C42-A57C-5842FE291D36}"/>
                </a:ext>
              </a:extLst>
            </p:cNvPr>
            <p:cNvSpPr/>
            <p:nvPr/>
          </p:nvSpPr>
          <p:spPr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0" t="0" r="0" b="0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" name="Shape 265">
              <a:extLst>
                <a:ext uri="{FF2B5EF4-FFF2-40B4-BE49-F238E27FC236}">
                  <a16:creationId xmlns:a16="http://schemas.microsoft.com/office/drawing/2014/main" id="{D426B43C-121B-804D-A231-BA36FA3616A2}"/>
                </a:ext>
              </a:extLst>
            </p:cNvPr>
            <p:cNvSpPr/>
            <p:nvPr/>
          </p:nvSpPr>
          <p:spPr>
            <a:xfrm>
              <a:off x="5567800" y="4999500"/>
              <a:ext cx="115100" cy="133975"/>
            </a:xfrm>
            <a:custGeom>
              <a:avLst/>
              <a:gdLst/>
              <a:ahLst/>
              <a:cxnLst/>
              <a:rect l="0" t="0" r="0" b="0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" name="Shape 266">
              <a:extLst>
                <a:ext uri="{FF2B5EF4-FFF2-40B4-BE49-F238E27FC236}">
                  <a16:creationId xmlns:a16="http://schemas.microsoft.com/office/drawing/2014/main" id="{00D2FF67-53FB-234F-B3A8-8CFDF5C33ECF}"/>
                </a:ext>
              </a:extLst>
            </p:cNvPr>
            <p:cNvSpPr/>
            <p:nvPr/>
          </p:nvSpPr>
          <p:spPr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0" t="0" r="0" b="0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" name="Shape 267">
              <a:extLst>
                <a:ext uri="{FF2B5EF4-FFF2-40B4-BE49-F238E27FC236}">
                  <a16:creationId xmlns:a16="http://schemas.microsoft.com/office/drawing/2014/main" id="{3F48E860-50C8-9B4E-B0BD-C55D0C2FE270}"/>
                </a:ext>
              </a:extLst>
            </p:cNvPr>
            <p:cNvSpPr/>
            <p:nvPr/>
          </p:nvSpPr>
          <p:spPr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0" t="0" r="0" b="0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" name="Shape 268">
              <a:extLst>
                <a:ext uri="{FF2B5EF4-FFF2-40B4-BE49-F238E27FC236}">
                  <a16:creationId xmlns:a16="http://schemas.microsoft.com/office/drawing/2014/main" id="{AC1A6B39-DB16-724E-A189-8011253BEA2F}"/>
                </a:ext>
              </a:extLst>
            </p:cNvPr>
            <p:cNvSpPr/>
            <p:nvPr/>
          </p:nvSpPr>
          <p:spPr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0" t="0" r="0" b="0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5B8DDD4-2C36-AA4E-9E46-E55CBAA0C24A}"/>
              </a:ext>
            </a:extLst>
          </p:cNvPr>
          <p:cNvSpPr txBox="1"/>
          <p:nvPr/>
        </p:nvSpPr>
        <p:spPr>
          <a:xfrm>
            <a:off x="3895870" y="5365948"/>
            <a:ext cx="82961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1. Teoría de Gases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A47E410-6910-5442-9C5D-4740EC514D3F}"/>
              </a:ext>
            </a:extLst>
          </p:cNvPr>
          <p:cNvSpPr txBox="1"/>
          <p:nvPr/>
        </p:nvSpPr>
        <p:spPr>
          <a:xfrm>
            <a:off x="308345" y="224147"/>
            <a:ext cx="70332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2</a:t>
            </a:r>
          </a:p>
        </p:txBody>
      </p:sp>
    </p:spTree>
    <p:extLst>
      <p:ext uri="{BB962C8B-B14F-4D97-AF65-F5344CB8AC3E}">
        <p14:creationId xmlns:p14="http://schemas.microsoft.com/office/powerpoint/2010/main" val="37589805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7979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46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30492"/>
            <a:ext cx="184731" cy="515526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lnSpc>
                <a:spcPct val="150000"/>
              </a:lnSpc>
              <a:defRPr/>
            </a:pPr>
            <a:endParaRPr lang="es-CL" sz="20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-7612"/>
            <a:ext cx="184731" cy="515526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200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8" name="7 Rectángulo">
            <a:extLst>
              <a:ext uri="{FF2B5EF4-FFF2-40B4-BE49-F238E27FC236}">
                <a16:creationId xmlns:a16="http://schemas.microsoft.com/office/drawing/2014/main" id="{97AE89F0-B006-2544-9FF1-6E52FB6E2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59080"/>
            <a:ext cx="8854440" cy="977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CL" alt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1. </a:t>
            </a:r>
            <a:r>
              <a:rPr lang="es-CL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Calcular el volumen ocupado por 2,12 moles de monóxido de carbono (CO) a 6.54 atm de presión y 76°C.</a:t>
            </a:r>
          </a:p>
        </p:txBody>
      </p:sp>
      <p:sp>
        <p:nvSpPr>
          <p:cNvPr id="9" name="12 Rectángulo">
            <a:extLst>
              <a:ext uri="{FF2B5EF4-FFF2-40B4-BE49-F238E27FC236}">
                <a16:creationId xmlns:a16="http://schemas.microsoft.com/office/drawing/2014/main" id="{C4578C34-4BA1-4946-9CBB-92942D7B3521}"/>
              </a:ext>
            </a:extLst>
          </p:cNvPr>
          <p:cNvSpPr/>
          <p:nvPr/>
        </p:nvSpPr>
        <p:spPr>
          <a:xfrm>
            <a:off x="228600" y="1402080"/>
            <a:ext cx="8686800" cy="4953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s-CL" sz="200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0" name="13 CuadroTexto">
            <a:extLst>
              <a:ext uri="{FF2B5EF4-FFF2-40B4-BE49-F238E27FC236}">
                <a16:creationId xmlns:a16="http://schemas.microsoft.com/office/drawing/2014/main" id="{BEEFD312-D4C6-3449-B862-35AC75BE5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4836" y="854902"/>
            <a:ext cx="1499128" cy="515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s-CL" altLang="es-CL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 = 9,28 L</a:t>
            </a:r>
          </a:p>
        </p:txBody>
      </p:sp>
      <p:sp>
        <p:nvSpPr>
          <p:cNvPr id="12" name="14 Rectángulo">
            <a:extLst>
              <a:ext uri="{FF2B5EF4-FFF2-40B4-BE49-F238E27FC236}">
                <a16:creationId xmlns:a16="http://schemas.microsoft.com/office/drawing/2014/main" id="{12CFE3DF-D69D-904F-AE2D-0C33736E7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647826"/>
            <a:ext cx="9055364" cy="515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s-CL" alt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2. </a:t>
            </a:r>
            <a:r>
              <a:rPr lang="es-CL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¿Cuál es el volumen (en litros) ocupado por 49.8 g de HCl a CNPT? </a:t>
            </a:r>
          </a:p>
        </p:txBody>
      </p:sp>
      <p:sp>
        <p:nvSpPr>
          <p:cNvPr id="13" name="15 CuadroTexto">
            <a:extLst>
              <a:ext uri="{FF2B5EF4-FFF2-40B4-BE49-F238E27FC236}">
                <a16:creationId xmlns:a16="http://schemas.microsoft.com/office/drawing/2014/main" id="{DF3500E5-301D-9E43-80D5-350CDC552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3856" y="2235518"/>
            <a:ext cx="1499128" cy="515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s-CL" altLang="es-CL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 = 30,6 L</a:t>
            </a:r>
          </a:p>
        </p:txBody>
      </p:sp>
      <p:sp>
        <p:nvSpPr>
          <p:cNvPr id="14" name="16 Rectángulo">
            <a:extLst>
              <a:ext uri="{FF2B5EF4-FFF2-40B4-BE49-F238E27FC236}">
                <a16:creationId xmlns:a16="http://schemas.microsoft.com/office/drawing/2014/main" id="{B020E505-C3EB-F94F-91BF-AC08A9C65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782696"/>
            <a:ext cx="9601200" cy="1438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CL" alt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3. </a:t>
            </a:r>
            <a:r>
              <a:rPr lang="es-CL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Una muestra de nitrógeno N</a:t>
            </a:r>
            <a:r>
              <a:rPr lang="es-CL" alt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gaseoso contenido en un recipiente con un volumen de 2.3 L, a una temperatura de 32°C, ejerce una presión de 4.7 atm. Calcular el número de moles presentes en el gas.</a:t>
            </a:r>
          </a:p>
        </p:txBody>
      </p:sp>
      <p:sp>
        <p:nvSpPr>
          <p:cNvPr id="15" name="18 CuadroTexto">
            <a:extLst>
              <a:ext uri="{FF2B5EF4-FFF2-40B4-BE49-F238E27FC236}">
                <a16:creationId xmlns:a16="http://schemas.microsoft.com/office/drawing/2014/main" id="{51E56FC4-012B-5C4A-998C-5DCC78BDB6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7656" y="3995440"/>
            <a:ext cx="2543175" cy="515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s-CL" altLang="es-CL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 = 0,432 moles</a:t>
            </a:r>
          </a:p>
        </p:txBody>
      </p:sp>
      <p:sp>
        <p:nvSpPr>
          <p:cNvPr id="17" name="19 Rectángulo">
            <a:extLst>
              <a:ext uri="{FF2B5EF4-FFF2-40B4-BE49-F238E27FC236}">
                <a16:creationId xmlns:a16="http://schemas.microsoft.com/office/drawing/2014/main" id="{F8BCF752-1921-CF42-BCFA-BAA61ADE2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983480"/>
            <a:ext cx="10013156" cy="977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CL" alt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4. </a:t>
            </a:r>
            <a:r>
              <a:rPr lang="es-CL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Calcular la presión ejercida por 5 moles de un gas contenido en una recipiente de 500 mL, si la temperatura del sistema es 38°C.</a:t>
            </a:r>
          </a:p>
        </p:txBody>
      </p:sp>
      <p:sp>
        <p:nvSpPr>
          <p:cNvPr id="18" name="20 CuadroTexto">
            <a:extLst>
              <a:ext uri="{FF2B5EF4-FFF2-40B4-BE49-F238E27FC236}">
                <a16:creationId xmlns:a16="http://schemas.microsoft.com/office/drawing/2014/main" id="{C2D00B5C-9E3C-5041-B018-D2CEC286D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0381" y="5984262"/>
            <a:ext cx="2263775" cy="515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s-CL" altLang="es-CL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 = 255, 02 atm</a:t>
            </a:r>
          </a:p>
        </p:txBody>
      </p:sp>
    </p:spTree>
    <p:extLst>
      <p:ext uri="{BB962C8B-B14F-4D97-AF65-F5344CB8AC3E}">
        <p14:creationId xmlns:p14="http://schemas.microsoft.com/office/powerpoint/2010/main" val="33058506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7979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47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7800" y="152412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chemeClr val="accent5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19" name="6 Rectángulo">
            <a:extLst>
              <a:ext uri="{FF2B5EF4-FFF2-40B4-BE49-F238E27FC236}">
                <a16:creationId xmlns:a16="http://schemas.microsoft.com/office/drawing/2014/main" id="{06493FD6-35CD-7744-8BDA-7834279E3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356" y="316232"/>
            <a:ext cx="9297033" cy="3747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1B587C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4E854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4288" indent="-14288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s-CL" alt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5. </a:t>
            </a:r>
            <a:r>
              <a:rPr lang="es-CL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Una muestra de helio tiene un volumen de 0,180 L, una presión de 0,800 atm y una temperatura de 29°C. ¿Cuál es la temperatura de este gas (°C) a un volumen de 90,0 mL y una presión de 3,20 atm?</a:t>
            </a:r>
          </a:p>
          <a:p>
            <a:pPr marL="14288" indent="-14288">
              <a:lnSpc>
                <a:spcPct val="150000"/>
              </a:lnSpc>
              <a:spcBef>
                <a:spcPct val="0"/>
              </a:spcBef>
              <a:buClrTx/>
              <a:buFontTx/>
              <a:buAutoNum type="arabicPeriod"/>
            </a:pPr>
            <a:endParaRPr lang="es-CL" altLang="es-CL" sz="20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14288" indent="-14288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endParaRPr lang="es-CL" altLang="es-CL" sz="20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14288" indent="-14288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endParaRPr lang="es-CL" altLang="es-CL" sz="20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14288" indent="-14288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s-CL" alt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6. </a:t>
            </a:r>
            <a:r>
              <a:rPr lang="es-CL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Una muestra de gas neón, tiene un volumen de 15,0 L en CNPT. ¿Cuál es su volumen (L) a 2,00 atm y –25°C?</a:t>
            </a:r>
          </a:p>
        </p:txBody>
      </p:sp>
      <p:sp>
        <p:nvSpPr>
          <p:cNvPr id="21" name="12 CuadroTexto">
            <a:extLst>
              <a:ext uri="{FF2B5EF4-FFF2-40B4-BE49-F238E27FC236}">
                <a16:creationId xmlns:a16="http://schemas.microsoft.com/office/drawing/2014/main" id="{09EC036D-7234-CD4D-A9AA-96FBD5276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8202" y="2106723"/>
            <a:ext cx="3616457" cy="515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s-CL" altLang="es-CL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 = 603,77 °C = 330,62 K</a:t>
            </a:r>
          </a:p>
        </p:txBody>
      </p:sp>
      <p:sp>
        <p:nvSpPr>
          <p:cNvPr id="22" name="13 CuadroTexto">
            <a:extLst>
              <a:ext uri="{FF2B5EF4-FFF2-40B4-BE49-F238E27FC236}">
                <a16:creationId xmlns:a16="http://schemas.microsoft.com/office/drawing/2014/main" id="{5118738A-E183-9844-90CD-648231EE2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6977" y="3945480"/>
            <a:ext cx="1499128" cy="515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s-CL" altLang="es-CL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 = 6,82 L</a:t>
            </a:r>
          </a:p>
        </p:txBody>
      </p:sp>
      <p:sp>
        <p:nvSpPr>
          <p:cNvPr id="24" name="6 Rectángulo">
            <a:extLst>
              <a:ext uri="{FF2B5EF4-FFF2-40B4-BE49-F238E27FC236}">
                <a16:creationId xmlns:a16="http://schemas.microsoft.com/office/drawing/2014/main" id="{A08B5A54-3691-7245-B2E8-B65994014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356" y="4722015"/>
            <a:ext cx="9668757" cy="1438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CL" alt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7. </a:t>
            </a:r>
            <a:r>
              <a:rPr lang="es-CL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Se ha sintetizado un compuesto gaseoso de Cloro y Oxígeno y su densidad es 7.71 g/L a 36ºC y Presión de 2.88 atm. Calcular la masa molar y determine la formula molecular.</a:t>
            </a:r>
          </a:p>
        </p:txBody>
      </p:sp>
      <p:sp>
        <p:nvSpPr>
          <p:cNvPr id="25" name="14 Rectángulo">
            <a:extLst>
              <a:ext uri="{FF2B5EF4-FFF2-40B4-BE49-F238E27FC236}">
                <a16:creationId xmlns:a16="http://schemas.microsoft.com/office/drawing/2014/main" id="{F3DE645E-C79B-FE49-8137-905F8580E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2607" y="6026242"/>
            <a:ext cx="2903359" cy="515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s-CL" altLang="es-CL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 = 67,8 g/mol; ClO2</a:t>
            </a:r>
          </a:p>
        </p:txBody>
      </p:sp>
    </p:spTree>
    <p:extLst>
      <p:ext uri="{BB962C8B-B14F-4D97-AF65-F5344CB8AC3E}">
        <p14:creationId xmlns:p14="http://schemas.microsoft.com/office/powerpoint/2010/main" val="31223984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7979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48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chemeClr val="accent5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24" name="6 Rectángulo">
            <a:extLst>
              <a:ext uri="{FF2B5EF4-FFF2-40B4-BE49-F238E27FC236}">
                <a16:creationId xmlns:a16="http://schemas.microsoft.com/office/drawing/2014/main" id="{0D5920F6-EA2B-534E-9885-83EAEA5A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220" y="227120"/>
            <a:ext cx="9029881" cy="190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CL" alt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8. </a:t>
            </a:r>
            <a:r>
              <a:rPr lang="es-CL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El análisis de un gas indica que contiene 33% de Silicio y 67% de Flúor a 35°C, 0.210 L del compuesto ejerce una presión de 1.70 atmosferas. Si la masa del gas fue 2.38 g. Calcular la formula molecular. Masa molar Si = 28.09 g/mol; F = 19g/mol.</a:t>
            </a:r>
          </a:p>
        </p:txBody>
      </p:sp>
      <p:sp>
        <p:nvSpPr>
          <p:cNvPr id="25" name="14 Rectángulo">
            <a:extLst>
              <a:ext uri="{FF2B5EF4-FFF2-40B4-BE49-F238E27FC236}">
                <a16:creationId xmlns:a16="http://schemas.microsoft.com/office/drawing/2014/main" id="{F0818BF7-5B5B-9D43-BBFD-E0EB58974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4734" y="1944585"/>
            <a:ext cx="1606878" cy="515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s-CL" altLang="es-CL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 = Si</a:t>
            </a:r>
            <a:r>
              <a:rPr lang="es-CL" altLang="es-CL" sz="2000" b="1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</a:t>
            </a:r>
            <a:r>
              <a:rPr lang="es-CL" altLang="es-CL" sz="2000" b="1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6</a:t>
            </a:r>
          </a:p>
        </p:txBody>
      </p:sp>
      <p:sp>
        <p:nvSpPr>
          <p:cNvPr id="26" name="6 Rectángulo">
            <a:extLst>
              <a:ext uri="{FF2B5EF4-FFF2-40B4-BE49-F238E27FC236}">
                <a16:creationId xmlns:a16="http://schemas.microsoft.com/office/drawing/2014/main" id="{05535793-0CF1-CB49-AC0B-FF93AFC2D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382" y="2538828"/>
            <a:ext cx="9593579" cy="190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CL" alt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9. </a:t>
            </a:r>
            <a:r>
              <a:rPr lang="es-CL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Un compuesto gaseoso formado por 78.14% de Boro y 21.86% de H, a 27°C y 74.3mL del gas ejercen una presión de 1.12 atm. Si la masa del gas fue 0.0934 g. ¿Cuál es su formula molecular? Masa molar: B = 10.81 g/mol; H = 1.008 g/mol </a:t>
            </a:r>
          </a:p>
        </p:txBody>
      </p:sp>
      <p:sp>
        <p:nvSpPr>
          <p:cNvPr id="27" name="14 Rectángulo">
            <a:extLst>
              <a:ext uri="{FF2B5EF4-FFF2-40B4-BE49-F238E27FC236}">
                <a16:creationId xmlns:a16="http://schemas.microsoft.com/office/drawing/2014/main" id="{C3FB08D6-D88A-8A49-840A-BC37D7A10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02" y="4177576"/>
            <a:ext cx="1606878" cy="515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s-CL" altLang="es-CL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 = B</a:t>
            </a:r>
            <a:r>
              <a:rPr lang="es-CL" altLang="es-CL" sz="2000" b="1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</a:t>
            </a:r>
            <a:r>
              <a:rPr lang="es-CL" altLang="es-CL" sz="2000" b="1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6</a:t>
            </a:r>
          </a:p>
        </p:txBody>
      </p:sp>
      <p:sp>
        <p:nvSpPr>
          <p:cNvPr id="29" name="6 Rectángulo">
            <a:extLst>
              <a:ext uri="{FF2B5EF4-FFF2-40B4-BE49-F238E27FC236}">
                <a16:creationId xmlns:a16="http://schemas.microsoft.com/office/drawing/2014/main" id="{6CC7F1F1-ABA4-0A47-841A-05074EF1F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578" y="4740367"/>
            <a:ext cx="10212362" cy="977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CL" alt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10 . </a:t>
            </a:r>
            <a:r>
              <a:rPr lang="es-CL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Calcule la densidad del bromuro de hidrógeno (HBr) gaseoso en g/L a 733 mmHg y 46ºC.</a:t>
            </a:r>
          </a:p>
        </p:txBody>
      </p:sp>
      <p:sp>
        <p:nvSpPr>
          <p:cNvPr id="30" name="14 Rectángulo">
            <a:extLst>
              <a:ext uri="{FF2B5EF4-FFF2-40B4-BE49-F238E27FC236}">
                <a16:creationId xmlns:a16="http://schemas.microsoft.com/office/drawing/2014/main" id="{24A8A681-50C0-A649-82CD-D39A949EE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5171" y="5717558"/>
            <a:ext cx="1894109" cy="515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s-CL" altLang="es-CL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 = 2,98 g/L</a:t>
            </a:r>
            <a:endParaRPr lang="es-CL" altLang="es-CL" sz="2000" b="1" baseline="-25000" dirty="0">
              <a:solidFill>
                <a:schemeClr val="tx1">
                  <a:lumMod val="65000"/>
                  <a:lumOff val="3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3246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7979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49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chemeClr val="accent5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CBD04232-9FAD-4742-BDBD-418598266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56" y="298974"/>
            <a:ext cx="9016361" cy="1438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1B587C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4E854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s-ES_tradnl" alt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11. </a:t>
            </a:r>
            <a:r>
              <a:rPr lang="es-ES_tradnl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Es relativamente fácil conseguir una presión tan baja como 1,0 x 10</a:t>
            </a:r>
            <a:r>
              <a:rPr lang="es-ES_tradnl" altLang="es-C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-6 </a:t>
            </a:r>
            <a:r>
              <a:rPr lang="es-ES_tradnl" altLang="es-CL" sz="2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mmHg</a:t>
            </a:r>
            <a:r>
              <a:rPr lang="es-ES_tradnl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usando una bomba de difusión. ¿Cuántas moléculas de gas ideal habrá en 1 L. a 25ºC en estas condiciones?</a:t>
            </a:r>
          </a:p>
        </p:txBody>
      </p:sp>
      <p:sp>
        <p:nvSpPr>
          <p:cNvPr id="12" name="Text Box 2">
            <a:extLst>
              <a:ext uri="{FF2B5EF4-FFF2-40B4-BE49-F238E27FC236}">
                <a16:creationId xmlns:a16="http://schemas.microsoft.com/office/drawing/2014/main" id="{801B6217-EF3D-5F42-A943-25199FA00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656" y="2292103"/>
            <a:ext cx="9611272" cy="1438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alt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12.  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La presión parcial de vapor de agua en el aire de un recinto es de 10,8 mm a 22 </a:t>
            </a:r>
            <a:r>
              <a:rPr lang="es-ES" altLang="es-CL" sz="2000" baseline="30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</a:t>
            </a:r>
            <a:r>
              <a:rPr lang="es-ES" altLang="es-CL" sz="2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C.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Si la presión de vapor de agua, a esa temperatura es de 19,8 </a:t>
            </a:r>
            <a:r>
              <a:rPr lang="es-ES" altLang="es-CL" sz="2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mm.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¿Cuál es la humedad relativa del recinto?.</a:t>
            </a:r>
          </a:p>
        </p:txBody>
      </p:sp>
      <p:sp>
        <p:nvSpPr>
          <p:cNvPr id="13" name="14 Rectángulo">
            <a:extLst>
              <a:ext uri="{FF2B5EF4-FFF2-40B4-BE49-F238E27FC236}">
                <a16:creationId xmlns:a16="http://schemas.microsoft.com/office/drawing/2014/main" id="{73168F45-DC8E-1949-AA39-90ABACD5C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7660" y="3730958"/>
            <a:ext cx="1606878" cy="515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s-CL" altLang="es-CL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 = 54.5 %</a:t>
            </a:r>
            <a:endParaRPr lang="es-CL" altLang="es-CL" sz="2000" b="1" baseline="-25000" dirty="0">
              <a:solidFill>
                <a:schemeClr val="tx1">
                  <a:lumMod val="65000"/>
                  <a:lumOff val="3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4" name="14 Rectángulo">
            <a:extLst>
              <a:ext uri="{FF2B5EF4-FFF2-40B4-BE49-F238E27FC236}">
                <a16:creationId xmlns:a16="http://schemas.microsoft.com/office/drawing/2014/main" id="{4CE8BF7D-8F96-A149-9C29-DA8B6B29B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6359" y="1661161"/>
            <a:ext cx="3584297" cy="515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s-CL" altLang="es-CL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 = 3,3 x 10</a:t>
            </a:r>
            <a:r>
              <a:rPr lang="es-CL" altLang="es-CL" sz="2000" b="1" baseline="300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13</a:t>
            </a:r>
            <a:r>
              <a:rPr lang="es-CL" altLang="es-CL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moléculas</a:t>
            </a:r>
            <a:endParaRPr lang="es-CL" altLang="es-CL" sz="2000" b="1" baseline="-25000" dirty="0">
              <a:solidFill>
                <a:schemeClr val="tx1">
                  <a:lumMod val="65000"/>
                  <a:lumOff val="3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6032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50</a:t>
            </a:fld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46684" y="1426351"/>
            <a:ext cx="6096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913503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14008</TotalTime>
  <Words>2672</Words>
  <Application>Microsoft Office PowerPoint</Application>
  <PresentationFormat>Panorámica</PresentationFormat>
  <Paragraphs>370</Paragraphs>
  <Slides>50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50</vt:i4>
      </vt:variant>
    </vt:vector>
  </HeadingPairs>
  <TitlesOfParts>
    <vt:vector size="61" baseType="lpstr">
      <vt:lpstr>Arial</vt:lpstr>
      <vt:lpstr>Calibri</vt:lpstr>
      <vt:lpstr>Calibri Light</vt:lpstr>
      <vt:lpstr>Cambria Math</vt:lpstr>
      <vt:lpstr>Impact</vt:lpstr>
      <vt:lpstr>Karla</vt:lpstr>
      <vt:lpstr>Lucida Sans Unicode</vt:lpstr>
      <vt:lpstr>Symbol</vt:lpstr>
      <vt:lpstr>Times New Roman</vt:lpstr>
      <vt:lpstr>Wingdings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Patricio Hermosilla Ibáñez</dc:creator>
  <cp:lastModifiedBy>Patricio Hermosilla Ibáñez</cp:lastModifiedBy>
  <cp:revision>246</cp:revision>
  <cp:lastPrinted>2020-08-02T03:54:36Z</cp:lastPrinted>
  <dcterms:created xsi:type="dcterms:W3CDTF">2017-08-15T01:11:26Z</dcterms:created>
  <dcterms:modified xsi:type="dcterms:W3CDTF">2020-12-22T14:13:01Z</dcterms:modified>
</cp:coreProperties>
</file>