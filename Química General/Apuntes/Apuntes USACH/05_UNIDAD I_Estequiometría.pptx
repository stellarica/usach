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6"/>
  </p:notesMasterIdLst>
  <p:sldIdLst>
    <p:sldId id="538" r:id="rId2"/>
    <p:sldId id="425" r:id="rId3"/>
    <p:sldId id="471" r:id="rId4"/>
    <p:sldId id="474" r:id="rId5"/>
    <p:sldId id="475" r:id="rId6"/>
    <p:sldId id="491" r:id="rId7"/>
    <p:sldId id="477" r:id="rId8"/>
    <p:sldId id="478" r:id="rId9"/>
    <p:sldId id="479" r:id="rId10"/>
    <p:sldId id="480" r:id="rId11"/>
    <p:sldId id="481" r:id="rId12"/>
    <p:sldId id="482" r:id="rId13"/>
    <p:sldId id="306" r:id="rId14"/>
    <p:sldId id="392" r:id="rId15"/>
    <p:sldId id="519" r:id="rId16"/>
    <p:sldId id="483" r:id="rId17"/>
    <p:sldId id="492" r:id="rId18"/>
    <p:sldId id="493" r:id="rId19"/>
    <p:sldId id="496" r:id="rId20"/>
    <p:sldId id="303" r:id="rId21"/>
    <p:sldId id="387" r:id="rId22"/>
    <p:sldId id="520" r:id="rId23"/>
    <p:sldId id="486" r:id="rId24"/>
    <p:sldId id="505" r:id="rId25"/>
    <p:sldId id="506" r:id="rId26"/>
    <p:sldId id="516" r:id="rId27"/>
    <p:sldId id="511" r:id="rId28"/>
    <p:sldId id="507" r:id="rId29"/>
    <p:sldId id="508" r:id="rId30"/>
    <p:sldId id="512" r:id="rId31"/>
    <p:sldId id="521" r:id="rId32"/>
    <p:sldId id="485" r:id="rId33"/>
    <p:sldId id="509" r:id="rId34"/>
    <p:sldId id="515" r:id="rId35"/>
    <p:sldId id="513" r:id="rId36"/>
    <p:sldId id="494" r:id="rId37"/>
    <p:sldId id="495" r:id="rId38"/>
    <p:sldId id="522" r:id="rId39"/>
    <p:sldId id="484" r:id="rId40"/>
    <p:sldId id="514" r:id="rId41"/>
    <p:sldId id="510" r:id="rId42"/>
    <p:sldId id="517" r:id="rId43"/>
    <p:sldId id="539" r:id="rId44"/>
    <p:sldId id="331" r:id="rId4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2F92"/>
    <a:srgbClr val="FF9300"/>
    <a:srgbClr val="FF40FF"/>
    <a:srgbClr val="008000"/>
    <a:srgbClr val="797979"/>
    <a:srgbClr val="FF2600"/>
    <a:srgbClr val="0432FF"/>
    <a:srgbClr val="FF85FF"/>
    <a:srgbClr val="9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5791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4FB450-3C2F-444B-9D8A-00853E938C60}" type="datetimeFigureOut">
              <a:rPr lang="es-ES_tradnl" smtClean="0"/>
              <a:t>06/11/2020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E8BF0D-A6A6-FD4D-A9E6-5DEC166F13E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37344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21189-4162-4095-A72D-97D1D0A4C38F}" type="datetime1">
              <a:rPr lang="es-CL" smtClean="0"/>
              <a:t>06-11-2020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00936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6C988-3886-4209-952F-6F2351060C4F}" type="datetime1">
              <a:rPr lang="es-CL" smtClean="0"/>
              <a:t>06-11-2020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62385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3FF90-380B-4198-AAB4-EFE3F7E59A8E}" type="datetime1">
              <a:rPr lang="es-CL" smtClean="0"/>
              <a:t>06-11-2020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61957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7B498-9DDE-410B-8204-6F21FFA6E274}" type="datetime1">
              <a:rPr lang="es-CL" smtClean="0"/>
              <a:t>06-11-2020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77543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0F5E6-CD69-49CD-B7D6-2AEC969E30DA}" type="datetime1">
              <a:rPr lang="es-CL" smtClean="0"/>
              <a:t>06-11-2020</a:t>
            </a:fld>
            <a:endParaRPr lang="es-C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41783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C499-432E-4F9C-A348-9F1EBD53816F}" type="datetime1">
              <a:rPr lang="es-CL" smtClean="0"/>
              <a:t>06-11-2020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95183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92564-0253-46B2-8B97-04702F236E08}" type="datetime1">
              <a:rPr lang="es-CL" smtClean="0"/>
              <a:t>06-11-2020</a:t>
            </a:fld>
            <a:endParaRPr lang="es-C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20944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75F27-AD8C-4F52-BAB6-7A4ECCF43A56}" type="datetime1">
              <a:rPr lang="es-CL" smtClean="0"/>
              <a:t>06-11-2020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27934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418ED-4B89-441E-BDE8-0FDAD45DABC3}" type="datetime1">
              <a:rPr lang="es-CL" smtClean="0"/>
              <a:t>06-11-2020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7335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73A9-F609-4366-8CB2-D4C393F6FD2B}" type="datetime1">
              <a:rPr lang="es-CL" smtClean="0"/>
              <a:t>06-11-2020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4626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3A19F-DB7A-441A-B859-6E2BBEF27AD9}" type="datetime1">
              <a:rPr lang="es-CL" smtClean="0"/>
              <a:t>06-11-2020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53360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Empt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sldNum" idx="12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78037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304801" y="-13915"/>
            <a:ext cx="10972420" cy="6885849"/>
          </a:xfrm>
          <a:custGeom>
            <a:avLst/>
            <a:gdLst/>
            <a:ahLst/>
            <a:cxnLst/>
            <a:rect l="0" t="0" r="0" b="0"/>
            <a:pathLst>
              <a:path w="328450" h="206122" extrusionOk="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37" name="Shape 37"/>
          <p:cNvSpPr/>
          <p:nvPr/>
        </p:nvSpPr>
        <p:spPr>
          <a:xfrm>
            <a:off x="1" y="-13915"/>
            <a:ext cx="10972420" cy="6885849"/>
          </a:xfrm>
          <a:custGeom>
            <a:avLst/>
            <a:gdLst/>
            <a:ahLst/>
            <a:cxnLst/>
            <a:rect l="0" t="0" r="0" b="0"/>
            <a:pathLst>
              <a:path w="328450" h="206122" extrusionOk="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xfrm>
            <a:off x="1117800" y="1191333"/>
            <a:ext cx="7098800" cy="6476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1117667" y="2006600"/>
            <a:ext cx="7098800" cy="3007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SzPts val="2000"/>
              <a:buChar char="▸"/>
              <a:defRPr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ldNum" idx="12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04637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BC72F-1C79-4B24-AFC2-4A1995B30CAF}" type="datetime1">
              <a:rPr lang="es-CL" smtClean="0"/>
              <a:t>06-11-2020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CL"/>
              <a:t>PHI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72148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4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11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s-CL" sz="2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Sans Unicode" panose="020B0602030504020204" pitchFamily="34" charset="0"/>
                <a:ea typeface="+mn-ea"/>
                <a:cs typeface="Lucida Sans Unicode" panose="020B0602030504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CL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Sans Unicode" panose="020B0602030504020204" pitchFamily="34" charset="0"/>
              <a:ea typeface="+mn-ea"/>
              <a:cs typeface="Lucida Sans Unicode" panose="020B0602030504020204" pitchFamily="34" charset="0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EAEEBA65-F4E6-CA4F-BCBC-89B74A2B90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56EF4F04-C2EE-E843-A538-78F792225618}"/>
              </a:ext>
            </a:extLst>
          </p:cNvPr>
          <p:cNvSpPr txBox="1"/>
          <p:nvPr/>
        </p:nvSpPr>
        <p:spPr>
          <a:xfrm>
            <a:off x="4567397" y="5237922"/>
            <a:ext cx="74457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arla"/>
                <a:ea typeface="Karla"/>
                <a:cs typeface="+mn-cs"/>
                <a:sym typeface="Karla"/>
              </a:rPr>
              <a:t>6. Estequiometría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F0A3067-708F-2C4B-B3C4-8E3999F7B05C}"/>
              </a:ext>
            </a:extLst>
          </p:cNvPr>
          <p:cNvSpPr txBox="1"/>
          <p:nvPr/>
        </p:nvSpPr>
        <p:spPr>
          <a:xfrm>
            <a:off x="479058" y="421265"/>
            <a:ext cx="35087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arla"/>
                <a:ea typeface="Karla"/>
                <a:cs typeface="+mn-cs"/>
                <a:sym typeface="Karla"/>
              </a:rPr>
              <a:t>Unidad I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83A0D7D-52B9-104D-B524-E1F8E960B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058" y="1908675"/>
            <a:ext cx="64008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515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2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C408AFAA-4364-3846-A217-4B3B73892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54" y="0"/>
            <a:ext cx="8849767" cy="3078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1113" lvl="0" indent="-11113" algn="just" defTabSz="457200">
              <a:lnSpc>
                <a:spcPct val="150000"/>
              </a:lnSpc>
              <a:spcBef>
                <a:spcPct val="20000"/>
              </a:spcBef>
              <a:defRPr/>
            </a:pPr>
            <a:r>
              <a:rPr kumimoji="0" lang="es-ES_tradnl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	</a:t>
            </a:r>
            <a:r>
              <a:rPr lang="es-ES_tradnl" sz="2000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En las reacciones químicas los reactantes se transforman  en productos. Los átomos o iones se reagrupan para formar otras sustancias, constituyendo lo que conocemos como un cambio químico.</a:t>
            </a:r>
          </a:p>
          <a:p>
            <a:pPr marL="11113" lvl="0" indent="-11113" algn="just" defTabSz="457200">
              <a:lnSpc>
                <a:spcPct val="150000"/>
              </a:lnSpc>
              <a:spcBef>
                <a:spcPct val="20000"/>
              </a:spcBef>
              <a:defRPr/>
            </a:pPr>
            <a:r>
              <a:rPr lang="es-ES_tradnl" sz="2000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Las ecuaciones químicas representan las reacciones químicas, describiendo todas las sustancias que participan en el proceso, sus interrelaciones y el tipo de transformación química que se produce.</a:t>
            </a:r>
          </a:p>
          <a:p>
            <a:pPr marL="11113" lvl="0" indent="-11113" algn="just" defTabSz="457200">
              <a:lnSpc>
                <a:spcPct val="150000"/>
              </a:lnSpc>
              <a:spcBef>
                <a:spcPct val="20000"/>
              </a:spcBef>
              <a:defRPr/>
            </a:pPr>
            <a:endParaRPr lang="es-ES_tradnl" sz="2000" kern="0" dirty="0">
              <a:solidFill>
                <a:srgbClr val="1769B5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11113" lvl="0" indent="-11113" algn="just" defTabSz="457200">
              <a:lnSpc>
                <a:spcPct val="150000"/>
              </a:lnSpc>
              <a:spcBef>
                <a:spcPct val="20000"/>
              </a:spcBef>
              <a:defRPr/>
            </a:pPr>
            <a:r>
              <a:rPr lang="es-ES_tradnl" sz="2000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.</a:t>
            </a:r>
          </a:p>
        </p:txBody>
      </p:sp>
      <p:sp>
        <p:nvSpPr>
          <p:cNvPr id="6" name="7 Rectángulo">
            <a:extLst>
              <a:ext uri="{FF2B5EF4-FFF2-40B4-BE49-F238E27FC236}">
                <a16:creationId xmlns:a16="http://schemas.microsoft.com/office/drawing/2014/main" id="{5D5DEF11-D8B7-ED42-B4DC-0675AE4EB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3359" y="3863958"/>
            <a:ext cx="6736909" cy="588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spcAft>
                <a:spcPts val="750"/>
              </a:spcAft>
              <a:buFontTx/>
              <a:buNone/>
            </a:pPr>
            <a:r>
              <a:rPr lang="es-CL" altLang="es-CL" sz="3000" b="1" dirty="0">
                <a:solidFill>
                  <a:srgbClr val="FF2F9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s-CL" altLang="es-CL" sz="3000" b="1" baseline="-25000" dirty="0">
                <a:solidFill>
                  <a:srgbClr val="FF2F9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s-CL" altLang="es-CL" sz="3000" b="1" dirty="0">
                <a:solidFill>
                  <a:srgbClr val="FF2F9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s-CL" altLang="es-CL" sz="3000" b="1" baseline="-25000" dirty="0">
                <a:solidFill>
                  <a:srgbClr val="FF2F9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lang="es-CL" altLang="es-CL" sz="3000" b="1" dirty="0">
                <a:solidFill>
                  <a:srgbClr val="FF2F9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s-CL" altLang="es-CL" sz="3000" b="1" baseline="-25000" dirty="0">
                <a:solidFill>
                  <a:srgbClr val="FF2F9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s-CL" altLang="es-CL" sz="3000" b="1" dirty="0">
                <a:solidFill>
                  <a:srgbClr val="FF2F9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+  6O</a:t>
            </a:r>
            <a:r>
              <a:rPr lang="es-CL" altLang="es-CL" sz="3000" b="1" baseline="-25000" dirty="0">
                <a:solidFill>
                  <a:srgbClr val="FF2F9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2 </a:t>
            </a:r>
            <a:r>
              <a:rPr lang="es-CL" altLang="es-CL" sz="3000" b="1" baseline="-25000" dirty="0">
                <a:solidFill>
                  <a:srgbClr val="FF2F92"/>
                </a:solidFill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  </a:t>
            </a:r>
            <a:r>
              <a:rPr lang="es-CL" altLang="es-CL" sz="3000" b="1" dirty="0">
                <a:solidFill>
                  <a:srgbClr val="FF2F92"/>
                </a:solidFill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</a:t>
            </a:r>
            <a:r>
              <a:rPr lang="es-CL" altLang="es-CL" sz="3000" b="1" baseline="-25000" dirty="0">
                <a:solidFill>
                  <a:srgbClr val="FF2F9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CL" altLang="es-CL" sz="3000" b="1" dirty="0">
                <a:solidFill>
                  <a:srgbClr val="FF2F9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6 H</a:t>
            </a:r>
            <a:r>
              <a:rPr lang="es-CL" altLang="es-CL" sz="3000" b="1" baseline="-25000" dirty="0">
                <a:solidFill>
                  <a:srgbClr val="FF2F9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CL" altLang="es-CL" sz="3000" b="1" dirty="0">
                <a:solidFill>
                  <a:srgbClr val="FF2F9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O + 6 CO</a:t>
            </a:r>
            <a:r>
              <a:rPr lang="es-CL" altLang="es-CL" sz="3000" b="1" baseline="-25000" dirty="0">
                <a:solidFill>
                  <a:srgbClr val="FF2F9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CL" altLang="es-CL" sz="3000" b="1" dirty="0">
                <a:solidFill>
                  <a:srgbClr val="FF2F9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+ 38 ATP</a:t>
            </a:r>
          </a:p>
        </p:txBody>
      </p:sp>
      <p:sp>
        <p:nvSpPr>
          <p:cNvPr id="7" name="9 Rectángulo">
            <a:extLst>
              <a:ext uri="{FF2B5EF4-FFF2-40B4-BE49-F238E27FC236}">
                <a16:creationId xmlns:a16="http://schemas.microsoft.com/office/drawing/2014/main" id="{64DC6649-2160-E84A-8408-7DD32EEF4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3416" y="5982887"/>
            <a:ext cx="6082305" cy="59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15000"/>
              </a:lnSpc>
              <a:spcBef>
                <a:spcPct val="0"/>
              </a:spcBef>
              <a:spcAft>
                <a:spcPts val="750"/>
              </a:spcAft>
              <a:buFontTx/>
              <a:buNone/>
            </a:pPr>
            <a:r>
              <a:rPr lang="es-CL" altLang="es-CL" sz="3000" b="1" dirty="0">
                <a:solidFill>
                  <a:srgbClr val="008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s-CL" altLang="es-CL" sz="3000" b="1" baseline="-25000" dirty="0">
                <a:solidFill>
                  <a:srgbClr val="008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CL" altLang="es-CL" sz="3000" b="1" dirty="0">
                <a:solidFill>
                  <a:srgbClr val="008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+ 6 CO</a:t>
            </a:r>
            <a:r>
              <a:rPr lang="es-CL" altLang="es-CL" sz="3000" b="1" baseline="-25000" dirty="0">
                <a:solidFill>
                  <a:srgbClr val="008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 </a:t>
            </a:r>
            <a:r>
              <a:rPr lang="es-CL" altLang="es-CL" sz="3000" b="1" dirty="0">
                <a:solidFill>
                  <a:srgbClr val="008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Luz </a:t>
            </a:r>
            <a:r>
              <a:rPr lang="es-CL" altLang="es-CL" sz="3000" b="1" dirty="0">
                <a:solidFill>
                  <a:srgbClr val="008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</a:t>
            </a:r>
            <a:r>
              <a:rPr lang="es-CL" altLang="es-CL" sz="3000" b="1" dirty="0">
                <a:solidFill>
                  <a:srgbClr val="008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</a:t>
            </a:r>
            <a:r>
              <a:rPr lang="es-CL" altLang="es-CL" sz="3000" b="1" baseline="-25000" dirty="0">
                <a:solidFill>
                  <a:srgbClr val="008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s-CL" altLang="es-CL" sz="3000" b="1" dirty="0">
                <a:solidFill>
                  <a:srgbClr val="008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s-CL" altLang="es-CL" sz="3000" b="1" baseline="-25000" dirty="0">
                <a:solidFill>
                  <a:srgbClr val="008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lang="es-CL" altLang="es-CL" sz="3000" b="1" dirty="0">
                <a:solidFill>
                  <a:srgbClr val="008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s-CL" altLang="es-CL" sz="3000" b="1" baseline="-25000" dirty="0">
                <a:solidFill>
                  <a:srgbClr val="008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endParaRPr lang="es-CL" altLang="es-CL" sz="3000" b="1" dirty="0">
              <a:solidFill>
                <a:srgbClr val="008000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14" descr="Resultado de imagen para pulmones">
            <a:extLst>
              <a:ext uri="{FF2B5EF4-FFF2-40B4-BE49-F238E27FC236}">
                <a16:creationId xmlns:a16="http://schemas.microsoft.com/office/drawing/2014/main" id="{6E6431AB-F222-BA43-8C85-B629DAB2F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37" y="3917762"/>
            <a:ext cx="2719922" cy="20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Image result for plantas">
            <a:extLst>
              <a:ext uri="{FF2B5EF4-FFF2-40B4-BE49-F238E27FC236}">
                <a16:creationId xmlns:a16="http://schemas.microsoft.com/office/drawing/2014/main" id="{2F808A1A-A2F2-E347-818D-9BC0B9544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3569" y="5010549"/>
            <a:ext cx="27432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9557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pPr/>
              <a:t>3</a:t>
            </a:fld>
            <a:endParaRPr lang="es-CL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6" name="7 Rectángulo">
            <a:extLst>
              <a:ext uri="{FF2B5EF4-FFF2-40B4-BE49-F238E27FC236}">
                <a16:creationId xmlns:a16="http://schemas.microsoft.com/office/drawing/2014/main" id="{02787BFC-42A4-B443-B34E-63465A3E9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3463" y="2887663"/>
            <a:ext cx="8520281" cy="605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spcAft>
                <a:spcPts val="750"/>
              </a:spcAft>
              <a:buFontTx/>
              <a:buNone/>
            </a:pPr>
            <a:r>
              <a:rPr lang="es-CL" altLang="es-CL" sz="3000" b="1" dirty="0">
                <a:solidFill>
                  <a:srgbClr val="0054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C</a:t>
            </a:r>
            <a:r>
              <a:rPr lang="es-CL" altLang="es-CL" sz="3000" b="1" baseline="-25000" dirty="0">
                <a:solidFill>
                  <a:srgbClr val="00B05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6</a:t>
            </a:r>
            <a:r>
              <a:rPr lang="es-CL" altLang="es-CL" sz="3000" b="1" dirty="0">
                <a:solidFill>
                  <a:srgbClr val="0054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H</a:t>
            </a:r>
            <a:r>
              <a:rPr lang="es-CL" altLang="es-CL" sz="3000" b="1" baseline="-25000" dirty="0">
                <a:solidFill>
                  <a:srgbClr val="00B05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12</a:t>
            </a:r>
            <a:r>
              <a:rPr lang="es-CL" altLang="es-CL" sz="3000" b="1" dirty="0">
                <a:solidFill>
                  <a:srgbClr val="0054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O</a:t>
            </a:r>
            <a:r>
              <a:rPr lang="es-CL" altLang="es-CL" sz="3000" b="1" baseline="-25000" dirty="0">
                <a:solidFill>
                  <a:srgbClr val="00B05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6</a:t>
            </a:r>
            <a:r>
              <a:rPr lang="es-CL" altLang="es-CL" sz="3000" b="1" dirty="0">
                <a:solidFill>
                  <a:srgbClr val="0000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 +  </a:t>
            </a:r>
            <a:r>
              <a:rPr lang="es-CL" altLang="es-CL" sz="3000" b="1" dirty="0">
                <a:solidFill>
                  <a:srgbClr val="FF2F92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6</a:t>
            </a:r>
            <a:r>
              <a:rPr lang="es-CL" altLang="es-CL" sz="3000" b="1" dirty="0">
                <a:solidFill>
                  <a:srgbClr val="0054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O</a:t>
            </a:r>
            <a:r>
              <a:rPr lang="es-CL" altLang="es-CL" sz="3000" b="1" baseline="-25000" dirty="0">
                <a:solidFill>
                  <a:srgbClr val="00B05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sz="3000" b="1" baseline="-25000" dirty="0">
                <a:solidFill>
                  <a:srgbClr val="0000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sz="3000" b="1" baseline="-25000" dirty="0">
                <a:solidFill>
                  <a:srgbClr val="0000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  </a:t>
            </a:r>
            <a:r>
              <a:rPr lang="es-CL" altLang="es-CL" sz="3000" b="1" dirty="0">
                <a:solidFill>
                  <a:srgbClr val="0054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</a:t>
            </a:r>
            <a:r>
              <a:rPr lang="es-CL" altLang="es-CL" sz="3000" b="1" baseline="-25000" dirty="0">
                <a:solidFill>
                  <a:srgbClr val="0000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sz="3000" b="1" dirty="0">
                <a:solidFill>
                  <a:srgbClr val="FF2F92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6</a:t>
            </a:r>
            <a:r>
              <a:rPr lang="es-CL" altLang="es-CL" sz="3000" b="1" dirty="0">
                <a:solidFill>
                  <a:srgbClr val="0000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sz="3000" b="1" dirty="0">
                <a:solidFill>
                  <a:srgbClr val="0054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H</a:t>
            </a:r>
            <a:r>
              <a:rPr lang="es-CL" altLang="es-CL" sz="3000" b="1" baseline="-25000" dirty="0">
                <a:solidFill>
                  <a:srgbClr val="00B05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sz="3000" b="1" dirty="0">
                <a:solidFill>
                  <a:srgbClr val="0054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O</a:t>
            </a:r>
            <a:r>
              <a:rPr lang="es-CL" altLang="es-CL" sz="3000" b="1" dirty="0">
                <a:solidFill>
                  <a:srgbClr val="0000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sz="3000" b="1" dirty="0">
                <a:solidFill>
                  <a:srgbClr val="0054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+</a:t>
            </a:r>
            <a:r>
              <a:rPr lang="es-CL" altLang="es-CL" sz="3000" b="1" dirty="0">
                <a:solidFill>
                  <a:srgbClr val="0000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sz="3000" b="1" dirty="0">
                <a:solidFill>
                  <a:srgbClr val="FF2F92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6</a:t>
            </a:r>
            <a:r>
              <a:rPr lang="es-CL" altLang="es-CL" sz="3000" b="1" dirty="0">
                <a:solidFill>
                  <a:srgbClr val="0000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sz="3000" b="1" dirty="0">
                <a:solidFill>
                  <a:srgbClr val="0054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CO</a:t>
            </a:r>
            <a:r>
              <a:rPr lang="es-CL" altLang="es-CL" sz="3000" b="1" baseline="-25000" dirty="0">
                <a:solidFill>
                  <a:srgbClr val="00B05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sz="3000" b="1" dirty="0">
                <a:solidFill>
                  <a:srgbClr val="0000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+ </a:t>
            </a:r>
            <a:r>
              <a:rPr lang="es-CL" altLang="es-CL" sz="3000" b="1" dirty="0">
                <a:solidFill>
                  <a:srgbClr val="FF2F92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38</a:t>
            </a:r>
            <a:r>
              <a:rPr lang="es-CL" altLang="es-CL" sz="3000" b="1" dirty="0">
                <a:solidFill>
                  <a:srgbClr val="0000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sz="3000" b="1" dirty="0">
                <a:solidFill>
                  <a:srgbClr val="0054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ATP</a:t>
            </a:r>
          </a:p>
        </p:txBody>
      </p:sp>
      <p:sp>
        <p:nvSpPr>
          <p:cNvPr id="7" name="CuadroTexto 2">
            <a:extLst>
              <a:ext uri="{FF2B5EF4-FFF2-40B4-BE49-F238E27FC236}">
                <a16:creationId xmlns:a16="http://schemas.microsoft.com/office/drawing/2014/main" id="{0A155A48-AB9E-3C4F-9978-652714BE9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0393" y="2181529"/>
            <a:ext cx="30601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CL" altLang="es-CL" sz="18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  </a:t>
            </a:r>
            <a:r>
              <a:rPr lang="es-CL" altLang="es-CL" sz="1800" b="1" dirty="0">
                <a:solidFill>
                  <a:srgbClr val="FF9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Reactivos</a:t>
            </a:r>
            <a:r>
              <a:rPr lang="es-CL" altLang="es-CL" sz="1800" dirty="0">
                <a:solidFill>
                  <a:srgbClr val="FF9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sz="1800" b="1" dirty="0">
                <a:solidFill>
                  <a:srgbClr val="FF9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 Reactantes</a:t>
            </a:r>
          </a:p>
        </p:txBody>
      </p:sp>
      <p:sp>
        <p:nvSpPr>
          <p:cNvPr id="8" name="CuadroTexto 3">
            <a:extLst>
              <a:ext uri="{FF2B5EF4-FFF2-40B4-BE49-F238E27FC236}">
                <a16:creationId xmlns:a16="http://schemas.microsoft.com/office/drawing/2014/main" id="{E0267B27-31A9-ED41-B01F-E4E5DDDF8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5712" y="2201254"/>
            <a:ext cx="21605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CL" altLang="es-CL" sz="1800" b="1" dirty="0">
                <a:solidFill>
                  <a:srgbClr val="9420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Productos</a:t>
            </a:r>
          </a:p>
        </p:txBody>
      </p:sp>
      <p:sp>
        <p:nvSpPr>
          <p:cNvPr id="9" name="CuadroTexto 4">
            <a:extLst>
              <a:ext uri="{FF2B5EF4-FFF2-40B4-BE49-F238E27FC236}">
                <a16:creationId xmlns:a16="http://schemas.microsoft.com/office/drawing/2014/main" id="{9DB6F728-6B08-1642-A8F6-7F29948076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097" y="388809"/>
            <a:ext cx="8177212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s-CL" b="1" dirty="0">
                <a:solidFill>
                  <a:srgbClr val="0054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Componentes de una Ecuación Química</a:t>
            </a:r>
          </a:p>
        </p:txBody>
      </p:sp>
      <p:sp>
        <p:nvSpPr>
          <p:cNvPr id="10" name="CuadroTexto 5">
            <a:extLst>
              <a:ext uri="{FF2B5EF4-FFF2-40B4-BE49-F238E27FC236}">
                <a16:creationId xmlns:a16="http://schemas.microsoft.com/office/drawing/2014/main" id="{1241D3AE-891D-6F47-A044-04062E921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3702050"/>
            <a:ext cx="216058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s-CL" sz="18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Coeficientes estequiométricos</a:t>
            </a:r>
          </a:p>
        </p:txBody>
      </p:sp>
      <p:sp>
        <p:nvSpPr>
          <p:cNvPr id="13" name="CuadroTexto 6">
            <a:extLst>
              <a:ext uri="{FF2B5EF4-FFF2-40B4-BE49-F238E27FC236}">
                <a16:creationId xmlns:a16="http://schemas.microsoft.com/office/drawing/2014/main" id="{44FB450C-5DBC-104E-A033-54411ACD6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2313" y="3884027"/>
            <a:ext cx="21605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s-CL" sz="180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Número de átomos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BD53A623-9F09-BC41-B509-1D8F6ED78CC9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7472607" y="3458277"/>
            <a:ext cx="0" cy="425750"/>
          </a:xfrm>
          <a:prstGeom prst="straightConnector1">
            <a:avLst/>
          </a:prstGeom>
          <a:ln w="28575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CC9B4A6F-13FD-4B41-9AE5-26035C9EC779}"/>
              </a:ext>
            </a:extLst>
          </p:cNvPr>
          <p:cNvCxnSpPr>
            <a:cxnSpLocks/>
          </p:cNvCxnSpPr>
          <p:nvPr/>
        </p:nvCxnSpPr>
        <p:spPr>
          <a:xfrm>
            <a:off x="3461483" y="3385600"/>
            <a:ext cx="0" cy="343752"/>
          </a:xfrm>
          <a:prstGeom prst="straightConnector1">
            <a:avLst/>
          </a:prstGeom>
          <a:ln w="28575">
            <a:solidFill>
              <a:srgbClr val="FF2F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F88CDC36-3CA4-4040-B7E9-25A032C9EF7A}"/>
              </a:ext>
            </a:extLst>
          </p:cNvPr>
          <p:cNvCxnSpPr>
            <a:cxnSpLocks/>
          </p:cNvCxnSpPr>
          <p:nvPr/>
        </p:nvCxnSpPr>
        <p:spPr>
          <a:xfrm flipH="1">
            <a:off x="4120587" y="3385600"/>
            <a:ext cx="744390" cy="639506"/>
          </a:xfrm>
          <a:prstGeom prst="straightConnector1">
            <a:avLst/>
          </a:prstGeom>
          <a:ln w="28575">
            <a:solidFill>
              <a:srgbClr val="FF2F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2">
            <a:extLst>
              <a:ext uri="{FF2B5EF4-FFF2-40B4-BE49-F238E27FC236}">
                <a16:creationId xmlns:a16="http://schemas.microsoft.com/office/drawing/2014/main" id="{0CC573E8-D3F0-0641-A6A8-295F9E0E79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032" y="4712553"/>
            <a:ext cx="9973056" cy="888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CL" altLang="es-CL" sz="1800" dirty="0">
                <a:solidFill>
                  <a:srgbClr val="0054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 mol de glucosa reacciona con 6 moles de oxígeno, para formar 6 moles de agua, 6 moles de dióxido de carbono y 38 moles de ATP.</a:t>
            </a:r>
          </a:p>
        </p:txBody>
      </p:sp>
      <p:sp>
        <p:nvSpPr>
          <p:cNvPr id="19" name="Abrir llave 18">
            <a:extLst>
              <a:ext uri="{FF2B5EF4-FFF2-40B4-BE49-F238E27FC236}">
                <a16:creationId xmlns:a16="http://schemas.microsoft.com/office/drawing/2014/main" id="{467CE7FE-24DC-6046-A657-CA34E2E7875A}"/>
              </a:ext>
            </a:extLst>
          </p:cNvPr>
          <p:cNvSpPr/>
          <p:nvPr/>
        </p:nvSpPr>
        <p:spPr>
          <a:xfrm rot="5400000">
            <a:off x="2502411" y="1398076"/>
            <a:ext cx="303212" cy="2933135"/>
          </a:xfrm>
          <a:prstGeom prst="leftBrace">
            <a:avLst/>
          </a:prstGeom>
          <a:ln w="28575">
            <a:solidFill>
              <a:srgbClr val="FF9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s-CL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20" name="Abrir llave 19">
            <a:extLst>
              <a:ext uri="{FF2B5EF4-FFF2-40B4-BE49-F238E27FC236}">
                <a16:creationId xmlns:a16="http://schemas.microsoft.com/office/drawing/2014/main" id="{A0872D96-0EAF-E943-8331-61E317B5968F}"/>
              </a:ext>
            </a:extLst>
          </p:cNvPr>
          <p:cNvSpPr/>
          <p:nvPr/>
        </p:nvSpPr>
        <p:spPr>
          <a:xfrm rot="5400000">
            <a:off x="6904400" y="492768"/>
            <a:ext cx="303213" cy="4638980"/>
          </a:xfrm>
          <a:prstGeom prst="leftBrace">
            <a:avLst/>
          </a:prstGeom>
          <a:ln w="28575">
            <a:solidFill>
              <a:srgbClr val="9420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s-CL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007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pPr/>
              <a:t>4</a:t>
            </a:fld>
            <a:endParaRPr lang="es-CL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7" name="CuadroTexto 4">
            <a:extLst>
              <a:ext uri="{FF2B5EF4-FFF2-40B4-BE49-F238E27FC236}">
                <a16:creationId xmlns:a16="http://schemas.microsoft.com/office/drawing/2014/main" id="{68DF72AA-6B89-7E43-8DB9-C533B70C7A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863" y="268315"/>
            <a:ext cx="4726802" cy="58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s-CL" b="1" dirty="0">
                <a:solidFill>
                  <a:srgbClr val="0054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Tipo de Reacciones</a:t>
            </a:r>
          </a:p>
        </p:txBody>
      </p:sp>
      <p:sp>
        <p:nvSpPr>
          <p:cNvPr id="8" name="7 Rectángulo">
            <a:extLst>
              <a:ext uri="{FF2B5EF4-FFF2-40B4-BE49-F238E27FC236}">
                <a16:creationId xmlns:a16="http://schemas.microsoft.com/office/drawing/2014/main" id="{A1C7C3DC-BE77-E04D-A5FA-41119E1D0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709" y="1094130"/>
            <a:ext cx="8085868" cy="1872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spcAft>
                <a:spcPts val="750"/>
              </a:spcAft>
              <a:buFontTx/>
              <a:buNone/>
            </a:pPr>
            <a:r>
              <a:rPr lang="es-CL" altLang="es-CL" sz="3000" b="1" dirty="0">
                <a:solidFill>
                  <a:srgbClr val="FF2F92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Combinación            </a:t>
            </a:r>
          </a:p>
          <a:p>
            <a:pPr>
              <a:lnSpc>
                <a:spcPct val="115000"/>
              </a:lnSpc>
              <a:spcBef>
                <a:spcPct val="0"/>
              </a:spcBef>
              <a:spcAft>
                <a:spcPts val="750"/>
              </a:spcAft>
              <a:buFontTx/>
              <a:buNone/>
            </a:pPr>
            <a:r>
              <a:rPr lang="es-CL" altLang="es-CL" sz="3000" b="1" dirty="0">
                <a:solidFill>
                  <a:srgbClr val="FF2F92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                                2 H</a:t>
            </a:r>
            <a:r>
              <a:rPr lang="es-CL" altLang="es-CL" sz="3000" b="1" baseline="-25000" dirty="0">
                <a:solidFill>
                  <a:srgbClr val="FF2F92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sz="3000" b="1" dirty="0">
                <a:solidFill>
                  <a:srgbClr val="FF2F92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 + O</a:t>
            </a:r>
            <a:r>
              <a:rPr lang="es-CL" altLang="es-CL" sz="3000" b="1" baseline="-25000" dirty="0">
                <a:solidFill>
                  <a:srgbClr val="FF2F92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 </a:t>
            </a:r>
            <a:r>
              <a:rPr lang="es-CL" altLang="es-CL" sz="3000" b="1" baseline="-25000" dirty="0">
                <a:solidFill>
                  <a:srgbClr val="FF2F92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  </a:t>
            </a:r>
            <a:r>
              <a:rPr lang="es-CL" altLang="es-CL" sz="3000" b="1" dirty="0">
                <a:solidFill>
                  <a:srgbClr val="FF2F92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</a:t>
            </a:r>
            <a:r>
              <a:rPr lang="es-CL" altLang="es-CL" sz="3000" b="1" baseline="-25000" dirty="0">
                <a:solidFill>
                  <a:srgbClr val="FF2F92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sz="3000" b="1" dirty="0">
                <a:solidFill>
                  <a:srgbClr val="FF2F92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2 H</a:t>
            </a:r>
            <a:r>
              <a:rPr lang="es-CL" altLang="es-CL" sz="3000" b="1" baseline="-25000" dirty="0">
                <a:solidFill>
                  <a:srgbClr val="FF2F92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sz="3000" b="1" dirty="0">
                <a:solidFill>
                  <a:srgbClr val="FF2F92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O</a:t>
            </a:r>
          </a:p>
          <a:p>
            <a:pPr>
              <a:lnSpc>
                <a:spcPct val="115000"/>
              </a:lnSpc>
              <a:spcBef>
                <a:spcPct val="0"/>
              </a:spcBef>
              <a:spcAft>
                <a:spcPts val="750"/>
              </a:spcAft>
              <a:buFontTx/>
              <a:buNone/>
            </a:pPr>
            <a:r>
              <a:rPr lang="es-CL" altLang="es-CL" sz="3000" b="1" dirty="0">
                <a:solidFill>
                  <a:srgbClr val="FF2F92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                                  </a:t>
            </a:r>
          </a:p>
        </p:txBody>
      </p:sp>
      <p:sp>
        <p:nvSpPr>
          <p:cNvPr id="10" name="7 Rectángulo">
            <a:extLst>
              <a:ext uri="{FF2B5EF4-FFF2-40B4-BE49-F238E27FC236}">
                <a16:creationId xmlns:a16="http://schemas.microsoft.com/office/drawing/2014/main" id="{79C4A27E-359E-FC41-9524-362B6C6AC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997" y="2379587"/>
            <a:ext cx="8526693" cy="1239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spcAft>
                <a:spcPts val="750"/>
              </a:spcAft>
              <a:buFontTx/>
              <a:buNone/>
            </a:pPr>
            <a:r>
              <a:rPr lang="es-CL" altLang="es-CL" sz="3000" b="1" dirty="0">
                <a:solidFill>
                  <a:srgbClr val="0080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Descomposición       </a:t>
            </a:r>
          </a:p>
          <a:p>
            <a:pPr>
              <a:lnSpc>
                <a:spcPct val="115000"/>
              </a:lnSpc>
              <a:spcBef>
                <a:spcPct val="0"/>
              </a:spcBef>
              <a:spcAft>
                <a:spcPts val="750"/>
              </a:spcAft>
              <a:buFontTx/>
              <a:buNone/>
            </a:pPr>
            <a:r>
              <a:rPr lang="es-CL" altLang="es-CL" sz="3000" b="1" dirty="0">
                <a:solidFill>
                  <a:srgbClr val="0080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                                2 HgO    </a:t>
            </a:r>
            <a:r>
              <a:rPr lang="es-CL" altLang="es-CL" sz="3000" b="1" baseline="-25000" dirty="0">
                <a:solidFill>
                  <a:srgbClr val="0080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  </a:t>
            </a:r>
            <a:r>
              <a:rPr lang="es-CL" altLang="es-CL" sz="3000" b="1" dirty="0">
                <a:solidFill>
                  <a:srgbClr val="0080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</a:t>
            </a:r>
            <a:r>
              <a:rPr lang="es-CL" altLang="es-CL" sz="3000" b="1" baseline="-25000" dirty="0">
                <a:solidFill>
                  <a:srgbClr val="0080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sz="3000" b="1" dirty="0">
                <a:solidFill>
                  <a:srgbClr val="0080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2 Hg + O</a:t>
            </a:r>
            <a:r>
              <a:rPr lang="es-CL" altLang="es-CL" sz="3000" b="1" baseline="-25000" dirty="0">
                <a:solidFill>
                  <a:srgbClr val="0080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</a:t>
            </a:r>
          </a:p>
        </p:txBody>
      </p:sp>
      <p:sp>
        <p:nvSpPr>
          <p:cNvPr id="12" name="7 Rectángulo">
            <a:extLst>
              <a:ext uri="{FF2B5EF4-FFF2-40B4-BE49-F238E27FC236}">
                <a16:creationId xmlns:a16="http://schemas.microsoft.com/office/drawing/2014/main" id="{670200C9-1DD4-7249-8C3C-AE069E533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851" y="3665044"/>
            <a:ext cx="8440131" cy="1239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spcAft>
                <a:spcPts val="750"/>
              </a:spcAft>
              <a:buFontTx/>
              <a:buNone/>
            </a:pPr>
            <a:r>
              <a:rPr lang="es-CL" altLang="es-CL" sz="3000" b="1" dirty="0">
                <a:solidFill>
                  <a:srgbClr val="9420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Disociación    </a:t>
            </a:r>
          </a:p>
          <a:p>
            <a:pPr>
              <a:lnSpc>
                <a:spcPct val="115000"/>
              </a:lnSpc>
              <a:spcBef>
                <a:spcPct val="0"/>
              </a:spcBef>
              <a:spcAft>
                <a:spcPts val="750"/>
              </a:spcAft>
              <a:buFontTx/>
              <a:buNone/>
            </a:pPr>
            <a:r>
              <a:rPr lang="es-CL" altLang="es-CL" sz="3000" b="1" dirty="0">
                <a:solidFill>
                  <a:srgbClr val="9420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                                 PCl</a:t>
            </a:r>
            <a:r>
              <a:rPr lang="es-CL" altLang="es-CL" sz="3000" b="1" baseline="-25000" dirty="0">
                <a:solidFill>
                  <a:srgbClr val="9420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5</a:t>
            </a:r>
            <a:r>
              <a:rPr lang="es-CL" altLang="es-CL" sz="3000" b="1" dirty="0">
                <a:solidFill>
                  <a:srgbClr val="9420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sz="3000" b="1" baseline="-25000" dirty="0">
                <a:solidFill>
                  <a:srgbClr val="9420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       </a:t>
            </a:r>
            <a:r>
              <a:rPr lang="es-CL" altLang="es-CL" sz="3000" b="1" dirty="0">
                <a:solidFill>
                  <a:srgbClr val="9420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</a:t>
            </a:r>
            <a:r>
              <a:rPr lang="es-CL" altLang="es-CL" sz="3000" b="1" baseline="-25000" dirty="0">
                <a:solidFill>
                  <a:srgbClr val="9420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sz="3000" b="1" dirty="0">
                <a:solidFill>
                  <a:srgbClr val="9420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 PCl</a:t>
            </a:r>
            <a:r>
              <a:rPr lang="es-CL" altLang="es-CL" sz="3000" b="1" baseline="-25000" dirty="0">
                <a:solidFill>
                  <a:srgbClr val="9420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3</a:t>
            </a:r>
            <a:r>
              <a:rPr lang="es-CL" altLang="es-CL" sz="3000" b="1" dirty="0">
                <a:solidFill>
                  <a:srgbClr val="9420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+ Cl</a:t>
            </a:r>
            <a:r>
              <a:rPr lang="es-CL" altLang="es-CL" sz="3000" b="1" baseline="-25000" dirty="0">
                <a:solidFill>
                  <a:srgbClr val="9420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</a:t>
            </a:r>
            <a:endParaRPr lang="es-CL" altLang="es-CL" sz="3000" b="1" dirty="0">
              <a:solidFill>
                <a:srgbClr val="942093"/>
              </a:solidFill>
              <a:latin typeface="Lucida Sans Unicode" panose="020B0602030504020204" pitchFamily="34" charset="0"/>
              <a:ea typeface="Calibri" panose="020F050202020403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3" name="7 Rectángulo">
            <a:extLst>
              <a:ext uri="{FF2B5EF4-FFF2-40B4-BE49-F238E27FC236}">
                <a16:creationId xmlns:a16="http://schemas.microsoft.com/office/drawing/2014/main" id="{964CB9F9-44DA-6940-B522-AD9B27B98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851" y="5093693"/>
            <a:ext cx="9706503" cy="1239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spcAft>
                <a:spcPts val="750"/>
              </a:spcAft>
              <a:buFontTx/>
              <a:buNone/>
            </a:pPr>
            <a:r>
              <a:rPr lang="es-CL" altLang="es-CL" sz="3000" b="1" dirty="0">
                <a:solidFill>
                  <a:srgbClr val="0432FF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Sustitución</a:t>
            </a:r>
          </a:p>
          <a:p>
            <a:pPr>
              <a:lnSpc>
                <a:spcPct val="115000"/>
              </a:lnSpc>
              <a:spcBef>
                <a:spcPct val="0"/>
              </a:spcBef>
              <a:spcAft>
                <a:spcPts val="750"/>
              </a:spcAft>
              <a:buFontTx/>
              <a:buNone/>
            </a:pPr>
            <a:r>
              <a:rPr lang="es-CL" altLang="es-CL" sz="3000" b="1" dirty="0">
                <a:solidFill>
                  <a:srgbClr val="0432FF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                               CuSO</a:t>
            </a:r>
            <a:r>
              <a:rPr lang="es-CL" altLang="es-CL" sz="3000" b="1" baseline="-25000" dirty="0">
                <a:solidFill>
                  <a:srgbClr val="0432FF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4</a:t>
            </a:r>
            <a:r>
              <a:rPr lang="es-CL" altLang="es-CL" sz="3000" b="1" dirty="0">
                <a:solidFill>
                  <a:srgbClr val="0432FF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sz="3000" b="1" baseline="-25000" dirty="0">
                <a:solidFill>
                  <a:srgbClr val="0432FF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 </a:t>
            </a:r>
            <a:r>
              <a:rPr lang="es-CL" altLang="es-CL" sz="3000" b="1" dirty="0">
                <a:solidFill>
                  <a:srgbClr val="0432FF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+ Zn   </a:t>
            </a:r>
            <a:r>
              <a:rPr lang="es-CL" altLang="es-CL" sz="3000" b="1" baseline="-25000" dirty="0">
                <a:solidFill>
                  <a:srgbClr val="0432FF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 </a:t>
            </a:r>
            <a:r>
              <a:rPr lang="es-CL" altLang="es-CL" sz="3000" b="1" dirty="0">
                <a:solidFill>
                  <a:srgbClr val="0432FF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</a:t>
            </a:r>
            <a:r>
              <a:rPr lang="es-CL" altLang="es-CL" sz="3000" b="1" baseline="-25000" dirty="0">
                <a:solidFill>
                  <a:srgbClr val="0432FF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sz="3000" b="1" dirty="0">
                <a:solidFill>
                  <a:srgbClr val="0432FF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 ZnSO</a:t>
            </a:r>
            <a:r>
              <a:rPr lang="es-CL" altLang="es-CL" sz="3000" b="1" baseline="-25000" dirty="0">
                <a:solidFill>
                  <a:srgbClr val="0432FF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4</a:t>
            </a:r>
            <a:r>
              <a:rPr lang="es-CL" altLang="es-CL" sz="3000" b="1" dirty="0">
                <a:solidFill>
                  <a:srgbClr val="0432FF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+ Cu</a:t>
            </a:r>
          </a:p>
        </p:txBody>
      </p:sp>
    </p:spTree>
    <p:extLst>
      <p:ext uri="{BB962C8B-B14F-4D97-AF65-F5344CB8AC3E}">
        <p14:creationId xmlns:p14="http://schemas.microsoft.com/office/powerpoint/2010/main" val="512012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pPr/>
              <a:t>5</a:t>
            </a:fld>
            <a:endParaRPr lang="es-CL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6" name="7 Rectángulo">
            <a:extLst>
              <a:ext uri="{FF2B5EF4-FFF2-40B4-BE49-F238E27FC236}">
                <a16:creationId xmlns:a16="http://schemas.microsoft.com/office/drawing/2014/main" id="{603BFF6F-7105-5444-AD08-D694A44D4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086" y="1792564"/>
            <a:ext cx="11267828" cy="1239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spcAft>
                <a:spcPts val="750"/>
              </a:spcAft>
              <a:buFontTx/>
              <a:buNone/>
            </a:pPr>
            <a:r>
              <a:rPr lang="es-CL" altLang="es-CL" sz="3000" b="1" dirty="0">
                <a:solidFill>
                  <a:srgbClr val="0091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Intercambio</a:t>
            </a:r>
          </a:p>
          <a:p>
            <a:pPr>
              <a:lnSpc>
                <a:spcPct val="115000"/>
              </a:lnSpc>
              <a:spcBef>
                <a:spcPct val="0"/>
              </a:spcBef>
              <a:spcAft>
                <a:spcPts val="750"/>
              </a:spcAft>
              <a:buFontTx/>
              <a:buNone/>
            </a:pPr>
            <a:r>
              <a:rPr lang="es-CL" altLang="es-CL" sz="3000" b="1" dirty="0">
                <a:solidFill>
                  <a:srgbClr val="0091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                               CaCl</a:t>
            </a:r>
            <a:r>
              <a:rPr lang="es-CL" altLang="es-CL" sz="3000" b="1" baseline="-25000" dirty="0">
                <a:solidFill>
                  <a:srgbClr val="0091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sz="3000" b="1" dirty="0">
                <a:solidFill>
                  <a:srgbClr val="0091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sz="3000" b="1" baseline="-25000" dirty="0">
                <a:solidFill>
                  <a:srgbClr val="0091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 </a:t>
            </a:r>
            <a:r>
              <a:rPr lang="es-CL" altLang="es-CL" sz="3000" b="1" dirty="0">
                <a:solidFill>
                  <a:srgbClr val="0091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+ Na</a:t>
            </a:r>
            <a:r>
              <a:rPr lang="es-CL" altLang="es-CL" sz="3000" b="1" baseline="-25000" dirty="0">
                <a:solidFill>
                  <a:srgbClr val="0091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2</a:t>
            </a:r>
            <a:r>
              <a:rPr lang="es-CL" altLang="es-CL" sz="3000" b="1" dirty="0">
                <a:solidFill>
                  <a:srgbClr val="0091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CO</a:t>
            </a:r>
            <a:r>
              <a:rPr lang="es-CL" altLang="es-CL" sz="3000" b="1" baseline="-25000" dirty="0">
                <a:solidFill>
                  <a:srgbClr val="0091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3</a:t>
            </a:r>
            <a:r>
              <a:rPr lang="es-CL" altLang="es-CL" sz="3000" b="1" dirty="0">
                <a:solidFill>
                  <a:srgbClr val="0091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   </a:t>
            </a:r>
            <a:r>
              <a:rPr lang="es-CL" altLang="es-CL" sz="3000" b="1" baseline="-25000" dirty="0">
                <a:solidFill>
                  <a:srgbClr val="0091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 </a:t>
            </a:r>
            <a:r>
              <a:rPr lang="es-CL" altLang="es-CL" sz="3000" b="1" dirty="0">
                <a:solidFill>
                  <a:srgbClr val="0091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</a:t>
            </a:r>
            <a:r>
              <a:rPr lang="es-CL" altLang="es-CL" sz="3000" b="1" baseline="-25000" dirty="0">
                <a:solidFill>
                  <a:srgbClr val="0091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sz="3000" b="1" dirty="0">
                <a:solidFill>
                  <a:srgbClr val="0091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 2 NaCl + CaCO</a:t>
            </a:r>
            <a:r>
              <a:rPr lang="es-CL" altLang="es-CL" sz="3000" b="1" baseline="-25000" dirty="0">
                <a:solidFill>
                  <a:srgbClr val="009193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3</a:t>
            </a:r>
          </a:p>
        </p:txBody>
      </p:sp>
      <p:sp>
        <p:nvSpPr>
          <p:cNvPr id="8" name="7 Rectángulo">
            <a:extLst>
              <a:ext uri="{FF2B5EF4-FFF2-40B4-BE49-F238E27FC236}">
                <a16:creationId xmlns:a16="http://schemas.microsoft.com/office/drawing/2014/main" id="{7F6CBBBD-A876-9642-B0AE-7EEB443AC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086" y="250685"/>
            <a:ext cx="8844088" cy="1239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spcAft>
                <a:spcPts val="750"/>
              </a:spcAft>
              <a:buFontTx/>
              <a:buNone/>
            </a:pPr>
            <a:r>
              <a:rPr lang="es-CL" altLang="es-CL" sz="3000" b="1" dirty="0">
                <a:solidFill>
                  <a:srgbClr val="9411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Reorganización Interna </a:t>
            </a:r>
          </a:p>
          <a:p>
            <a:pPr>
              <a:lnSpc>
                <a:spcPct val="115000"/>
              </a:lnSpc>
              <a:spcBef>
                <a:spcPct val="0"/>
              </a:spcBef>
              <a:spcAft>
                <a:spcPts val="750"/>
              </a:spcAft>
              <a:buFontTx/>
              <a:buNone/>
            </a:pPr>
            <a:r>
              <a:rPr lang="es-CL" altLang="es-CL" sz="3000" b="1" dirty="0">
                <a:solidFill>
                  <a:srgbClr val="9411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                               NH</a:t>
            </a:r>
            <a:r>
              <a:rPr lang="es-CL" altLang="es-CL" sz="3000" b="1" baseline="-25000" dirty="0">
                <a:solidFill>
                  <a:srgbClr val="9411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4</a:t>
            </a:r>
            <a:r>
              <a:rPr lang="es-CL" altLang="es-CL" sz="3000" b="1" dirty="0">
                <a:solidFill>
                  <a:srgbClr val="9411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NCO </a:t>
            </a:r>
            <a:r>
              <a:rPr lang="es-CL" altLang="es-CL" sz="3000" b="1" baseline="-25000" dirty="0">
                <a:solidFill>
                  <a:srgbClr val="9411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 </a:t>
            </a:r>
            <a:r>
              <a:rPr lang="es-CL" altLang="es-CL" sz="3000" b="1" dirty="0">
                <a:solidFill>
                  <a:srgbClr val="9411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   </a:t>
            </a:r>
            <a:r>
              <a:rPr lang="es-CL" altLang="es-CL" sz="3000" b="1" baseline="-25000" dirty="0">
                <a:solidFill>
                  <a:srgbClr val="9411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 </a:t>
            </a:r>
            <a:r>
              <a:rPr lang="es-CL" altLang="es-CL" sz="3000" b="1" dirty="0">
                <a:solidFill>
                  <a:srgbClr val="9411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</a:t>
            </a:r>
            <a:r>
              <a:rPr lang="es-CL" altLang="es-CL" sz="3000" b="1" baseline="-25000" dirty="0">
                <a:solidFill>
                  <a:srgbClr val="9411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sz="3000" b="1" dirty="0">
                <a:solidFill>
                  <a:srgbClr val="9411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 (NH</a:t>
            </a:r>
            <a:r>
              <a:rPr lang="es-CL" altLang="es-CL" sz="3000" b="1" baseline="-25000" dirty="0">
                <a:solidFill>
                  <a:srgbClr val="9411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sz="3000" b="1" dirty="0">
                <a:solidFill>
                  <a:srgbClr val="9411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)</a:t>
            </a:r>
            <a:r>
              <a:rPr lang="es-CL" altLang="es-CL" sz="3000" b="1" baseline="-25000" dirty="0">
                <a:solidFill>
                  <a:srgbClr val="9411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sz="3000" b="1" dirty="0">
                <a:solidFill>
                  <a:srgbClr val="9411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CO </a:t>
            </a:r>
            <a:endParaRPr lang="es-CL" altLang="es-CL" sz="3000" b="1" baseline="-25000" dirty="0">
              <a:solidFill>
                <a:srgbClr val="941100"/>
              </a:solidFill>
              <a:latin typeface="Lucida Sans Unicode" panose="020B0602030504020204" pitchFamily="34" charset="0"/>
              <a:ea typeface="Calibri" panose="020F050202020403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9" name="7 Rectángulo">
            <a:extLst>
              <a:ext uri="{FF2B5EF4-FFF2-40B4-BE49-F238E27FC236}">
                <a16:creationId xmlns:a16="http://schemas.microsoft.com/office/drawing/2014/main" id="{AA250C25-21F4-684C-BFD0-6895B9E57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728" y="3347835"/>
            <a:ext cx="9894055" cy="1239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spcAft>
                <a:spcPts val="750"/>
              </a:spcAft>
              <a:buFontTx/>
              <a:buNone/>
            </a:pPr>
            <a:r>
              <a:rPr lang="es-CL" altLang="es-CL" sz="3000" b="1" dirty="0">
                <a:solidFill>
                  <a:srgbClr val="5E5E5E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Neutralización</a:t>
            </a:r>
          </a:p>
          <a:p>
            <a:pPr>
              <a:lnSpc>
                <a:spcPct val="115000"/>
              </a:lnSpc>
              <a:spcBef>
                <a:spcPct val="0"/>
              </a:spcBef>
              <a:spcAft>
                <a:spcPts val="750"/>
              </a:spcAft>
              <a:buFontTx/>
              <a:buNone/>
            </a:pPr>
            <a:r>
              <a:rPr lang="es-CL" altLang="es-CL" sz="3000" b="1" dirty="0">
                <a:solidFill>
                  <a:srgbClr val="5E5E5E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                               HCl + NaOH </a:t>
            </a:r>
            <a:r>
              <a:rPr lang="es-CL" altLang="es-CL" sz="3000" b="1" baseline="-25000" dirty="0">
                <a:solidFill>
                  <a:srgbClr val="5E5E5E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 </a:t>
            </a:r>
            <a:r>
              <a:rPr lang="es-CL" altLang="es-CL" sz="3000" b="1" dirty="0">
                <a:solidFill>
                  <a:srgbClr val="5E5E5E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   </a:t>
            </a:r>
            <a:r>
              <a:rPr lang="es-CL" altLang="es-CL" sz="3000" b="1" baseline="-25000" dirty="0">
                <a:solidFill>
                  <a:srgbClr val="5E5E5E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 </a:t>
            </a:r>
            <a:r>
              <a:rPr lang="es-CL" altLang="es-CL" sz="3000" b="1" dirty="0">
                <a:solidFill>
                  <a:srgbClr val="5E5E5E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</a:t>
            </a:r>
            <a:r>
              <a:rPr lang="es-CL" altLang="es-CL" sz="3000" b="1" baseline="-25000" dirty="0">
                <a:solidFill>
                  <a:srgbClr val="5E5E5E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sz="3000" b="1" dirty="0">
                <a:solidFill>
                  <a:srgbClr val="5E5E5E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 NaCl + H</a:t>
            </a:r>
            <a:r>
              <a:rPr lang="es-CL" altLang="es-CL" sz="3000" b="1" baseline="-25000" dirty="0">
                <a:solidFill>
                  <a:srgbClr val="5E5E5E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sz="3000" b="1" dirty="0">
                <a:solidFill>
                  <a:srgbClr val="5E5E5E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O</a:t>
            </a:r>
            <a:endParaRPr lang="es-CL" altLang="es-CL" sz="3000" b="1" baseline="-25000" dirty="0">
              <a:solidFill>
                <a:srgbClr val="5E5E5E"/>
              </a:solidFill>
              <a:latin typeface="Lucida Sans Unicode" panose="020B0602030504020204" pitchFamily="34" charset="0"/>
              <a:ea typeface="Calibri" panose="020F050202020403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0" name="7 Rectángulo">
            <a:extLst>
              <a:ext uri="{FF2B5EF4-FFF2-40B4-BE49-F238E27FC236}">
                <a16:creationId xmlns:a16="http://schemas.microsoft.com/office/drawing/2014/main" id="{82C643C0-8A18-0643-9B6A-B4923AF6A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728" y="4889714"/>
            <a:ext cx="9547807" cy="1239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spcAft>
                <a:spcPts val="750"/>
              </a:spcAft>
              <a:buFontTx/>
              <a:buNone/>
            </a:pPr>
            <a:r>
              <a:rPr lang="es-CL" altLang="es-CL" sz="3000" b="1" dirty="0">
                <a:solidFill>
                  <a:srgbClr val="9437FF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Combustión</a:t>
            </a:r>
          </a:p>
          <a:p>
            <a:pPr>
              <a:lnSpc>
                <a:spcPct val="115000"/>
              </a:lnSpc>
              <a:spcBef>
                <a:spcPct val="0"/>
              </a:spcBef>
              <a:spcAft>
                <a:spcPts val="750"/>
              </a:spcAft>
              <a:buFontTx/>
              <a:buNone/>
            </a:pPr>
            <a:r>
              <a:rPr lang="es-CL" altLang="es-CL" sz="3000" b="1" dirty="0">
                <a:solidFill>
                  <a:srgbClr val="9437FF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                               CH</a:t>
            </a:r>
            <a:r>
              <a:rPr lang="es-CL" altLang="es-CL" sz="3000" b="1" baseline="-25000" dirty="0">
                <a:solidFill>
                  <a:srgbClr val="9437FF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4</a:t>
            </a:r>
            <a:r>
              <a:rPr lang="es-CL" altLang="es-CL" sz="3000" b="1" dirty="0">
                <a:solidFill>
                  <a:srgbClr val="9437FF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+ 2O</a:t>
            </a:r>
            <a:r>
              <a:rPr lang="es-CL" altLang="es-CL" sz="3000" b="1" baseline="-25000" dirty="0">
                <a:solidFill>
                  <a:srgbClr val="9437FF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sz="3000" b="1" dirty="0">
                <a:solidFill>
                  <a:srgbClr val="9437FF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sz="3000" b="1" baseline="-25000" dirty="0">
                <a:solidFill>
                  <a:srgbClr val="9437FF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 </a:t>
            </a:r>
            <a:r>
              <a:rPr lang="es-CL" altLang="es-CL" sz="3000" b="1" dirty="0">
                <a:solidFill>
                  <a:srgbClr val="9437FF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   </a:t>
            </a:r>
            <a:r>
              <a:rPr lang="es-CL" altLang="es-CL" sz="3000" b="1" baseline="-25000" dirty="0">
                <a:solidFill>
                  <a:srgbClr val="9437FF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 </a:t>
            </a:r>
            <a:r>
              <a:rPr lang="es-CL" altLang="es-CL" sz="3000" b="1" dirty="0">
                <a:solidFill>
                  <a:srgbClr val="9437FF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</a:t>
            </a:r>
            <a:r>
              <a:rPr lang="es-CL" altLang="es-CL" sz="3000" b="1" baseline="-25000" dirty="0">
                <a:solidFill>
                  <a:srgbClr val="9437FF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sz="3000" b="1" dirty="0">
                <a:solidFill>
                  <a:srgbClr val="9437FF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 CO</a:t>
            </a:r>
            <a:r>
              <a:rPr lang="es-CL" altLang="es-CL" sz="3000" b="1" baseline="-25000" dirty="0">
                <a:solidFill>
                  <a:srgbClr val="9437FF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sz="3000" b="1" dirty="0">
                <a:solidFill>
                  <a:srgbClr val="9437FF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+ 2H</a:t>
            </a:r>
            <a:r>
              <a:rPr lang="es-CL" altLang="es-CL" sz="3000" b="1" baseline="-25000" dirty="0">
                <a:solidFill>
                  <a:srgbClr val="9437FF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sz="3000" b="1" dirty="0">
                <a:solidFill>
                  <a:srgbClr val="9437FF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O</a:t>
            </a:r>
            <a:endParaRPr lang="es-CL" altLang="es-CL" sz="3000" b="1" baseline="-25000" dirty="0">
              <a:solidFill>
                <a:srgbClr val="9437FF"/>
              </a:solidFill>
              <a:latin typeface="Lucida Sans Unicode" panose="020B0602030504020204" pitchFamily="34" charset="0"/>
              <a:ea typeface="Calibri" panose="020F0502020204030204" pitchFamily="34" charset="0"/>
              <a:cs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117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AFDE0B0-8818-8A4B-8B61-E484F1D13D47}"/>
              </a:ext>
            </a:extLst>
          </p:cNvPr>
          <p:cNvSpPr/>
          <p:nvPr/>
        </p:nvSpPr>
        <p:spPr>
          <a:xfrm>
            <a:off x="411282" y="598566"/>
            <a:ext cx="819345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CL" altLang="es-CL" sz="3200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Equilibrio de las Ecuaciones Químicas 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3DCA2EA-08B0-3E40-887F-5324FB68E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270" y="0"/>
            <a:ext cx="2116765" cy="1058383"/>
          </a:xfrm>
          <a:prstGeom prst="rect">
            <a:avLst/>
          </a:prstGeom>
        </p:spPr>
      </p:pic>
      <p:sp>
        <p:nvSpPr>
          <p:cNvPr id="12" name="Marcador de número de diapositiva 3">
            <a:extLst>
              <a:ext uri="{FF2B5EF4-FFF2-40B4-BE49-F238E27FC236}">
                <a16:creationId xmlns:a16="http://schemas.microsoft.com/office/drawing/2014/main" id="{2BEA7B59-235D-0A49-8C51-168FA76D000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26140" y="6492862"/>
            <a:ext cx="116586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0000000-1234-1234-1234-123412341234}" type="slidenum">
              <a:rPr lang="en-US" smtClean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pPr>
                <a:spcAft>
                  <a:spcPts val="600"/>
                </a:spcAft>
                <a:defRPr/>
              </a:pPr>
              <a:t>6</a:t>
            </a:fld>
            <a:endParaRPr lang="en-US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3" name="3 Rectángulo">
            <a:extLst>
              <a:ext uri="{FF2B5EF4-FFF2-40B4-BE49-F238E27FC236}">
                <a16:creationId xmlns:a16="http://schemas.microsoft.com/office/drawing/2014/main" id="{D42114BB-FD81-CC4D-8A00-9C2061B65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1577" y="4747685"/>
            <a:ext cx="6313162" cy="605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3365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spcAft>
                <a:spcPts val="750"/>
              </a:spcAft>
              <a:buNone/>
            </a:pPr>
            <a:r>
              <a:rPr lang="es-CL" altLang="es-CL" sz="30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__ N</a:t>
            </a:r>
            <a:r>
              <a:rPr lang="es-CL" altLang="es-CL" sz="30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    </a:t>
            </a:r>
            <a:r>
              <a:rPr lang="es-CL" altLang="es-CL" sz="30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+   __  H</a:t>
            </a:r>
            <a:r>
              <a:rPr lang="es-CL" altLang="es-CL" sz="30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   </a:t>
            </a:r>
            <a:r>
              <a:rPr lang="es-CL" altLang="es-CL" sz="30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 </a:t>
            </a:r>
            <a:r>
              <a:rPr lang="es-CL" altLang="es-CL" sz="30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__  NH</a:t>
            </a:r>
            <a:r>
              <a:rPr lang="es-CL" altLang="es-CL" sz="30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3</a:t>
            </a:r>
            <a:endParaRPr lang="es-CL" altLang="es-CL" sz="3000" b="1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ea typeface="Calibri" panose="020F050202020403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4" name="2 Rectángulo">
            <a:extLst>
              <a:ext uri="{FF2B5EF4-FFF2-40B4-BE49-F238E27FC236}">
                <a16:creationId xmlns:a16="http://schemas.microsoft.com/office/drawing/2014/main" id="{725EA253-14A8-F743-9C5F-57FFEA2CE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670" y="2004641"/>
            <a:ext cx="9811241" cy="334897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s-ES_tradnl" altLang="es-CL" sz="2000" b="1" kern="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Método de Tanteo: </a:t>
            </a:r>
            <a:r>
              <a:rPr lang="es-ES_tradnl" altLang="es-CL" sz="2000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Es utilizado para ecuaciones sencillas y consiste en colocar coeficientes a la izquierda de cada sustancia, hasta tener igual número de átomos tanto en reactantes como en productos. Esto permite cumplir la Ley de conservación de la masa.</a:t>
            </a:r>
            <a:endParaRPr lang="es-ES_tradnl" altLang="es-CL" sz="1800" kern="0" dirty="0">
              <a:solidFill>
                <a:srgbClr val="1769B5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s-ES_tradnl" altLang="es-CL" sz="1800" b="1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Ejemplo: </a:t>
            </a:r>
            <a:endParaRPr lang="es-ES_tradnl" altLang="es-CL" sz="2000" b="1" kern="0" dirty="0">
              <a:solidFill>
                <a:srgbClr val="1769B5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390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z="240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pPr/>
              <a:t>7</a:t>
            </a:fld>
            <a:endParaRPr lang="es-CL" sz="240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5" name="3 Rectángulo">
            <a:extLst>
              <a:ext uri="{FF2B5EF4-FFF2-40B4-BE49-F238E27FC236}">
                <a16:creationId xmlns:a16="http://schemas.microsoft.com/office/drawing/2014/main" id="{1E3E95E8-8CAC-A64C-BC59-7589E99F9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4114" y="526720"/>
            <a:ext cx="5483224" cy="64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3365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15000"/>
              </a:lnSpc>
              <a:spcBef>
                <a:spcPct val="0"/>
              </a:spcBef>
              <a:spcAft>
                <a:spcPts val="750"/>
              </a:spcAft>
              <a:buNone/>
            </a:pPr>
            <a:r>
              <a:rPr lang="es-CL" altLang="es-CL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N</a:t>
            </a:r>
            <a:r>
              <a:rPr lang="es-CL" altLang="es-CL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    </a:t>
            </a:r>
            <a:r>
              <a:rPr lang="es-CL" altLang="es-CL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+     H</a:t>
            </a:r>
            <a:r>
              <a:rPr lang="es-CL" altLang="es-CL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 </a:t>
            </a:r>
            <a:r>
              <a:rPr lang="es-CL" altLang="es-CL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     </a:t>
            </a:r>
            <a:r>
              <a:rPr lang="es-CL" altLang="es-CL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NH</a:t>
            </a:r>
            <a:r>
              <a:rPr lang="es-CL" altLang="es-CL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3</a:t>
            </a:r>
            <a:endParaRPr lang="es-CL" altLang="es-CL" b="1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ea typeface="Calibri" panose="020F050202020403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6" name="CuadroTexto 4">
            <a:extLst>
              <a:ext uri="{FF2B5EF4-FFF2-40B4-BE49-F238E27FC236}">
                <a16:creationId xmlns:a16="http://schemas.microsoft.com/office/drawing/2014/main" id="{804A689E-9839-9F46-B23C-4FDD6A9D36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1079" y="1359229"/>
            <a:ext cx="145069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 átomos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nitrógeno </a:t>
            </a:r>
          </a:p>
        </p:txBody>
      </p:sp>
      <p:sp>
        <p:nvSpPr>
          <p:cNvPr id="7" name="CuadroTexto 5">
            <a:extLst>
              <a:ext uri="{FF2B5EF4-FFF2-40B4-BE49-F238E27FC236}">
                <a16:creationId xmlns:a16="http://schemas.microsoft.com/office/drawing/2014/main" id="{691F83CC-A664-B248-B606-B2EBD8C279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289608"/>
            <a:ext cx="154592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 átomo nitrógeno </a:t>
            </a:r>
          </a:p>
        </p:txBody>
      </p:sp>
      <p:sp>
        <p:nvSpPr>
          <p:cNvPr id="8" name="CuadroTexto 6">
            <a:extLst>
              <a:ext uri="{FF2B5EF4-FFF2-40B4-BE49-F238E27FC236}">
                <a16:creationId xmlns:a16="http://schemas.microsoft.com/office/drawing/2014/main" id="{01271716-5AF3-044D-B3FB-0456ACF8CE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2967335"/>
            <a:ext cx="10414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¿Qué número deberé escribir delante de </a:t>
            </a: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NH</a:t>
            </a:r>
            <a:r>
              <a:rPr lang="es-CL" altLang="es-CL" sz="20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3</a:t>
            </a: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para tener 2 átomos de nitrógeno?</a:t>
            </a:r>
          </a:p>
        </p:txBody>
      </p:sp>
      <p:sp>
        <p:nvSpPr>
          <p:cNvPr id="9" name="3 Rectángulo">
            <a:extLst>
              <a:ext uri="{FF2B5EF4-FFF2-40B4-BE49-F238E27FC236}">
                <a16:creationId xmlns:a16="http://schemas.microsoft.com/office/drawing/2014/main" id="{A687D099-9343-404A-B4CC-48531D1FA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8500" y="4069455"/>
            <a:ext cx="5805345" cy="64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3365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spcAft>
                <a:spcPts val="750"/>
              </a:spcAft>
              <a:buNone/>
            </a:pPr>
            <a:r>
              <a:rPr lang="es-CL" altLang="es-CL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N</a:t>
            </a:r>
            <a:r>
              <a:rPr lang="es-CL" altLang="es-CL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    </a:t>
            </a:r>
            <a:r>
              <a:rPr lang="es-CL" altLang="es-CL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+     H</a:t>
            </a:r>
            <a:r>
              <a:rPr lang="es-CL" altLang="es-CL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 </a:t>
            </a:r>
            <a:r>
              <a:rPr lang="es-CL" altLang="es-CL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     </a:t>
            </a:r>
            <a:r>
              <a:rPr lang="es-CL" altLang="es-CL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b="1" dirty="0">
                <a:solidFill>
                  <a:srgbClr val="FF2F92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NH</a:t>
            </a:r>
            <a:r>
              <a:rPr lang="es-CL" altLang="es-CL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3</a:t>
            </a:r>
            <a:endParaRPr lang="es-CL" altLang="es-CL" b="1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ea typeface="Calibri" panose="020F050202020403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0" name="CuadroTexto 8">
            <a:extLst>
              <a:ext uri="{FF2B5EF4-FFF2-40B4-BE49-F238E27FC236}">
                <a16:creationId xmlns:a16="http://schemas.microsoft.com/office/drawing/2014/main" id="{B3C65EFF-56EE-4943-8FF0-F84EAD589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687" y="5426394"/>
            <a:ext cx="932259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Ahora, tenemos 2 átomos de nitrógeno en ambos lados de la ecuación.</a:t>
            </a:r>
          </a:p>
        </p:txBody>
      </p:sp>
    </p:spTree>
    <p:extLst>
      <p:ext uri="{BB962C8B-B14F-4D97-AF65-F5344CB8AC3E}">
        <p14:creationId xmlns:p14="http://schemas.microsoft.com/office/powerpoint/2010/main" val="663356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z="2000" smtClean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pPr/>
              <a:t>8</a:t>
            </a:fld>
            <a:endParaRPr lang="es-CL" sz="200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5" name="3 Rectángulo">
            <a:extLst>
              <a:ext uri="{FF2B5EF4-FFF2-40B4-BE49-F238E27FC236}">
                <a16:creationId xmlns:a16="http://schemas.microsoft.com/office/drawing/2014/main" id="{2F93607B-B8A7-3B47-82E8-5FBD0B1F7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01" y="1081713"/>
            <a:ext cx="5946776" cy="64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3365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spcAft>
                <a:spcPts val="750"/>
              </a:spcAft>
              <a:buNone/>
            </a:pPr>
            <a:r>
              <a:rPr lang="es-CL" altLang="es-CL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N</a:t>
            </a:r>
            <a:r>
              <a:rPr lang="es-CL" altLang="es-CL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    </a:t>
            </a:r>
            <a:r>
              <a:rPr lang="es-CL" altLang="es-CL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+     H</a:t>
            </a:r>
            <a:r>
              <a:rPr lang="es-CL" altLang="es-CL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 </a:t>
            </a:r>
            <a:r>
              <a:rPr lang="es-CL" altLang="es-CL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     </a:t>
            </a:r>
            <a:r>
              <a:rPr lang="es-CL" altLang="es-CL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b="1" dirty="0">
                <a:solidFill>
                  <a:srgbClr val="FF2F92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NH</a:t>
            </a:r>
            <a:r>
              <a:rPr lang="es-CL" altLang="es-CL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3</a:t>
            </a:r>
            <a:endParaRPr lang="es-CL" altLang="es-CL" b="1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ea typeface="Calibri" panose="020F050202020403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6" name="CuadroTexto 4">
            <a:extLst>
              <a:ext uri="{FF2B5EF4-FFF2-40B4-BE49-F238E27FC236}">
                <a16:creationId xmlns:a16="http://schemas.microsoft.com/office/drawing/2014/main" id="{4D55ACAB-C8F7-634C-A842-385D90D066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488950"/>
            <a:ext cx="53387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Veamos que pasa con el hidrógeno:</a:t>
            </a:r>
          </a:p>
        </p:txBody>
      </p:sp>
      <p:sp>
        <p:nvSpPr>
          <p:cNvPr id="7" name="CuadroTexto 5">
            <a:extLst>
              <a:ext uri="{FF2B5EF4-FFF2-40B4-BE49-F238E27FC236}">
                <a16:creationId xmlns:a16="http://schemas.microsoft.com/office/drawing/2014/main" id="{30C996A3-E7A2-D245-B304-82A710680C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3" y="1790700"/>
            <a:ext cx="446405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 átomos de hidrógeno en reactivos </a:t>
            </a:r>
          </a:p>
        </p:txBody>
      </p:sp>
      <p:sp>
        <p:nvSpPr>
          <p:cNvPr id="8" name="CuadroTexto 6">
            <a:extLst>
              <a:ext uri="{FF2B5EF4-FFF2-40B4-BE49-F238E27FC236}">
                <a16:creationId xmlns:a16="http://schemas.microsoft.com/office/drawing/2014/main" id="{7020778B-0A4E-E646-9E93-F9DA8A851E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5500" y="1848506"/>
            <a:ext cx="42545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6 átomos de hidrógeno en productos</a:t>
            </a:r>
          </a:p>
        </p:txBody>
      </p:sp>
      <p:sp>
        <p:nvSpPr>
          <p:cNvPr id="9" name="CuadroTexto 7">
            <a:extLst>
              <a:ext uri="{FF2B5EF4-FFF2-40B4-BE49-F238E27FC236}">
                <a16:creationId xmlns:a16="http://schemas.microsoft.com/office/drawing/2014/main" id="{96FA8C88-9CD5-9A4D-AB9B-63E861419D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649" y="3010278"/>
            <a:ext cx="954748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¿Qué número deberé escribir delante del </a:t>
            </a: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H</a:t>
            </a:r>
            <a:r>
              <a:rPr lang="es-CL" altLang="es-CL" sz="20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para tener 6 átomos de H</a:t>
            </a:r>
            <a:r>
              <a:rPr lang="es-CL" altLang="es-CL" sz="20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?</a:t>
            </a:r>
          </a:p>
        </p:txBody>
      </p:sp>
      <p:sp>
        <p:nvSpPr>
          <p:cNvPr id="10" name="3 Rectángulo">
            <a:extLst>
              <a:ext uri="{FF2B5EF4-FFF2-40B4-BE49-F238E27FC236}">
                <a16:creationId xmlns:a16="http://schemas.microsoft.com/office/drawing/2014/main" id="{1BB802AE-A4D1-1144-B667-7491C390F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1" y="3555958"/>
            <a:ext cx="5943600" cy="64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3365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spcAft>
                <a:spcPts val="750"/>
              </a:spcAft>
              <a:buNone/>
            </a:pPr>
            <a:r>
              <a:rPr lang="es-CL" altLang="es-CL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N</a:t>
            </a:r>
            <a:r>
              <a:rPr lang="es-CL" altLang="es-CL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    </a:t>
            </a:r>
            <a:r>
              <a:rPr lang="es-CL" altLang="es-CL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+    </a:t>
            </a:r>
            <a:r>
              <a:rPr lang="es-CL" altLang="es-CL" b="1" dirty="0">
                <a:solidFill>
                  <a:srgbClr val="FF2F92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3</a:t>
            </a:r>
            <a:r>
              <a:rPr lang="es-CL" altLang="es-CL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H</a:t>
            </a:r>
            <a:r>
              <a:rPr lang="es-CL" altLang="es-CL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 </a:t>
            </a:r>
            <a:r>
              <a:rPr lang="es-CL" altLang="es-CL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  <a:sym typeface="Symbol" pitchFamily="2" charset="2"/>
              </a:rPr>
              <a:t>     </a:t>
            </a:r>
            <a:r>
              <a:rPr lang="es-CL" altLang="es-CL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b="1" dirty="0">
                <a:solidFill>
                  <a:srgbClr val="FF2F92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NH</a:t>
            </a:r>
            <a:r>
              <a:rPr lang="es-CL" altLang="es-CL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3</a:t>
            </a:r>
            <a:endParaRPr lang="es-CL" altLang="es-CL" b="1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ea typeface="Calibri" panose="020F050202020403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2" name="CuadroTexto 9">
            <a:extLst>
              <a:ext uri="{FF2B5EF4-FFF2-40B4-BE49-F238E27FC236}">
                <a16:creationId xmlns:a16="http://schemas.microsoft.com/office/drawing/2014/main" id="{D44F1FB4-538F-FA49-A4BB-C202713C67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6513" y="4264025"/>
            <a:ext cx="16557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Revisemos:</a:t>
            </a:r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C7CA4927-73F2-9C40-9CCB-87ED4F89E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2050" y="4955275"/>
            <a:ext cx="446405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 átomos de nitrógeno en reactivos </a:t>
            </a:r>
          </a:p>
        </p:txBody>
      </p:sp>
      <p:sp>
        <p:nvSpPr>
          <p:cNvPr id="14" name="CuadroTexto 11">
            <a:extLst>
              <a:ext uri="{FF2B5EF4-FFF2-40B4-BE49-F238E27FC236}">
                <a16:creationId xmlns:a16="http://schemas.microsoft.com/office/drawing/2014/main" id="{3869168E-DA9D-F043-94D4-816AE50DB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1147" y="4941033"/>
            <a:ext cx="446405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 átomos de nitrógeno en productos </a:t>
            </a:r>
          </a:p>
        </p:txBody>
      </p:sp>
      <p:sp>
        <p:nvSpPr>
          <p:cNvPr id="15" name="CuadroTexto 12">
            <a:extLst>
              <a:ext uri="{FF2B5EF4-FFF2-40B4-BE49-F238E27FC236}">
                <a16:creationId xmlns:a16="http://schemas.microsoft.com/office/drawing/2014/main" id="{2ACE0319-9A80-8C44-914B-E9D7FDFB1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1147" y="5696508"/>
            <a:ext cx="446405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6 átomos de hidrógeno en productos </a:t>
            </a:r>
          </a:p>
        </p:txBody>
      </p:sp>
      <p:sp>
        <p:nvSpPr>
          <p:cNvPr id="17" name="CuadroTexto 13">
            <a:extLst>
              <a:ext uri="{FF2B5EF4-FFF2-40B4-BE49-F238E27FC236}">
                <a16:creationId xmlns:a16="http://schemas.microsoft.com/office/drawing/2014/main" id="{58AEAEC4-9DE7-114A-B1B2-389876B18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2050" y="5671108"/>
            <a:ext cx="446405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6 átomos de hidrógeno en reactivos </a:t>
            </a:r>
          </a:p>
        </p:txBody>
      </p:sp>
    </p:spTree>
    <p:extLst>
      <p:ext uri="{BB962C8B-B14F-4D97-AF65-F5344CB8AC3E}">
        <p14:creationId xmlns:p14="http://schemas.microsoft.com/office/powerpoint/2010/main" val="2720945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9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2 Rectángulo">
            <a:extLst>
              <a:ext uri="{FF2B5EF4-FFF2-40B4-BE49-F238E27FC236}">
                <a16:creationId xmlns:a16="http://schemas.microsoft.com/office/drawing/2014/main" id="{112E3638-181F-2F49-ABAF-809132CD7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625" y="383244"/>
            <a:ext cx="8893176" cy="5816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MX" altLang="es-CL" sz="2000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Método algebraico: </a:t>
            </a:r>
            <a:r>
              <a:rPr lang="es-ES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Es un método matemático que consiste en asignar incógnitas a cada una de las especies de nuestra ecuación química; se establecerán ecuaciones en función de los átomos y, al despejar dichas incógnitas, encontraremos los coeficientes buscados</a:t>
            </a:r>
            <a:r>
              <a:rPr lang="es-MX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.</a:t>
            </a:r>
          </a:p>
          <a:p>
            <a:pPr>
              <a:spcBef>
                <a:spcPct val="0"/>
              </a:spcBef>
              <a:buFontTx/>
              <a:buNone/>
            </a:pPr>
            <a:endParaRPr lang="es-MX" altLang="es-CL" sz="2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s-MX" altLang="es-CL" sz="2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s-MX" altLang="es-CL" sz="2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s-MX" altLang="es-CL" sz="2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s-MX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     </a:t>
            </a:r>
            <a:endParaRPr lang="es-MX" altLang="es-CL" sz="2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s-MX" altLang="es-CL" sz="20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Pasos:</a:t>
            </a:r>
          </a:p>
          <a:p>
            <a:pPr>
              <a:spcBef>
                <a:spcPct val="0"/>
              </a:spcBef>
              <a:buFontTx/>
              <a:buNone/>
            </a:pPr>
            <a:endParaRPr lang="es-MX" altLang="es-CL" sz="2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s-MX" altLang="es-CL" sz="20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1.-  </a:t>
            </a:r>
            <a:r>
              <a:rPr lang="es-MX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Escribir letras delante de cada sustancia.</a:t>
            </a:r>
          </a:p>
          <a:p>
            <a:pPr>
              <a:spcBef>
                <a:spcPct val="0"/>
              </a:spcBef>
              <a:buFontTx/>
              <a:buNone/>
            </a:pPr>
            <a:endParaRPr lang="es-MX" altLang="es-CL" sz="2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s-MX" altLang="es-CL" sz="2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s-MX" altLang="es-CL" sz="2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spcBef>
                <a:spcPct val="0"/>
              </a:spcBef>
              <a:buNone/>
            </a:pPr>
            <a:r>
              <a:rPr lang="es-MX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               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918260F-BD89-364A-95A0-6BA6DAAD096C}"/>
              </a:ext>
            </a:extLst>
          </p:cNvPr>
          <p:cNvSpPr/>
          <p:nvPr/>
        </p:nvSpPr>
        <p:spPr>
          <a:xfrm>
            <a:off x="574141" y="2717178"/>
            <a:ext cx="940513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s-MX" altLang="es-CL" sz="32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Cu    +  HNO</a:t>
            </a:r>
            <a:r>
              <a:rPr lang="es-MX" altLang="es-CL" sz="3200" b="1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MX" altLang="es-CL" sz="32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→   NO</a:t>
            </a:r>
            <a:r>
              <a:rPr lang="es-MX" altLang="es-CL" sz="3200" b="1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MX" altLang="es-CL" sz="32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 + Cu(NO</a:t>
            </a:r>
            <a:r>
              <a:rPr lang="es-MX" altLang="es-CL" sz="3200" b="1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MX" altLang="es-CL" sz="32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</a:t>
            </a:r>
            <a:r>
              <a:rPr lang="es-MX" altLang="es-CL" sz="3200" b="1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MX" altLang="es-CL" sz="32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+  H</a:t>
            </a:r>
            <a:r>
              <a:rPr lang="es-MX" altLang="es-CL" sz="3200" b="1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MX" altLang="es-CL" sz="32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5AADF4C-AAA8-5845-A252-3484435B82DB}"/>
              </a:ext>
            </a:extLst>
          </p:cNvPr>
          <p:cNvSpPr/>
          <p:nvPr/>
        </p:nvSpPr>
        <p:spPr>
          <a:xfrm>
            <a:off x="242662" y="5405055"/>
            <a:ext cx="103237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None/>
            </a:pPr>
            <a:r>
              <a:rPr lang="es-MX" altLang="es-CL" sz="2800" b="1" dirty="0">
                <a:solidFill>
                  <a:srgbClr val="9437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</a:t>
            </a:r>
            <a:r>
              <a:rPr lang="es-MX" altLang="es-CL" sz="28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Cu    +    </a:t>
            </a:r>
            <a:r>
              <a:rPr lang="es-MX" altLang="es-CL" sz="2800" b="1" dirty="0">
                <a:solidFill>
                  <a:srgbClr val="FF9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</a:t>
            </a:r>
            <a:r>
              <a:rPr lang="es-MX" altLang="es-CL" sz="28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HNO</a:t>
            </a:r>
            <a:r>
              <a:rPr lang="es-MX" altLang="es-CL" sz="2800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MX" altLang="es-CL" sz="28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→    </a:t>
            </a:r>
            <a:r>
              <a:rPr lang="es-MX" altLang="es-CL" sz="2800" b="1" dirty="0">
                <a:solidFill>
                  <a:srgbClr val="0432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</a:t>
            </a:r>
            <a:r>
              <a:rPr lang="es-MX" altLang="es-CL" sz="2800" dirty="0">
                <a:solidFill>
                  <a:srgbClr val="0432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s-MX" altLang="es-CL" sz="28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NO</a:t>
            </a:r>
            <a:r>
              <a:rPr lang="es-MX" altLang="es-CL" sz="2800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MX" altLang="es-CL" sz="28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 +   </a:t>
            </a:r>
            <a:r>
              <a:rPr lang="es-MX" altLang="es-CL" sz="2800" b="1" dirty="0">
                <a:solidFill>
                  <a:srgbClr val="FF85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</a:t>
            </a:r>
            <a:r>
              <a:rPr lang="es-MX" altLang="es-CL" sz="28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Cu(NO</a:t>
            </a:r>
            <a:r>
              <a:rPr lang="es-MX" altLang="es-CL" sz="2800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MX" altLang="es-CL" sz="28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</a:t>
            </a:r>
            <a:r>
              <a:rPr lang="es-MX" altLang="es-CL" sz="2800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MX" altLang="es-CL" sz="28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+  </a:t>
            </a:r>
            <a:r>
              <a:rPr lang="es-MX" altLang="es-CL" sz="2800" b="1" dirty="0">
                <a:solidFill>
                  <a:srgbClr val="79797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</a:t>
            </a:r>
            <a:r>
              <a:rPr lang="es-MX" altLang="es-CL" sz="28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H</a:t>
            </a:r>
            <a:r>
              <a:rPr lang="es-MX" altLang="es-CL" sz="2800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MX" altLang="es-CL" sz="28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2744218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>
          <a:xfrm>
            <a:off x="11230321" y="6669057"/>
            <a:ext cx="961679" cy="524800"/>
          </a:xfrm>
        </p:spPr>
        <p:txBody>
          <a:bodyPr/>
          <a:lstStyle/>
          <a:p>
            <a:pPr algn="ctr"/>
            <a:fld id="{00000000-1234-1234-1234-123412341234}" type="slidenum">
              <a:rPr lang="es-CL" sz="200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pPr algn="ctr"/>
              <a:t>10</a:t>
            </a:fld>
            <a:endParaRPr lang="es-CL" sz="20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4155" y="8494"/>
            <a:ext cx="2782463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6" y="488269"/>
            <a:ext cx="242827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5" name="CuadroTexto 1">
            <a:extLst>
              <a:ext uri="{FF2B5EF4-FFF2-40B4-BE49-F238E27FC236}">
                <a16:creationId xmlns:a16="http://schemas.microsoft.com/office/drawing/2014/main" id="{64B61032-E1CC-594B-92AC-8DFFD60F8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930" y="2599526"/>
            <a:ext cx="494977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s-CL" sz="24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      </a:t>
            </a:r>
            <a:r>
              <a:rPr lang="es-CL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:     </a:t>
            </a:r>
            <a:r>
              <a:rPr lang="es-CL" altLang="es-CL" sz="2400" b="1" dirty="0">
                <a:solidFill>
                  <a:srgbClr val="FF9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</a:t>
            </a:r>
            <a:r>
              <a:rPr lang="es-CL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= </a:t>
            </a:r>
            <a:r>
              <a:rPr lang="es-CL" altLang="es-CL" sz="2400" b="1" dirty="0">
                <a:solidFill>
                  <a:srgbClr val="0432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</a:t>
            </a:r>
            <a:r>
              <a:rPr lang="es-CL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+ </a:t>
            </a:r>
            <a:r>
              <a:rPr lang="es-CL" altLang="es-CL" sz="2400" b="1" dirty="0">
                <a:solidFill>
                  <a:srgbClr val="FF85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2d</a:t>
            </a:r>
            <a:endParaRPr lang="es-CL" altLang="es-CL" sz="24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s-CL" altLang="es-CL" sz="24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       </a:t>
            </a:r>
            <a:r>
              <a:rPr lang="es-CL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:</a:t>
            </a:r>
            <a:r>
              <a:rPr lang="es-CL" altLang="es-CL" sz="24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 </a:t>
            </a:r>
            <a:r>
              <a:rPr lang="es-CL" altLang="es-CL" sz="2400" b="1" dirty="0">
                <a:solidFill>
                  <a:srgbClr val="FF9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3b</a:t>
            </a:r>
            <a:r>
              <a:rPr lang="es-CL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</a:t>
            </a:r>
            <a:r>
              <a:rPr lang="es-CL" altLang="es-CL" sz="2400" b="1" dirty="0">
                <a:solidFill>
                  <a:srgbClr val="0432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2c</a:t>
            </a:r>
            <a:r>
              <a:rPr lang="es-CL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+</a:t>
            </a:r>
            <a:r>
              <a:rPr lang="es-CL" altLang="es-CL" sz="2400" b="1" dirty="0">
                <a:solidFill>
                  <a:srgbClr val="FF85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6d </a:t>
            </a:r>
            <a:r>
              <a:rPr lang="es-CL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+ </a:t>
            </a:r>
            <a:r>
              <a:rPr lang="es-CL" altLang="es-CL" sz="2400" b="1" dirty="0">
                <a:solidFill>
                  <a:srgbClr val="79797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</a:t>
            </a:r>
            <a:endParaRPr lang="es-CL" altLang="es-CL" sz="18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6" name="CuadroTexto 2">
            <a:extLst>
              <a:ext uri="{FF2B5EF4-FFF2-40B4-BE49-F238E27FC236}">
                <a16:creationId xmlns:a16="http://schemas.microsoft.com/office/drawing/2014/main" id="{712AA805-5F85-544A-938E-9DF20975D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131" y="3502015"/>
            <a:ext cx="10342433" cy="323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s-CL" sz="20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3.-  </a:t>
            </a: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 la letra que más se repita en las ecuaciones algebraicas se les asigna un valor arbitrario, como 1 o 2 en caso de que convenga, para evitar fracciones.</a:t>
            </a:r>
          </a:p>
          <a:p>
            <a:pPr>
              <a:spcBef>
                <a:spcPct val="0"/>
              </a:spcBef>
              <a:buFontTx/>
              <a:buNone/>
            </a:pPr>
            <a:endParaRPr lang="es-CL" altLang="es-CL" sz="2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En el ejercicios la letra que más se repite es la letra b.</a:t>
            </a:r>
          </a:p>
          <a:p>
            <a:pPr>
              <a:spcBef>
                <a:spcPct val="0"/>
              </a:spcBef>
              <a:buFontTx/>
              <a:buNone/>
            </a:pPr>
            <a:endParaRPr lang="es-CL" altLang="es-CL" sz="2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s-CL" altLang="es-CL" sz="2400" dirty="0">
                <a:solidFill>
                  <a:srgbClr val="FF9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sz="2400" b="1" dirty="0">
                <a:solidFill>
                  <a:srgbClr val="FF9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 = 2</a:t>
            </a:r>
            <a:endParaRPr lang="es-CL" altLang="es-CL" sz="2400" dirty="0">
              <a:solidFill>
                <a:srgbClr val="FF930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s-CL" altLang="es-CL" sz="2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s-CL" altLang="es-CL" sz="2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Reemplazando el valor de b, se tiene </a:t>
            </a:r>
            <a:r>
              <a:rPr lang="es-CL" altLang="es-CL" sz="2000" b="1" dirty="0">
                <a:solidFill>
                  <a:srgbClr val="79797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 = 1</a:t>
            </a:r>
          </a:p>
          <a:p>
            <a:pPr>
              <a:spcBef>
                <a:spcPct val="0"/>
              </a:spcBef>
              <a:buFontTx/>
              <a:buNone/>
            </a:pPr>
            <a:endParaRPr lang="es-CL" altLang="es-CL" sz="2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7" name="CuadroTexto 1">
            <a:extLst>
              <a:ext uri="{FF2B5EF4-FFF2-40B4-BE49-F238E27FC236}">
                <a16:creationId xmlns:a16="http://schemas.microsoft.com/office/drawing/2014/main" id="{39DDB098-94F3-7947-9152-26483FFF43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930" y="1831706"/>
            <a:ext cx="319099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s-CL" sz="24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Cu     </a:t>
            </a:r>
            <a:r>
              <a:rPr lang="es-CL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:     </a:t>
            </a:r>
            <a:r>
              <a:rPr lang="es-CL" altLang="es-CL" sz="2400" b="1" dirty="0">
                <a:solidFill>
                  <a:srgbClr val="9437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</a:t>
            </a:r>
            <a:r>
              <a:rPr lang="es-CL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= </a:t>
            </a:r>
            <a:r>
              <a:rPr lang="es-CL" altLang="es-CL" sz="2400" b="1" dirty="0">
                <a:solidFill>
                  <a:srgbClr val="FF85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CL" altLang="es-CL" sz="24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H       </a:t>
            </a:r>
            <a:r>
              <a:rPr lang="es-CL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:    </a:t>
            </a:r>
            <a:r>
              <a:rPr lang="es-CL" altLang="es-CL" sz="2400" b="1" dirty="0">
                <a:solidFill>
                  <a:srgbClr val="FF9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b  </a:t>
            </a:r>
            <a:r>
              <a:rPr lang="es-CL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= </a:t>
            </a:r>
            <a:r>
              <a:rPr lang="es-CL" altLang="es-CL" sz="2400" b="1" dirty="0">
                <a:solidFill>
                  <a:srgbClr val="79797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D807EFF-B0FB-CD4E-BD42-F111550501B7}"/>
              </a:ext>
            </a:extLst>
          </p:cNvPr>
          <p:cNvSpPr/>
          <p:nvPr/>
        </p:nvSpPr>
        <p:spPr>
          <a:xfrm>
            <a:off x="251665" y="1192791"/>
            <a:ext cx="106983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s-MX" altLang="es-CL" sz="20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2.-  </a:t>
            </a:r>
            <a:r>
              <a:rPr lang="es-MX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Para cada elemento debes escribir una ecuación algebraica.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037CC91-E599-E147-BD51-35E66666E416}"/>
              </a:ext>
            </a:extLst>
          </p:cNvPr>
          <p:cNvSpPr/>
          <p:nvPr/>
        </p:nvSpPr>
        <p:spPr>
          <a:xfrm>
            <a:off x="5558288" y="1656399"/>
            <a:ext cx="3651896" cy="1719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CL" altLang="es-CL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Recuerda que el 2 multiplica a los número que están dentro del paréntesis, es como factorizar.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E0BE280-78D5-084B-B7D0-EE130A89F305}"/>
              </a:ext>
            </a:extLst>
          </p:cNvPr>
          <p:cNvSpPr/>
          <p:nvPr/>
        </p:nvSpPr>
        <p:spPr>
          <a:xfrm>
            <a:off x="2145252" y="5040897"/>
            <a:ext cx="36562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s-CL" altLang="es-CL" sz="24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H  </a:t>
            </a:r>
            <a:r>
              <a:rPr lang="es-CL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:   </a:t>
            </a:r>
            <a:r>
              <a:rPr lang="es-CL" altLang="es-CL" sz="2400" b="1" dirty="0">
                <a:solidFill>
                  <a:srgbClr val="FF9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b   </a:t>
            </a:r>
            <a:r>
              <a:rPr lang="es-CL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= </a:t>
            </a:r>
            <a:r>
              <a:rPr lang="es-CL" altLang="es-CL" sz="2400" b="1" dirty="0">
                <a:solidFill>
                  <a:srgbClr val="79797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2e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04CEEF9-2C98-46E4-94CB-E3C3F75EA402}"/>
              </a:ext>
            </a:extLst>
          </p:cNvPr>
          <p:cNvSpPr/>
          <p:nvPr/>
        </p:nvSpPr>
        <p:spPr>
          <a:xfrm>
            <a:off x="35382" y="416777"/>
            <a:ext cx="93387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None/>
            </a:pPr>
            <a:r>
              <a:rPr lang="es-MX" altLang="es-CL" sz="2800" b="1" dirty="0">
                <a:solidFill>
                  <a:srgbClr val="9437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</a:t>
            </a:r>
            <a:r>
              <a:rPr lang="es-MX" altLang="es-CL" sz="28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Cu    +    </a:t>
            </a:r>
            <a:r>
              <a:rPr lang="es-MX" altLang="es-CL" sz="2800" b="1" dirty="0">
                <a:solidFill>
                  <a:srgbClr val="FF9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</a:t>
            </a:r>
            <a:r>
              <a:rPr lang="es-MX" altLang="es-CL" sz="28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HNO</a:t>
            </a:r>
            <a:r>
              <a:rPr lang="es-MX" altLang="es-CL" sz="2800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MX" altLang="es-CL" sz="28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→ </a:t>
            </a:r>
            <a:r>
              <a:rPr lang="es-MX" altLang="es-CL" sz="2800" b="1" dirty="0">
                <a:solidFill>
                  <a:srgbClr val="0432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</a:t>
            </a:r>
            <a:r>
              <a:rPr lang="es-MX" altLang="es-CL" sz="2800" dirty="0">
                <a:solidFill>
                  <a:srgbClr val="0432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s-MX" altLang="es-CL" sz="28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NO</a:t>
            </a:r>
            <a:r>
              <a:rPr lang="es-MX" altLang="es-CL" sz="2800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MX" altLang="es-CL" sz="28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+ </a:t>
            </a:r>
            <a:r>
              <a:rPr lang="es-MX" altLang="es-CL" sz="2800" b="1" dirty="0">
                <a:solidFill>
                  <a:srgbClr val="FF85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</a:t>
            </a:r>
            <a:r>
              <a:rPr lang="es-MX" altLang="es-CL" sz="28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Cu(NO</a:t>
            </a:r>
            <a:r>
              <a:rPr lang="es-MX" altLang="es-CL" sz="2800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MX" altLang="es-CL" sz="28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</a:t>
            </a:r>
            <a:r>
              <a:rPr lang="es-MX" altLang="es-CL" sz="2800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MX" altLang="es-CL" sz="28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+  </a:t>
            </a:r>
            <a:r>
              <a:rPr lang="es-MX" altLang="es-CL" sz="2800" b="1" dirty="0">
                <a:solidFill>
                  <a:srgbClr val="79797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</a:t>
            </a:r>
            <a:r>
              <a:rPr lang="es-MX" altLang="es-CL" sz="28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H</a:t>
            </a:r>
            <a:r>
              <a:rPr lang="es-MX" altLang="es-CL" sz="2800" baseline="-250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MX" altLang="es-CL" sz="28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4092888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s-CL" sz="2000" smtClean="0">
                <a:latin typeface="Lucida Sans Unicode" panose="020B0602030504020204" pitchFamily="34" charset="0"/>
                <a:ea typeface="Cambria Math" panose="02040503050406030204" pitchFamily="18" charset="0"/>
                <a:cs typeface="Lucida Sans Unicode" panose="020B0602030504020204" pitchFamily="34" charset="0"/>
              </a:rPr>
              <a:pPr algn="ctr"/>
              <a:t>11</a:t>
            </a:fld>
            <a:endParaRPr lang="es-CL" sz="2000">
              <a:latin typeface="Lucida Sans Unicode" panose="020B0602030504020204" pitchFamily="34" charset="0"/>
              <a:ea typeface="Cambria Math" panose="02040503050406030204" pitchFamily="18" charset="0"/>
              <a:cs typeface="Lucida Sans Unicode" panose="020B060203050402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6" name="CuadroTexto 1">
            <a:extLst>
              <a:ext uri="{FF2B5EF4-FFF2-40B4-BE49-F238E27FC236}">
                <a16:creationId xmlns:a16="http://schemas.microsoft.com/office/drawing/2014/main" id="{EE23E5BE-BD52-654E-A75F-F6AADCF14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917" y="636607"/>
            <a:ext cx="792088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s-CL" sz="24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      </a:t>
            </a:r>
            <a:r>
              <a:rPr lang="es-CL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:     </a:t>
            </a:r>
            <a:r>
              <a:rPr lang="es-CL" altLang="es-CL" sz="1800" b="1" dirty="0">
                <a:solidFill>
                  <a:srgbClr val="FF9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</a:t>
            </a:r>
            <a:r>
              <a:rPr lang="es-CL" altLang="es-CL" sz="18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= </a:t>
            </a:r>
            <a:r>
              <a:rPr lang="es-CL" altLang="es-CL" sz="1800" b="1" dirty="0">
                <a:solidFill>
                  <a:srgbClr val="0432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</a:t>
            </a:r>
            <a:r>
              <a:rPr lang="es-CL" altLang="es-CL" sz="18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+ </a:t>
            </a:r>
            <a:r>
              <a:rPr lang="es-CL" altLang="es-CL" sz="1800" b="1" dirty="0">
                <a:solidFill>
                  <a:srgbClr val="FF85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2d </a:t>
            </a:r>
            <a:r>
              <a:rPr lang="es-CL" altLang="es-CL" sz="18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reemplazando valor de b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CL" altLang="es-CL" sz="1800" b="1" dirty="0">
                <a:solidFill>
                  <a:srgbClr val="FF9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                 2</a:t>
            </a:r>
            <a:r>
              <a:rPr lang="es-CL" altLang="es-CL" sz="18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= </a:t>
            </a:r>
            <a:r>
              <a:rPr lang="es-CL" altLang="es-CL" sz="1800" b="1" dirty="0">
                <a:solidFill>
                  <a:srgbClr val="0432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</a:t>
            </a:r>
            <a:r>
              <a:rPr lang="es-CL" altLang="es-CL" sz="18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+ </a:t>
            </a:r>
            <a:r>
              <a:rPr lang="es-CL" altLang="es-CL" sz="1800" b="1" dirty="0">
                <a:solidFill>
                  <a:srgbClr val="FF85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2d</a:t>
            </a:r>
            <a:endParaRPr lang="es-CL" altLang="es-CL" sz="18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67F50BF-0D3D-4A46-9E3F-D0C38BDC3F26}"/>
              </a:ext>
            </a:extLst>
          </p:cNvPr>
          <p:cNvSpPr/>
          <p:nvPr/>
        </p:nvSpPr>
        <p:spPr>
          <a:xfrm>
            <a:off x="162610" y="202550"/>
            <a:ext cx="80407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Con las ecuaciones de N y O se forma un sistema de ecuaciones</a:t>
            </a:r>
          </a:p>
        </p:txBody>
      </p:sp>
      <p:sp>
        <p:nvSpPr>
          <p:cNvPr id="8" name="CuadroTexto 1">
            <a:extLst>
              <a:ext uri="{FF2B5EF4-FFF2-40B4-BE49-F238E27FC236}">
                <a16:creationId xmlns:a16="http://schemas.microsoft.com/office/drawing/2014/main" id="{3598364B-C93B-6D46-838A-AB9939FA1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098" y="1525284"/>
            <a:ext cx="8040699" cy="12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s-CL" altLang="es-CL" sz="24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       </a:t>
            </a:r>
            <a:r>
              <a:rPr lang="es-CL" altLang="es-CL" sz="18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:</a:t>
            </a:r>
            <a:r>
              <a:rPr lang="es-CL" altLang="es-CL" sz="18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   </a:t>
            </a:r>
            <a:r>
              <a:rPr lang="es-CL" altLang="es-CL" sz="1800" b="1" dirty="0">
                <a:solidFill>
                  <a:srgbClr val="FF9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3b</a:t>
            </a:r>
            <a:r>
              <a:rPr lang="es-CL" altLang="es-CL" sz="18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= </a:t>
            </a:r>
            <a:r>
              <a:rPr lang="es-CL" altLang="es-CL" sz="1800" b="1" dirty="0">
                <a:solidFill>
                  <a:srgbClr val="0432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2c</a:t>
            </a:r>
            <a:r>
              <a:rPr lang="es-CL" altLang="es-CL" sz="18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+</a:t>
            </a:r>
            <a:r>
              <a:rPr lang="es-CL" altLang="es-CL" sz="1800" b="1" dirty="0">
                <a:solidFill>
                  <a:srgbClr val="FF85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6d </a:t>
            </a:r>
            <a:r>
              <a:rPr lang="es-CL" altLang="es-CL" sz="18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+ </a:t>
            </a:r>
            <a:r>
              <a:rPr lang="es-CL" altLang="es-CL" sz="1800" b="1" dirty="0">
                <a:solidFill>
                  <a:srgbClr val="79797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 </a:t>
            </a:r>
            <a:r>
              <a:rPr lang="es-CL" altLang="es-CL" sz="18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reemplazando valor de b y e</a:t>
            </a:r>
            <a:endParaRPr lang="es-CL" altLang="es-CL" sz="1800" b="1" dirty="0">
              <a:solidFill>
                <a:srgbClr val="797979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spcBef>
                <a:spcPct val="0"/>
              </a:spcBef>
              <a:buNone/>
            </a:pPr>
            <a:r>
              <a:rPr lang="es-CL" altLang="es-CL" sz="1800" b="1" dirty="0">
                <a:solidFill>
                  <a:srgbClr val="FF9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                3x2</a:t>
            </a:r>
            <a:r>
              <a:rPr lang="es-CL" altLang="es-CL" sz="18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</a:t>
            </a:r>
            <a:r>
              <a:rPr lang="es-CL" altLang="es-CL" sz="1800" b="1" dirty="0">
                <a:solidFill>
                  <a:srgbClr val="0432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2c</a:t>
            </a:r>
            <a:r>
              <a:rPr lang="es-CL" altLang="es-CL" sz="18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+</a:t>
            </a:r>
            <a:r>
              <a:rPr lang="es-CL" altLang="es-CL" sz="1800" b="1" dirty="0">
                <a:solidFill>
                  <a:srgbClr val="FF85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6d </a:t>
            </a:r>
            <a:r>
              <a:rPr lang="es-CL" altLang="es-CL" sz="18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+ </a:t>
            </a:r>
            <a:r>
              <a:rPr lang="es-CL" altLang="es-CL" sz="1800" b="1" dirty="0">
                <a:solidFill>
                  <a:srgbClr val="79797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</a:t>
            </a:r>
          </a:p>
          <a:p>
            <a:pPr>
              <a:spcBef>
                <a:spcPct val="0"/>
              </a:spcBef>
              <a:buNone/>
            </a:pPr>
            <a:r>
              <a:rPr lang="es-CL" altLang="es-CL" sz="1800" b="1" dirty="0">
                <a:solidFill>
                  <a:srgbClr val="FF9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                    6</a:t>
            </a:r>
            <a:r>
              <a:rPr lang="es-CL" altLang="es-CL" sz="18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</a:t>
            </a:r>
            <a:r>
              <a:rPr lang="es-CL" altLang="es-CL" sz="1800" b="1" dirty="0">
                <a:solidFill>
                  <a:srgbClr val="0432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2c</a:t>
            </a:r>
            <a:r>
              <a:rPr lang="es-CL" altLang="es-CL" sz="18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+</a:t>
            </a:r>
            <a:r>
              <a:rPr lang="es-CL" altLang="es-CL" sz="1800" b="1" dirty="0">
                <a:solidFill>
                  <a:srgbClr val="FF85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6d </a:t>
            </a:r>
            <a:r>
              <a:rPr lang="es-CL" altLang="es-CL" sz="18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+ </a:t>
            </a:r>
            <a:r>
              <a:rPr lang="es-CL" altLang="es-CL" sz="1800" b="1" dirty="0">
                <a:solidFill>
                  <a:srgbClr val="79797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</a:p>
          <a:p>
            <a:pPr>
              <a:spcBef>
                <a:spcPct val="0"/>
              </a:spcBef>
              <a:buNone/>
            </a:pPr>
            <a:r>
              <a:rPr lang="es-CL" altLang="es-CL" sz="18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                    5</a:t>
            </a:r>
            <a:r>
              <a:rPr lang="es-CL" altLang="es-CL" sz="18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</a:t>
            </a:r>
            <a:r>
              <a:rPr lang="es-CL" altLang="es-CL" sz="1800" b="1" dirty="0">
                <a:solidFill>
                  <a:srgbClr val="0432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2c</a:t>
            </a:r>
            <a:r>
              <a:rPr lang="es-CL" altLang="es-CL" sz="18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+</a:t>
            </a:r>
            <a:r>
              <a:rPr lang="es-CL" altLang="es-CL" sz="1800" b="1" dirty="0">
                <a:solidFill>
                  <a:srgbClr val="FF85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6d </a:t>
            </a:r>
            <a:endParaRPr lang="es-CL" altLang="es-CL" sz="1800" b="1" dirty="0">
              <a:solidFill>
                <a:srgbClr val="797979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D329282-DBEF-624D-88F0-6C1840746BE4}"/>
              </a:ext>
            </a:extLst>
          </p:cNvPr>
          <p:cNvSpPr/>
          <p:nvPr/>
        </p:nvSpPr>
        <p:spPr>
          <a:xfrm>
            <a:off x="360352" y="2783520"/>
            <a:ext cx="47012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Resolviendo el sistema de ecuaciones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7004718-874F-B344-81DB-5C6A04D0A267}"/>
              </a:ext>
            </a:extLst>
          </p:cNvPr>
          <p:cNvSpPr/>
          <p:nvPr/>
        </p:nvSpPr>
        <p:spPr>
          <a:xfrm>
            <a:off x="664917" y="4097027"/>
            <a:ext cx="47012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Multiplica por -2 , la ecuación 1 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1EDB87B-3CE1-EB4D-958C-5D8D0A12C129}"/>
              </a:ext>
            </a:extLst>
          </p:cNvPr>
          <p:cNvSpPr/>
          <p:nvPr/>
        </p:nvSpPr>
        <p:spPr>
          <a:xfrm>
            <a:off x="4133771" y="1021511"/>
            <a:ext cx="16318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s-CL" altLang="es-CL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Ecuación 1 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2A8C158-8EA9-674C-B75A-732ADF99D8FA}"/>
              </a:ext>
            </a:extLst>
          </p:cNvPr>
          <p:cNvSpPr/>
          <p:nvPr/>
        </p:nvSpPr>
        <p:spPr>
          <a:xfrm>
            <a:off x="4182960" y="2431288"/>
            <a:ext cx="16318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s-CL" altLang="es-CL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ecuación 2 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B62ED43-A71A-7D44-A1F4-31F465F7B97A}"/>
              </a:ext>
            </a:extLst>
          </p:cNvPr>
          <p:cNvSpPr/>
          <p:nvPr/>
        </p:nvSpPr>
        <p:spPr>
          <a:xfrm>
            <a:off x="488078" y="5287642"/>
            <a:ext cx="72913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Reemplazando este valor en cualquiera de ambas ecuaciones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9C4FBD8-6E82-E049-9E52-CF289AE1557F}"/>
              </a:ext>
            </a:extLst>
          </p:cNvPr>
          <p:cNvSpPr/>
          <p:nvPr/>
        </p:nvSpPr>
        <p:spPr>
          <a:xfrm>
            <a:off x="534225" y="6303274"/>
            <a:ext cx="64523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Para obtener el valor de a, usar ecuacion de Cu a= ½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7CE6500-FC91-DA41-8792-AC2611F043B5}"/>
              </a:ext>
            </a:extLst>
          </p:cNvPr>
          <p:cNvSpPr/>
          <p:nvPr/>
        </p:nvSpPr>
        <p:spPr>
          <a:xfrm>
            <a:off x="2658687" y="3552456"/>
            <a:ext cx="31983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altLang="es-CL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5</a:t>
            </a: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</a:t>
            </a:r>
            <a:r>
              <a:rPr lang="es-CL" altLang="es-CL" b="1" dirty="0">
                <a:solidFill>
                  <a:srgbClr val="0432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2c</a:t>
            </a: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+</a:t>
            </a:r>
            <a:r>
              <a:rPr lang="es-CL" altLang="es-CL" b="1" dirty="0">
                <a:solidFill>
                  <a:srgbClr val="FF85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6d    ecuación 2 </a:t>
            </a:r>
            <a:endParaRPr lang="es-ES_tradn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F5BDD1C-E6E7-0341-90DD-F23EE6A65216}"/>
              </a:ext>
            </a:extLst>
          </p:cNvPr>
          <p:cNvSpPr/>
          <p:nvPr/>
        </p:nvSpPr>
        <p:spPr>
          <a:xfrm>
            <a:off x="2658687" y="3174312"/>
            <a:ext cx="30524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altLang="es-CL" b="1" dirty="0">
                <a:solidFill>
                  <a:srgbClr val="FF9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= </a:t>
            </a:r>
            <a:r>
              <a:rPr lang="es-CL" altLang="es-CL" b="1" dirty="0">
                <a:solidFill>
                  <a:srgbClr val="0432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</a:t>
            </a: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+ </a:t>
            </a:r>
            <a:r>
              <a:rPr lang="es-CL" altLang="es-CL" b="1" dirty="0">
                <a:solidFill>
                  <a:srgbClr val="FF85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2d     ecuación 1</a:t>
            </a:r>
            <a:endParaRPr lang="es-ES_tradnl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F1A6FDB-9A02-FE48-A647-94DC4BE83CF4}"/>
              </a:ext>
            </a:extLst>
          </p:cNvPr>
          <p:cNvSpPr/>
          <p:nvPr/>
        </p:nvSpPr>
        <p:spPr>
          <a:xfrm>
            <a:off x="4498280" y="4426963"/>
            <a:ext cx="20201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altLang="es-CL" b="1" dirty="0">
                <a:solidFill>
                  <a:srgbClr val="FF9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-4</a:t>
            </a: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= -2</a:t>
            </a:r>
            <a:r>
              <a:rPr lang="es-CL" altLang="es-CL" b="1" dirty="0">
                <a:solidFill>
                  <a:srgbClr val="0432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</a:t>
            </a: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+ </a:t>
            </a:r>
            <a:r>
              <a:rPr lang="es-CL" altLang="es-CL" b="1" dirty="0">
                <a:solidFill>
                  <a:srgbClr val="FF85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-4d</a:t>
            </a:r>
            <a:endParaRPr lang="es-ES_tradnl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2B7513E-4D13-0549-A898-2897FA8B5F0E}"/>
              </a:ext>
            </a:extLst>
          </p:cNvPr>
          <p:cNvSpPr/>
          <p:nvPr/>
        </p:nvSpPr>
        <p:spPr>
          <a:xfrm>
            <a:off x="4657766" y="4660772"/>
            <a:ext cx="1620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altLang="es-CL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5</a:t>
            </a: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</a:t>
            </a:r>
            <a:r>
              <a:rPr lang="es-CL" altLang="es-CL" b="1" dirty="0">
                <a:solidFill>
                  <a:srgbClr val="0432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2c</a:t>
            </a: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+</a:t>
            </a:r>
            <a:r>
              <a:rPr lang="es-CL" altLang="es-CL" b="1" dirty="0">
                <a:solidFill>
                  <a:srgbClr val="FF85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6d </a:t>
            </a:r>
            <a:endParaRPr lang="es-ES_tradnl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F1F6CC1-BB62-404D-A98D-DAEF911FE358}"/>
              </a:ext>
            </a:extLst>
          </p:cNvPr>
          <p:cNvSpPr/>
          <p:nvPr/>
        </p:nvSpPr>
        <p:spPr>
          <a:xfrm>
            <a:off x="4657765" y="4952963"/>
            <a:ext cx="10262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altLang="es-CL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</a:t>
            </a: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</a:t>
            </a:r>
            <a:r>
              <a:rPr lang="es-CL" altLang="es-CL" b="1" dirty="0">
                <a:solidFill>
                  <a:srgbClr val="FF85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2d </a:t>
            </a:r>
            <a:endParaRPr lang="es-ES_tradnl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B337524-0406-CF4D-BB0C-2468C09BAB84}"/>
              </a:ext>
            </a:extLst>
          </p:cNvPr>
          <p:cNvSpPr/>
          <p:nvPr/>
        </p:nvSpPr>
        <p:spPr>
          <a:xfrm>
            <a:off x="6402991" y="4918310"/>
            <a:ext cx="9188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altLang="es-CL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</a:t>
            </a: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½</a:t>
            </a:r>
            <a:r>
              <a:rPr lang="es-CL" altLang="es-CL" b="1" dirty="0">
                <a:solidFill>
                  <a:srgbClr val="FF85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endParaRPr lang="es-ES_tradnl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5B5EC8D-2D30-014A-860E-794F02834470}"/>
              </a:ext>
            </a:extLst>
          </p:cNvPr>
          <p:cNvSpPr/>
          <p:nvPr/>
        </p:nvSpPr>
        <p:spPr>
          <a:xfrm>
            <a:off x="2401703" y="5673449"/>
            <a:ext cx="17812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AutoNum type="arabicPlain" startAt="2"/>
            </a:pP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= </a:t>
            </a:r>
            <a:r>
              <a:rPr lang="es-CL" altLang="es-CL" b="1" dirty="0">
                <a:solidFill>
                  <a:srgbClr val="0432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</a:t>
            </a: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+ </a:t>
            </a:r>
            <a:r>
              <a:rPr lang="es-CL" altLang="es-CL" b="1" dirty="0">
                <a:solidFill>
                  <a:srgbClr val="FF85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2x ½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3C1F894-170B-C543-8892-6D6AE174BD78}"/>
              </a:ext>
            </a:extLst>
          </p:cNvPr>
          <p:cNvSpPr/>
          <p:nvPr/>
        </p:nvSpPr>
        <p:spPr>
          <a:xfrm>
            <a:off x="6337267" y="5688118"/>
            <a:ext cx="9845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2-1= </a:t>
            </a:r>
            <a:r>
              <a:rPr lang="es-CL" altLang="es-CL" b="1" dirty="0">
                <a:solidFill>
                  <a:srgbClr val="0432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</a:t>
            </a:r>
            <a:endParaRPr lang="es-CL" altLang="es-CL" b="1" dirty="0">
              <a:solidFill>
                <a:srgbClr val="FF85FF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913ACFBF-4C41-6E4A-BD75-29EEE8F6FCEB}"/>
              </a:ext>
            </a:extLst>
          </p:cNvPr>
          <p:cNvSpPr/>
          <p:nvPr/>
        </p:nvSpPr>
        <p:spPr>
          <a:xfrm>
            <a:off x="7657338" y="5708706"/>
            <a:ext cx="9284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b="1" dirty="0">
                <a:solidFill>
                  <a:srgbClr val="0432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 = 1 </a:t>
            </a:r>
            <a:endParaRPr lang="es-CL" altLang="es-CL" b="1" dirty="0">
              <a:solidFill>
                <a:srgbClr val="FF85FF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662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s-CL" sz="200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pPr algn="ctr"/>
              <a:t>12</a:t>
            </a:fld>
            <a:endParaRPr lang="es-CL" sz="200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5" name="CuadroTexto 1">
            <a:extLst>
              <a:ext uri="{FF2B5EF4-FFF2-40B4-BE49-F238E27FC236}">
                <a16:creationId xmlns:a16="http://schemas.microsoft.com/office/drawing/2014/main" id="{F40FC1A3-3C58-644B-8D39-E67932359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1" y="387351"/>
            <a:ext cx="820896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4.-  </a:t>
            </a:r>
            <a:r>
              <a:rPr lang="es-CL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Los valores obtenidos son reemplazados en la ecuación:</a:t>
            </a:r>
          </a:p>
          <a:p>
            <a:pPr>
              <a:spcBef>
                <a:spcPct val="0"/>
              </a:spcBef>
              <a:buFontTx/>
              <a:buNone/>
            </a:pPr>
            <a:endParaRPr lang="es-CL" altLang="es-CL" sz="20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6" name="Rectángulo 2">
            <a:extLst>
              <a:ext uri="{FF2B5EF4-FFF2-40B4-BE49-F238E27FC236}">
                <a16:creationId xmlns:a16="http://schemas.microsoft.com/office/drawing/2014/main" id="{1B0F9E91-143C-3641-8D78-E3EECA64D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877" y="1402527"/>
            <a:ext cx="1126539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MX" altLang="es-CL" sz="28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s-MX" altLang="es-CL" sz="28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½ Cu    +     2 HNO</a:t>
            </a:r>
            <a:r>
              <a:rPr lang="es-MX" altLang="es-CL" sz="28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MX" altLang="es-CL" sz="28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→       NO</a:t>
            </a:r>
            <a:r>
              <a:rPr lang="es-MX" altLang="es-CL" sz="28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MX" altLang="es-CL" sz="28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 +.    ½ Cu (NO</a:t>
            </a:r>
            <a:r>
              <a:rPr lang="es-MX" altLang="es-CL" sz="28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MX" altLang="es-CL" sz="28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</a:t>
            </a:r>
            <a:r>
              <a:rPr lang="es-MX" altLang="es-CL" sz="28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MX" altLang="es-CL" sz="28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+   H</a:t>
            </a:r>
            <a:r>
              <a:rPr lang="es-MX" altLang="es-CL" sz="28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MX" altLang="es-CL" sz="28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</a:t>
            </a:r>
            <a:endParaRPr lang="es-CL" altLang="es-CL" sz="2800" b="1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7" name="CuadroTexto 3">
            <a:extLst>
              <a:ext uri="{FF2B5EF4-FFF2-40B4-BE49-F238E27FC236}">
                <a16:creationId xmlns:a16="http://schemas.microsoft.com/office/drawing/2014/main" id="{5B14355D-D596-364D-966E-106217690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877" y="2157274"/>
            <a:ext cx="11273923" cy="1438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CL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Las ecuaciones químicas </a:t>
            </a:r>
            <a:r>
              <a:rPr lang="es-CL" altLang="es-CL" sz="2000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no pueden tener coeficientes fraccionarios</a:t>
            </a:r>
            <a:r>
              <a:rPr lang="es-CL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 por lo que se deben dejar estos valores como números enteros. Para ello tenemos que amplificar por 2 todos los coeficientes estequiométricos. </a:t>
            </a:r>
          </a:p>
        </p:txBody>
      </p:sp>
      <p:sp>
        <p:nvSpPr>
          <p:cNvPr id="8" name="Rectángulo 4">
            <a:extLst>
              <a:ext uri="{FF2B5EF4-FFF2-40B4-BE49-F238E27FC236}">
                <a16:creationId xmlns:a16="http://schemas.microsoft.com/office/drawing/2014/main" id="{7A6FE842-CE5A-D34C-B223-CDC002D19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011" y="4081583"/>
            <a:ext cx="1100595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MX" altLang="es-CL" sz="28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s-MX" altLang="es-CL" sz="28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latin typeface="Lucida Sans Unicode" panose="020B0602030504020204" pitchFamily="34" charset="0"/>
                <a:cs typeface="Lucida Sans Unicode" panose="020B0602030504020204" pitchFamily="34" charset="0"/>
              </a:rPr>
              <a:t>Cu    +     4 HNO</a:t>
            </a:r>
            <a:r>
              <a:rPr lang="es-MX" altLang="es-CL" sz="2800" b="1" baseline="-25000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MX" altLang="es-CL" sz="28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latin typeface="Lucida Sans Unicode" panose="020B0602030504020204" pitchFamily="34" charset="0"/>
                <a:cs typeface="Lucida Sans Unicode" panose="020B0602030504020204" pitchFamily="34" charset="0"/>
              </a:rPr>
              <a:t>   →      2 NO</a:t>
            </a:r>
            <a:r>
              <a:rPr lang="es-MX" altLang="es-CL" sz="2800" b="1" baseline="-25000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MX" altLang="es-CL" sz="28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latin typeface="Lucida Sans Unicode" panose="020B0602030504020204" pitchFamily="34" charset="0"/>
                <a:cs typeface="Lucida Sans Unicode" panose="020B0602030504020204" pitchFamily="34" charset="0"/>
              </a:rPr>
              <a:t>    +      Cu (NO</a:t>
            </a:r>
            <a:r>
              <a:rPr lang="es-MX" altLang="es-CL" sz="2800" b="1" baseline="-25000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MX" altLang="es-CL" sz="28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latin typeface="Lucida Sans Unicode" panose="020B0602030504020204" pitchFamily="34" charset="0"/>
                <a:cs typeface="Lucida Sans Unicode" panose="020B0602030504020204" pitchFamily="34" charset="0"/>
              </a:rPr>
              <a:t>)</a:t>
            </a:r>
            <a:r>
              <a:rPr lang="es-MX" altLang="es-CL" sz="2800" b="1" baseline="-25000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MX" altLang="es-CL" sz="28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latin typeface="Lucida Sans Unicode" panose="020B0602030504020204" pitchFamily="34" charset="0"/>
                <a:cs typeface="Lucida Sans Unicode" panose="020B0602030504020204" pitchFamily="34" charset="0"/>
              </a:rPr>
              <a:t>   +   2H</a:t>
            </a:r>
            <a:r>
              <a:rPr lang="es-MX" altLang="es-CL" sz="2800" b="1" baseline="-25000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MX" altLang="es-CL" sz="28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latin typeface="Lucida Sans Unicode" panose="020B0602030504020204" pitchFamily="34" charset="0"/>
                <a:cs typeface="Lucida Sans Unicode" panose="020B0602030504020204" pitchFamily="34" charset="0"/>
              </a:rPr>
              <a:t>O</a:t>
            </a:r>
            <a:endParaRPr lang="es-CL" altLang="es-CL" sz="2800" b="1" dirty="0">
              <a:solidFill>
                <a:schemeClr val="accent1">
                  <a:lumMod val="75000"/>
                </a:schemeClr>
              </a:solidFill>
              <a:highlight>
                <a:srgbClr val="FFFF00"/>
              </a:highlight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9" name="CuadroTexto 5">
            <a:extLst>
              <a:ext uri="{FF2B5EF4-FFF2-40B4-BE49-F238E27FC236}">
                <a16:creationId xmlns:a16="http://schemas.microsoft.com/office/drawing/2014/main" id="{095B23BB-454D-5448-A10D-74E74A557D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877" y="5291035"/>
            <a:ext cx="875937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5.- </a:t>
            </a:r>
            <a:r>
              <a:rPr lang="es-CL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Comprueba que la ecuación esté correctamente balanceada, átomos y carga cuando corresponda.</a:t>
            </a:r>
          </a:p>
        </p:txBody>
      </p:sp>
    </p:spTree>
    <p:extLst>
      <p:ext uri="{BB962C8B-B14F-4D97-AF65-F5344CB8AC3E}">
        <p14:creationId xmlns:p14="http://schemas.microsoft.com/office/powerpoint/2010/main" val="2494050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s-CL" sz="2000" smtClean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pPr algn="ctr"/>
              <a:t>13</a:t>
            </a:fld>
            <a:endParaRPr lang="es-CL" sz="20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A5B10B2-2873-5F4D-B732-D2A589EE09C6}"/>
              </a:ext>
            </a:extLst>
          </p:cNvPr>
          <p:cNvSpPr txBox="1"/>
          <p:nvPr/>
        </p:nvSpPr>
        <p:spPr>
          <a:xfrm>
            <a:off x="2027436" y="2931560"/>
            <a:ext cx="77809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Ejercicios</a:t>
            </a:r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 </a:t>
            </a:r>
          </a:p>
        </p:txBody>
      </p:sp>
      <p:grpSp>
        <p:nvGrpSpPr>
          <p:cNvPr id="4" name="Shape 257">
            <a:extLst>
              <a:ext uri="{FF2B5EF4-FFF2-40B4-BE49-F238E27FC236}">
                <a16:creationId xmlns:a16="http://schemas.microsoft.com/office/drawing/2014/main" id="{04B9F9FE-CAD3-B543-8CDF-E1698D657268}"/>
              </a:ext>
            </a:extLst>
          </p:cNvPr>
          <p:cNvGrpSpPr/>
          <p:nvPr/>
        </p:nvGrpSpPr>
        <p:grpSpPr>
          <a:xfrm>
            <a:off x="5125820" y="1447365"/>
            <a:ext cx="1171845" cy="1045591"/>
            <a:chOff x="5233525" y="4954450"/>
            <a:chExt cx="538275" cy="516350"/>
          </a:xfrm>
        </p:grpSpPr>
        <p:sp>
          <p:nvSpPr>
            <p:cNvPr id="5" name="Shape 258">
              <a:extLst>
                <a:ext uri="{FF2B5EF4-FFF2-40B4-BE49-F238E27FC236}">
                  <a16:creationId xmlns:a16="http://schemas.microsoft.com/office/drawing/2014/main" id="{3E8DF75F-16CC-044D-B3EB-21E22FDE5D71}"/>
                </a:ext>
              </a:extLst>
            </p:cNvPr>
            <p:cNvSpPr/>
            <p:nvPr/>
          </p:nvSpPr>
          <p:spPr>
            <a:xfrm>
              <a:off x="5637825" y="4954450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" name="Shape 259">
              <a:extLst>
                <a:ext uri="{FF2B5EF4-FFF2-40B4-BE49-F238E27FC236}">
                  <a16:creationId xmlns:a16="http://schemas.microsoft.com/office/drawing/2014/main" id="{00E51DBF-8113-B84A-A35D-3F18272B4179}"/>
                </a:ext>
              </a:extLst>
            </p:cNvPr>
            <p:cNvSpPr/>
            <p:nvPr/>
          </p:nvSpPr>
          <p:spPr>
            <a:xfrm>
              <a:off x="5323025" y="4980625"/>
              <a:ext cx="88925" cy="88925"/>
            </a:xfrm>
            <a:custGeom>
              <a:avLst/>
              <a:gdLst/>
              <a:ahLst/>
              <a:cxnLst/>
              <a:rect l="0" t="0" r="0" b="0"/>
              <a:pathLst>
                <a:path w="3557" h="3557" fill="none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" name="Shape 260">
              <a:extLst>
                <a:ext uri="{FF2B5EF4-FFF2-40B4-BE49-F238E27FC236}">
                  <a16:creationId xmlns:a16="http://schemas.microsoft.com/office/drawing/2014/main" id="{05CBC384-9B02-6C47-A556-79B0CE94ACE9}"/>
                </a:ext>
              </a:extLst>
            </p:cNvPr>
            <p:cNvSpPr/>
            <p:nvPr/>
          </p:nvSpPr>
          <p:spPr>
            <a:xfrm>
              <a:off x="5233525" y="5255225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" name="Shape 261">
              <a:extLst>
                <a:ext uri="{FF2B5EF4-FFF2-40B4-BE49-F238E27FC236}">
                  <a16:creationId xmlns:a16="http://schemas.microsoft.com/office/drawing/2014/main" id="{7CB79486-E909-DD4B-8865-6C314698F68D}"/>
                </a:ext>
              </a:extLst>
            </p:cNvPr>
            <p:cNvSpPr/>
            <p:nvPr/>
          </p:nvSpPr>
          <p:spPr>
            <a:xfrm>
              <a:off x="5453325" y="5382475"/>
              <a:ext cx="88925" cy="88325"/>
            </a:xfrm>
            <a:custGeom>
              <a:avLst/>
              <a:gdLst/>
              <a:ahLst/>
              <a:cxnLst/>
              <a:rect l="0" t="0" r="0" b="0"/>
              <a:pathLst>
                <a:path w="3557" h="3533" fill="none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Shape 262">
              <a:extLst>
                <a:ext uri="{FF2B5EF4-FFF2-40B4-BE49-F238E27FC236}">
                  <a16:creationId xmlns:a16="http://schemas.microsoft.com/office/drawing/2014/main" id="{BAF265E0-CBE6-4040-907F-05F1F377C216}"/>
                </a:ext>
              </a:extLst>
            </p:cNvPr>
            <p:cNvSpPr/>
            <p:nvPr/>
          </p:nvSpPr>
          <p:spPr>
            <a:xfrm>
              <a:off x="5682875" y="5188875"/>
              <a:ext cx="88925" cy="89525"/>
            </a:xfrm>
            <a:custGeom>
              <a:avLst/>
              <a:gdLst/>
              <a:ahLst/>
              <a:cxnLst/>
              <a:rect l="0" t="0" r="0" b="0"/>
              <a:pathLst>
                <a:path w="3557" h="3581" fill="none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Shape 263">
              <a:extLst>
                <a:ext uri="{FF2B5EF4-FFF2-40B4-BE49-F238E27FC236}">
                  <a16:creationId xmlns:a16="http://schemas.microsoft.com/office/drawing/2014/main" id="{86187FDB-D2A0-B342-A64D-09F3799BCEDF}"/>
                </a:ext>
              </a:extLst>
            </p:cNvPr>
            <p:cNvSpPr/>
            <p:nvPr/>
          </p:nvSpPr>
          <p:spPr>
            <a:xfrm>
              <a:off x="5411925" y="5110925"/>
              <a:ext cx="188775" cy="189400"/>
            </a:xfrm>
            <a:custGeom>
              <a:avLst/>
              <a:gdLst/>
              <a:ahLst/>
              <a:cxnLst/>
              <a:rect l="0" t="0" r="0" b="0"/>
              <a:pathLst>
                <a:path w="7551" h="7576" fill="none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" name="Shape 264">
              <a:extLst>
                <a:ext uri="{FF2B5EF4-FFF2-40B4-BE49-F238E27FC236}">
                  <a16:creationId xmlns:a16="http://schemas.microsoft.com/office/drawing/2014/main" id="{82924474-FA90-8C42-A57C-5842FE291D36}"/>
                </a:ext>
              </a:extLst>
            </p:cNvPr>
            <p:cNvSpPr/>
            <p:nvPr/>
          </p:nvSpPr>
          <p:spPr>
            <a:xfrm>
              <a:off x="5367475" y="5025075"/>
              <a:ext cx="81600" cy="105975"/>
            </a:xfrm>
            <a:custGeom>
              <a:avLst/>
              <a:gdLst/>
              <a:ahLst/>
              <a:cxnLst/>
              <a:rect l="0" t="0" r="0" b="0"/>
              <a:pathLst>
                <a:path w="3264" h="4239" fill="none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" name="Shape 265">
              <a:extLst>
                <a:ext uri="{FF2B5EF4-FFF2-40B4-BE49-F238E27FC236}">
                  <a16:creationId xmlns:a16="http://schemas.microsoft.com/office/drawing/2014/main" id="{D426B43C-121B-804D-A231-BA36FA3616A2}"/>
                </a:ext>
              </a:extLst>
            </p:cNvPr>
            <p:cNvSpPr/>
            <p:nvPr/>
          </p:nvSpPr>
          <p:spPr>
            <a:xfrm>
              <a:off x="5567800" y="4999500"/>
              <a:ext cx="115100" cy="133975"/>
            </a:xfrm>
            <a:custGeom>
              <a:avLst/>
              <a:gdLst/>
              <a:ahLst/>
              <a:cxnLst/>
              <a:rect l="0" t="0" r="0" b="0"/>
              <a:pathLst>
                <a:path w="4604" h="5359" fill="none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" name="Shape 266">
              <a:extLst>
                <a:ext uri="{FF2B5EF4-FFF2-40B4-BE49-F238E27FC236}">
                  <a16:creationId xmlns:a16="http://schemas.microsoft.com/office/drawing/2014/main" id="{00D2FF67-53FB-234F-B3A8-8CFDF5C33ECF}"/>
                </a:ext>
              </a:extLst>
            </p:cNvPr>
            <p:cNvSpPr/>
            <p:nvPr/>
          </p:nvSpPr>
          <p:spPr>
            <a:xfrm>
              <a:off x="5600075" y="5217475"/>
              <a:ext cx="127275" cy="16475"/>
            </a:xfrm>
            <a:custGeom>
              <a:avLst/>
              <a:gdLst/>
              <a:ahLst/>
              <a:cxnLst/>
              <a:rect l="0" t="0" r="0" b="0"/>
              <a:pathLst>
                <a:path w="5091" h="659" fill="none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" name="Shape 267">
              <a:extLst>
                <a:ext uri="{FF2B5EF4-FFF2-40B4-BE49-F238E27FC236}">
                  <a16:creationId xmlns:a16="http://schemas.microsoft.com/office/drawing/2014/main" id="{3F48E860-50C8-9B4E-B0BD-C55D0C2FE270}"/>
                </a:ext>
              </a:extLst>
            </p:cNvPr>
            <p:cNvSpPr/>
            <p:nvPr/>
          </p:nvSpPr>
          <p:spPr>
            <a:xfrm>
              <a:off x="5497775" y="5299675"/>
              <a:ext cx="4900" cy="126675"/>
            </a:xfrm>
            <a:custGeom>
              <a:avLst/>
              <a:gdLst/>
              <a:ahLst/>
              <a:cxnLst/>
              <a:rect l="0" t="0" r="0" b="0"/>
              <a:pathLst>
                <a:path w="196" h="5067" fill="none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" name="Shape 268">
              <a:extLst>
                <a:ext uri="{FF2B5EF4-FFF2-40B4-BE49-F238E27FC236}">
                  <a16:creationId xmlns:a16="http://schemas.microsoft.com/office/drawing/2014/main" id="{AC1A6B39-DB16-724E-A189-8011253BEA2F}"/>
                </a:ext>
              </a:extLst>
            </p:cNvPr>
            <p:cNvSpPr/>
            <p:nvPr/>
          </p:nvSpPr>
          <p:spPr>
            <a:xfrm>
              <a:off x="5277975" y="5241825"/>
              <a:ext cx="141275" cy="58500"/>
            </a:xfrm>
            <a:custGeom>
              <a:avLst/>
              <a:gdLst/>
              <a:ahLst/>
              <a:cxnLst/>
              <a:rect l="0" t="0" r="0" b="0"/>
              <a:pathLst>
                <a:path w="5651" h="2340" fill="none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pic>
        <p:nvPicPr>
          <p:cNvPr id="16" name="Imagen 15">
            <a:extLst>
              <a:ext uri="{FF2B5EF4-FFF2-40B4-BE49-F238E27FC236}">
                <a16:creationId xmlns:a16="http://schemas.microsoft.com/office/drawing/2014/main" id="{99CD3962-A5A0-C64A-8119-D3E86C56A2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706" y="135466"/>
            <a:ext cx="2116765" cy="1058383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AB89760A-ABCE-9E4A-87A2-DB234CBFEB60}"/>
              </a:ext>
            </a:extLst>
          </p:cNvPr>
          <p:cNvSpPr txBox="1"/>
          <p:nvPr/>
        </p:nvSpPr>
        <p:spPr>
          <a:xfrm>
            <a:off x="4592729" y="4865440"/>
            <a:ext cx="74457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6. Estequiometría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38B9A0A-11B9-2244-9958-F2BC0250FB1A}"/>
              </a:ext>
            </a:extLst>
          </p:cNvPr>
          <p:cNvSpPr txBox="1"/>
          <p:nvPr/>
        </p:nvSpPr>
        <p:spPr>
          <a:xfrm>
            <a:off x="692211" y="431702"/>
            <a:ext cx="35087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I</a:t>
            </a:r>
          </a:p>
        </p:txBody>
      </p:sp>
    </p:spTree>
    <p:extLst>
      <p:ext uri="{BB962C8B-B14F-4D97-AF65-F5344CB8AC3E}">
        <p14:creationId xmlns:p14="http://schemas.microsoft.com/office/powerpoint/2010/main" val="3758980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>
          <a:xfrm>
            <a:off x="11390968" y="6333135"/>
            <a:ext cx="897909" cy="524800"/>
          </a:xfrm>
        </p:spPr>
        <p:txBody>
          <a:bodyPr/>
          <a:lstStyle/>
          <a:p>
            <a:fld id="{00000000-1234-1234-1234-123412341234}" type="slidenum">
              <a:rPr lang="es-CL" smtClean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pPr/>
              <a:t>14</a:t>
            </a:fld>
            <a:endParaRPr lang="es-CL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597954" cy="1058383"/>
          </a:xfrm>
          <a:prstGeom prst="rect">
            <a:avLst/>
          </a:prstGeom>
        </p:spPr>
      </p:pic>
      <p:sp>
        <p:nvSpPr>
          <p:cNvPr id="19" name="CuadroTexto 1">
            <a:extLst>
              <a:ext uri="{FF2B5EF4-FFF2-40B4-BE49-F238E27FC236}">
                <a16:creationId xmlns:a16="http://schemas.microsoft.com/office/drawing/2014/main" id="{ADE6CF4C-E226-F144-B703-364E9B9BC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36" y="483640"/>
            <a:ext cx="74789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s-CL" sz="24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1.- </a:t>
            </a:r>
            <a:r>
              <a:rPr lang="es-CL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Balancea las siguientes ecuaciones químicas</a:t>
            </a:r>
          </a:p>
        </p:txBody>
      </p:sp>
      <p:sp>
        <p:nvSpPr>
          <p:cNvPr id="20" name="Rectángulo 2">
            <a:extLst>
              <a:ext uri="{FF2B5EF4-FFF2-40B4-BE49-F238E27FC236}">
                <a16:creationId xmlns:a16="http://schemas.microsoft.com/office/drawing/2014/main" id="{8BCA3685-136A-6F4D-839F-D4D699726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1" y="1719262"/>
            <a:ext cx="9328817" cy="311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6000"/>
              </a:lnSpc>
              <a:spcBef>
                <a:spcPct val="0"/>
              </a:spcBef>
              <a:spcAft>
                <a:spcPts val="800"/>
              </a:spcAft>
              <a:buNone/>
            </a:pP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CH</a:t>
            </a:r>
            <a:r>
              <a:rPr lang="es-CL" altLang="es-CL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OH + O</a:t>
            </a:r>
            <a:r>
              <a:rPr lang="es-CL" altLang="es-CL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Times New Roman" panose="02020603050405020304" pitchFamily="18" charset="0"/>
                <a:cs typeface="Lucida Sans Unicode" panose="020B0602030504020204" pitchFamily="34" charset="0"/>
              </a:rPr>
              <a:t>→</a:t>
            </a: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CO</a:t>
            </a:r>
            <a:r>
              <a:rPr lang="es-CL" altLang="es-CL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+ H</a:t>
            </a:r>
            <a:r>
              <a:rPr lang="es-CL" altLang="es-CL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0</a:t>
            </a:r>
          </a:p>
          <a:p>
            <a:pPr>
              <a:lnSpc>
                <a:spcPct val="106000"/>
              </a:lnSpc>
              <a:spcBef>
                <a:spcPct val="0"/>
              </a:spcBef>
              <a:spcAft>
                <a:spcPts val="800"/>
              </a:spcAft>
              <a:buNone/>
            </a:pPr>
            <a:endParaRPr lang="es-CL" altLang="es-CL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lnSpc>
                <a:spcPct val="106000"/>
              </a:lnSpc>
              <a:spcBef>
                <a:spcPct val="0"/>
              </a:spcBef>
              <a:spcAft>
                <a:spcPts val="800"/>
              </a:spcAft>
              <a:buNone/>
            </a:pP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Na</a:t>
            </a:r>
            <a:r>
              <a:rPr lang="es-CL" altLang="es-CL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PO</a:t>
            </a:r>
            <a:r>
              <a:rPr lang="es-CL" altLang="es-CL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4</a:t>
            </a: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+ Ba (NO</a:t>
            </a:r>
            <a:r>
              <a:rPr lang="es-CL" altLang="es-CL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</a:t>
            </a:r>
            <a:r>
              <a:rPr lang="es-CL" altLang="es-CL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→ Ba</a:t>
            </a:r>
            <a:r>
              <a:rPr lang="es-CL" altLang="es-CL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(PO</a:t>
            </a:r>
            <a:r>
              <a:rPr lang="es-CL" altLang="es-CL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4</a:t>
            </a: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</a:t>
            </a:r>
            <a:r>
              <a:rPr lang="es-CL" altLang="es-CL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+ NaNO</a:t>
            </a:r>
            <a:r>
              <a:rPr lang="es-CL" altLang="es-CL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</a:p>
          <a:p>
            <a:pPr>
              <a:lnSpc>
                <a:spcPct val="106000"/>
              </a:lnSpc>
              <a:spcBef>
                <a:spcPct val="0"/>
              </a:spcBef>
              <a:spcAft>
                <a:spcPts val="800"/>
              </a:spcAft>
              <a:buNone/>
            </a:pPr>
            <a:endParaRPr lang="es-CL" altLang="es-CL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lnSpc>
                <a:spcPct val="106000"/>
              </a:lnSpc>
              <a:spcBef>
                <a:spcPct val="0"/>
              </a:spcBef>
              <a:spcAft>
                <a:spcPts val="800"/>
              </a:spcAft>
              <a:buNone/>
            </a:pP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</a:t>
            </a:r>
            <a:r>
              <a:rPr lang="es-CL" altLang="es-CL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6</a:t>
            </a: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H</a:t>
            </a:r>
            <a:r>
              <a:rPr lang="es-CL" altLang="es-CL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12 </a:t>
            </a: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+ O</a:t>
            </a:r>
            <a:r>
              <a:rPr lang="es-CL" altLang="es-CL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→ H</a:t>
            </a:r>
            <a:r>
              <a:rPr lang="es-CL" altLang="es-CL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</a:t>
            </a:r>
            <a:r>
              <a:rPr lang="es-CL" altLang="es-CL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6</a:t>
            </a: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H</a:t>
            </a:r>
            <a:r>
              <a:rPr lang="es-CL" altLang="es-CL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8</a:t>
            </a: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</a:t>
            </a:r>
            <a:r>
              <a:rPr lang="es-CL" altLang="es-CL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4</a:t>
            </a: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+ H</a:t>
            </a:r>
            <a:r>
              <a:rPr lang="es-CL" altLang="es-CL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305850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s-CL" sz="2000" smtClean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pPr algn="ctr"/>
              <a:t>15</a:t>
            </a:fld>
            <a:endParaRPr lang="es-CL" sz="200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EAEEBA65-F4E6-CA4F-BCBC-89B74A2B90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56EF4F04-C2EE-E843-A538-78F792225618}"/>
              </a:ext>
            </a:extLst>
          </p:cNvPr>
          <p:cNvSpPr txBox="1"/>
          <p:nvPr/>
        </p:nvSpPr>
        <p:spPr>
          <a:xfrm>
            <a:off x="4595746" y="5092563"/>
            <a:ext cx="74457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6. Estequiometría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F0A3067-708F-2C4B-B3C4-8E3999F7B05C}"/>
              </a:ext>
            </a:extLst>
          </p:cNvPr>
          <p:cNvSpPr txBox="1"/>
          <p:nvPr/>
        </p:nvSpPr>
        <p:spPr>
          <a:xfrm>
            <a:off x="4595746" y="340242"/>
            <a:ext cx="35087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I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83A0D7D-52B9-104D-B524-E1F8E960B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058" y="1908675"/>
            <a:ext cx="64008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7443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pPr/>
              <a:t>16</a:t>
            </a:fld>
            <a:endParaRPr lang="es-CL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5" name="CuadroTexto 1">
            <a:extLst>
              <a:ext uri="{FF2B5EF4-FFF2-40B4-BE49-F238E27FC236}">
                <a16:creationId xmlns:a16="http://schemas.microsoft.com/office/drawing/2014/main" id="{17EA6796-942F-6A42-860D-5BCC15DCC5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263944"/>
            <a:ext cx="9725279" cy="3600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s-CL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Cálculos Estequiométricos</a:t>
            </a:r>
          </a:p>
          <a:p>
            <a:pPr>
              <a:spcBef>
                <a:spcPct val="0"/>
              </a:spcBef>
              <a:buFontTx/>
              <a:buNone/>
            </a:pPr>
            <a:endParaRPr lang="es-CL" altLang="es-CL" sz="24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lang="es-CL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Los coeficientes estequiométricos de una ecuación química balanceada se pueden interpretar tanto como los números relativos de moléculas comprendidas en la reacción o como los números relativos de moles.</a:t>
            </a:r>
          </a:p>
          <a:p>
            <a:pPr algn="just">
              <a:spcBef>
                <a:spcPct val="0"/>
              </a:spcBef>
              <a:buFontTx/>
              <a:buNone/>
            </a:pPr>
            <a:endParaRPr lang="es-CL" altLang="es-CL" sz="24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s-CL" altLang="es-CL" sz="28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               </a:t>
            </a:r>
            <a:endParaRPr lang="es-CL" altLang="es-CL" sz="24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endParaRPr lang="es-CL" altLang="es-CL" sz="24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6" name="Cuadro de texto 2">
            <a:extLst>
              <a:ext uri="{FF2B5EF4-FFF2-40B4-BE49-F238E27FC236}">
                <a16:creationId xmlns:a16="http://schemas.microsoft.com/office/drawing/2014/main" id="{0262B49A-BB2D-A447-A3D0-BDF3F0812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336" y="3485109"/>
            <a:ext cx="2493005" cy="9827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6000"/>
              </a:lnSpc>
              <a:spcBef>
                <a:spcPct val="0"/>
              </a:spcBef>
              <a:spcAft>
                <a:spcPts val="800"/>
              </a:spcAft>
              <a:buNone/>
            </a:pPr>
            <a:r>
              <a:rPr lang="es-CL" altLang="es-CL" sz="14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 moléculas</a:t>
            </a:r>
          </a:p>
          <a:p>
            <a:pPr>
              <a:lnSpc>
                <a:spcPct val="106000"/>
              </a:lnSpc>
              <a:spcBef>
                <a:spcPct val="0"/>
              </a:spcBef>
              <a:spcAft>
                <a:spcPts val="800"/>
              </a:spcAft>
              <a:buNone/>
            </a:pPr>
            <a:r>
              <a:rPr lang="es-CL" altLang="es-CL" sz="14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 (6,02 × 10</a:t>
            </a:r>
            <a:r>
              <a:rPr lang="es-CL" altLang="es-CL" sz="1400" b="1" baseline="30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23</a:t>
            </a:r>
            <a:r>
              <a:rPr lang="es-CL" altLang="es-CL" sz="14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moléculas)</a:t>
            </a:r>
          </a:p>
          <a:p>
            <a:pPr>
              <a:lnSpc>
                <a:spcPct val="106000"/>
              </a:lnSpc>
              <a:spcBef>
                <a:spcPct val="0"/>
              </a:spcBef>
              <a:spcAft>
                <a:spcPts val="800"/>
              </a:spcAft>
              <a:buNone/>
            </a:pPr>
            <a:r>
              <a:rPr lang="es-CL" altLang="es-CL" sz="14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 mol</a:t>
            </a:r>
          </a:p>
        </p:txBody>
      </p:sp>
      <p:sp>
        <p:nvSpPr>
          <p:cNvPr id="7" name="Cuadro de texto 2">
            <a:extLst>
              <a:ext uri="{FF2B5EF4-FFF2-40B4-BE49-F238E27FC236}">
                <a16:creationId xmlns:a16="http://schemas.microsoft.com/office/drawing/2014/main" id="{073FCDFA-D62E-8145-A087-5DF1EBF8C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4663" y="3472244"/>
            <a:ext cx="2191958" cy="9827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6000"/>
              </a:lnSpc>
              <a:spcBef>
                <a:spcPct val="0"/>
              </a:spcBef>
              <a:spcAft>
                <a:spcPts val="800"/>
              </a:spcAft>
              <a:buNone/>
            </a:pPr>
            <a:r>
              <a:rPr lang="es-CL" altLang="es-CL" sz="14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1 moléculas</a:t>
            </a:r>
          </a:p>
          <a:p>
            <a:pPr>
              <a:lnSpc>
                <a:spcPct val="106000"/>
              </a:lnSpc>
              <a:spcBef>
                <a:spcPct val="0"/>
              </a:spcBef>
              <a:spcAft>
                <a:spcPts val="800"/>
              </a:spcAft>
              <a:buNone/>
            </a:pPr>
            <a:r>
              <a:rPr lang="es-CL" altLang="es-CL" sz="14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6,02 × 10</a:t>
            </a:r>
            <a:r>
              <a:rPr lang="es-CL" altLang="es-CL" sz="1400" b="1" baseline="30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23</a:t>
            </a:r>
            <a:r>
              <a:rPr lang="es-CL" altLang="es-CL" sz="14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moléculas</a:t>
            </a:r>
          </a:p>
          <a:p>
            <a:pPr>
              <a:lnSpc>
                <a:spcPct val="106000"/>
              </a:lnSpc>
              <a:spcBef>
                <a:spcPct val="0"/>
              </a:spcBef>
              <a:spcAft>
                <a:spcPts val="800"/>
              </a:spcAft>
              <a:buNone/>
            </a:pPr>
            <a:r>
              <a:rPr lang="es-CL" altLang="es-CL" sz="14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1 mol</a:t>
            </a:r>
          </a:p>
        </p:txBody>
      </p:sp>
      <p:sp>
        <p:nvSpPr>
          <p:cNvPr id="8" name="Cuadro de texto 2">
            <a:extLst>
              <a:ext uri="{FF2B5EF4-FFF2-40B4-BE49-F238E27FC236}">
                <a16:creationId xmlns:a16="http://schemas.microsoft.com/office/drawing/2014/main" id="{C192450F-D2C5-274D-B44E-FFA45EE1B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7338" y="3472244"/>
            <a:ext cx="2411572" cy="9827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6000"/>
              </a:lnSpc>
              <a:spcBef>
                <a:spcPct val="0"/>
              </a:spcBef>
              <a:spcAft>
                <a:spcPts val="800"/>
              </a:spcAft>
              <a:buNone/>
            </a:pPr>
            <a:r>
              <a:rPr lang="es-CL" altLang="es-CL" sz="14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 moléculas</a:t>
            </a:r>
          </a:p>
          <a:p>
            <a:pPr>
              <a:lnSpc>
                <a:spcPct val="106000"/>
              </a:lnSpc>
              <a:spcBef>
                <a:spcPct val="0"/>
              </a:spcBef>
              <a:spcAft>
                <a:spcPts val="800"/>
              </a:spcAft>
              <a:buNone/>
            </a:pPr>
            <a:r>
              <a:rPr lang="es-CL" altLang="es-CL" sz="14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2(6,02 × 10</a:t>
            </a:r>
            <a:r>
              <a:rPr lang="es-CL" altLang="es-CL" sz="1400" b="1" baseline="30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23</a:t>
            </a:r>
            <a:r>
              <a:rPr lang="es-CL" altLang="es-CL" sz="14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) moléculas</a:t>
            </a:r>
          </a:p>
          <a:p>
            <a:pPr>
              <a:lnSpc>
                <a:spcPct val="106000"/>
              </a:lnSpc>
              <a:spcBef>
                <a:spcPct val="0"/>
              </a:spcBef>
              <a:spcAft>
                <a:spcPts val="800"/>
              </a:spcAft>
              <a:buNone/>
            </a:pPr>
            <a:r>
              <a:rPr lang="es-CL" altLang="es-CL" sz="14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 mol</a:t>
            </a:r>
          </a:p>
        </p:txBody>
      </p:sp>
      <p:sp>
        <p:nvSpPr>
          <p:cNvPr id="9" name="CuadroTexto 10">
            <a:extLst>
              <a:ext uri="{FF2B5EF4-FFF2-40B4-BE49-F238E27FC236}">
                <a16:creationId xmlns:a16="http://schemas.microsoft.com/office/drawing/2014/main" id="{3B4AEA0D-CFF4-BA43-ADCD-D9F7BB88F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4592259"/>
            <a:ext cx="8906000" cy="21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CL" altLang="es-CL" sz="18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Las ecuaciones permiten hacer diferentes relaciones.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CL" altLang="es-CL" sz="18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	Ejemplo: </a:t>
            </a:r>
          </a:p>
          <a:p>
            <a:pPr marL="1460500" indent="-177800">
              <a:lnSpc>
                <a:spcPct val="150000"/>
              </a:lnSpc>
              <a:spcBef>
                <a:spcPct val="0"/>
              </a:spcBef>
            </a:pPr>
            <a:r>
              <a:rPr lang="es-CL" altLang="es-CL" sz="18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 moles de Hidrógeno reacciona con 1 mol de Oxígeno.</a:t>
            </a:r>
          </a:p>
          <a:p>
            <a:pPr marL="1460500" indent="-177800">
              <a:lnSpc>
                <a:spcPct val="150000"/>
              </a:lnSpc>
              <a:spcBef>
                <a:spcPct val="0"/>
              </a:spcBef>
            </a:pPr>
            <a:r>
              <a:rPr lang="es-CL" altLang="es-CL" sz="18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 mol de Oxígeno produce 2 moles de Agua.</a:t>
            </a:r>
          </a:p>
          <a:p>
            <a:pPr marL="1460500" indent="-177800">
              <a:lnSpc>
                <a:spcPct val="150000"/>
              </a:lnSpc>
              <a:spcBef>
                <a:spcPct val="0"/>
              </a:spcBef>
            </a:pPr>
            <a:r>
              <a:rPr lang="es-CL" altLang="es-CL" sz="18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 moles de Hidrógeno produce 2 moles de Agua.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06C78CA-E650-E241-9E1B-BEC1C4A0FA5E}"/>
              </a:ext>
            </a:extLst>
          </p:cNvPr>
          <p:cNvSpPr/>
          <p:nvPr/>
        </p:nvSpPr>
        <p:spPr>
          <a:xfrm>
            <a:off x="1269698" y="2636652"/>
            <a:ext cx="789030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s-CL" altLang="es-CL" sz="36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 H</a:t>
            </a:r>
            <a:r>
              <a:rPr lang="es-CL" altLang="es-CL" sz="36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      </a:t>
            </a:r>
            <a:r>
              <a:rPr lang="es-CL" altLang="es-CL" sz="36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 +       O</a:t>
            </a:r>
            <a:r>
              <a:rPr lang="es-CL" altLang="es-CL" sz="36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          </a:t>
            </a:r>
            <a:r>
              <a:rPr lang="es-CL" altLang="es-CL" sz="36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→      2 H</a:t>
            </a:r>
            <a:r>
              <a:rPr lang="es-CL" altLang="es-CL" sz="36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sz="36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2477079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s-CL" sz="2000" smtClean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pPr algn="ctr"/>
              <a:t>17</a:t>
            </a:fld>
            <a:endParaRPr lang="es-CL" sz="20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A5B10B2-2873-5F4D-B732-D2A589EE09C6}"/>
              </a:ext>
            </a:extLst>
          </p:cNvPr>
          <p:cNvSpPr txBox="1"/>
          <p:nvPr/>
        </p:nvSpPr>
        <p:spPr>
          <a:xfrm>
            <a:off x="2027436" y="2931560"/>
            <a:ext cx="77809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Ejercicios</a:t>
            </a:r>
          </a:p>
        </p:txBody>
      </p:sp>
      <p:grpSp>
        <p:nvGrpSpPr>
          <p:cNvPr id="4" name="Shape 257">
            <a:extLst>
              <a:ext uri="{FF2B5EF4-FFF2-40B4-BE49-F238E27FC236}">
                <a16:creationId xmlns:a16="http://schemas.microsoft.com/office/drawing/2014/main" id="{04B9F9FE-CAD3-B543-8CDF-E1698D657268}"/>
              </a:ext>
            </a:extLst>
          </p:cNvPr>
          <p:cNvGrpSpPr/>
          <p:nvPr/>
        </p:nvGrpSpPr>
        <p:grpSpPr>
          <a:xfrm>
            <a:off x="5125820" y="1447365"/>
            <a:ext cx="1171845" cy="1045591"/>
            <a:chOff x="5233525" y="4954450"/>
            <a:chExt cx="538275" cy="516350"/>
          </a:xfrm>
        </p:grpSpPr>
        <p:sp>
          <p:nvSpPr>
            <p:cNvPr id="5" name="Shape 258">
              <a:extLst>
                <a:ext uri="{FF2B5EF4-FFF2-40B4-BE49-F238E27FC236}">
                  <a16:creationId xmlns:a16="http://schemas.microsoft.com/office/drawing/2014/main" id="{3E8DF75F-16CC-044D-B3EB-21E22FDE5D71}"/>
                </a:ext>
              </a:extLst>
            </p:cNvPr>
            <p:cNvSpPr/>
            <p:nvPr/>
          </p:nvSpPr>
          <p:spPr>
            <a:xfrm>
              <a:off x="5637825" y="4954450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" name="Shape 259">
              <a:extLst>
                <a:ext uri="{FF2B5EF4-FFF2-40B4-BE49-F238E27FC236}">
                  <a16:creationId xmlns:a16="http://schemas.microsoft.com/office/drawing/2014/main" id="{00E51DBF-8113-B84A-A35D-3F18272B4179}"/>
                </a:ext>
              </a:extLst>
            </p:cNvPr>
            <p:cNvSpPr/>
            <p:nvPr/>
          </p:nvSpPr>
          <p:spPr>
            <a:xfrm>
              <a:off x="5323025" y="4980625"/>
              <a:ext cx="88925" cy="88925"/>
            </a:xfrm>
            <a:custGeom>
              <a:avLst/>
              <a:gdLst/>
              <a:ahLst/>
              <a:cxnLst/>
              <a:rect l="0" t="0" r="0" b="0"/>
              <a:pathLst>
                <a:path w="3557" h="3557" fill="none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" name="Shape 260">
              <a:extLst>
                <a:ext uri="{FF2B5EF4-FFF2-40B4-BE49-F238E27FC236}">
                  <a16:creationId xmlns:a16="http://schemas.microsoft.com/office/drawing/2014/main" id="{05CBC384-9B02-6C47-A556-79B0CE94ACE9}"/>
                </a:ext>
              </a:extLst>
            </p:cNvPr>
            <p:cNvSpPr/>
            <p:nvPr/>
          </p:nvSpPr>
          <p:spPr>
            <a:xfrm>
              <a:off x="5233525" y="5255225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" name="Shape 261">
              <a:extLst>
                <a:ext uri="{FF2B5EF4-FFF2-40B4-BE49-F238E27FC236}">
                  <a16:creationId xmlns:a16="http://schemas.microsoft.com/office/drawing/2014/main" id="{7CB79486-E909-DD4B-8865-6C314698F68D}"/>
                </a:ext>
              </a:extLst>
            </p:cNvPr>
            <p:cNvSpPr/>
            <p:nvPr/>
          </p:nvSpPr>
          <p:spPr>
            <a:xfrm>
              <a:off x="5453325" y="5382475"/>
              <a:ext cx="88925" cy="88325"/>
            </a:xfrm>
            <a:custGeom>
              <a:avLst/>
              <a:gdLst/>
              <a:ahLst/>
              <a:cxnLst/>
              <a:rect l="0" t="0" r="0" b="0"/>
              <a:pathLst>
                <a:path w="3557" h="3533" fill="none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Shape 262">
              <a:extLst>
                <a:ext uri="{FF2B5EF4-FFF2-40B4-BE49-F238E27FC236}">
                  <a16:creationId xmlns:a16="http://schemas.microsoft.com/office/drawing/2014/main" id="{BAF265E0-CBE6-4040-907F-05F1F377C216}"/>
                </a:ext>
              </a:extLst>
            </p:cNvPr>
            <p:cNvSpPr/>
            <p:nvPr/>
          </p:nvSpPr>
          <p:spPr>
            <a:xfrm>
              <a:off x="5682875" y="5188875"/>
              <a:ext cx="88925" cy="89525"/>
            </a:xfrm>
            <a:custGeom>
              <a:avLst/>
              <a:gdLst/>
              <a:ahLst/>
              <a:cxnLst/>
              <a:rect l="0" t="0" r="0" b="0"/>
              <a:pathLst>
                <a:path w="3557" h="3581" fill="none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Shape 263">
              <a:extLst>
                <a:ext uri="{FF2B5EF4-FFF2-40B4-BE49-F238E27FC236}">
                  <a16:creationId xmlns:a16="http://schemas.microsoft.com/office/drawing/2014/main" id="{86187FDB-D2A0-B342-A64D-09F3799BCEDF}"/>
                </a:ext>
              </a:extLst>
            </p:cNvPr>
            <p:cNvSpPr/>
            <p:nvPr/>
          </p:nvSpPr>
          <p:spPr>
            <a:xfrm>
              <a:off x="5411925" y="5110925"/>
              <a:ext cx="188775" cy="189400"/>
            </a:xfrm>
            <a:custGeom>
              <a:avLst/>
              <a:gdLst/>
              <a:ahLst/>
              <a:cxnLst/>
              <a:rect l="0" t="0" r="0" b="0"/>
              <a:pathLst>
                <a:path w="7551" h="7576" fill="none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" name="Shape 264">
              <a:extLst>
                <a:ext uri="{FF2B5EF4-FFF2-40B4-BE49-F238E27FC236}">
                  <a16:creationId xmlns:a16="http://schemas.microsoft.com/office/drawing/2014/main" id="{82924474-FA90-8C42-A57C-5842FE291D36}"/>
                </a:ext>
              </a:extLst>
            </p:cNvPr>
            <p:cNvSpPr/>
            <p:nvPr/>
          </p:nvSpPr>
          <p:spPr>
            <a:xfrm>
              <a:off x="5367475" y="5025075"/>
              <a:ext cx="81600" cy="105975"/>
            </a:xfrm>
            <a:custGeom>
              <a:avLst/>
              <a:gdLst/>
              <a:ahLst/>
              <a:cxnLst/>
              <a:rect l="0" t="0" r="0" b="0"/>
              <a:pathLst>
                <a:path w="3264" h="4239" fill="none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" name="Shape 265">
              <a:extLst>
                <a:ext uri="{FF2B5EF4-FFF2-40B4-BE49-F238E27FC236}">
                  <a16:creationId xmlns:a16="http://schemas.microsoft.com/office/drawing/2014/main" id="{D426B43C-121B-804D-A231-BA36FA3616A2}"/>
                </a:ext>
              </a:extLst>
            </p:cNvPr>
            <p:cNvSpPr/>
            <p:nvPr/>
          </p:nvSpPr>
          <p:spPr>
            <a:xfrm>
              <a:off x="5567800" y="4999500"/>
              <a:ext cx="115100" cy="133975"/>
            </a:xfrm>
            <a:custGeom>
              <a:avLst/>
              <a:gdLst/>
              <a:ahLst/>
              <a:cxnLst/>
              <a:rect l="0" t="0" r="0" b="0"/>
              <a:pathLst>
                <a:path w="4604" h="5359" fill="none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" name="Shape 266">
              <a:extLst>
                <a:ext uri="{FF2B5EF4-FFF2-40B4-BE49-F238E27FC236}">
                  <a16:creationId xmlns:a16="http://schemas.microsoft.com/office/drawing/2014/main" id="{00D2FF67-53FB-234F-B3A8-8CFDF5C33ECF}"/>
                </a:ext>
              </a:extLst>
            </p:cNvPr>
            <p:cNvSpPr/>
            <p:nvPr/>
          </p:nvSpPr>
          <p:spPr>
            <a:xfrm>
              <a:off x="5600075" y="5217475"/>
              <a:ext cx="127275" cy="16475"/>
            </a:xfrm>
            <a:custGeom>
              <a:avLst/>
              <a:gdLst/>
              <a:ahLst/>
              <a:cxnLst/>
              <a:rect l="0" t="0" r="0" b="0"/>
              <a:pathLst>
                <a:path w="5091" h="659" fill="none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" name="Shape 267">
              <a:extLst>
                <a:ext uri="{FF2B5EF4-FFF2-40B4-BE49-F238E27FC236}">
                  <a16:creationId xmlns:a16="http://schemas.microsoft.com/office/drawing/2014/main" id="{3F48E860-50C8-9B4E-B0BD-C55D0C2FE270}"/>
                </a:ext>
              </a:extLst>
            </p:cNvPr>
            <p:cNvSpPr/>
            <p:nvPr/>
          </p:nvSpPr>
          <p:spPr>
            <a:xfrm>
              <a:off x="5497775" y="5299675"/>
              <a:ext cx="4900" cy="126675"/>
            </a:xfrm>
            <a:custGeom>
              <a:avLst/>
              <a:gdLst/>
              <a:ahLst/>
              <a:cxnLst/>
              <a:rect l="0" t="0" r="0" b="0"/>
              <a:pathLst>
                <a:path w="196" h="5067" fill="none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" name="Shape 268">
              <a:extLst>
                <a:ext uri="{FF2B5EF4-FFF2-40B4-BE49-F238E27FC236}">
                  <a16:creationId xmlns:a16="http://schemas.microsoft.com/office/drawing/2014/main" id="{AC1A6B39-DB16-724E-A189-8011253BEA2F}"/>
                </a:ext>
              </a:extLst>
            </p:cNvPr>
            <p:cNvSpPr/>
            <p:nvPr/>
          </p:nvSpPr>
          <p:spPr>
            <a:xfrm>
              <a:off x="5277975" y="5241825"/>
              <a:ext cx="141275" cy="58500"/>
            </a:xfrm>
            <a:custGeom>
              <a:avLst/>
              <a:gdLst/>
              <a:ahLst/>
              <a:cxnLst/>
              <a:rect l="0" t="0" r="0" b="0"/>
              <a:pathLst>
                <a:path w="5651" h="2340" fill="none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pic>
        <p:nvPicPr>
          <p:cNvPr id="16" name="Imagen 15">
            <a:extLst>
              <a:ext uri="{FF2B5EF4-FFF2-40B4-BE49-F238E27FC236}">
                <a16:creationId xmlns:a16="http://schemas.microsoft.com/office/drawing/2014/main" id="{0AD80E5E-69A2-AA42-A559-DF79D111F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706" y="135466"/>
            <a:ext cx="2116765" cy="1058383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EAA8E3A0-FBEC-1943-BCDF-CA5AFE79ADFC}"/>
              </a:ext>
            </a:extLst>
          </p:cNvPr>
          <p:cNvSpPr txBox="1"/>
          <p:nvPr/>
        </p:nvSpPr>
        <p:spPr>
          <a:xfrm>
            <a:off x="4592729" y="4865440"/>
            <a:ext cx="74457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6. Estequiometría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0C404BD-D6A2-1B4D-8F45-0534AB778904}"/>
              </a:ext>
            </a:extLst>
          </p:cNvPr>
          <p:cNvSpPr txBox="1"/>
          <p:nvPr/>
        </p:nvSpPr>
        <p:spPr>
          <a:xfrm>
            <a:off x="692211" y="431702"/>
            <a:ext cx="35087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I</a:t>
            </a:r>
          </a:p>
        </p:txBody>
      </p:sp>
    </p:spTree>
    <p:extLst>
      <p:ext uri="{BB962C8B-B14F-4D97-AF65-F5344CB8AC3E}">
        <p14:creationId xmlns:p14="http://schemas.microsoft.com/office/powerpoint/2010/main" val="2678712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s-CL" sz="2000" smtClean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pPr algn="ctr"/>
              <a:t>18</a:t>
            </a:fld>
            <a:endParaRPr lang="es-CL" sz="20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000" dirty="0">
              <a:solidFill>
                <a:srgbClr val="0000FF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8" name="CuadroTexto 1">
            <a:extLst>
              <a:ext uri="{FF2B5EF4-FFF2-40B4-BE49-F238E27FC236}">
                <a16:creationId xmlns:a16="http://schemas.microsoft.com/office/drawing/2014/main" id="{E0B2520C-BE9E-F64B-B5AB-ADF10CA2F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346" y="358163"/>
            <a:ext cx="914875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1.- ¿Cuánta masa de agua se produce en la combustión de 1,00 g de glucosa, C</a:t>
            </a:r>
            <a:r>
              <a:rPr lang="es-CL" altLang="es-CL" sz="20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6</a:t>
            </a: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H</a:t>
            </a:r>
            <a:r>
              <a:rPr lang="es-CL" altLang="es-CL" sz="20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12</a:t>
            </a: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</a:t>
            </a:r>
            <a:r>
              <a:rPr lang="es-CL" altLang="es-CL" sz="20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6</a:t>
            </a: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?</a:t>
            </a:r>
          </a:p>
        </p:txBody>
      </p:sp>
      <p:sp>
        <p:nvSpPr>
          <p:cNvPr id="9" name="Rectángulo 2">
            <a:extLst>
              <a:ext uri="{FF2B5EF4-FFF2-40B4-BE49-F238E27FC236}">
                <a16:creationId xmlns:a16="http://schemas.microsoft.com/office/drawing/2014/main" id="{32084732-7517-164D-863F-0C825E9EA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6588" y="1207784"/>
            <a:ext cx="558197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s-CL" sz="20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C</a:t>
            </a:r>
            <a:r>
              <a:rPr lang="es-CL" altLang="es-CL" sz="20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6</a:t>
            </a:r>
            <a:r>
              <a:rPr lang="es-CL" altLang="es-CL" sz="20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H</a:t>
            </a:r>
            <a:r>
              <a:rPr lang="es-CL" altLang="es-CL" sz="20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12</a:t>
            </a:r>
            <a:r>
              <a:rPr lang="es-CL" altLang="es-CL" sz="20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O</a:t>
            </a:r>
            <a:r>
              <a:rPr lang="es-CL" altLang="es-CL" sz="20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6 (s)   </a:t>
            </a:r>
            <a:r>
              <a:rPr lang="es-CL" altLang="es-CL" sz="20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+   6 O</a:t>
            </a:r>
            <a:r>
              <a:rPr lang="es-CL" altLang="es-CL" sz="20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sz="20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sz="20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(g)  </a:t>
            </a:r>
            <a:r>
              <a:rPr lang="es-CL" altLang="es-CL" sz="20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→ 6 CO</a:t>
            </a:r>
            <a:r>
              <a:rPr lang="es-CL" altLang="es-CL" sz="20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 (g) </a:t>
            </a:r>
            <a:r>
              <a:rPr lang="es-CL" altLang="es-CL" sz="20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+ 6H</a:t>
            </a:r>
            <a:r>
              <a:rPr lang="es-CL" altLang="es-CL" sz="20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sz="20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O </a:t>
            </a:r>
            <a:r>
              <a:rPr lang="es-CL" altLang="es-CL" sz="20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(l)</a:t>
            </a:r>
          </a:p>
        </p:txBody>
      </p:sp>
      <p:sp>
        <p:nvSpPr>
          <p:cNvPr id="10" name="CuadroTexto 3">
            <a:extLst>
              <a:ext uri="{FF2B5EF4-FFF2-40B4-BE49-F238E27FC236}">
                <a16:creationId xmlns:a16="http://schemas.microsoft.com/office/drawing/2014/main" id="{0A34057E-A6A0-2745-B9A7-D0FD68B8AA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64" y="3180760"/>
            <a:ext cx="9982136" cy="190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CL" altLang="es-CL" sz="2000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Solución: </a:t>
            </a: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La ecuación química nos indica cuánta agua se obtendrá a partir de un 1 mol de glucosa.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                            </a:t>
            </a:r>
            <a:r>
              <a:rPr lang="es-CL" altLang="es-CL" sz="2000" b="1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 mol de C</a:t>
            </a:r>
            <a:r>
              <a:rPr lang="es-CL" altLang="es-CL" sz="2000" b="1" baseline="-25000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6</a:t>
            </a:r>
            <a:r>
              <a:rPr lang="es-CL" altLang="es-CL" sz="2000" b="1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H</a:t>
            </a:r>
            <a:r>
              <a:rPr lang="es-CL" altLang="es-CL" sz="2000" b="1" baseline="-25000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12</a:t>
            </a:r>
            <a:r>
              <a:rPr lang="es-CL" altLang="es-CL" sz="2000" b="1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</a:t>
            </a:r>
            <a:r>
              <a:rPr lang="es-CL" altLang="es-CL" sz="2000" b="1" baseline="-25000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6</a:t>
            </a:r>
            <a:r>
              <a:rPr lang="es-CL" altLang="es-CL" sz="2000" b="1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sz="2000" b="1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  <a:sym typeface="Wingdings 3" panose="05040102010807070707" pitchFamily="18" charset="2"/>
              </a:rPr>
              <a:t> 6 moles de H</a:t>
            </a:r>
            <a:r>
              <a:rPr lang="es-CL" altLang="es-CL" sz="2000" b="1" baseline="-25000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  <a:sym typeface="Wingdings 3" panose="05040102010807070707" pitchFamily="18" charset="2"/>
              </a:rPr>
              <a:t>2</a:t>
            </a:r>
            <a:r>
              <a:rPr lang="es-CL" altLang="es-CL" sz="2000" b="1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  <a:sym typeface="Wingdings 3" panose="05040102010807070707" pitchFamily="18" charset="2"/>
              </a:rPr>
              <a:t>O</a:t>
            </a:r>
            <a:endParaRPr lang="es-CL" altLang="es-CL" sz="2000" b="1" dirty="0">
              <a:solidFill>
                <a:srgbClr val="FF000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CL" altLang="es-CL" sz="2000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Para realizar estos cálculos se debe trabajar siempre en moles.</a:t>
            </a:r>
          </a:p>
        </p:txBody>
      </p:sp>
      <p:pic>
        <p:nvPicPr>
          <p:cNvPr id="14" name="Picture 2" descr="Resultado de imagen de advertencia">
            <a:extLst>
              <a:ext uri="{FF2B5EF4-FFF2-40B4-BE49-F238E27FC236}">
                <a16:creationId xmlns:a16="http://schemas.microsoft.com/office/drawing/2014/main" id="{E9556BF9-67A3-0049-AB05-DF3328355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38" y="1868339"/>
            <a:ext cx="12001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CuadroTexto 8">
            <a:extLst>
              <a:ext uri="{FF2B5EF4-FFF2-40B4-BE49-F238E27FC236}">
                <a16:creationId xmlns:a16="http://schemas.microsoft.com/office/drawing/2014/main" id="{688C1F63-0503-BE44-AF83-F946869907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7684" y="2090993"/>
            <a:ext cx="522477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¿</a:t>
            </a:r>
            <a:r>
              <a:rPr lang="es-CL" altLang="es-CL" sz="2000" b="1" i="1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Esta ecuación está equilibrada </a:t>
            </a: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?.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Si no lo está se debe equilibrar antes de comenzar con los cálculos.</a:t>
            </a:r>
          </a:p>
        </p:txBody>
      </p:sp>
      <p:pic>
        <p:nvPicPr>
          <p:cNvPr id="17" name="Picture 2" descr="Resultado de imagen de advertencia">
            <a:extLst>
              <a:ext uri="{FF2B5EF4-FFF2-40B4-BE49-F238E27FC236}">
                <a16:creationId xmlns:a16="http://schemas.microsoft.com/office/drawing/2014/main" id="{140B07F0-8E08-E14A-BF44-E5B2E0DA1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5588" y="1830743"/>
            <a:ext cx="1200150" cy="120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ángulo 4">
                <a:extLst>
                  <a:ext uri="{FF2B5EF4-FFF2-40B4-BE49-F238E27FC236}">
                    <a16:creationId xmlns:a16="http://schemas.microsoft.com/office/drawing/2014/main" id="{F3346CE0-513F-954E-AAD1-0D0EB5834A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29763" y="4921818"/>
                <a:ext cx="4327575" cy="11895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4572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marL="46038">
                  <a:lnSpc>
                    <a:spcPct val="10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altLang="es-CL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Lucida Sans Unicode" panose="020B0602030504020204" pitchFamily="34" charset="0"/>
                        </a:rPr>
                        <m:t>𝑀𝑜𝑙</m:t>
                      </m:r>
                      <m:r>
                        <a:rPr lang="es-ES" altLang="es-CL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Lucida Sans Unicode" panose="020B0602030504020204" pitchFamily="34" charset="0"/>
                        </a:rPr>
                        <m:t> (</m:t>
                      </m:r>
                      <m:r>
                        <a:rPr lang="es-ES" altLang="es-CL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Lucida Sans Unicode" panose="020B0602030504020204" pitchFamily="34" charset="0"/>
                        </a:rPr>
                        <m:t>𝑛</m:t>
                      </m:r>
                      <m:r>
                        <a:rPr lang="es-ES" altLang="es-CL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Lucida Sans Unicode" panose="020B0602030504020204" pitchFamily="34" charset="0"/>
                        </a:rPr>
                        <m:t>)=</m:t>
                      </m:r>
                      <m:f>
                        <m:fPr>
                          <m:ctrlPr>
                            <a:rPr lang="es-ES" altLang="es-CL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Lucida Sans Unicode" panose="020B0602030504020204" pitchFamily="34" charset="0"/>
                            </a:rPr>
                          </m:ctrlPr>
                        </m:fPr>
                        <m:num>
                          <m:r>
                            <a:rPr lang="es-ES" altLang="es-CL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Lucida Sans Unicode" panose="020B0602030504020204" pitchFamily="34" charset="0"/>
                            </a:rPr>
                            <m:t>𝑀𝑎𝑠𝑎</m:t>
                          </m:r>
                          <m:r>
                            <a:rPr lang="es-ES" altLang="es-CL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Lucida Sans Unicode" panose="020B0602030504020204" pitchFamily="34" charset="0"/>
                            </a:rPr>
                            <m:t> (</m:t>
                          </m:r>
                          <m:r>
                            <a:rPr lang="es-ES" altLang="es-CL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Lucida Sans Unicode" panose="020B0602030504020204" pitchFamily="34" charset="0"/>
                            </a:rPr>
                            <m:t>𝑔</m:t>
                          </m:r>
                          <m:r>
                            <a:rPr lang="es-ES" altLang="es-CL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Lucida Sans Unicode" panose="020B0602030504020204" pitchFamily="34" charset="0"/>
                            </a:rPr>
                            <m:t>)</m:t>
                          </m:r>
                        </m:num>
                        <m:den>
                          <m:r>
                            <a:rPr lang="es-ES" altLang="es-CL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Lucida Sans Unicode" panose="020B0602030504020204" pitchFamily="34" charset="0"/>
                            </a:rPr>
                            <m:t>𝑀𝑎𝑠𝑎</m:t>
                          </m:r>
                          <m:r>
                            <a:rPr lang="es-ES" altLang="es-CL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Lucida Sans Unicode" panose="020B0602030504020204" pitchFamily="34" charset="0"/>
                            </a:rPr>
                            <m:t> </m:t>
                          </m:r>
                          <m:r>
                            <a:rPr lang="es-ES" altLang="es-CL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Lucida Sans Unicode" panose="020B0602030504020204" pitchFamily="34" charset="0"/>
                            </a:rPr>
                            <m:t>𝑀𝑜𝑙𝑎𝑟</m:t>
                          </m:r>
                          <m:r>
                            <a:rPr lang="es-ES" altLang="es-CL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Lucida Sans Unicode" panose="020B0602030504020204" pitchFamily="34" charset="0"/>
                            </a:rPr>
                            <m:t> (</m:t>
                          </m:r>
                          <m:f>
                            <m:fPr>
                              <m:ctrlPr>
                                <a:rPr lang="es-ES" altLang="es-CL" sz="24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Lucida Sans Unicode" panose="020B0602030504020204" pitchFamily="34" charset="0"/>
                                </a:rPr>
                              </m:ctrlPr>
                            </m:fPr>
                            <m:num>
                              <m:r>
                                <a:rPr lang="es-ES" altLang="es-CL" sz="24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Lucida Sans Unicode" panose="020B0602030504020204" pitchFamily="34" charset="0"/>
                                </a:rPr>
                                <m:t>𝑔</m:t>
                              </m:r>
                            </m:num>
                            <m:den>
                              <m:r>
                                <a:rPr lang="es-ES" altLang="es-CL" sz="24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Lucida Sans Unicode" panose="020B0602030504020204" pitchFamily="34" charset="0"/>
                                </a:rPr>
                                <m:t>𝑚𝑜𝑙</m:t>
                              </m:r>
                            </m:den>
                          </m:f>
                          <m:r>
                            <a:rPr lang="es-ES" altLang="es-CL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Lucida Sans Unicode" panose="020B0602030504020204" pitchFamily="34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s-CL" altLang="es-CL" sz="2400" b="1" baseline="-25000" dirty="0">
                  <a:solidFill>
                    <a:schemeClr val="accent1">
                      <a:lumMod val="75000"/>
                    </a:schemeClr>
                  </a:solidFill>
                  <a:latin typeface="Lucida Sans Unicode" panose="020B0602030504020204" pitchFamily="34" charset="0"/>
                  <a:ea typeface="Calibri" panose="020F0502020204030204" pitchFamily="34" charset="0"/>
                  <a:cs typeface="Lucida Sans Unicode" panose="020B0602030504020204" pitchFamily="34" charset="0"/>
                </a:endParaRPr>
              </a:p>
            </p:txBody>
          </p:sp>
        </mc:Choice>
        <mc:Fallback xmlns="">
          <p:sp>
            <p:nvSpPr>
              <p:cNvPr id="18" name="Rectángulo 4">
                <a:extLst>
                  <a:ext uri="{FF2B5EF4-FFF2-40B4-BE49-F238E27FC236}">
                    <a16:creationId xmlns:a16="http://schemas.microsoft.com/office/drawing/2014/main" id="{F3346CE0-513F-954E-AAD1-0D0EB5834A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29763" y="4921818"/>
                <a:ext cx="4327575" cy="11895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ángulo 4">
                <a:extLst>
                  <a:ext uri="{FF2B5EF4-FFF2-40B4-BE49-F238E27FC236}">
                    <a16:creationId xmlns:a16="http://schemas.microsoft.com/office/drawing/2014/main" id="{53D3B8CB-8311-7043-A561-3AA73ABFA3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3680" y="5779990"/>
                <a:ext cx="8202674" cy="9915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4572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marL="46038">
                  <a:lnSpc>
                    <a:spcPct val="10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altLang="es-CL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Lucida Sans Unicode" panose="020B0602030504020204" pitchFamily="34" charset="0"/>
                        </a:rPr>
                        <m:t>𝑀𝑜𝑙𝑒𝑠</m:t>
                      </m:r>
                      <m:r>
                        <a:rPr lang="es-ES" altLang="es-CL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Lucida Sans Unicode" panose="020B0602030504020204" pitchFamily="34" charset="0"/>
                        </a:rPr>
                        <m:t> </m:t>
                      </m:r>
                      <m:r>
                        <a:rPr lang="es-ES" altLang="es-CL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Lucida Sans Unicode" panose="020B0602030504020204" pitchFamily="34" charset="0"/>
                        </a:rPr>
                        <m:t>𝑑𝑒</m:t>
                      </m:r>
                      <m:r>
                        <a:rPr lang="es-ES" altLang="es-CL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Lucida Sans Unicode" panose="020B0602030504020204" pitchFamily="34" charset="0"/>
                        </a:rPr>
                        <m:t> </m:t>
                      </m:r>
                      <m:r>
                        <a:rPr lang="es-ES" altLang="es-CL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Lucida Sans Unicode" panose="020B0602030504020204" pitchFamily="34" charset="0"/>
                        </a:rPr>
                        <m:t>𝐶</m:t>
                      </m:r>
                      <m:r>
                        <a:rPr lang="es-ES" altLang="es-CL" sz="24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Lucida Sans Unicode" panose="020B0602030504020204" pitchFamily="34" charset="0"/>
                        </a:rPr>
                        <m:t>6</m:t>
                      </m:r>
                      <m:r>
                        <a:rPr lang="es-ES" altLang="es-CL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Lucida Sans Unicode" panose="020B0602030504020204" pitchFamily="34" charset="0"/>
                        </a:rPr>
                        <m:t>𝐻</m:t>
                      </m:r>
                      <m:r>
                        <a:rPr lang="es-ES" altLang="es-CL" sz="24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Lucida Sans Unicode" panose="020B0602030504020204" pitchFamily="34" charset="0"/>
                        </a:rPr>
                        <m:t>12</m:t>
                      </m:r>
                      <m:r>
                        <a:rPr lang="es-ES" altLang="es-CL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Lucida Sans Unicode" panose="020B0602030504020204" pitchFamily="34" charset="0"/>
                        </a:rPr>
                        <m:t>𝑂</m:t>
                      </m:r>
                      <m:r>
                        <a:rPr lang="es-ES" altLang="es-CL" sz="24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Lucida Sans Unicode" panose="020B0602030504020204" pitchFamily="34" charset="0"/>
                        </a:rPr>
                        <m:t>6</m:t>
                      </m:r>
                      <m:r>
                        <a:rPr lang="es-ES" altLang="es-CL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Lucida Sans Unicode" panose="020B0602030504020204" pitchFamily="34" charset="0"/>
                        </a:rPr>
                        <m:t>=</m:t>
                      </m:r>
                      <m:f>
                        <m:fPr>
                          <m:ctrlPr>
                            <a:rPr lang="es-ES" altLang="es-CL" sz="24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Lucida Sans Unicode" panose="020B0602030504020204" pitchFamily="34" charset="0"/>
                            </a:rPr>
                          </m:ctrlPr>
                        </m:fPr>
                        <m:num>
                          <m:r>
                            <a:rPr lang="es-ES" altLang="es-CL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Lucida Sans Unicode" panose="020B0602030504020204" pitchFamily="34" charset="0"/>
                            </a:rPr>
                            <m:t>1 </m:t>
                          </m:r>
                          <m:r>
                            <a:rPr lang="es-ES" altLang="es-CL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Lucida Sans Unicode" panose="020B0602030504020204" pitchFamily="34" charset="0"/>
                            </a:rPr>
                            <m:t>𝑔</m:t>
                          </m:r>
                        </m:num>
                        <m:den>
                          <m:r>
                            <a:rPr lang="es-ES" altLang="es-CL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Lucida Sans Unicode" panose="020B0602030504020204" pitchFamily="34" charset="0"/>
                            </a:rPr>
                            <m:t>180 </m:t>
                          </m:r>
                          <m:r>
                            <a:rPr lang="es-ES" altLang="es-CL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Lucida Sans Unicode" panose="020B0602030504020204" pitchFamily="34" charset="0"/>
                            </a:rPr>
                            <m:t>𝑔</m:t>
                          </m:r>
                          <m:r>
                            <a:rPr lang="es-ES" altLang="es-CL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Lucida Sans Unicode" panose="020B0602030504020204" pitchFamily="34" charset="0"/>
                            </a:rPr>
                            <m:t>/</m:t>
                          </m:r>
                          <m:r>
                            <a:rPr lang="es-ES" altLang="es-CL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Lucida Sans Unicode" panose="020B0602030504020204" pitchFamily="34" charset="0"/>
                            </a:rPr>
                            <m:t>𝑚𝑜𝑙</m:t>
                          </m:r>
                        </m:den>
                      </m:f>
                      <m:r>
                        <a:rPr lang="es-ES" altLang="es-CL" sz="2400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Lucida Sans Unicode" panose="020B0602030504020204" pitchFamily="34" charset="0"/>
                        </a:rPr>
                        <m:t>=5,56</m:t>
                      </m:r>
                      <m:r>
                        <m:rPr>
                          <m:nor/>
                        </m:rPr>
                        <a:rPr lang="es-CL" altLang="es-CL" sz="24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Lucida Sans Unicode" panose="020B0602030504020204" pitchFamily="34" charset="0"/>
                          <a:ea typeface="Calibri" panose="020F0502020204030204" pitchFamily="34" charset="0"/>
                          <a:cs typeface="Lucida Sans Unicode" panose="020B0602030504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CL" altLang="es-CL" sz="24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Lucida Sans Unicode" panose="020B0602030504020204" pitchFamily="34" charset="0"/>
                          <a:ea typeface="Calibri" panose="020F0502020204030204" pitchFamily="34" charset="0"/>
                          <a:cs typeface="Lucida Sans Unicode" panose="020B0602030504020204" pitchFamily="34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s-CL" altLang="es-CL" sz="24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Lucida Sans Unicode" panose="020B0602030504020204" pitchFamily="34" charset="0"/>
                          <a:ea typeface="Calibri" panose="020F0502020204030204" pitchFamily="34" charset="0"/>
                          <a:cs typeface="Lucida Sans Unicode" panose="020B0602030504020204" pitchFamily="34" charset="0"/>
                        </a:rPr>
                        <m:t> 10−</m:t>
                      </m:r>
                      <m:r>
                        <m:rPr>
                          <m:nor/>
                        </m:rPr>
                        <a:rPr lang="es-ES" altLang="es-CL" sz="2400" i="0" baseline="3000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Lucida Sans Unicode" panose="020B0602030504020204" pitchFamily="34" charset="0"/>
                          <a:ea typeface="Calibri" panose="020F0502020204030204" pitchFamily="34" charset="0"/>
                          <a:cs typeface="Lucida Sans Unicode" panose="020B0602030504020204" pitchFamily="34" charset="0"/>
                        </a:rPr>
                        <m:t>3 </m:t>
                      </m:r>
                      <m:r>
                        <m:rPr>
                          <m:sty m:val="p"/>
                        </m:rPr>
                        <a:rPr lang="es-ES" altLang="es-CL" sz="2400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Lucida Sans Unicode" panose="020B0602030504020204" pitchFamily="34" charset="0"/>
                        </a:rPr>
                        <m:t>moles</m:t>
                      </m:r>
                    </m:oMath>
                  </m:oMathPara>
                </a14:m>
                <a:endParaRPr lang="es-CL" altLang="es-CL" sz="2400" baseline="-25000" dirty="0">
                  <a:solidFill>
                    <a:schemeClr val="accent1">
                      <a:lumMod val="75000"/>
                    </a:schemeClr>
                  </a:solidFill>
                  <a:latin typeface="Lucida Sans Unicode" panose="020B0602030504020204" pitchFamily="34" charset="0"/>
                  <a:ea typeface="Calibri" panose="020F0502020204030204" pitchFamily="34" charset="0"/>
                  <a:cs typeface="Lucida Sans Unicode" panose="020B0602030504020204" pitchFamily="34" charset="0"/>
                </a:endParaRPr>
              </a:p>
            </p:txBody>
          </p:sp>
        </mc:Choice>
        <mc:Fallback xmlns="">
          <p:sp>
            <p:nvSpPr>
              <p:cNvPr id="20" name="Rectángulo 4">
                <a:extLst>
                  <a:ext uri="{FF2B5EF4-FFF2-40B4-BE49-F238E27FC236}">
                    <a16:creationId xmlns:a16="http://schemas.microsoft.com/office/drawing/2014/main" id="{53D3B8CB-8311-7043-A561-3AA73ABFA3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3680" y="5779990"/>
                <a:ext cx="8202674" cy="991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87784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s-CL" sz="2000" smtClean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pPr algn="ctr"/>
              <a:t>19</a:t>
            </a:fld>
            <a:endParaRPr lang="es-CL" sz="200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8" name="CuadroTexto 1">
            <a:extLst>
              <a:ext uri="{FF2B5EF4-FFF2-40B4-BE49-F238E27FC236}">
                <a16:creationId xmlns:a16="http://schemas.microsoft.com/office/drawing/2014/main" id="{1F895DC8-13A0-C941-AD4B-C080A003D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138" y="211698"/>
            <a:ext cx="9180511" cy="1592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Según la ecuación química, la relación entre glucosa y agua es:</a:t>
            </a:r>
          </a:p>
          <a:p>
            <a:pPr>
              <a:spcBef>
                <a:spcPct val="0"/>
              </a:spcBef>
              <a:buFontTx/>
              <a:buNone/>
            </a:pPr>
            <a:endParaRPr lang="es-CL" altLang="es-CL" sz="2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 mol de glucosa produce 6 moles de agua, esto se puede escribir como una regla de tres y permitirá determinar los moles de agua.</a:t>
            </a:r>
          </a:p>
        </p:txBody>
      </p:sp>
      <p:sp>
        <p:nvSpPr>
          <p:cNvPr id="20" name="CuadroTexto 3">
            <a:extLst>
              <a:ext uri="{FF2B5EF4-FFF2-40B4-BE49-F238E27FC236}">
                <a16:creationId xmlns:a16="http://schemas.microsoft.com/office/drawing/2014/main" id="{71CE6404-1956-E343-B9CE-D565CE229E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138" y="3670914"/>
            <a:ext cx="9796305" cy="977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Como preguntan por la masa, se debe pasar esta cantidad de moles a gramos, despejando en la fórmula de moles.</a:t>
            </a:r>
          </a:p>
        </p:txBody>
      </p:sp>
      <p:sp>
        <p:nvSpPr>
          <p:cNvPr id="21" name="CuadroTexto 4">
            <a:extLst>
              <a:ext uri="{FF2B5EF4-FFF2-40B4-BE49-F238E27FC236}">
                <a16:creationId xmlns:a16="http://schemas.microsoft.com/office/drawing/2014/main" id="{83CD14FE-1FA0-DD41-AA8E-D076C232C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2839" y="5084764"/>
            <a:ext cx="3743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s-CL" altLang="es-CL" sz="180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23" name="CuadroTexto 7">
            <a:extLst>
              <a:ext uri="{FF2B5EF4-FFF2-40B4-BE49-F238E27FC236}">
                <a16:creationId xmlns:a16="http://schemas.microsoft.com/office/drawing/2014/main" id="{6D25E2F0-E882-FA47-A6FD-3DC1C92B9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512" y="5491200"/>
            <a:ext cx="29527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s-CL" sz="20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Reemplazando</a:t>
            </a:r>
            <a:r>
              <a:rPr lang="es-CL" altLang="es-CL" sz="18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4">
                <a:extLst>
                  <a:ext uri="{FF2B5EF4-FFF2-40B4-BE49-F238E27FC236}">
                    <a16:creationId xmlns:a16="http://schemas.microsoft.com/office/drawing/2014/main" id="{25541AA8-04C9-EA4E-9552-BB48CB001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5188" y="2483309"/>
                <a:ext cx="7472381" cy="4801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4572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marL="46038">
                  <a:lnSpc>
                    <a:spcPct val="105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s-ES" altLang="es-CL" sz="240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Lucida Sans Unicode" panose="020B0602030504020204" pitchFamily="34" charset="0"/>
                      </a:rPr>
                      <m:t>5,56</m:t>
                    </m:r>
                    <m:r>
                      <m:rPr>
                        <m:nor/>
                      </m:rPr>
                      <a:rPr lang="es-CL" altLang="es-CL" sz="24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Lucida Bright" panose="020406020505050203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s-CL" altLang="es-CL" sz="24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Lucida Bright" panose="020406020505050203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x</m:t>
                    </m:r>
                    <m:r>
                      <m:rPr>
                        <m:nor/>
                      </m:rPr>
                      <a:rPr lang="es-CL" altLang="es-CL" sz="24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Lucida Bright" panose="020406020505050203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 10−</m:t>
                    </m:r>
                    <m:r>
                      <m:rPr>
                        <m:nor/>
                      </m:rPr>
                      <a:rPr lang="es-ES" altLang="es-CL" sz="2400" baseline="300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Lucida Bright" panose="020406020505050203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3 </m:t>
                    </m:r>
                    <m:r>
                      <m:rPr>
                        <m:sty m:val="p"/>
                      </m:rPr>
                      <a:rPr lang="es-ES" altLang="es-CL" sz="240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Lucida Sans Unicode" panose="020B0602030504020204" pitchFamily="34" charset="0"/>
                      </a:rPr>
                      <m:t>moles</m:t>
                    </m:r>
                    <m:r>
                      <a:rPr lang="es-ES" altLang="es-CL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Lucida Sans Unicode" panose="020B0602030504020204" pitchFamily="34" charset="0"/>
                      </a:rPr>
                      <m:t> </m:t>
                    </m:r>
                  </m:oMath>
                </a14:m>
                <a:r>
                  <a:rPr lang="es-CL" altLang="es-CL" sz="2400" dirty="0">
                    <a:solidFill>
                      <a:schemeClr val="accent1">
                        <a:lumMod val="75000"/>
                      </a:schemeClr>
                    </a:solidFill>
                    <a:latin typeface="Lucida Bright" panose="02040602050505020304" pitchFamily="18" charset="0"/>
                    <a:ea typeface="Calibri" panose="020F0502020204030204" pitchFamily="34" charset="0"/>
                    <a:cs typeface="Lucida Sans Unicode" panose="020B0602030504020204" pitchFamily="34" charset="0"/>
                  </a:rPr>
                  <a:t>de </a:t>
                </a:r>
                <a:r>
                  <a:rPr lang="es-CL" altLang="es-CL" sz="2400" dirty="0">
                    <a:solidFill>
                      <a:schemeClr val="accent1">
                        <a:lumMod val="75000"/>
                      </a:schemeClr>
                    </a:solidFill>
                    <a:latin typeface="Lucida Sans Unicode" panose="020B0602030504020204" pitchFamily="34" charset="0"/>
                    <a:ea typeface="Calibri" panose="020F0502020204030204" pitchFamily="34" charset="0"/>
                    <a:cs typeface="Lucida Sans Unicode" panose="020B0602030504020204" pitchFamily="34" charset="0"/>
                  </a:rPr>
                  <a:t>C</a:t>
                </a:r>
                <a:r>
                  <a:rPr lang="es-CL" altLang="es-CL" sz="2400" baseline="-25000" dirty="0">
                    <a:solidFill>
                      <a:schemeClr val="accent1">
                        <a:lumMod val="75000"/>
                      </a:schemeClr>
                    </a:solidFill>
                    <a:latin typeface="Lucida Sans Unicode" panose="020B0602030504020204" pitchFamily="34" charset="0"/>
                    <a:ea typeface="Calibri" panose="020F0502020204030204" pitchFamily="34" charset="0"/>
                    <a:cs typeface="Lucida Sans Unicode" panose="020B0602030504020204" pitchFamily="34" charset="0"/>
                  </a:rPr>
                  <a:t>6</a:t>
                </a:r>
                <a:r>
                  <a:rPr lang="es-CL" altLang="es-CL" sz="2400" dirty="0">
                    <a:solidFill>
                      <a:schemeClr val="accent1">
                        <a:lumMod val="75000"/>
                      </a:schemeClr>
                    </a:solidFill>
                    <a:latin typeface="Lucida Sans Unicode" panose="020B0602030504020204" pitchFamily="34" charset="0"/>
                    <a:ea typeface="Calibri" panose="020F0502020204030204" pitchFamily="34" charset="0"/>
                    <a:cs typeface="Lucida Sans Unicode" panose="020B0602030504020204" pitchFamily="34" charset="0"/>
                  </a:rPr>
                  <a:t>H</a:t>
                </a:r>
                <a:r>
                  <a:rPr lang="es-CL" altLang="es-CL" sz="2400" baseline="-25000" dirty="0">
                    <a:solidFill>
                      <a:schemeClr val="accent1">
                        <a:lumMod val="75000"/>
                      </a:schemeClr>
                    </a:solidFill>
                    <a:latin typeface="Lucida Sans Unicode" panose="020B0602030504020204" pitchFamily="34" charset="0"/>
                    <a:ea typeface="Calibri" panose="020F0502020204030204" pitchFamily="34" charset="0"/>
                    <a:cs typeface="Lucida Sans Unicode" panose="020B0602030504020204" pitchFamily="34" charset="0"/>
                  </a:rPr>
                  <a:t>12</a:t>
                </a:r>
                <a:r>
                  <a:rPr lang="es-CL" altLang="es-CL" sz="2400" dirty="0">
                    <a:solidFill>
                      <a:schemeClr val="accent1">
                        <a:lumMod val="75000"/>
                      </a:schemeClr>
                    </a:solidFill>
                    <a:latin typeface="Lucida Sans Unicode" panose="020B0602030504020204" pitchFamily="34" charset="0"/>
                    <a:ea typeface="Calibri" panose="020F0502020204030204" pitchFamily="34" charset="0"/>
                    <a:cs typeface="Lucida Sans Unicode" panose="020B0602030504020204" pitchFamily="34" charset="0"/>
                  </a:rPr>
                  <a:t>O</a:t>
                </a:r>
                <a:r>
                  <a:rPr lang="es-CL" altLang="es-CL" sz="2400" baseline="-25000" dirty="0">
                    <a:solidFill>
                      <a:schemeClr val="accent1">
                        <a:lumMod val="75000"/>
                      </a:schemeClr>
                    </a:solidFill>
                    <a:latin typeface="Lucida Sans Unicode" panose="020B0602030504020204" pitchFamily="34" charset="0"/>
                    <a:ea typeface="Calibri" panose="020F0502020204030204" pitchFamily="34" charset="0"/>
                    <a:cs typeface="Lucida Sans Unicode" panose="020B0602030504020204" pitchFamily="34" charset="0"/>
                  </a:rPr>
                  <a:t>6</a:t>
                </a:r>
                <a:r>
                  <a:rPr lang="es-CL" altLang="es-CL" sz="2400" dirty="0">
                    <a:solidFill>
                      <a:schemeClr val="accent1">
                        <a:lumMod val="75000"/>
                      </a:schemeClr>
                    </a:solidFill>
                    <a:latin typeface="Lucida Sans Unicode" panose="020B0602030504020204" pitchFamily="34" charset="0"/>
                    <a:ea typeface="Calibri" panose="020F0502020204030204" pitchFamily="34" charset="0"/>
                    <a:cs typeface="Lucida Sans Unicode" panose="020B0602030504020204" pitchFamily="34" charset="0"/>
                  </a:rPr>
                  <a:t> →  X moles de H</a:t>
                </a:r>
                <a:r>
                  <a:rPr lang="es-CL" altLang="es-CL" sz="2400" baseline="-25000" dirty="0">
                    <a:solidFill>
                      <a:schemeClr val="accent1">
                        <a:lumMod val="75000"/>
                      </a:schemeClr>
                    </a:solidFill>
                    <a:latin typeface="Lucida Sans Unicode" panose="020B0602030504020204" pitchFamily="34" charset="0"/>
                    <a:ea typeface="Calibri" panose="020F0502020204030204" pitchFamily="34" charset="0"/>
                    <a:cs typeface="Lucida Sans Unicode" panose="020B0602030504020204" pitchFamily="34" charset="0"/>
                  </a:rPr>
                  <a:t>2</a:t>
                </a:r>
                <a:r>
                  <a:rPr lang="es-CL" altLang="es-CL" sz="2400" dirty="0">
                    <a:solidFill>
                      <a:schemeClr val="accent1">
                        <a:lumMod val="75000"/>
                      </a:schemeClr>
                    </a:solidFill>
                    <a:latin typeface="Lucida Sans Unicode" panose="020B0602030504020204" pitchFamily="34" charset="0"/>
                    <a:ea typeface="Calibri" panose="020F0502020204030204" pitchFamily="34" charset="0"/>
                    <a:cs typeface="Lucida Sans Unicode" panose="020B0602030504020204" pitchFamily="34" charset="0"/>
                  </a:rPr>
                  <a:t>O</a:t>
                </a:r>
                <a:endParaRPr lang="es-CL" altLang="es-CL" sz="2400" baseline="-25000" dirty="0">
                  <a:solidFill>
                    <a:schemeClr val="accent1">
                      <a:lumMod val="75000"/>
                    </a:schemeClr>
                  </a:solidFill>
                  <a:latin typeface="Lucida Sans Unicode" panose="020B0602030504020204" pitchFamily="34" charset="0"/>
                  <a:ea typeface="Calibri" panose="020F0502020204030204" pitchFamily="34" charset="0"/>
                  <a:cs typeface="Lucida Sans Unicode" panose="020B0602030504020204" pitchFamily="34" charset="0"/>
                </a:endParaRPr>
              </a:p>
            </p:txBody>
          </p:sp>
        </mc:Choice>
        <mc:Fallback xmlns="">
          <p:sp>
            <p:nvSpPr>
              <p:cNvPr id="13" name="Rectángulo 4">
                <a:extLst>
                  <a:ext uri="{FF2B5EF4-FFF2-40B4-BE49-F238E27FC236}">
                    <a16:creationId xmlns:a16="http://schemas.microsoft.com/office/drawing/2014/main" id="{25541AA8-04C9-EA4E-9552-BB48CB001A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45188" y="2483309"/>
                <a:ext cx="7472381" cy="480131"/>
              </a:xfrm>
              <a:prstGeom prst="rect">
                <a:avLst/>
              </a:prstGeom>
              <a:blipFill>
                <a:blip r:embed="rId3"/>
                <a:stretch>
                  <a:fillRect t="-11392" b="-2911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ángulo 4">
            <a:extLst>
              <a:ext uri="{FF2B5EF4-FFF2-40B4-BE49-F238E27FC236}">
                <a16:creationId xmlns:a16="http://schemas.microsoft.com/office/drawing/2014/main" id="{A3A175FF-EAAC-5A4E-8FD7-0C9210FB2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0738" y="3118925"/>
            <a:ext cx="54558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6038">
              <a:lnSpc>
                <a:spcPct val="105000"/>
              </a:lnSpc>
              <a:spcAft>
                <a:spcPts val="800"/>
              </a:spcAft>
            </a:pPr>
            <a:r>
              <a:rPr lang="es-CL" altLang="es-CL" sz="2400" b="1" dirty="0">
                <a:solidFill>
                  <a:srgbClr val="0080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X =   3,34 x 10</a:t>
            </a:r>
            <a:r>
              <a:rPr lang="es-CL" altLang="es-CL" sz="2400" b="1" baseline="30000" dirty="0">
                <a:solidFill>
                  <a:srgbClr val="0080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-2</a:t>
            </a:r>
            <a:r>
              <a:rPr lang="es-CL" altLang="es-CL" sz="2400" b="1" dirty="0">
                <a:solidFill>
                  <a:srgbClr val="0080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 moles de H</a:t>
            </a:r>
            <a:r>
              <a:rPr lang="es-CL" altLang="es-CL" sz="2400" b="1" baseline="-25000" dirty="0">
                <a:solidFill>
                  <a:srgbClr val="0080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sz="2400" b="1" dirty="0">
                <a:solidFill>
                  <a:srgbClr val="0080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O</a:t>
            </a:r>
            <a:endParaRPr lang="es-CL" altLang="es-CL" sz="2400" b="1" baseline="-25000" dirty="0">
              <a:solidFill>
                <a:srgbClr val="008000"/>
              </a:solidFill>
              <a:latin typeface="Lucida Sans Unicode" panose="020B0602030504020204" pitchFamily="34" charset="0"/>
              <a:ea typeface="Calibri" panose="020F050202020403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5" name="Rectángulo 4">
            <a:extLst>
              <a:ext uri="{FF2B5EF4-FFF2-40B4-BE49-F238E27FC236}">
                <a16:creationId xmlns:a16="http://schemas.microsoft.com/office/drawing/2014/main" id="{813BD525-9423-3B46-B48A-1DAEDC9CB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3575" y="1964388"/>
            <a:ext cx="6115251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6038">
              <a:lnSpc>
                <a:spcPct val="105000"/>
              </a:lnSpc>
              <a:spcAft>
                <a:spcPts val="800"/>
              </a:spcAft>
            </a:pPr>
            <a:r>
              <a:rPr lang="es-CL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1,0 mol de C</a:t>
            </a:r>
            <a:r>
              <a:rPr lang="es-CL" altLang="es-CL" sz="24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6</a:t>
            </a:r>
            <a:r>
              <a:rPr lang="es-CL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H</a:t>
            </a:r>
            <a:r>
              <a:rPr lang="es-CL" altLang="es-CL" sz="24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12</a:t>
            </a:r>
            <a:r>
              <a:rPr lang="es-CL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O</a:t>
            </a:r>
            <a:r>
              <a:rPr lang="es-CL" altLang="es-CL" sz="24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6</a:t>
            </a:r>
            <a:r>
              <a:rPr lang="es-CL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 →  6 moles de H</a:t>
            </a:r>
            <a:r>
              <a:rPr lang="es-CL" altLang="es-CL" sz="24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ángulo 4">
                <a:extLst>
                  <a:ext uri="{FF2B5EF4-FFF2-40B4-BE49-F238E27FC236}">
                    <a16:creationId xmlns:a16="http://schemas.microsoft.com/office/drawing/2014/main" id="{181ECF78-8A5E-CD42-89EC-071FC3C027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0803" y="4743861"/>
                <a:ext cx="6056766" cy="672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4572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marL="46038">
                  <a:lnSpc>
                    <a:spcPct val="105000"/>
                  </a:lnSpc>
                  <a:spcAft>
                    <a:spcPts val="800"/>
                  </a:spcAft>
                </a:pPr>
                <a:r>
                  <a:rPr lang="es-ES" altLang="es-CL" sz="2400" b="1" i="1" dirty="0">
                    <a:solidFill>
                      <a:schemeClr val="accent1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Lucida Sans Unicode" panose="020B0602030504020204" pitchFamily="34" charset="0"/>
                  </a:rPr>
                  <a:t>Mol </a:t>
                </a:r>
                <a:r>
                  <a:rPr lang="es-ES" altLang="es-CL" sz="2400" i="1" dirty="0">
                    <a:solidFill>
                      <a:schemeClr val="accent1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Lucida Sans Unicode" panose="020B0602030504020204" pitchFamily="34" charset="0"/>
                  </a:rPr>
                  <a:t>(n)</a:t>
                </a:r>
                <a14:m>
                  <m:oMath xmlns:m="http://schemas.openxmlformats.org/officeDocument/2006/math">
                    <m:r>
                      <a:rPr lang="es-ES" altLang="es-CL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 </m:t>
                    </m:r>
                    <m:r>
                      <a:rPr lang="es-ES" altLang="es-CL" sz="24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∗</m:t>
                    </m:r>
                    <m:r>
                      <a:rPr lang="es-ES" altLang="es-CL" sz="24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𝑴𝒂𝒔𝒂</m:t>
                    </m:r>
                    <m:r>
                      <a:rPr lang="es-ES" altLang="es-CL" sz="24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 </m:t>
                    </m:r>
                    <m:r>
                      <a:rPr lang="es-ES" altLang="es-CL" sz="24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𝑴𝒐𝒍𝒂𝒓</m:t>
                    </m:r>
                    <m:d>
                      <m:dPr>
                        <m:ctrlPr>
                          <a:rPr lang="es-ES" altLang="es-CL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ucida Sans Unicode" panose="020B060203050402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altLang="es-CL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Lucida Sans Unicode" panose="020B0602030504020204" pitchFamily="34" charset="0"/>
                              </a:rPr>
                            </m:ctrlPr>
                          </m:fPr>
                          <m:num>
                            <m:r>
                              <a:rPr lang="es-ES" altLang="es-CL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Lucida Sans Unicode" panose="020B0602030504020204" pitchFamily="34" charset="0"/>
                              </a:rPr>
                              <m:t>𝑔</m:t>
                            </m:r>
                          </m:num>
                          <m:den>
                            <m:r>
                              <a:rPr lang="es-ES" altLang="es-CL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Lucida Sans Unicode" panose="020B0602030504020204" pitchFamily="34" charset="0"/>
                              </a:rPr>
                              <m:t>𝑚𝑜𝑙</m:t>
                            </m:r>
                          </m:den>
                        </m:f>
                      </m:e>
                    </m:d>
                    <m:r>
                      <a:rPr lang="es-ES" altLang="es-CL" sz="24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=</m:t>
                    </m:r>
                    <m:r>
                      <a:rPr lang="es-ES" altLang="es-CL" sz="24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𝑴𝒂𝒔𝒂</m:t>
                    </m:r>
                    <m:r>
                      <a:rPr lang="es-ES" altLang="es-CL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(</m:t>
                    </m:r>
                    <m:r>
                      <a:rPr lang="es-ES" altLang="es-CL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𝑔</m:t>
                    </m:r>
                    <m:r>
                      <a:rPr lang="es-ES" altLang="es-CL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) </m:t>
                    </m:r>
                  </m:oMath>
                </a14:m>
                <a:endParaRPr lang="es-CL" altLang="es-CL" sz="2400" i="1" baseline="-25000" dirty="0">
                  <a:solidFill>
                    <a:schemeClr val="accent1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Lucida Sans Unicode" panose="020B0602030504020204" pitchFamily="34" charset="0"/>
                </a:endParaRPr>
              </a:p>
            </p:txBody>
          </p:sp>
        </mc:Choice>
        <mc:Fallback xmlns="">
          <p:sp>
            <p:nvSpPr>
              <p:cNvPr id="17" name="Rectángulo 4">
                <a:extLst>
                  <a:ext uri="{FF2B5EF4-FFF2-40B4-BE49-F238E27FC236}">
                    <a16:creationId xmlns:a16="http://schemas.microsoft.com/office/drawing/2014/main" id="{181ECF78-8A5E-CD42-89EC-071FC3C027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60803" y="4743861"/>
                <a:ext cx="6056766" cy="672685"/>
              </a:xfrm>
              <a:prstGeom prst="rect">
                <a:avLst/>
              </a:prstGeom>
              <a:blipFill>
                <a:blip r:embed="rId4"/>
                <a:stretch>
                  <a:fillRect l="-628" b="-754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ángulo 4">
                <a:extLst>
                  <a:ext uri="{FF2B5EF4-FFF2-40B4-BE49-F238E27FC236}">
                    <a16:creationId xmlns:a16="http://schemas.microsoft.com/office/drawing/2014/main" id="{93EA8018-53B6-ED4B-9AF0-0619726DE2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6344" y="5841892"/>
                <a:ext cx="8593544" cy="672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4572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marL="46038">
                  <a:lnSpc>
                    <a:spcPct val="105000"/>
                  </a:lnSpc>
                  <a:spcAft>
                    <a:spcPts val="800"/>
                  </a:spcAft>
                </a:pPr>
                <a:r>
                  <a:rPr lang="es-CL" altLang="es-CL" sz="2400" dirty="0">
                    <a:solidFill>
                      <a:schemeClr val="accent1">
                        <a:lumMod val="75000"/>
                      </a:schemeClr>
                    </a:solidFill>
                    <a:latin typeface="Lucida Sans Unicode" panose="020B0602030504020204" pitchFamily="34" charset="0"/>
                    <a:ea typeface="Calibri" panose="020F0502020204030204" pitchFamily="34" charset="0"/>
                    <a:cs typeface="Lucida Sans Unicode" panose="020B0602030504020204" pitchFamily="34" charset="0"/>
                  </a:rPr>
                  <a:t>3,34 x 10</a:t>
                </a:r>
                <a:r>
                  <a:rPr lang="es-CL" altLang="es-CL" sz="2400" baseline="30000" dirty="0">
                    <a:solidFill>
                      <a:schemeClr val="accent1">
                        <a:lumMod val="75000"/>
                      </a:schemeClr>
                    </a:solidFill>
                    <a:latin typeface="Lucida Sans Unicode" panose="020B0602030504020204" pitchFamily="34" charset="0"/>
                    <a:ea typeface="Calibri" panose="020F0502020204030204" pitchFamily="34" charset="0"/>
                    <a:cs typeface="Lucida Sans Unicode" panose="020B0602030504020204" pitchFamily="34" charset="0"/>
                  </a:rPr>
                  <a:t>-2</a:t>
                </a:r>
                <a:r>
                  <a:rPr lang="es-CL" altLang="es-CL" sz="2400" dirty="0">
                    <a:solidFill>
                      <a:schemeClr val="accent1">
                        <a:lumMod val="75000"/>
                      </a:schemeClr>
                    </a:solidFill>
                    <a:latin typeface="Lucida Sans Unicode" panose="020B0602030504020204" pitchFamily="34" charset="0"/>
                    <a:ea typeface="Calibri" panose="020F0502020204030204" pitchFamily="34" charset="0"/>
                    <a:cs typeface="Lucida Sans Unicode" panose="020B0602030504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altLang="es-CL" sz="24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moles</m:t>
                    </m:r>
                    <m:r>
                      <a:rPr lang="es-ES" altLang="es-CL" sz="24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s-ES" altLang="es-CL" sz="24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de</m:t>
                    </m:r>
                    <m:r>
                      <a:rPr lang="es-ES" altLang="es-CL" sz="24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s-ES" altLang="es-CL" sz="24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H</m:t>
                    </m:r>
                    <m:r>
                      <a:rPr lang="es-ES" altLang="es-CL" sz="2400" b="0" i="0" baseline="-2500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2</m:t>
                    </m:r>
                    <m:r>
                      <m:rPr>
                        <m:sty m:val="p"/>
                      </m:rPr>
                      <a:rPr lang="es-ES" altLang="es-CL" sz="24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O</m:t>
                    </m:r>
                    <m:r>
                      <a:rPr lang="es-ES" altLang="es-CL" sz="24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∗</m:t>
                    </m:r>
                    <m:r>
                      <a:rPr lang="es-ES" altLang="es-CL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18</m:t>
                    </m:r>
                    <m:d>
                      <m:dPr>
                        <m:ctrlPr>
                          <a:rPr lang="es-ES" altLang="es-CL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ucida Sans Unicode" panose="020B060203050402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altLang="es-CL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Lucida Sans Unicode" panose="020B0602030504020204" pitchFamily="34" charset="0"/>
                              </a:rPr>
                            </m:ctrlPr>
                          </m:fPr>
                          <m:num>
                            <m:r>
                              <a:rPr lang="es-ES" altLang="es-CL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Lucida Sans Unicode" panose="020B0602030504020204" pitchFamily="34" charset="0"/>
                              </a:rPr>
                              <m:t>𝑔</m:t>
                            </m:r>
                          </m:num>
                          <m:den>
                            <m:r>
                              <a:rPr lang="es-ES" altLang="es-CL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Lucida Sans Unicode" panose="020B0602030504020204" pitchFamily="34" charset="0"/>
                              </a:rPr>
                              <m:t>𝑚𝑜𝑙</m:t>
                            </m:r>
                          </m:den>
                        </m:f>
                      </m:e>
                    </m:d>
                    <m:r>
                      <a:rPr lang="es-ES" altLang="es-CL" sz="24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=</m:t>
                    </m:r>
                    <m:r>
                      <a:rPr lang="es-ES" altLang="es-CL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𝟎</m:t>
                    </m:r>
                    <m:r>
                      <a:rPr lang="es-ES" altLang="es-CL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, </m:t>
                    </m:r>
                    <m:r>
                      <a:rPr lang="es-ES" altLang="es-CL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𝟔𝟎</m:t>
                    </m:r>
                    <m:r>
                      <a:rPr lang="es-ES" altLang="es-CL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𝒈</m:t>
                    </m:r>
                    <m:r>
                      <a:rPr lang="es-ES" altLang="es-CL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 </m:t>
                    </m:r>
                    <m:r>
                      <a:rPr lang="es-ES" altLang="es-CL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𝒅𝒆</m:t>
                    </m:r>
                    <m:r>
                      <a:rPr lang="es-ES" altLang="es-CL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 </m:t>
                    </m:r>
                    <m:r>
                      <a:rPr lang="es-ES" altLang="es-CL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𝑯</m:t>
                    </m:r>
                    <m:r>
                      <a:rPr lang="es-ES" altLang="es-CL" sz="2400" b="1" i="1" baseline="-25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𝟐</m:t>
                    </m:r>
                    <m:r>
                      <a:rPr lang="es-ES" altLang="es-CL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𝑶</m:t>
                    </m:r>
                    <m:r>
                      <a:rPr lang="es-ES" altLang="es-CL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 </m:t>
                    </m:r>
                  </m:oMath>
                </a14:m>
                <a:endParaRPr lang="es-CL" altLang="es-CL" sz="2400" b="1" i="1" baseline="-25000" dirty="0">
                  <a:solidFill>
                    <a:schemeClr val="accent1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Lucida Sans Unicode" panose="020B0602030504020204" pitchFamily="34" charset="0"/>
                </a:endParaRPr>
              </a:p>
            </p:txBody>
          </p:sp>
        </mc:Choice>
        <mc:Fallback xmlns="">
          <p:sp>
            <p:nvSpPr>
              <p:cNvPr id="25" name="Rectángulo 4">
                <a:extLst>
                  <a:ext uri="{FF2B5EF4-FFF2-40B4-BE49-F238E27FC236}">
                    <a16:creationId xmlns:a16="http://schemas.microsoft.com/office/drawing/2014/main" id="{93EA8018-53B6-ED4B-9AF0-0619726DE2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36344" y="5841892"/>
                <a:ext cx="8593544" cy="672685"/>
              </a:xfrm>
              <a:prstGeom prst="rect">
                <a:avLst/>
              </a:prstGeom>
              <a:blipFill>
                <a:blip r:embed="rId5"/>
                <a:stretch>
                  <a:fillRect l="-568" b="-991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96989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s-CL" sz="2000" smtClean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pPr algn="ctr"/>
              <a:t>20</a:t>
            </a:fld>
            <a:endParaRPr lang="es-CL" sz="200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A5B10B2-2873-5F4D-B732-D2A589EE09C6}"/>
              </a:ext>
            </a:extLst>
          </p:cNvPr>
          <p:cNvSpPr txBox="1"/>
          <p:nvPr/>
        </p:nvSpPr>
        <p:spPr>
          <a:xfrm>
            <a:off x="1059119" y="3057902"/>
            <a:ext cx="10593823" cy="995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5867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Ejercicios Propuestos</a:t>
            </a:r>
          </a:p>
        </p:txBody>
      </p:sp>
      <p:grpSp>
        <p:nvGrpSpPr>
          <p:cNvPr id="6" name="Shape 627"/>
          <p:cNvGrpSpPr/>
          <p:nvPr/>
        </p:nvGrpSpPr>
        <p:grpSpPr>
          <a:xfrm>
            <a:off x="5623014" y="1377791"/>
            <a:ext cx="949919" cy="978720"/>
            <a:chOff x="3951850" y="2985350"/>
            <a:chExt cx="407950" cy="416500"/>
          </a:xfrm>
        </p:grpSpPr>
        <p:sp>
          <p:nvSpPr>
            <p:cNvPr id="7" name="Shape 628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0" t="0" r="0" b="0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" name="Shape 629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0" t="0" r="0" b="0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Shape 630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0" t="0" r="0" b="0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Shape 631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0" t="0" r="0" b="0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706" y="135466"/>
            <a:ext cx="2116765" cy="1058383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DB6DC6D-FA85-4C4D-B196-62E7C3EE871A}"/>
              </a:ext>
            </a:extLst>
          </p:cNvPr>
          <p:cNvSpPr txBox="1"/>
          <p:nvPr/>
        </p:nvSpPr>
        <p:spPr>
          <a:xfrm>
            <a:off x="4507373" y="5308492"/>
            <a:ext cx="74457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6. Estequiometría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F3C0965-0379-AF44-BBCE-833E65C0823E}"/>
              </a:ext>
            </a:extLst>
          </p:cNvPr>
          <p:cNvSpPr txBox="1"/>
          <p:nvPr/>
        </p:nvSpPr>
        <p:spPr>
          <a:xfrm>
            <a:off x="692211" y="431702"/>
            <a:ext cx="35087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I</a:t>
            </a:r>
          </a:p>
        </p:txBody>
      </p:sp>
    </p:spTree>
    <p:extLst>
      <p:ext uri="{BB962C8B-B14F-4D97-AF65-F5344CB8AC3E}">
        <p14:creationId xmlns:p14="http://schemas.microsoft.com/office/powerpoint/2010/main" val="13995859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79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s-CL" sz="2000" smtClean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pPr algn="ctr"/>
              <a:t>21</a:t>
            </a:fld>
            <a:endParaRPr lang="es-CL" sz="200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56A5231C-4ABE-1349-BF46-20BC63DC0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602" y="662142"/>
            <a:ext cx="8703583" cy="4393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_tradnl" sz="2000" b="1" dirty="0">
                <a:solidFill>
                  <a:srgbClr val="797979"/>
                </a:solidFill>
                <a:latin typeface="Lucida Sans Unicode"/>
              </a:rPr>
              <a:t>1.- </a:t>
            </a: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Un método común de laboratorio para preparar cantidades pequeñas de oxígeno comprende la descomposición del clorato de potasio según la síguiente ecuación: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CL" altLang="es-CL" sz="2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CL" altLang="es-CL" sz="28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KClO</a:t>
            </a:r>
            <a:r>
              <a:rPr lang="es-CL" altLang="es-CL" sz="28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3(s) </a:t>
            </a:r>
            <a:r>
              <a:rPr lang="es-CL" altLang="es-CL" sz="28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→ KCl</a:t>
            </a:r>
            <a:r>
              <a:rPr lang="es-CL" altLang="es-CL" sz="28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(s) </a:t>
            </a:r>
            <a:r>
              <a:rPr lang="es-CL" altLang="es-CL" sz="28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+ O</a:t>
            </a:r>
            <a:r>
              <a:rPr lang="es-CL" altLang="es-CL" sz="28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2(g)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CL" altLang="es-CL" sz="2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¿Cuántos gramos de oxígeno se pueden preparar a partir de 4,50 g de clorato?</a:t>
            </a:r>
          </a:p>
          <a:p>
            <a:pPr algn="just">
              <a:lnSpc>
                <a:spcPct val="150000"/>
              </a:lnSpc>
            </a:pPr>
            <a:endParaRPr lang="es-ES_tradnl" sz="2000" dirty="0">
              <a:solidFill>
                <a:prstClr val="black"/>
              </a:solidFill>
              <a:latin typeface="Lucida Sans Unicode"/>
            </a:endParaRPr>
          </a:p>
        </p:txBody>
      </p:sp>
    </p:spTree>
    <p:extLst>
      <p:ext uri="{BB962C8B-B14F-4D97-AF65-F5344CB8AC3E}">
        <p14:creationId xmlns:p14="http://schemas.microsoft.com/office/powerpoint/2010/main" val="1315566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s-CL" sz="2000" smtClean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pPr algn="ctr"/>
              <a:t>22</a:t>
            </a:fld>
            <a:endParaRPr lang="es-CL" sz="200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EAEEBA65-F4E6-CA4F-BCBC-89B74A2B90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56EF4F04-C2EE-E843-A538-78F792225618}"/>
              </a:ext>
            </a:extLst>
          </p:cNvPr>
          <p:cNvSpPr txBox="1"/>
          <p:nvPr/>
        </p:nvSpPr>
        <p:spPr>
          <a:xfrm>
            <a:off x="4746258" y="4811113"/>
            <a:ext cx="74457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6. Estequiometría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F0A3067-708F-2C4B-B3C4-8E3999F7B05C}"/>
              </a:ext>
            </a:extLst>
          </p:cNvPr>
          <p:cNvSpPr txBox="1"/>
          <p:nvPr/>
        </p:nvSpPr>
        <p:spPr>
          <a:xfrm>
            <a:off x="4595746" y="340242"/>
            <a:ext cx="35087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I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83A0D7D-52B9-104D-B524-E1F8E960B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058" y="1908675"/>
            <a:ext cx="64008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3637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>
          <a:xfrm>
            <a:off x="11340169" y="6200184"/>
            <a:ext cx="731600" cy="524800"/>
          </a:xfrm>
        </p:spPr>
        <p:txBody>
          <a:bodyPr/>
          <a:lstStyle/>
          <a:p>
            <a:pPr algn="ctr"/>
            <a:fld id="{00000000-1234-1234-1234-123412341234}" type="slidenum">
              <a:rPr lang="es-CL" sz="2000" smtClean="0">
                <a:solidFill>
                  <a:srgbClr val="797979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pPr algn="ctr"/>
              <a:t>23</a:t>
            </a:fld>
            <a:endParaRPr lang="es-CL" sz="2000" dirty="0">
              <a:solidFill>
                <a:srgbClr val="797979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480" y="0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21807" y="19461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5" name="CuadroTexto 1">
            <a:extLst>
              <a:ext uri="{FF2B5EF4-FFF2-40B4-BE49-F238E27FC236}">
                <a16:creationId xmlns:a16="http://schemas.microsoft.com/office/drawing/2014/main" id="{A853722B-5D40-F44D-9162-ABE13F1A9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755" y="231952"/>
            <a:ext cx="92934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s-CL" sz="2800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Estequiometría con Reactivo Limitante y en Exceso</a:t>
            </a:r>
            <a:endParaRPr lang="es-CL" altLang="es-CL" sz="2800" b="1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6" name="CuadroTexto 2">
            <a:extLst>
              <a:ext uri="{FF2B5EF4-FFF2-40B4-BE49-F238E27FC236}">
                <a16:creationId xmlns:a16="http://schemas.microsoft.com/office/drawing/2014/main" id="{8C0ED33D-8E63-5943-BD69-64B140CA6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755" y="732619"/>
            <a:ext cx="9293478" cy="3600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s-CL" altLang="es-CL" sz="24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Reactivo limitante: </a:t>
            </a:r>
            <a:r>
              <a:rPr lang="es-ES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Es el reactivo que se consume primero y totalmente en la reacción química</a:t>
            </a:r>
            <a:r>
              <a:rPr lang="es-CL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.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s-ES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Los otros reactivos, presentes en cantidades mayores que aquellas requeridas para reaccionar con la cantidad de reactivo limitante, se llaman </a:t>
            </a:r>
            <a:r>
              <a:rPr lang="es-CL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sz="2400" b="1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reactivo en exceso</a:t>
            </a:r>
            <a:r>
              <a:rPr lang="es-CL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.</a:t>
            </a:r>
          </a:p>
          <a:p>
            <a:pPr algn="just">
              <a:spcBef>
                <a:spcPct val="0"/>
              </a:spcBef>
              <a:buFontTx/>
              <a:buNone/>
            </a:pPr>
            <a:endParaRPr lang="es-CL" altLang="es-CL" sz="24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lang="es-CL" altLang="es-CL" sz="22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Para que quede más claro piensen en la siguiente situación: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s-CL" altLang="es-CL" sz="22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Tienen 5 salchichas y 4 panes de completo ¿Cuántos completos puedes formar?</a:t>
            </a:r>
          </a:p>
          <a:p>
            <a:pPr>
              <a:spcBef>
                <a:spcPct val="0"/>
              </a:spcBef>
              <a:buFontTx/>
              <a:buNone/>
            </a:pPr>
            <a:endParaRPr lang="es-CL" altLang="es-CL" sz="18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7" name="Picture 2" descr="Resultado de imagen de ejemplo de reactivo limitante y exceso">
            <a:extLst>
              <a:ext uri="{FF2B5EF4-FFF2-40B4-BE49-F238E27FC236}">
                <a16:creationId xmlns:a16="http://schemas.microsoft.com/office/drawing/2014/main" id="{31F49024-57DC-2E41-8925-D792EDEB56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42" r="925" b="3956"/>
          <a:stretch/>
        </p:blipFill>
        <p:spPr bwMode="auto">
          <a:xfrm>
            <a:off x="4055401" y="4271061"/>
            <a:ext cx="5778501" cy="2508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uadroTexto 3">
            <a:extLst>
              <a:ext uri="{FF2B5EF4-FFF2-40B4-BE49-F238E27FC236}">
                <a16:creationId xmlns:a16="http://schemas.microsoft.com/office/drawing/2014/main" id="{4B006557-AC4A-B945-BE4D-C94D7ED47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534" y="4871722"/>
            <a:ext cx="3071811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s-CL" altLang="es-CL" sz="18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Puedes hacer 4 hot dog, el pan se consume todo, </a:t>
            </a:r>
            <a:r>
              <a:rPr lang="es-CL" altLang="es-CL" sz="1800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reactivo limitante</a:t>
            </a:r>
            <a:r>
              <a:rPr lang="es-CL" altLang="es-CL" sz="18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. En cambio te queda 1 salchicha, </a:t>
            </a:r>
            <a:r>
              <a:rPr lang="es-CL" altLang="es-CL" sz="1800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reactivo en exceso</a:t>
            </a:r>
            <a:r>
              <a:rPr lang="es-CL" altLang="es-CL" sz="18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78E0B78-8E45-E14C-8F01-4EE3735E1D52}"/>
              </a:ext>
            </a:extLst>
          </p:cNvPr>
          <p:cNvSpPr txBox="1"/>
          <p:nvPr/>
        </p:nvSpPr>
        <p:spPr>
          <a:xfrm>
            <a:off x="3975741" y="3862020"/>
            <a:ext cx="5952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rgbClr val="FF9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Salchichas        Pan               Hot </a:t>
            </a:r>
            <a:r>
              <a:rPr lang="es-ES_tradnl" b="1" dirty="0" err="1">
                <a:solidFill>
                  <a:srgbClr val="FF9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dog</a:t>
            </a:r>
            <a:r>
              <a:rPr lang="es-ES_tradnl" b="1" dirty="0">
                <a:solidFill>
                  <a:srgbClr val="FF9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   Salchichas</a:t>
            </a:r>
          </a:p>
        </p:txBody>
      </p:sp>
    </p:spTree>
    <p:extLst>
      <p:ext uri="{BB962C8B-B14F-4D97-AF65-F5344CB8AC3E}">
        <p14:creationId xmlns:p14="http://schemas.microsoft.com/office/powerpoint/2010/main" val="17554639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s-CL" sz="2000" smtClean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pPr algn="ctr"/>
              <a:t>24</a:t>
            </a:fld>
            <a:endParaRPr lang="es-CL" sz="20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A5B10B2-2873-5F4D-B732-D2A589EE09C6}"/>
              </a:ext>
            </a:extLst>
          </p:cNvPr>
          <p:cNvSpPr txBox="1"/>
          <p:nvPr/>
        </p:nvSpPr>
        <p:spPr>
          <a:xfrm>
            <a:off x="2027436" y="2931560"/>
            <a:ext cx="7780961" cy="995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5867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Ejercicios</a:t>
            </a:r>
          </a:p>
        </p:txBody>
      </p:sp>
      <p:grpSp>
        <p:nvGrpSpPr>
          <p:cNvPr id="4" name="Shape 257">
            <a:extLst>
              <a:ext uri="{FF2B5EF4-FFF2-40B4-BE49-F238E27FC236}">
                <a16:creationId xmlns:a16="http://schemas.microsoft.com/office/drawing/2014/main" id="{04B9F9FE-CAD3-B543-8CDF-E1698D657268}"/>
              </a:ext>
            </a:extLst>
          </p:cNvPr>
          <p:cNvGrpSpPr/>
          <p:nvPr/>
        </p:nvGrpSpPr>
        <p:grpSpPr>
          <a:xfrm>
            <a:off x="5125820" y="1447365"/>
            <a:ext cx="1171845" cy="1045591"/>
            <a:chOff x="5233525" y="4954450"/>
            <a:chExt cx="538275" cy="516350"/>
          </a:xfrm>
        </p:grpSpPr>
        <p:sp>
          <p:nvSpPr>
            <p:cNvPr id="5" name="Shape 258">
              <a:extLst>
                <a:ext uri="{FF2B5EF4-FFF2-40B4-BE49-F238E27FC236}">
                  <a16:creationId xmlns:a16="http://schemas.microsoft.com/office/drawing/2014/main" id="{3E8DF75F-16CC-044D-B3EB-21E22FDE5D71}"/>
                </a:ext>
              </a:extLst>
            </p:cNvPr>
            <p:cNvSpPr/>
            <p:nvPr/>
          </p:nvSpPr>
          <p:spPr>
            <a:xfrm>
              <a:off x="5637825" y="4954450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" name="Shape 259">
              <a:extLst>
                <a:ext uri="{FF2B5EF4-FFF2-40B4-BE49-F238E27FC236}">
                  <a16:creationId xmlns:a16="http://schemas.microsoft.com/office/drawing/2014/main" id="{00E51DBF-8113-B84A-A35D-3F18272B4179}"/>
                </a:ext>
              </a:extLst>
            </p:cNvPr>
            <p:cNvSpPr/>
            <p:nvPr/>
          </p:nvSpPr>
          <p:spPr>
            <a:xfrm>
              <a:off x="5323025" y="4980625"/>
              <a:ext cx="88925" cy="88925"/>
            </a:xfrm>
            <a:custGeom>
              <a:avLst/>
              <a:gdLst/>
              <a:ahLst/>
              <a:cxnLst/>
              <a:rect l="0" t="0" r="0" b="0"/>
              <a:pathLst>
                <a:path w="3557" h="3557" fill="none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" name="Shape 260">
              <a:extLst>
                <a:ext uri="{FF2B5EF4-FFF2-40B4-BE49-F238E27FC236}">
                  <a16:creationId xmlns:a16="http://schemas.microsoft.com/office/drawing/2014/main" id="{05CBC384-9B02-6C47-A556-79B0CE94ACE9}"/>
                </a:ext>
              </a:extLst>
            </p:cNvPr>
            <p:cNvSpPr/>
            <p:nvPr/>
          </p:nvSpPr>
          <p:spPr>
            <a:xfrm>
              <a:off x="5233525" y="5255225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" name="Shape 261">
              <a:extLst>
                <a:ext uri="{FF2B5EF4-FFF2-40B4-BE49-F238E27FC236}">
                  <a16:creationId xmlns:a16="http://schemas.microsoft.com/office/drawing/2014/main" id="{7CB79486-E909-DD4B-8865-6C314698F68D}"/>
                </a:ext>
              </a:extLst>
            </p:cNvPr>
            <p:cNvSpPr/>
            <p:nvPr/>
          </p:nvSpPr>
          <p:spPr>
            <a:xfrm>
              <a:off x="5453325" y="5382475"/>
              <a:ext cx="88925" cy="88325"/>
            </a:xfrm>
            <a:custGeom>
              <a:avLst/>
              <a:gdLst/>
              <a:ahLst/>
              <a:cxnLst/>
              <a:rect l="0" t="0" r="0" b="0"/>
              <a:pathLst>
                <a:path w="3557" h="3533" fill="none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Shape 262">
              <a:extLst>
                <a:ext uri="{FF2B5EF4-FFF2-40B4-BE49-F238E27FC236}">
                  <a16:creationId xmlns:a16="http://schemas.microsoft.com/office/drawing/2014/main" id="{BAF265E0-CBE6-4040-907F-05F1F377C216}"/>
                </a:ext>
              </a:extLst>
            </p:cNvPr>
            <p:cNvSpPr/>
            <p:nvPr/>
          </p:nvSpPr>
          <p:spPr>
            <a:xfrm>
              <a:off x="5682875" y="5188875"/>
              <a:ext cx="88925" cy="89525"/>
            </a:xfrm>
            <a:custGeom>
              <a:avLst/>
              <a:gdLst/>
              <a:ahLst/>
              <a:cxnLst/>
              <a:rect l="0" t="0" r="0" b="0"/>
              <a:pathLst>
                <a:path w="3557" h="3581" fill="none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Shape 263">
              <a:extLst>
                <a:ext uri="{FF2B5EF4-FFF2-40B4-BE49-F238E27FC236}">
                  <a16:creationId xmlns:a16="http://schemas.microsoft.com/office/drawing/2014/main" id="{86187FDB-D2A0-B342-A64D-09F3799BCEDF}"/>
                </a:ext>
              </a:extLst>
            </p:cNvPr>
            <p:cNvSpPr/>
            <p:nvPr/>
          </p:nvSpPr>
          <p:spPr>
            <a:xfrm>
              <a:off x="5411925" y="5110925"/>
              <a:ext cx="188775" cy="189400"/>
            </a:xfrm>
            <a:custGeom>
              <a:avLst/>
              <a:gdLst/>
              <a:ahLst/>
              <a:cxnLst/>
              <a:rect l="0" t="0" r="0" b="0"/>
              <a:pathLst>
                <a:path w="7551" h="7576" fill="none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" name="Shape 264">
              <a:extLst>
                <a:ext uri="{FF2B5EF4-FFF2-40B4-BE49-F238E27FC236}">
                  <a16:creationId xmlns:a16="http://schemas.microsoft.com/office/drawing/2014/main" id="{82924474-FA90-8C42-A57C-5842FE291D36}"/>
                </a:ext>
              </a:extLst>
            </p:cNvPr>
            <p:cNvSpPr/>
            <p:nvPr/>
          </p:nvSpPr>
          <p:spPr>
            <a:xfrm>
              <a:off x="5367475" y="5025075"/>
              <a:ext cx="81600" cy="105975"/>
            </a:xfrm>
            <a:custGeom>
              <a:avLst/>
              <a:gdLst/>
              <a:ahLst/>
              <a:cxnLst/>
              <a:rect l="0" t="0" r="0" b="0"/>
              <a:pathLst>
                <a:path w="3264" h="4239" fill="none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" name="Shape 265">
              <a:extLst>
                <a:ext uri="{FF2B5EF4-FFF2-40B4-BE49-F238E27FC236}">
                  <a16:creationId xmlns:a16="http://schemas.microsoft.com/office/drawing/2014/main" id="{D426B43C-121B-804D-A231-BA36FA3616A2}"/>
                </a:ext>
              </a:extLst>
            </p:cNvPr>
            <p:cNvSpPr/>
            <p:nvPr/>
          </p:nvSpPr>
          <p:spPr>
            <a:xfrm>
              <a:off x="5567800" y="4999500"/>
              <a:ext cx="115100" cy="133975"/>
            </a:xfrm>
            <a:custGeom>
              <a:avLst/>
              <a:gdLst/>
              <a:ahLst/>
              <a:cxnLst/>
              <a:rect l="0" t="0" r="0" b="0"/>
              <a:pathLst>
                <a:path w="4604" h="5359" fill="none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" name="Shape 266">
              <a:extLst>
                <a:ext uri="{FF2B5EF4-FFF2-40B4-BE49-F238E27FC236}">
                  <a16:creationId xmlns:a16="http://schemas.microsoft.com/office/drawing/2014/main" id="{00D2FF67-53FB-234F-B3A8-8CFDF5C33ECF}"/>
                </a:ext>
              </a:extLst>
            </p:cNvPr>
            <p:cNvSpPr/>
            <p:nvPr/>
          </p:nvSpPr>
          <p:spPr>
            <a:xfrm>
              <a:off x="5600075" y="5217475"/>
              <a:ext cx="127275" cy="16475"/>
            </a:xfrm>
            <a:custGeom>
              <a:avLst/>
              <a:gdLst/>
              <a:ahLst/>
              <a:cxnLst/>
              <a:rect l="0" t="0" r="0" b="0"/>
              <a:pathLst>
                <a:path w="5091" h="659" fill="none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" name="Shape 267">
              <a:extLst>
                <a:ext uri="{FF2B5EF4-FFF2-40B4-BE49-F238E27FC236}">
                  <a16:creationId xmlns:a16="http://schemas.microsoft.com/office/drawing/2014/main" id="{3F48E860-50C8-9B4E-B0BD-C55D0C2FE270}"/>
                </a:ext>
              </a:extLst>
            </p:cNvPr>
            <p:cNvSpPr/>
            <p:nvPr/>
          </p:nvSpPr>
          <p:spPr>
            <a:xfrm>
              <a:off x="5497775" y="5299675"/>
              <a:ext cx="4900" cy="126675"/>
            </a:xfrm>
            <a:custGeom>
              <a:avLst/>
              <a:gdLst/>
              <a:ahLst/>
              <a:cxnLst/>
              <a:rect l="0" t="0" r="0" b="0"/>
              <a:pathLst>
                <a:path w="196" h="5067" fill="none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" name="Shape 268">
              <a:extLst>
                <a:ext uri="{FF2B5EF4-FFF2-40B4-BE49-F238E27FC236}">
                  <a16:creationId xmlns:a16="http://schemas.microsoft.com/office/drawing/2014/main" id="{AC1A6B39-DB16-724E-A189-8011253BEA2F}"/>
                </a:ext>
              </a:extLst>
            </p:cNvPr>
            <p:cNvSpPr/>
            <p:nvPr/>
          </p:nvSpPr>
          <p:spPr>
            <a:xfrm>
              <a:off x="5277975" y="5241825"/>
              <a:ext cx="141275" cy="58500"/>
            </a:xfrm>
            <a:custGeom>
              <a:avLst/>
              <a:gdLst/>
              <a:ahLst/>
              <a:cxnLst/>
              <a:rect l="0" t="0" r="0" b="0"/>
              <a:pathLst>
                <a:path w="5651" h="2340" fill="none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pic>
        <p:nvPicPr>
          <p:cNvPr id="16" name="Imagen 15">
            <a:extLst>
              <a:ext uri="{FF2B5EF4-FFF2-40B4-BE49-F238E27FC236}">
                <a16:creationId xmlns:a16="http://schemas.microsoft.com/office/drawing/2014/main" id="{0AD80E5E-69A2-AA42-A559-DF79D111F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706" y="135466"/>
            <a:ext cx="2116765" cy="1058383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B00D73C2-C21A-6944-A743-F2491BCE3390}"/>
              </a:ext>
            </a:extLst>
          </p:cNvPr>
          <p:cNvSpPr txBox="1"/>
          <p:nvPr/>
        </p:nvSpPr>
        <p:spPr>
          <a:xfrm>
            <a:off x="4442484" y="4710580"/>
            <a:ext cx="74457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6. Estequiometría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A56826E-5A83-A34C-B320-D2EEB207F73D}"/>
              </a:ext>
            </a:extLst>
          </p:cNvPr>
          <p:cNvSpPr txBox="1"/>
          <p:nvPr/>
        </p:nvSpPr>
        <p:spPr>
          <a:xfrm>
            <a:off x="692211" y="431702"/>
            <a:ext cx="35087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I</a:t>
            </a:r>
          </a:p>
        </p:txBody>
      </p:sp>
    </p:spTree>
    <p:extLst>
      <p:ext uri="{BB962C8B-B14F-4D97-AF65-F5344CB8AC3E}">
        <p14:creationId xmlns:p14="http://schemas.microsoft.com/office/powerpoint/2010/main" val="30912267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z="2000" smtClean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pPr/>
              <a:t>25</a:t>
            </a:fld>
            <a:endParaRPr lang="es-CL" sz="200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9" name="Rectángulo 1">
            <a:extLst>
              <a:ext uri="{FF2B5EF4-FFF2-40B4-BE49-F238E27FC236}">
                <a16:creationId xmlns:a16="http://schemas.microsoft.com/office/drawing/2014/main" id="{60DAF4B9-854B-E04B-94BC-A49DEAC07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6" y="488003"/>
            <a:ext cx="8785225" cy="4516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s-CL" sz="20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1.- </a:t>
            </a: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Considere la siguiente reacción, </a:t>
            </a:r>
            <a:r>
              <a:rPr lang="es-CL" altLang="es-CL" sz="2000" b="1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recuerde equilibrar la ecuación</a:t>
            </a: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.</a:t>
            </a:r>
          </a:p>
          <a:p>
            <a:pPr>
              <a:spcBef>
                <a:spcPct val="0"/>
              </a:spcBef>
              <a:buFontTx/>
              <a:buNone/>
            </a:pPr>
            <a:endParaRPr lang="es-CL" altLang="es-CL" sz="2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s-CL" altLang="es-CL" sz="2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s-CL" altLang="es-CL" sz="2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s-CL" altLang="es-CL" sz="2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s-CL" altLang="es-CL" sz="2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s-CL" altLang="es-CL" sz="2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Se deja reaccionar una mezcla de 1,5 moles de Al y 3,0 moles de Cl</a:t>
            </a:r>
            <a:r>
              <a:rPr lang="es-CL" altLang="es-CL" sz="20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CL" altLang="es-CL" sz="2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Tx/>
              <a:buAutoNum type="alphaLcParenR"/>
            </a:pP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¿Cuál es el reactivo limitante?</a:t>
            </a: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endParaRPr lang="es-CL" altLang="es-CL" sz="2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CL" altLang="es-CL" sz="20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b) </a:t>
            </a: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¿Cuántos gramos de sal (AlCl</a:t>
            </a:r>
            <a:r>
              <a:rPr lang="es-CL" altLang="es-CL" sz="20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 se forman?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A88AC06-D226-134F-8081-B1B24410BBCC}"/>
              </a:ext>
            </a:extLst>
          </p:cNvPr>
          <p:cNvSpPr/>
          <p:nvPr/>
        </p:nvSpPr>
        <p:spPr>
          <a:xfrm>
            <a:off x="2321024" y="1521534"/>
            <a:ext cx="629371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altLang="es-CL" sz="36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Al</a:t>
            </a:r>
            <a:r>
              <a:rPr lang="es-CL" altLang="es-CL" sz="36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(s)   </a:t>
            </a:r>
            <a:r>
              <a:rPr lang="es-CL" altLang="es-CL" sz="36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+ 3 Cl</a:t>
            </a:r>
            <a:r>
              <a:rPr lang="es-CL" altLang="es-CL" sz="36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sz="36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sz="36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(g) </a:t>
            </a:r>
            <a:r>
              <a:rPr lang="es-CL" altLang="es-CL" sz="36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→ 2 AlCl</a:t>
            </a:r>
            <a:r>
              <a:rPr lang="es-CL" altLang="es-CL" sz="36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CL" altLang="es-CL" sz="36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sz="36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(s)</a:t>
            </a:r>
            <a:r>
              <a:rPr lang="es-CL" altLang="es-CL" sz="36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endParaRPr lang="es-ES_tradnl" sz="3600" b="1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AA0513C-47FD-4BAC-B53B-82A57AA97F53}"/>
              </a:ext>
            </a:extLst>
          </p:cNvPr>
          <p:cNvSpPr txBox="1"/>
          <p:nvPr/>
        </p:nvSpPr>
        <p:spPr>
          <a:xfrm>
            <a:off x="1956206" y="1459979"/>
            <a:ext cx="5237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000" b="1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67409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z="2000" smtClean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pPr/>
              <a:t>26</a:t>
            </a:fld>
            <a:endParaRPr lang="es-CL" sz="200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20" name="CuadroTexto 2">
            <a:extLst>
              <a:ext uri="{FF2B5EF4-FFF2-40B4-BE49-F238E27FC236}">
                <a16:creationId xmlns:a16="http://schemas.microsoft.com/office/drawing/2014/main" id="{6E29BCD8-E80D-9C45-87DC-9D5447B14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03" y="1886251"/>
            <a:ext cx="83906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Según la ecuación 2 moles de Al reacciona con 3 moles de Cl</a:t>
            </a:r>
            <a:r>
              <a:rPr lang="es-CL" altLang="es-CL" sz="20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.</a:t>
            </a:r>
          </a:p>
        </p:txBody>
      </p:sp>
      <p:sp>
        <p:nvSpPr>
          <p:cNvPr id="22" name="CuadroTexto 4">
            <a:extLst>
              <a:ext uri="{FF2B5EF4-FFF2-40B4-BE49-F238E27FC236}">
                <a16:creationId xmlns:a16="http://schemas.microsoft.com/office/drawing/2014/main" id="{903149A4-0DDD-0544-8AC6-419BE91D6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093" y="4364953"/>
            <a:ext cx="9791112" cy="1438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Este valor significa que para que reaccionen completamente los 1,5 moles de Al se necesitan solo 2,25 moles de Cl</a:t>
            </a:r>
            <a:r>
              <a:rPr lang="es-ES" altLang="es-CL" sz="20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y se disponen de 3,0 moles de Cl</a:t>
            </a:r>
            <a:r>
              <a:rPr lang="es-ES" altLang="es-CL" sz="20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por lo que quedan 0,75 moles de Cl</a:t>
            </a:r>
            <a:r>
              <a:rPr lang="es-ES" altLang="es-CL" sz="20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sin reaccionar o lo que se llama en exceso.</a:t>
            </a:r>
            <a:endParaRPr lang="es-CL" altLang="es-CL" sz="2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7" name="Rectángulo 4">
            <a:extLst>
              <a:ext uri="{FF2B5EF4-FFF2-40B4-BE49-F238E27FC236}">
                <a16:creationId xmlns:a16="http://schemas.microsoft.com/office/drawing/2014/main" id="{244E45C9-281B-DF40-94C4-5E22E5B77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6312" y="2945310"/>
            <a:ext cx="5243512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6038">
              <a:lnSpc>
                <a:spcPct val="105000"/>
              </a:lnSpc>
              <a:spcAft>
                <a:spcPts val="800"/>
              </a:spcAft>
            </a:pPr>
            <a:r>
              <a:rPr lang="es-CL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1,5 mol de Al  →   X mol de Cl</a:t>
            </a:r>
            <a:r>
              <a:rPr lang="es-CL" altLang="es-CL" sz="24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</a:t>
            </a:r>
          </a:p>
        </p:txBody>
      </p:sp>
      <p:sp>
        <p:nvSpPr>
          <p:cNvPr id="8" name="Rectángulo 4">
            <a:extLst>
              <a:ext uri="{FF2B5EF4-FFF2-40B4-BE49-F238E27FC236}">
                <a16:creationId xmlns:a16="http://schemas.microsoft.com/office/drawing/2014/main" id="{249C3B23-501C-A744-A63E-DE71D237F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9775" y="3747256"/>
            <a:ext cx="3566439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6038">
              <a:lnSpc>
                <a:spcPct val="105000"/>
              </a:lnSpc>
              <a:spcAft>
                <a:spcPts val="800"/>
              </a:spcAft>
            </a:pPr>
            <a:r>
              <a:rPr lang="es-CL" altLang="es-CL" sz="2400" b="1" dirty="0">
                <a:solidFill>
                  <a:srgbClr val="0080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X =   2,25 mol de Cl</a:t>
            </a:r>
            <a:r>
              <a:rPr lang="es-CL" altLang="es-CL" sz="2400" b="1" baseline="-25000" dirty="0">
                <a:solidFill>
                  <a:srgbClr val="0080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</a:t>
            </a:r>
          </a:p>
        </p:txBody>
      </p:sp>
      <p:sp>
        <p:nvSpPr>
          <p:cNvPr id="9" name="Rectángulo 4">
            <a:extLst>
              <a:ext uri="{FF2B5EF4-FFF2-40B4-BE49-F238E27FC236}">
                <a16:creationId xmlns:a16="http://schemas.microsoft.com/office/drawing/2014/main" id="{3946D709-9E09-3A44-87AB-FA4CA8DCA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6312" y="2375770"/>
            <a:ext cx="5086349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6038">
              <a:lnSpc>
                <a:spcPct val="105000"/>
              </a:lnSpc>
              <a:spcAft>
                <a:spcPts val="800"/>
              </a:spcAft>
            </a:pPr>
            <a:r>
              <a:rPr lang="es-CL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 moles de Al  →  3 mol de Cl</a:t>
            </a:r>
            <a:r>
              <a:rPr lang="es-CL" altLang="es-CL" sz="24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5FC3FE6-25F8-4B92-B270-25410BAAAC03}"/>
              </a:ext>
            </a:extLst>
          </p:cNvPr>
          <p:cNvSpPr/>
          <p:nvPr/>
        </p:nvSpPr>
        <p:spPr>
          <a:xfrm>
            <a:off x="2088115" y="1191334"/>
            <a:ext cx="65854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altLang="es-CL" sz="36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2Al</a:t>
            </a:r>
            <a:r>
              <a:rPr lang="es-CL" altLang="es-CL" sz="36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(s)   </a:t>
            </a:r>
            <a:r>
              <a:rPr lang="es-CL" altLang="es-CL" sz="36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+ 3 Cl</a:t>
            </a:r>
            <a:r>
              <a:rPr lang="es-CL" altLang="es-CL" sz="36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sz="36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sz="36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(g) </a:t>
            </a:r>
            <a:r>
              <a:rPr lang="es-CL" altLang="es-CL" sz="36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→ 2 AlCl</a:t>
            </a:r>
            <a:r>
              <a:rPr lang="es-CL" altLang="es-CL" sz="36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CL" altLang="es-CL" sz="36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sz="36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(s)</a:t>
            </a:r>
            <a:r>
              <a:rPr lang="es-CL" altLang="es-CL" sz="36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endParaRPr lang="es-ES_tradnl" sz="3600" b="1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7629E4D-F8E0-41C4-8961-B841E175B8C7}"/>
              </a:ext>
            </a:extLst>
          </p:cNvPr>
          <p:cNvSpPr/>
          <p:nvPr/>
        </p:nvSpPr>
        <p:spPr>
          <a:xfrm>
            <a:off x="658803" y="297829"/>
            <a:ext cx="78196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b="1" i="1" dirty="0">
                <a:solidFill>
                  <a:srgbClr val="FF0000"/>
                </a:solidFill>
              </a:rPr>
              <a:t>Para determinar el reactivo limitante, se debe considerar aquel reactante que se consume completamente</a:t>
            </a:r>
            <a:r>
              <a:rPr lang="es-ES" sz="2400" dirty="0"/>
              <a:t>. </a:t>
            </a:r>
            <a:endParaRPr lang="es-CL" sz="240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2FA6DAB-B1CD-4739-9A0C-C23AEFE9F5CF}"/>
              </a:ext>
            </a:extLst>
          </p:cNvPr>
          <p:cNvSpPr/>
          <p:nvPr/>
        </p:nvSpPr>
        <p:spPr>
          <a:xfrm>
            <a:off x="269329" y="6029520"/>
            <a:ext cx="1056468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200" b="1" dirty="0">
                <a:solidFill>
                  <a:srgbClr val="0000FF"/>
                </a:solidFill>
                <a:highlight>
                  <a:srgbClr val="FFFF00"/>
                </a:highlight>
              </a:rPr>
              <a:t>Por lo tanto, el reactivo limitante de esta reacción es el Al y el reactivo en exceso es el Cl</a:t>
            </a:r>
            <a:r>
              <a:rPr lang="es-ES" sz="2200" b="1" baseline="-25000" dirty="0">
                <a:solidFill>
                  <a:srgbClr val="0000FF"/>
                </a:solidFill>
                <a:highlight>
                  <a:srgbClr val="FFFF00"/>
                </a:highlight>
              </a:rPr>
              <a:t>2</a:t>
            </a:r>
            <a:endParaRPr lang="es-CL" sz="2200" b="1" baseline="-25000" dirty="0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84730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z="2000" smtClean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pPr/>
              <a:t>27</a:t>
            </a:fld>
            <a:endParaRPr lang="es-CL" sz="200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7" name="Rectángulo 4">
            <a:extLst>
              <a:ext uri="{FF2B5EF4-FFF2-40B4-BE49-F238E27FC236}">
                <a16:creationId xmlns:a16="http://schemas.microsoft.com/office/drawing/2014/main" id="{F24972C2-9B19-374B-872D-2D58B6B709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983" y="2033154"/>
            <a:ext cx="5978753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6038">
              <a:lnSpc>
                <a:spcPct val="105000"/>
              </a:lnSpc>
              <a:spcAft>
                <a:spcPts val="800"/>
              </a:spcAft>
            </a:pPr>
            <a:r>
              <a:rPr lang="es-CL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1,5 moles de Al  →   X moles de AlCl</a:t>
            </a:r>
            <a:r>
              <a:rPr lang="es-CL" altLang="es-CL" sz="24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3</a:t>
            </a:r>
          </a:p>
        </p:txBody>
      </p:sp>
      <p:sp>
        <p:nvSpPr>
          <p:cNvPr id="12" name="Rectángulo 4">
            <a:extLst>
              <a:ext uri="{FF2B5EF4-FFF2-40B4-BE49-F238E27FC236}">
                <a16:creationId xmlns:a16="http://schemas.microsoft.com/office/drawing/2014/main" id="{81D9B735-B2E4-D945-BA41-368A080EF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575" y="2550414"/>
            <a:ext cx="4250977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6038">
              <a:lnSpc>
                <a:spcPct val="105000"/>
              </a:lnSpc>
              <a:spcAft>
                <a:spcPts val="800"/>
              </a:spcAft>
            </a:pPr>
            <a:r>
              <a:rPr lang="es-CL" altLang="es-CL" sz="2400" b="1" dirty="0">
                <a:solidFill>
                  <a:srgbClr val="0080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X=   1,5 moles de AlCl</a:t>
            </a:r>
            <a:r>
              <a:rPr lang="es-CL" altLang="es-CL" sz="2400" b="1" baseline="-25000" dirty="0">
                <a:solidFill>
                  <a:srgbClr val="0080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3</a:t>
            </a:r>
          </a:p>
        </p:txBody>
      </p:sp>
      <p:sp>
        <p:nvSpPr>
          <p:cNvPr id="13" name="Rectángulo 4">
            <a:extLst>
              <a:ext uri="{FF2B5EF4-FFF2-40B4-BE49-F238E27FC236}">
                <a16:creationId xmlns:a16="http://schemas.microsoft.com/office/drawing/2014/main" id="{10B6E843-0C9C-F640-B5F4-0F25B1CB2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4510" y="1405356"/>
            <a:ext cx="5803701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6038">
              <a:lnSpc>
                <a:spcPct val="105000"/>
              </a:lnSpc>
              <a:spcAft>
                <a:spcPts val="800"/>
              </a:spcAft>
            </a:pPr>
            <a:r>
              <a:rPr lang="es-CL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 moles de Al  →  2 moles de AlCl</a:t>
            </a:r>
            <a:r>
              <a:rPr lang="es-CL" altLang="es-CL" sz="24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3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0204038-7356-466D-B976-AAA00C44B56A}"/>
              </a:ext>
            </a:extLst>
          </p:cNvPr>
          <p:cNvSpPr/>
          <p:nvPr/>
        </p:nvSpPr>
        <p:spPr>
          <a:xfrm>
            <a:off x="631388" y="146616"/>
            <a:ext cx="5769528" cy="5155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  <a:spcBef>
                <a:spcPct val="0"/>
              </a:spcBef>
            </a:pPr>
            <a:r>
              <a:rPr lang="es-CL" altLang="es-CL" sz="2000" b="1" dirty="0">
                <a:solidFill>
                  <a:srgbClr val="4472C4">
                    <a:lumMod val="75000"/>
                  </a:srgb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b) </a:t>
            </a:r>
            <a:r>
              <a:rPr lang="es-CL" altLang="es-CL" sz="2000" dirty="0">
                <a:solidFill>
                  <a:srgbClr val="4472C4">
                    <a:lumMod val="75000"/>
                  </a:srgb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¿Cuántos gramos de sal (AlCl</a:t>
            </a:r>
            <a:r>
              <a:rPr lang="es-CL" altLang="es-CL" sz="2000" baseline="-25000" dirty="0">
                <a:solidFill>
                  <a:srgbClr val="4472C4">
                    <a:lumMod val="75000"/>
                  </a:srgb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CL" altLang="es-CL" sz="2000" dirty="0">
                <a:solidFill>
                  <a:srgbClr val="4472C4">
                    <a:lumMod val="75000"/>
                  </a:srgb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 se forman?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847F8EE-1181-4BE2-B68C-CD31AD3F1F21}"/>
              </a:ext>
            </a:extLst>
          </p:cNvPr>
          <p:cNvSpPr/>
          <p:nvPr/>
        </p:nvSpPr>
        <p:spPr>
          <a:xfrm>
            <a:off x="242505" y="742163"/>
            <a:ext cx="7920758" cy="5155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  <a:spcBef>
                <a:spcPct val="0"/>
              </a:spcBef>
            </a:pPr>
            <a:r>
              <a:rPr lang="es-CL" altLang="es-CL" sz="2000" b="1" dirty="0">
                <a:solidFill>
                  <a:srgbClr val="4472C4">
                    <a:lumMod val="75000"/>
                  </a:srgb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Ahora se debe expresar todo en relación al reactivo limitante</a:t>
            </a:r>
            <a:endParaRPr lang="es-CL" altLang="es-CL" sz="2000" dirty="0">
              <a:solidFill>
                <a:srgbClr val="4472C4">
                  <a:lumMod val="75000"/>
                </a:srgb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E9A018F-853D-4815-BE62-89BE8C4C3EF8}"/>
              </a:ext>
            </a:extLst>
          </p:cNvPr>
          <p:cNvSpPr/>
          <p:nvPr/>
        </p:nvSpPr>
        <p:spPr>
          <a:xfrm>
            <a:off x="385493" y="3302210"/>
            <a:ext cx="283231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sz="2000" b="1" dirty="0">
                <a:solidFill>
                  <a:srgbClr val="0000FF"/>
                </a:solidFill>
                <a:latin typeface="Calibri" panose="020F0502020204030204" pitchFamily="34" charset="0"/>
              </a:rPr>
              <a:t>Dato:</a:t>
            </a:r>
          </a:p>
          <a:p>
            <a:r>
              <a:rPr lang="es-CL" sz="2000" b="1" dirty="0">
                <a:solidFill>
                  <a:srgbClr val="0000FF"/>
                </a:solidFill>
                <a:latin typeface="Calibri" panose="020F0502020204030204" pitchFamily="34" charset="0"/>
              </a:rPr>
              <a:t>MM (AlCl</a:t>
            </a:r>
            <a:r>
              <a:rPr lang="es-CL" sz="2000" b="1" baseline="-25000" dirty="0">
                <a:solidFill>
                  <a:srgbClr val="0000FF"/>
                </a:solidFill>
                <a:latin typeface="Calibri" panose="020F0502020204030204" pitchFamily="34" charset="0"/>
              </a:rPr>
              <a:t>3</a:t>
            </a:r>
            <a:r>
              <a:rPr lang="es-CL" sz="2000" b="1" dirty="0">
                <a:solidFill>
                  <a:srgbClr val="0000FF"/>
                </a:solidFill>
                <a:latin typeface="Calibri" panose="020F0502020204030204" pitchFamily="34" charset="0"/>
              </a:rPr>
              <a:t>)=113,5 g/mol </a:t>
            </a:r>
            <a:endParaRPr lang="es-CL" sz="20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4">
                <a:extLst>
                  <a:ext uri="{FF2B5EF4-FFF2-40B4-BE49-F238E27FC236}">
                    <a16:creationId xmlns:a16="http://schemas.microsoft.com/office/drawing/2014/main" id="{E5ECE1A2-7C1D-4092-9E41-E7F3CE5CF1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6983" y="4204650"/>
                <a:ext cx="6056766" cy="672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4572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marL="46038">
                  <a:lnSpc>
                    <a:spcPct val="105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s-ES" altLang="es-CL" sz="2400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𝑴𝒂𝒔𝒂</m:t>
                    </m:r>
                    <m:r>
                      <a:rPr lang="es-ES" altLang="es-CL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(</m:t>
                    </m:r>
                    <m:r>
                      <a:rPr lang="es-ES" altLang="es-CL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𝑔</m:t>
                    </m:r>
                    <m:r>
                      <a:rPr lang="es-ES" altLang="es-CL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)</m:t>
                    </m:r>
                  </m:oMath>
                </a14:m>
                <a:r>
                  <a:rPr lang="es-ES" altLang="es-CL" sz="2400" b="1" i="1" dirty="0">
                    <a:solidFill>
                      <a:schemeClr val="accent1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Lucida Sans Unicode" panose="020B0602030504020204" pitchFamily="34" charset="0"/>
                  </a:rPr>
                  <a:t> = Mol </a:t>
                </a:r>
                <a:r>
                  <a:rPr lang="es-ES" altLang="es-CL" sz="2400" i="1" dirty="0">
                    <a:solidFill>
                      <a:schemeClr val="accent1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Lucida Sans Unicode" panose="020B0602030504020204" pitchFamily="34" charset="0"/>
                  </a:rPr>
                  <a:t>(n)</a:t>
                </a:r>
                <a14:m>
                  <m:oMath xmlns:m="http://schemas.openxmlformats.org/officeDocument/2006/math">
                    <m:r>
                      <a:rPr lang="es-ES" altLang="es-CL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 </m:t>
                    </m:r>
                    <m:r>
                      <a:rPr lang="es-ES" altLang="es-CL" sz="24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∗</m:t>
                    </m:r>
                    <m:r>
                      <a:rPr lang="es-ES" altLang="es-CL" sz="24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𝑴𝒂𝒔𝒂</m:t>
                    </m:r>
                    <m:r>
                      <a:rPr lang="es-ES" altLang="es-CL" sz="24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 </m:t>
                    </m:r>
                    <m:r>
                      <a:rPr lang="es-ES" altLang="es-CL" sz="24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𝑴𝒐𝒍𝒂𝒓</m:t>
                    </m:r>
                    <m:d>
                      <m:dPr>
                        <m:ctrlPr>
                          <a:rPr lang="es-ES" altLang="es-CL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ucida Sans Unicode" panose="020B060203050402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altLang="es-CL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Lucida Sans Unicode" panose="020B0602030504020204" pitchFamily="34" charset="0"/>
                              </a:rPr>
                            </m:ctrlPr>
                          </m:fPr>
                          <m:num>
                            <m:r>
                              <a:rPr lang="es-ES" altLang="es-CL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Lucida Sans Unicode" panose="020B0602030504020204" pitchFamily="34" charset="0"/>
                              </a:rPr>
                              <m:t>𝑔</m:t>
                            </m:r>
                          </m:num>
                          <m:den>
                            <m:r>
                              <a:rPr lang="es-ES" altLang="es-CL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Lucida Sans Unicode" panose="020B0602030504020204" pitchFamily="34" charset="0"/>
                              </a:rPr>
                              <m:t>𝑚𝑜𝑙</m:t>
                            </m:r>
                          </m:den>
                        </m:f>
                      </m:e>
                    </m:d>
                  </m:oMath>
                </a14:m>
                <a:endParaRPr lang="es-CL" altLang="es-CL" sz="2400" i="1" baseline="-25000" dirty="0">
                  <a:solidFill>
                    <a:schemeClr val="accent1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Lucida Sans Unicode" panose="020B0602030504020204" pitchFamily="34" charset="0"/>
                </a:endParaRPr>
              </a:p>
            </p:txBody>
          </p:sp>
        </mc:Choice>
        <mc:Fallback xmlns="">
          <p:sp>
            <p:nvSpPr>
              <p:cNvPr id="15" name="Rectángulo 4">
                <a:extLst>
                  <a:ext uri="{FF2B5EF4-FFF2-40B4-BE49-F238E27FC236}">
                    <a16:creationId xmlns:a16="http://schemas.microsoft.com/office/drawing/2014/main" id="{E5ECE1A2-7C1D-4092-9E41-E7F3CE5CF1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96983" y="4204650"/>
                <a:ext cx="6056766" cy="672685"/>
              </a:xfrm>
              <a:prstGeom prst="rect">
                <a:avLst/>
              </a:prstGeom>
              <a:blipFill>
                <a:blip r:embed="rId3"/>
                <a:stretch>
                  <a:fillRect b="-545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ángulo 4">
                <a:extLst>
                  <a:ext uri="{FF2B5EF4-FFF2-40B4-BE49-F238E27FC236}">
                    <a16:creationId xmlns:a16="http://schemas.microsoft.com/office/drawing/2014/main" id="{91CD8725-0519-4017-920E-4333811768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834" y="5070185"/>
                <a:ext cx="9856458" cy="672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4572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marL="46038">
                  <a:lnSpc>
                    <a:spcPct val="105000"/>
                  </a:lnSpc>
                  <a:spcAft>
                    <a:spcPts val="800"/>
                  </a:spcAft>
                </a:pPr>
                <a:r>
                  <a:rPr lang="es-CL" altLang="es-CL" sz="2400" dirty="0">
                    <a:solidFill>
                      <a:schemeClr val="accent1">
                        <a:lumMod val="75000"/>
                      </a:schemeClr>
                    </a:solidFill>
                    <a:latin typeface="Lucida Sans Unicode" panose="020B0602030504020204" pitchFamily="34" charset="0"/>
                    <a:ea typeface="Calibri" panose="020F0502020204030204" pitchFamily="34" charset="0"/>
                    <a:cs typeface="Lucida Sans Unicode" panose="020B0602030504020204" pitchFamily="34" charset="0"/>
                  </a:rPr>
                  <a:t>Masa AlCl</a:t>
                </a:r>
                <a:r>
                  <a:rPr lang="es-CL" altLang="es-CL" sz="2400" baseline="-25000" dirty="0">
                    <a:solidFill>
                      <a:schemeClr val="accent1">
                        <a:lumMod val="75000"/>
                      </a:schemeClr>
                    </a:solidFill>
                    <a:latin typeface="Lucida Sans Unicode" panose="020B0602030504020204" pitchFamily="34" charset="0"/>
                    <a:ea typeface="Calibri" panose="020F0502020204030204" pitchFamily="34" charset="0"/>
                    <a:cs typeface="Lucida Sans Unicode" panose="020B0602030504020204" pitchFamily="34" charset="0"/>
                  </a:rPr>
                  <a:t>3</a:t>
                </a:r>
                <a:r>
                  <a:rPr lang="es-CL" altLang="es-CL" sz="2400" dirty="0">
                    <a:solidFill>
                      <a:schemeClr val="accent1">
                        <a:lumMod val="75000"/>
                      </a:schemeClr>
                    </a:solidFill>
                    <a:latin typeface="Lucida Sans Unicode" panose="020B0602030504020204" pitchFamily="34" charset="0"/>
                    <a:ea typeface="Calibri" panose="020F0502020204030204" pitchFamily="34" charset="0"/>
                    <a:cs typeface="Lucida Sans Unicode" panose="020B0602030504020204" pitchFamily="34" charset="0"/>
                  </a:rPr>
                  <a:t> = 1,5</a:t>
                </a:r>
                <a14:m>
                  <m:oMath xmlns:m="http://schemas.openxmlformats.org/officeDocument/2006/math">
                    <m:r>
                      <a:rPr lang="es-ES" altLang="es-CL" sz="24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s-ES" altLang="es-CL" sz="24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moles</m:t>
                    </m:r>
                    <m:r>
                      <a:rPr lang="es-ES" altLang="es-CL" sz="24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s-ES" altLang="es-CL" sz="24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de</m:t>
                    </m:r>
                    <m:r>
                      <a:rPr lang="es-ES" altLang="es-CL" sz="24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s-ES" altLang="es-CL" sz="24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AlCl</m:t>
                    </m:r>
                    <m:r>
                      <a:rPr lang="es-ES" altLang="es-CL" sz="2400" b="0" i="0" baseline="-2500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3</m:t>
                    </m:r>
                    <m:r>
                      <a:rPr lang="es-ES" altLang="es-CL" sz="24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∗</m:t>
                    </m:r>
                    <m:r>
                      <a:rPr lang="es-ES" altLang="es-CL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113,5</m:t>
                    </m:r>
                    <m:d>
                      <m:dPr>
                        <m:ctrlPr>
                          <a:rPr lang="es-ES" altLang="es-CL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ucida Sans Unicode" panose="020B060203050402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altLang="es-CL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Lucida Sans Unicode" panose="020B0602030504020204" pitchFamily="34" charset="0"/>
                              </a:rPr>
                            </m:ctrlPr>
                          </m:fPr>
                          <m:num>
                            <m:r>
                              <a:rPr lang="es-ES" altLang="es-CL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Lucida Sans Unicode" panose="020B0602030504020204" pitchFamily="34" charset="0"/>
                              </a:rPr>
                              <m:t>𝑔</m:t>
                            </m:r>
                          </m:num>
                          <m:den>
                            <m:r>
                              <a:rPr lang="es-ES" altLang="es-CL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Lucida Sans Unicode" panose="020B0602030504020204" pitchFamily="34" charset="0"/>
                              </a:rPr>
                              <m:t>𝑚𝑜𝑙</m:t>
                            </m:r>
                          </m:den>
                        </m:f>
                      </m:e>
                    </m:d>
                    <m:r>
                      <a:rPr lang="es-ES" altLang="es-CL" sz="24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=</m:t>
                    </m:r>
                    <m:r>
                      <a:rPr lang="es-ES" altLang="es-CL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𝟏𝟕𝟎</m:t>
                    </m:r>
                    <m:r>
                      <a:rPr lang="es-ES" altLang="es-CL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,</m:t>
                    </m:r>
                    <m:r>
                      <a:rPr lang="es-ES" altLang="es-CL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𝟐𝟓</m:t>
                    </m:r>
                    <m:r>
                      <a:rPr lang="es-ES" altLang="es-CL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 </m:t>
                    </m:r>
                    <m:r>
                      <a:rPr lang="es-ES" altLang="es-CL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𝒈</m:t>
                    </m:r>
                    <m:r>
                      <a:rPr lang="es-ES" altLang="es-CL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 </m:t>
                    </m:r>
                    <m:r>
                      <a:rPr lang="es-ES" altLang="es-CL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𝒅𝒆</m:t>
                    </m:r>
                    <m:r>
                      <a:rPr lang="es-ES" altLang="es-CL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 </m:t>
                    </m:r>
                    <m:r>
                      <a:rPr lang="es-ES" altLang="es-CL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𝑨𝒍𝑪𝒍</m:t>
                    </m:r>
                    <m:r>
                      <a:rPr lang="es-ES" altLang="es-CL" sz="2400" b="1" i="1" baseline="-25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𝟑</m:t>
                    </m:r>
                    <m:r>
                      <a:rPr lang="es-ES" altLang="es-CL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 </m:t>
                    </m:r>
                  </m:oMath>
                </a14:m>
                <a:endParaRPr lang="es-CL" altLang="es-CL" sz="2400" b="1" i="1" baseline="-25000" dirty="0">
                  <a:solidFill>
                    <a:schemeClr val="accent1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Lucida Sans Unicode" panose="020B0602030504020204" pitchFamily="34" charset="0"/>
                </a:endParaRPr>
              </a:p>
            </p:txBody>
          </p:sp>
        </mc:Choice>
        <mc:Fallback xmlns="">
          <p:sp>
            <p:nvSpPr>
              <p:cNvPr id="16" name="Rectángulo 4">
                <a:extLst>
                  <a:ext uri="{FF2B5EF4-FFF2-40B4-BE49-F238E27FC236}">
                    <a16:creationId xmlns:a16="http://schemas.microsoft.com/office/drawing/2014/main" id="{91CD8725-0519-4017-920E-4333811768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8834" y="5070185"/>
                <a:ext cx="9856458" cy="672685"/>
              </a:xfrm>
              <a:prstGeom prst="rect">
                <a:avLst/>
              </a:prstGeom>
              <a:blipFill>
                <a:blip r:embed="rId4"/>
                <a:stretch>
                  <a:fillRect l="-495" b="-1090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87892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s-CL" sz="2000" smtClean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pPr algn="ctr"/>
              <a:t>28</a:t>
            </a:fld>
            <a:endParaRPr lang="es-CL" sz="20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A5B10B2-2873-5F4D-B732-D2A589EE09C6}"/>
              </a:ext>
            </a:extLst>
          </p:cNvPr>
          <p:cNvSpPr txBox="1"/>
          <p:nvPr/>
        </p:nvSpPr>
        <p:spPr>
          <a:xfrm>
            <a:off x="1059119" y="3057902"/>
            <a:ext cx="10593823" cy="995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5867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Ejercicios Propuestos</a:t>
            </a:r>
          </a:p>
        </p:txBody>
      </p:sp>
      <p:grpSp>
        <p:nvGrpSpPr>
          <p:cNvPr id="6" name="Shape 627"/>
          <p:cNvGrpSpPr/>
          <p:nvPr/>
        </p:nvGrpSpPr>
        <p:grpSpPr>
          <a:xfrm>
            <a:off x="5623014" y="1377791"/>
            <a:ext cx="949919" cy="978720"/>
            <a:chOff x="3951850" y="2985350"/>
            <a:chExt cx="407950" cy="416500"/>
          </a:xfrm>
        </p:grpSpPr>
        <p:sp>
          <p:nvSpPr>
            <p:cNvPr id="7" name="Shape 628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0" t="0" r="0" b="0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" name="Shape 629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0" t="0" r="0" b="0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Shape 630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0" t="0" r="0" b="0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Shape 631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0" t="0" r="0" b="0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706" y="135466"/>
            <a:ext cx="2116765" cy="1058383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05DE5F4C-A7D9-044F-A3FE-1494ECDBDC11}"/>
              </a:ext>
            </a:extLst>
          </p:cNvPr>
          <p:cNvSpPr txBox="1"/>
          <p:nvPr/>
        </p:nvSpPr>
        <p:spPr>
          <a:xfrm>
            <a:off x="4592729" y="4754502"/>
            <a:ext cx="74457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6. Estequiometría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A456DCC-DE86-CC4B-8BCC-48B7915FD1F1}"/>
              </a:ext>
            </a:extLst>
          </p:cNvPr>
          <p:cNvSpPr txBox="1"/>
          <p:nvPr/>
        </p:nvSpPr>
        <p:spPr>
          <a:xfrm>
            <a:off x="692211" y="431702"/>
            <a:ext cx="35087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I</a:t>
            </a:r>
          </a:p>
        </p:txBody>
      </p:sp>
    </p:spTree>
    <p:extLst>
      <p:ext uri="{BB962C8B-B14F-4D97-AF65-F5344CB8AC3E}">
        <p14:creationId xmlns:p14="http://schemas.microsoft.com/office/powerpoint/2010/main" val="1660237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79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z="2000" smtClean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pPr/>
              <a:t>29</a:t>
            </a:fld>
            <a:endParaRPr lang="es-CL" sz="200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56A5231C-4ABE-1349-BF46-20BC63DC0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202" y="662142"/>
            <a:ext cx="9131998" cy="5316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_tradnl" sz="2000" b="1" dirty="0">
                <a:solidFill>
                  <a:srgbClr val="797979"/>
                </a:solidFill>
                <a:latin typeface="Lucida Sans Unicode"/>
              </a:rPr>
              <a:t>1.- </a:t>
            </a: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Uno de los pasos del proceso comercial para convertir el amoniaco en ácido nítrico, comprende la oxidación catalítica del NH</a:t>
            </a:r>
            <a:r>
              <a:rPr lang="es-CL" altLang="es-CL" sz="20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a NO: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CL" altLang="es-CL" sz="2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CL" altLang="es-CL" sz="28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4 NH</a:t>
            </a:r>
            <a:r>
              <a:rPr lang="es-CL" altLang="es-CL" sz="28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3(g) </a:t>
            </a:r>
            <a:r>
              <a:rPr lang="es-CL" altLang="es-CL" sz="28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+ 5O</a:t>
            </a:r>
            <a:r>
              <a:rPr lang="es-CL" altLang="es-CL" sz="28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2(g)</a:t>
            </a:r>
            <a:r>
              <a:rPr lang="es-CL" altLang="es-CL" sz="28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→ 4NO</a:t>
            </a:r>
            <a:r>
              <a:rPr lang="es-CL" altLang="es-CL" sz="28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(g) </a:t>
            </a:r>
            <a:r>
              <a:rPr lang="es-CL" altLang="es-CL" sz="28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+ 6 H</a:t>
            </a:r>
            <a:r>
              <a:rPr lang="es-CL" altLang="es-CL" sz="28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sz="28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</a:t>
            </a:r>
            <a:r>
              <a:rPr lang="es-CL" altLang="es-CL" sz="2800" b="1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(g)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CL" altLang="es-CL" sz="2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CL" altLang="es-CL" sz="2000" b="1" dirty="0">
                <a:solidFill>
                  <a:schemeClr val="bg1">
                    <a:lumMod val="6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a) </a:t>
            </a: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¿Cuántos gramos de NO se forman por la reacción completa de 2,5 g de NH</a:t>
            </a:r>
            <a:r>
              <a:rPr lang="es-CL" altLang="es-CL" sz="20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CL" altLang="es-CL" sz="2000" b="1" dirty="0">
                <a:solidFill>
                  <a:schemeClr val="bg1">
                    <a:lumMod val="6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b) </a:t>
            </a: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¿Cuántos gramos de O</a:t>
            </a:r>
            <a:r>
              <a:rPr lang="es-CL" altLang="es-CL" sz="20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se requieren para reaccionar con 2,5 g de NH</a:t>
            </a:r>
            <a:r>
              <a:rPr lang="es-CL" altLang="es-CL" sz="20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CL" altLang="es-CL" sz="2000" b="1" dirty="0">
                <a:solidFill>
                  <a:schemeClr val="bg1">
                    <a:lumMod val="6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c) </a:t>
            </a: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¿Cuántos gramos de NO se forman cuando 1,5 g de NH</a:t>
            </a:r>
            <a:r>
              <a:rPr lang="es-CL" altLang="es-CL" sz="20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reaccionan con 1 g de O</a:t>
            </a:r>
            <a:r>
              <a:rPr lang="es-CL" altLang="es-CL" sz="20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269503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79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z="2000" smtClean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pPr/>
              <a:t>30</a:t>
            </a:fld>
            <a:endParaRPr lang="es-CL" sz="20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56A5231C-4ABE-1349-BF46-20BC63DC0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602" y="662142"/>
            <a:ext cx="9284398" cy="190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CL" altLang="es-CL" sz="2000" b="1" dirty="0">
                <a:solidFill>
                  <a:schemeClr val="bg1">
                    <a:lumMod val="6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d) </a:t>
            </a: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En la parte c) ¿Cuál de los reactivos es el limitante y cuál es el que está en exceso?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CL" altLang="es-CL" sz="2000" b="1" dirty="0">
                <a:solidFill>
                  <a:schemeClr val="bg1">
                    <a:lumMod val="6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e) </a:t>
            </a: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En la parte c) ¿Cuánto reactivo en exceso permanece después que el limitante se ha consumido completamente?</a:t>
            </a:r>
          </a:p>
        </p:txBody>
      </p:sp>
    </p:spTree>
    <p:extLst>
      <p:ext uri="{BB962C8B-B14F-4D97-AF65-F5344CB8AC3E}">
        <p14:creationId xmlns:p14="http://schemas.microsoft.com/office/powerpoint/2010/main" val="38495251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s-CL" sz="2000" smtClean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pPr algn="ctr"/>
              <a:t>31</a:t>
            </a:fld>
            <a:endParaRPr lang="es-CL" sz="200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EAEEBA65-F4E6-CA4F-BCBC-89B74A2B90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56EF4F04-C2EE-E843-A538-78F792225618}"/>
              </a:ext>
            </a:extLst>
          </p:cNvPr>
          <p:cNvSpPr txBox="1"/>
          <p:nvPr/>
        </p:nvSpPr>
        <p:spPr>
          <a:xfrm>
            <a:off x="4650303" y="4786057"/>
            <a:ext cx="74457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6. Estequiometría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F0A3067-708F-2C4B-B3C4-8E3999F7B05C}"/>
              </a:ext>
            </a:extLst>
          </p:cNvPr>
          <p:cNvSpPr txBox="1"/>
          <p:nvPr/>
        </p:nvSpPr>
        <p:spPr>
          <a:xfrm>
            <a:off x="4595746" y="340242"/>
            <a:ext cx="35087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I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83A0D7D-52B9-104D-B524-E1F8E960B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058" y="1908675"/>
            <a:ext cx="64008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0262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z="200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pPr/>
              <a:t>32</a:t>
            </a:fld>
            <a:endParaRPr lang="es-CL" sz="200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5" name="Rectángulo 1">
            <a:extLst>
              <a:ext uri="{FF2B5EF4-FFF2-40B4-BE49-F238E27FC236}">
                <a16:creationId xmlns:a16="http://schemas.microsoft.com/office/drawing/2014/main" id="{EAD0CA72-2F66-B849-8E85-3B4557B0D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319" y="383244"/>
            <a:ext cx="568136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s-CL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Rendimiento de la Reacción</a:t>
            </a:r>
          </a:p>
        </p:txBody>
      </p:sp>
      <p:sp>
        <p:nvSpPr>
          <p:cNvPr id="6" name="CuadroTexto 2">
            <a:extLst>
              <a:ext uri="{FF2B5EF4-FFF2-40B4-BE49-F238E27FC236}">
                <a16:creationId xmlns:a16="http://schemas.microsoft.com/office/drawing/2014/main" id="{E2D22D6E-37D8-FF48-B36D-778791994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319" y="1588419"/>
            <a:ext cx="9037881" cy="1295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CL" altLang="es-CL" sz="18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La cantidad de producto que se formará cuando todo el reactivo limitante ha reaccionado se denomina </a:t>
            </a:r>
            <a:r>
              <a:rPr lang="es-CL" altLang="es-CL" sz="18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rendimiento teórico</a:t>
            </a:r>
            <a:r>
              <a:rPr lang="es-CL" altLang="es-CL" sz="18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. La cantidad de producto que realmente se obtiene en una reacción se llama </a:t>
            </a:r>
            <a:r>
              <a:rPr lang="es-CL" altLang="es-CL" sz="18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rendimiento rea</a:t>
            </a:r>
            <a:r>
              <a:rPr lang="es-CL" altLang="es-CL" sz="18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4">
                <a:extLst>
                  <a:ext uri="{FF2B5EF4-FFF2-40B4-BE49-F238E27FC236}">
                    <a16:creationId xmlns:a16="http://schemas.microsoft.com/office/drawing/2014/main" id="{8593D5FE-06AA-3447-A057-BFE60EB910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365" y="3504687"/>
                <a:ext cx="9577915" cy="750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4572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marL="46038">
                  <a:lnSpc>
                    <a:spcPct val="105000"/>
                  </a:lnSpc>
                  <a:spcAft>
                    <a:spcPts val="800"/>
                  </a:spcAft>
                </a:pPr>
                <a:r>
                  <a:rPr lang="es-ES" altLang="es-CL" sz="2800" b="1" i="1" dirty="0">
                    <a:solidFill>
                      <a:srgbClr val="008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Lucida Sans Unicode" panose="020B0602030504020204" pitchFamily="34" charset="0"/>
                  </a:rPr>
                  <a:t>R</a:t>
                </a:r>
                <a14:m>
                  <m:oMath xmlns:m="http://schemas.openxmlformats.org/officeDocument/2006/math">
                    <m:r>
                      <a:rPr lang="es-ES" altLang="es-CL" sz="2800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𝒆𝒏𝒅𝒊𝒎𝒊𝒆𝒏𝒕𝒐</m:t>
                    </m:r>
                    <m:r>
                      <a:rPr lang="es-ES" altLang="es-CL" sz="2800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 </m:t>
                    </m:r>
                    <m:r>
                      <a:rPr lang="es-ES" altLang="es-CL" sz="2800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𝒅𝒆</m:t>
                    </m:r>
                    <m:r>
                      <a:rPr lang="es-ES" altLang="es-CL" sz="2800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 </m:t>
                    </m:r>
                    <m:r>
                      <a:rPr lang="es-ES" altLang="es-CL" sz="2800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𝒍𝒂</m:t>
                    </m:r>
                    <m:r>
                      <a:rPr lang="es-ES" altLang="es-CL" sz="2800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 </m:t>
                    </m:r>
                    <m:r>
                      <a:rPr lang="es-ES" altLang="es-CL" sz="2800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𝒓𝒆𝒂𝒄𝒄𝒊</m:t>
                    </m:r>
                    <m:r>
                      <a:rPr lang="es-ES" altLang="es-CL" sz="2800" b="1" i="1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ó</m:t>
                    </m:r>
                    <m:r>
                      <a:rPr lang="es-ES" altLang="es-CL" sz="2800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𝒏</m:t>
                    </m:r>
                    <m:r>
                      <a:rPr lang="es-ES" altLang="es-CL" sz="28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=</m:t>
                    </m:r>
                    <m:r>
                      <a:rPr lang="es-ES" altLang="es-CL" sz="28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 </m:t>
                    </m:r>
                    <m:f>
                      <m:fPr>
                        <m:ctrlPr>
                          <a:rPr lang="es-ES" altLang="es-CL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Lucida Sans Unicode" panose="020B0602030504020204" pitchFamily="34" charset="0"/>
                          </a:rPr>
                        </m:ctrlPr>
                      </m:fPr>
                      <m:num>
                        <m:r>
                          <a:rPr lang="es-ES" altLang="es-CL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Lucida Sans Unicode" panose="020B0602030504020204" pitchFamily="34" charset="0"/>
                          </a:rPr>
                          <m:t>𝑅𝑒𝑛𝑑𝑖𝑚𝑖𝑒𝑛𝑡𝑜</m:t>
                        </m:r>
                        <m:r>
                          <a:rPr lang="es-ES" altLang="es-CL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Lucida Sans Unicode" panose="020B0602030504020204" pitchFamily="34" charset="0"/>
                          </a:rPr>
                          <m:t> </m:t>
                        </m:r>
                        <m:r>
                          <a:rPr lang="es-ES" altLang="es-CL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Lucida Sans Unicode" panose="020B0602030504020204" pitchFamily="34" charset="0"/>
                          </a:rPr>
                          <m:t>𝑅𝑒𝑎𝑙</m:t>
                        </m:r>
                      </m:num>
                      <m:den>
                        <m:r>
                          <a:rPr lang="es-ES" altLang="es-CL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Lucida Sans Unicode" panose="020B0602030504020204" pitchFamily="34" charset="0"/>
                          </a:rPr>
                          <m:t>𝑅𝑒𝑛𝑑𝑖𝑚𝑖𝑒𝑛𝑡𝑜</m:t>
                        </m:r>
                        <m:r>
                          <a:rPr lang="es-ES" altLang="es-CL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Lucida Sans Unicode" panose="020B0602030504020204" pitchFamily="34" charset="0"/>
                          </a:rPr>
                          <m:t> </m:t>
                        </m:r>
                        <m:r>
                          <a:rPr lang="es-ES" altLang="es-CL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Lucida Sans Unicode" panose="020B0602030504020204" pitchFamily="34" charset="0"/>
                          </a:rPr>
                          <m:t>𝑇𝑒</m:t>
                        </m:r>
                        <m:r>
                          <a:rPr lang="es-ES" altLang="es-CL" sz="28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Lucida Sans Unicode" panose="020B0602030504020204" pitchFamily="34" charset="0"/>
                          </a:rPr>
                          <m:t>ó</m:t>
                        </m:r>
                        <m:r>
                          <a:rPr lang="es-ES" altLang="es-CL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Lucida Sans Unicode" panose="020B0602030504020204" pitchFamily="34" charset="0"/>
                          </a:rPr>
                          <m:t>𝑟𝑖𝑐𝑜</m:t>
                        </m:r>
                      </m:den>
                    </m:f>
                    <m:r>
                      <a:rPr lang="es-ES" altLang="es-CL" sz="28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Lucida Sans Unicode" panose="020B0602030504020204" pitchFamily="34" charset="0"/>
                      </a:rPr>
                      <m:t>∗100</m:t>
                    </m:r>
                  </m:oMath>
                </a14:m>
                <a:endParaRPr lang="es-CL" altLang="es-CL" sz="2800" b="1" baseline="-25000" dirty="0">
                  <a:solidFill>
                    <a:schemeClr val="accent1">
                      <a:lumMod val="75000"/>
                    </a:schemeClr>
                  </a:solidFill>
                  <a:latin typeface="Lucida Sans Unicode" panose="020B0602030504020204" pitchFamily="34" charset="0"/>
                  <a:ea typeface="Calibri" panose="020F0502020204030204" pitchFamily="34" charset="0"/>
                  <a:cs typeface="Lucida Sans Unicode" panose="020B0602030504020204" pitchFamily="34" charset="0"/>
                </a:endParaRPr>
              </a:p>
            </p:txBody>
          </p:sp>
        </mc:Choice>
        <mc:Fallback xmlns="">
          <p:sp>
            <p:nvSpPr>
              <p:cNvPr id="8" name="Rectángulo 4">
                <a:extLst>
                  <a:ext uri="{FF2B5EF4-FFF2-40B4-BE49-F238E27FC236}">
                    <a16:creationId xmlns:a16="http://schemas.microsoft.com/office/drawing/2014/main" id="{8593D5FE-06AA-3447-A057-BFE60EB910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1365" y="3504687"/>
                <a:ext cx="9577915" cy="750334"/>
              </a:xfrm>
              <a:prstGeom prst="rect">
                <a:avLst/>
              </a:prstGeom>
              <a:blipFill>
                <a:blip r:embed="rId3"/>
                <a:stretch>
                  <a:fillRect l="-827" b="-81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01853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z="2000" smtClean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pPr/>
              <a:t>33</a:t>
            </a:fld>
            <a:endParaRPr lang="es-CL" sz="20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A5B10B2-2873-5F4D-B732-D2A589EE09C6}"/>
              </a:ext>
            </a:extLst>
          </p:cNvPr>
          <p:cNvSpPr txBox="1"/>
          <p:nvPr/>
        </p:nvSpPr>
        <p:spPr>
          <a:xfrm>
            <a:off x="2027436" y="2931560"/>
            <a:ext cx="7780961" cy="995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5867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Ejercicios</a:t>
            </a:r>
          </a:p>
        </p:txBody>
      </p:sp>
      <p:grpSp>
        <p:nvGrpSpPr>
          <p:cNvPr id="4" name="Shape 257">
            <a:extLst>
              <a:ext uri="{FF2B5EF4-FFF2-40B4-BE49-F238E27FC236}">
                <a16:creationId xmlns:a16="http://schemas.microsoft.com/office/drawing/2014/main" id="{04B9F9FE-CAD3-B543-8CDF-E1698D657268}"/>
              </a:ext>
            </a:extLst>
          </p:cNvPr>
          <p:cNvGrpSpPr/>
          <p:nvPr/>
        </p:nvGrpSpPr>
        <p:grpSpPr>
          <a:xfrm>
            <a:off x="5125820" y="1447365"/>
            <a:ext cx="1171845" cy="1045591"/>
            <a:chOff x="5233525" y="4954450"/>
            <a:chExt cx="538275" cy="516350"/>
          </a:xfrm>
        </p:grpSpPr>
        <p:sp>
          <p:nvSpPr>
            <p:cNvPr id="5" name="Shape 258">
              <a:extLst>
                <a:ext uri="{FF2B5EF4-FFF2-40B4-BE49-F238E27FC236}">
                  <a16:creationId xmlns:a16="http://schemas.microsoft.com/office/drawing/2014/main" id="{3E8DF75F-16CC-044D-B3EB-21E22FDE5D71}"/>
                </a:ext>
              </a:extLst>
            </p:cNvPr>
            <p:cNvSpPr/>
            <p:nvPr/>
          </p:nvSpPr>
          <p:spPr>
            <a:xfrm>
              <a:off x="5637825" y="4954450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" name="Shape 259">
              <a:extLst>
                <a:ext uri="{FF2B5EF4-FFF2-40B4-BE49-F238E27FC236}">
                  <a16:creationId xmlns:a16="http://schemas.microsoft.com/office/drawing/2014/main" id="{00E51DBF-8113-B84A-A35D-3F18272B4179}"/>
                </a:ext>
              </a:extLst>
            </p:cNvPr>
            <p:cNvSpPr/>
            <p:nvPr/>
          </p:nvSpPr>
          <p:spPr>
            <a:xfrm>
              <a:off x="5323025" y="4980625"/>
              <a:ext cx="88925" cy="88925"/>
            </a:xfrm>
            <a:custGeom>
              <a:avLst/>
              <a:gdLst/>
              <a:ahLst/>
              <a:cxnLst/>
              <a:rect l="0" t="0" r="0" b="0"/>
              <a:pathLst>
                <a:path w="3557" h="3557" fill="none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" name="Shape 260">
              <a:extLst>
                <a:ext uri="{FF2B5EF4-FFF2-40B4-BE49-F238E27FC236}">
                  <a16:creationId xmlns:a16="http://schemas.microsoft.com/office/drawing/2014/main" id="{05CBC384-9B02-6C47-A556-79B0CE94ACE9}"/>
                </a:ext>
              </a:extLst>
            </p:cNvPr>
            <p:cNvSpPr/>
            <p:nvPr/>
          </p:nvSpPr>
          <p:spPr>
            <a:xfrm>
              <a:off x="5233525" y="5255225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" name="Shape 261">
              <a:extLst>
                <a:ext uri="{FF2B5EF4-FFF2-40B4-BE49-F238E27FC236}">
                  <a16:creationId xmlns:a16="http://schemas.microsoft.com/office/drawing/2014/main" id="{7CB79486-E909-DD4B-8865-6C314698F68D}"/>
                </a:ext>
              </a:extLst>
            </p:cNvPr>
            <p:cNvSpPr/>
            <p:nvPr/>
          </p:nvSpPr>
          <p:spPr>
            <a:xfrm>
              <a:off x="5453325" y="5382475"/>
              <a:ext cx="88925" cy="88325"/>
            </a:xfrm>
            <a:custGeom>
              <a:avLst/>
              <a:gdLst/>
              <a:ahLst/>
              <a:cxnLst/>
              <a:rect l="0" t="0" r="0" b="0"/>
              <a:pathLst>
                <a:path w="3557" h="3533" fill="none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Shape 262">
              <a:extLst>
                <a:ext uri="{FF2B5EF4-FFF2-40B4-BE49-F238E27FC236}">
                  <a16:creationId xmlns:a16="http://schemas.microsoft.com/office/drawing/2014/main" id="{BAF265E0-CBE6-4040-907F-05F1F377C216}"/>
                </a:ext>
              </a:extLst>
            </p:cNvPr>
            <p:cNvSpPr/>
            <p:nvPr/>
          </p:nvSpPr>
          <p:spPr>
            <a:xfrm>
              <a:off x="5682875" y="5188875"/>
              <a:ext cx="88925" cy="89525"/>
            </a:xfrm>
            <a:custGeom>
              <a:avLst/>
              <a:gdLst/>
              <a:ahLst/>
              <a:cxnLst/>
              <a:rect l="0" t="0" r="0" b="0"/>
              <a:pathLst>
                <a:path w="3557" h="3581" fill="none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Shape 263">
              <a:extLst>
                <a:ext uri="{FF2B5EF4-FFF2-40B4-BE49-F238E27FC236}">
                  <a16:creationId xmlns:a16="http://schemas.microsoft.com/office/drawing/2014/main" id="{86187FDB-D2A0-B342-A64D-09F3799BCEDF}"/>
                </a:ext>
              </a:extLst>
            </p:cNvPr>
            <p:cNvSpPr/>
            <p:nvPr/>
          </p:nvSpPr>
          <p:spPr>
            <a:xfrm>
              <a:off x="5411925" y="5110925"/>
              <a:ext cx="188775" cy="189400"/>
            </a:xfrm>
            <a:custGeom>
              <a:avLst/>
              <a:gdLst/>
              <a:ahLst/>
              <a:cxnLst/>
              <a:rect l="0" t="0" r="0" b="0"/>
              <a:pathLst>
                <a:path w="7551" h="7576" fill="none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" name="Shape 264">
              <a:extLst>
                <a:ext uri="{FF2B5EF4-FFF2-40B4-BE49-F238E27FC236}">
                  <a16:creationId xmlns:a16="http://schemas.microsoft.com/office/drawing/2014/main" id="{82924474-FA90-8C42-A57C-5842FE291D36}"/>
                </a:ext>
              </a:extLst>
            </p:cNvPr>
            <p:cNvSpPr/>
            <p:nvPr/>
          </p:nvSpPr>
          <p:spPr>
            <a:xfrm>
              <a:off x="5367475" y="5025075"/>
              <a:ext cx="81600" cy="105975"/>
            </a:xfrm>
            <a:custGeom>
              <a:avLst/>
              <a:gdLst/>
              <a:ahLst/>
              <a:cxnLst/>
              <a:rect l="0" t="0" r="0" b="0"/>
              <a:pathLst>
                <a:path w="3264" h="4239" fill="none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" name="Shape 265">
              <a:extLst>
                <a:ext uri="{FF2B5EF4-FFF2-40B4-BE49-F238E27FC236}">
                  <a16:creationId xmlns:a16="http://schemas.microsoft.com/office/drawing/2014/main" id="{D426B43C-121B-804D-A231-BA36FA3616A2}"/>
                </a:ext>
              </a:extLst>
            </p:cNvPr>
            <p:cNvSpPr/>
            <p:nvPr/>
          </p:nvSpPr>
          <p:spPr>
            <a:xfrm>
              <a:off x="5567800" y="4999500"/>
              <a:ext cx="115100" cy="133975"/>
            </a:xfrm>
            <a:custGeom>
              <a:avLst/>
              <a:gdLst/>
              <a:ahLst/>
              <a:cxnLst/>
              <a:rect l="0" t="0" r="0" b="0"/>
              <a:pathLst>
                <a:path w="4604" h="5359" fill="none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" name="Shape 266">
              <a:extLst>
                <a:ext uri="{FF2B5EF4-FFF2-40B4-BE49-F238E27FC236}">
                  <a16:creationId xmlns:a16="http://schemas.microsoft.com/office/drawing/2014/main" id="{00D2FF67-53FB-234F-B3A8-8CFDF5C33ECF}"/>
                </a:ext>
              </a:extLst>
            </p:cNvPr>
            <p:cNvSpPr/>
            <p:nvPr/>
          </p:nvSpPr>
          <p:spPr>
            <a:xfrm>
              <a:off x="5600075" y="5217475"/>
              <a:ext cx="127275" cy="16475"/>
            </a:xfrm>
            <a:custGeom>
              <a:avLst/>
              <a:gdLst/>
              <a:ahLst/>
              <a:cxnLst/>
              <a:rect l="0" t="0" r="0" b="0"/>
              <a:pathLst>
                <a:path w="5091" h="659" fill="none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" name="Shape 267">
              <a:extLst>
                <a:ext uri="{FF2B5EF4-FFF2-40B4-BE49-F238E27FC236}">
                  <a16:creationId xmlns:a16="http://schemas.microsoft.com/office/drawing/2014/main" id="{3F48E860-50C8-9B4E-B0BD-C55D0C2FE270}"/>
                </a:ext>
              </a:extLst>
            </p:cNvPr>
            <p:cNvSpPr/>
            <p:nvPr/>
          </p:nvSpPr>
          <p:spPr>
            <a:xfrm>
              <a:off x="5497775" y="5299675"/>
              <a:ext cx="4900" cy="126675"/>
            </a:xfrm>
            <a:custGeom>
              <a:avLst/>
              <a:gdLst/>
              <a:ahLst/>
              <a:cxnLst/>
              <a:rect l="0" t="0" r="0" b="0"/>
              <a:pathLst>
                <a:path w="196" h="5067" fill="none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" name="Shape 268">
              <a:extLst>
                <a:ext uri="{FF2B5EF4-FFF2-40B4-BE49-F238E27FC236}">
                  <a16:creationId xmlns:a16="http://schemas.microsoft.com/office/drawing/2014/main" id="{AC1A6B39-DB16-724E-A189-8011253BEA2F}"/>
                </a:ext>
              </a:extLst>
            </p:cNvPr>
            <p:cNvSpPr/>
            <p:nvPr/>
          </p:nvSpPr>
          <p:spPr>
            <a:xfrm>
              <a:off x="5277975" y="5241825"/>
              <a:ext cx="141275" cy="58500"/>
            </a:xfrm>
            <a:custGeom>
              <a:avLst/>
              <a:gdLst/>
              <a:ahLst/>
              <a:cxnLst/>
              <a:rect l="0" t="0" r="0" b="0"/>
              <a:pathLst>
                <a:path w="5651" h="2340" fill="none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pic>
        <p:nvPicPr>
          <p:cNvPr id="16" name="Imagen 15">
            <a:extLst>
              <a:ext uri="{FF2B5EF4-FFF2-40B4-BE49-F238E27FC236}">
                <a16:creationId xmlns:a16="http://schemas.microsoft.com/office/drawing/2014/main" id="{0AD80E5E-69A2-AA42-A559-DF79D111F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706" y="135466"/>
            <a:ext cx="2116765" cy="1058383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0EE4F9EE-0E72-6B48-AB9C-AAC2718634F8}"/>
              </a:ext>
            </a:extLst>
          </p:cNvPr>
          <p:cNvSpPr txBox="1"/>
          <p:nvPr/>
        </p:nvSpPr>
        <p:spPr>
          <a:xfrm>
            <a:off x="4592729" y="4828944"/>
            <a:ext cx="74457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6. Estequiometría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ED5C0ED-192D-544C-A20F-FBF941949E91}"/>
              </a:ext>
            </a:extLst>
          </p:cNvPr>
          <p:cNvSpPr txBox="1"/>
          <p:nvPr/>
        </p:nvSpPr>
        <p:spPr>
          <a:xfrm>
            <a:off x="692211" y="431702"/>
            <a:ext cx="35087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I</a:t>
            </a:r>
          </a:p>
        </p:txBody>
      </p:sp>
    </p:spTree>
    <p:extLst>
      <p:ext uri="{BB962C8B-B14F-4D97-AF65-F5344CB8AC3E}">
        <p14:creationId xmlns:p14="http://schemas.microsoft.com/office/powerpoint/2010/main" val="15184975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34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D80D3009-C9F2-4A42-8A41-80984D67335E}"/>
              </a:ext>
            </a:extLst>
          </p:cNvPr>
          <p:cNvSpPr/>
          <p:nvPr/>
        </p:nvSpPr>
        <p:spPr>
          <a:xfrm>
            <a:off x="444572" y="483640"/>
            <a:ext cx="8685211" cy="49782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tabLst>
                <a:tab pos="581025" algn="l"/>
              </a:tabLst>
              <a:defRPr/>
            </a:pPr>
            <a:r>
              <a:rPr lang="es-CL" sz="20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1.- </a:t>
            </a:r>
            <a:r>
              <a:rPr 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Comercialmente se fabrica ácido adípico por oxidación del ciclohexano a través de la siguiente reacción química</a:t>
            </a:r>
          </a:p>
          <a:p>
            <a:pPr>
              <a:lnSpc>
                <a:spcPct val="150000"/>
              </a:lnSpc>
              <a:spcAft>
                <a:spcPts val="800"/>
              </a:spcAft>
              <a:tabLst>
                <a:tab pos="581025" algn="l"/>
              </a:tabLst>
              <a:defRPr/>
            </a:pPr>
            <a:r>
              <a:rPr 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 </a:t>
            </a:r>
          </a:p>
          <a:p>
            <a:pPr>
              <a:lnSpc>
                <a:spcPct val="150000"/>
              </a:lnSpc>
              <a:spcAft>
                <a:spcPts val="800"/>
              </a:spcAft>
              <a:tabLst>
                <a:tab pos="581025" algn="l"/>
              </a:tabLst>
              <a:defRPr/>
            </a:pPr>
            <a:endParaRPr lang="es-CL" sz="2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ea typeface="Calibri" panose="020F0502020204030204" pitchFamily="34" charset="0"/>
              <a:cs typeface="Lucida Sans Unicode" panose="020B0602030504020204" pitchFamily="34" charset="0"/>
            </a:endParaRPr>
          </a:p>
          <a:p>
            <a:pPr algn="just">
              <a:lnSpc>
                <a:spcPct val="150000"/>
              </a:lnSpc>
              <a:tabLst>
                <a:tab pos="581025" algn="l"/>
              </a:tabLst>
              <a:defRPr/>
            </a:pPr>
            <a:r>
              <a:rPr lang="es-CL" sz="20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a) </a:t>
            </a:r>
            <a:r>
              <a:rPr 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Suponga que se lleva a cabo esta reacción partiendo de 25,0 g de ciclohexano y que </a:t>
            </a:r>
            <a:r>
              <a:rPr lang="es-CL" sz="2000" b="1" dirty="0">
                <a:solidFill>
                  <a:srgbClr val="C000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éste es el reactivo limitante</a:t>
            </a:r>
            <a:r>
              <a:rPr 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. ¿Cuál es el rendimiento teórico de ácido adípico?</a:t>
            </a:r>
          </a:p>
          <a:p>
            <a:pPr algn="just">
              <a:lnSpc>
                <a:spcPct val="150000"/>
              </a:lnSpc>
              <a:tabLst>
                <a:tab pos="581025" algn="l"/>
              </a:tabLst>
              <a:defRPr/>
            </a:pPr>
            <a:endParaRPr lang="es-CL" sz="2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ea typeface="Calibri" panose="020F0502020204030204" pitchFamily="34" charset="0"/>
              <a:cs typeface="Lucida Sans Unicode" panose="020B0602030504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  <a:tabLst>
                <a:tab pos="581025" algn="l"/>
              </a:tabLst>
              <a:defRPr/>
            </a:pPr>
            <a:r>
              <a:rPr lang="es-CL" sz="20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b) </a:t>
            </a:r>
            <a:r>
              <a:rPr 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Si se obtienen 33,5 g de ácido adípico en la reacción, ¿Cuál es el rendimiento real de ácido adípico?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B7E639B-14E2-C243-AF1B-059FE11E5BD7}"/>
              </a:ext>
            </a:extLst>
          </p:cNvPr>
          <p:cNvSpPr/>
          <p:nvPr/>
        </p:nvSpPr>
        <p:spPr>
          <a:xfrm>
            <a:off x="1015277" y="1540450"/>
            <a:ext cx="7543800" cy="6546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6000"/>
              </a:lnSpc>
              <a:spcAft>
                <a:spcPts val="800"/>
              </a:spcAft>
              <a:tabLst>
                <a:tab pos="581025" algn="l"/>
              </a:tabLst>
              <a:defRPr/>
            </a:pPr>
            <a:r>
              <a:rPr lang="es-CL" sz="36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 C</a:t>
            </a:r>
            <a:r>
              <a:rPr lang="es-CL" sz="3600" b="1" baseline="-25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s-CL" sz="36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s-CL" sz="3600" b="1" baseline="-25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lang="es-CL" sz="36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+ 5 O </a:t>
            </a:r>
            <a:r>
              <a:rPr lang="es-CL" sz="3600" b="1" baseline="-25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CL" sz="36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CL" sz="36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s-CL" sz="36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2H</a:t>
            </a:r>
            <a:r>
              <a:rPr lang="es-CL" sz="3600" b="1" baseline="-25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CL" sz="36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s-CL" sz="3600" b="1" baseline="-25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s-CL" sz="36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s-CL" sz="3600" b="1" baseline="-25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es-CL" sz="36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s-CL" sz="3600" b="1" baseline="-25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s-CL" sz="36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 H</a:t>
            </a:r>
            <a:r>
              <a:rPr lang="es-CL" sz="3600" b="1" baseline="-25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CL" sz="36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5DC12263-2ABA-1C47-81EA-895D05C7BDE8}"/>
              </a:ext>
            </a:extLst>
          </p:cNvPr>
          <p:cNvSpPr txBox="1">
            <a:spLocks/>
          </p:cNvSpPr>
          <p:nvPr/>
        </p:nvSpPr>
        <p:spPr>
          <a:xfrm>
            <a:off x="11543369" y="6485535"/>
            <a:ext cx="731600" cy="524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defPPr>
              <a:defRPr lang="es-CL"/>
            </a:defPPr>
            <a:lvl1pPr marL="0" lvl="0" algn="r" defTabSz="914400" rtl="0" eaLnBrk="1" latinLnBrk="0" hangingPunct="1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000000-1234-1234-1234-123412341234}" type="slidenum">
              <a:rPr lang="es-CL" sz="2000" smtClean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pPr/>
              <a:t>34</a:t>
            </a:fld>
            <a:endParaRPr lang="es-CL" sz="2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1669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z="2000" smtClean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pPr/>
              <a:t>35</a:t>
            </a:fld>
            <a:endParaRPr lang="es-CL" sz="2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2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2" name="CuadroTexto 7">
            <a:extLst>
              <a:ext uri="{FF2B5EF4-FFF2-40B4-BE49-F238E27FC236}">
                <a16:creationId xmlns:a16="http://schemas.microsoft.com/office/drawing/2014/main" id="{D6EB707A-8CFB-3747-9E38-53E4BCA1C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166" y="1248405"/>
            <a:ext cx="534371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Se deben calcular los moles de C</a:t>
            </a:r>
            <a:r>
              <a:rPr lang="es-CL" altLang="es-CL" sz="20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6</a:t>
            </a: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H</a:t>
            </a:r>
            <a:r>
              <a:rPr lang="es-CL" altLang="es-CL" sz="20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12</a:t>
            </a: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4">
                <a:extLst>
                  <a:ext uri="{FF2B5EF4-FFF2-40B4-BE49-F238E27FC236}">
                    <a16:creationId xmlns:a16="http://schemas.microsoft.com/office/drawing/2014/main" id="{15B6D185-9420-EC47-865E-CD4FC6EC69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5231" y="1591993"/>
                <a:ext cx="6675910" cy="999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4572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marL="46038">
                  <a:lnSpc>
                    <a:spcPct val="10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altLang="es-CL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Lucida Sans Unicode" panose="020B0602030504020204" pitchFamily="34" charset="0"/>
                        </a:rPr>
                        <m:t>𝑀𝑜𝑙𝑒𝑠</m:t>
                      </m:r>
                      <m:r>
                        <a:rPr lang="es-ES" altLang="es-CL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Lucida Sans Unicode" panose="020B0602030504020204" pitchFamily="34" charset="0"/>
                        </a:rPr>
                        <m:t> </m:t>
                      </m:r>
                      <m:r>
                        <a:rPr lang="es-ES" altLang="es-CL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Lucida Sans Unicode" panose="020B0602030504020204" pitchFamily="34" charset="0"/>
                        </a:rPr>
                        <m:t>𝑑𝑒</m:t>
                      </m:r>
                      <m:r>
                        <a:rPr lang="es-ES" altLang="es-CL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Lucida Sans Unicode" panose="020B0602030504020204" pitchFamily="34" charset="0"/>
                        </a:rPr>
                        <m:t> </m:t>
                      </m:r>
                      <m:r>
                        <a:rPr lang="es-ES" altLang="es-CL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Lucida Sans Unicode" panose="020B0602030504020204" pitchFamily="34" charset="0"/>
                        </a:rPr>
                        <m:t>𝐶</m:t>
                      </m:r>
                      <m:r>
                        <a:rPr lang="es-ES" altLang="es-CL" sz="24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Lucida Sans Unicode" panose="020B0602030504020204" pitchFamily="34" charset="0"/>
                        </a:rPr>
                        <m:t>6</m:t>
                      </m:r>
                      <m:r>
                        <a:rPr lang="es-ES" altLang="es-CL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Lucida Sans Unicode" panose="020B0602030504020204" pitchFamily="34" charset="0"/>
                        </a:rPr>
                        <m:t>𝐻</m:t>
                      </m:r>
                      <m:r>
                        <a:rPr lang="es-ES" altLang="es-CL" sz="24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Lucida Sans Unicode" panose="020B0602030504020204" pitchFamily="34" charset="0"/>
                        </a:rPr>
                        <m:t>12</m:t>
                      </m:r>
                      <m:r>
                        <a:rPr lang="es-ES" altLang="es-CL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Lucida Sans Unicode" panose="020B0602030504020204" pitchFamily="34" charset="0"/>
                        </a:rPr>
                        <m:t>=</m:t>
                      </m:r>
                      <m:f>
                        <m:fPr>
                          <m:ctrlPr>
                            <a:rPr lang="es-ES" altLang="es-CL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Lucida Sans Unicode" panose="020B0602030504020204" pitchFamily="34" charset="0"/>
                            </a:rPr>
                          </m:ctrlPr>
                        </m:fPr>
                        <m:num>
                          <m:r>
                            <a:rPr lang="es-ES" altLang="es-CL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Lucida Sans Unicode" panose="020B0602030504020204" pitchFamily="34" charset="0"/>
                            </a:rPr>
                            <m:t>25 </m:t>
                          </m:r>
                          <m:r>
                            <a:rPr lang="es-ES" altLang="es-CL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Lucida Sans Unicode" panose="020B0602030504020204" pitchFamily="34" charset="0"/>
                            </a:rPr>
                            <m:t>𝑔</m:t>
                          </m:r>
                        </m:num>
                        <m:den>
                          <m:r>
                            <a:rPr lang="es-ES" altLang="es-CL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Lucida Sans Unicode" panose="020B0602030504020204" pitchFamily="34" charset="0"/>
                            </a:rPr>
                            <m:t>84 </m:t>
                          </m:r>
                          <m:r>
                            <a:rPr lang="es-ES" altLang="es-CL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Lucida Sans Unicode" panose="020B0602030504020204" pitchFamily="34" charset="0"/>
                            </a:rPr>
                            <m:t>𝑔</m:t>
                          </m:r>
                          <m:r>
                            <a:rPr lang="es-ES" altLang="es-CL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Lucida Sans Unicode" panose="020B0602030504020204" pitchFamily="34" charset="0"/>
                            </a:rPr>
                            <m:t>/</m:t>
                          </m:r>
                          <m:r>
                            <a:rPr lang="es-ES" altLang="es-CL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Lucida Sans Unicode" panose="020B0602030504020204" pitchFamily="34" charset="0"/>
                            </a:rPr>
                            <m:t>𝑚𝑜𝑙</m:t>
                          </m:r>
                        </m:den>
                      </m:f>
                      <m:r>
                        <a:rPr lang="es-ES" altLang="es-CL" sz="2400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Lucida Sans Unicode" panose="020B0602030504020204" pitchFamily="34" charset="0"/>
                        </a:rPr>
                        <m:t>=</m:t>
                      </m:r>
                      <m:r>
                        <a:rPr lang="es-ES" altLang="es-CL" sz="2400" b="1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Lucida Sans Unicode" panose="020B0602030504020204" pitchFamily="34" charset="0"/>
                        </a:rPr>
                        <m:t>𝟎</m:t>
                      </m:r>
                      <m:r>
                        <a:rPr lang="es-ES" altLang="es-CL" sz="2400" b="1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Lucida Sans Unicode" panose="020B0602030504020204" pitchFamily="34" charset="0"/>
                        </a:rPr>
                        <m:t>,</m:t>
                      </m:r>
                      <m:r>
                        <a:rPr lang="es-ES" altLang="es-CL" sz="2400" b="1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Lucida Sans Unicode" panose="020B0602030504020204" pitchFamily="34" charset="0"/>
                        </a:rPr>
                        <m:t>𝟐𝟗𝟖</m:t>
                      </m:r>
                      <m:r>
                        <a:rPr lang="es-ES" altLang="es-CL" sz="2400" b="1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Lucida Sans Unicode" panose="020B0602030504020204" pitchFamily="34" charset="0"/>
                        </a:rPr>
                        <m:t> </m:t>
                      </m:r>
                      <m:r>
                        <a:rPr lang="es-ES" altLang="es-CL" sz="2400" b="1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Lucida Sans Unicode" panose="020B0602030504020204" pitchFamily="34" charset="0"/>
                        </a:rPr>
                        <m:t>𝐦𝐨𝐥𝐞𝐬</m:t>
                      </m:r>
                    </m:oMath>
                  </m:oMathPara>
                </a14:m>
                <a:endParaRPr lang="es-CL" altLang="es-CL" sz="2400" b="1" baseline="-25000" dirty="0">
                  <a:solidFill>
                    <a:schemeClr val="accent1">
                      <a:lumMod val="75000"/>
                    </a:schemeClr>
                  </a:solidFill>
                  <a:latin typeface="Lucida Sans Unicode" panose="020B0602030504020204" pitchFamily="34" charset="0"/>
                  <a:ea typeface="Calibri" panose="020F0502020204030204" pitchFamily="34" charset="0"/>
                  <a:cs typeface="Lucida Sans Unicode" panose="020B0602030504020204" pitchFamily="34" charset="0"/>
                </a:endParaRPr>
              </a:p>
            </p:txBody>
          </p:sp>
        </mc:Choice>
        <mc:Fallback xmlns="">
          <p:sp>
            <p:nvSpPr>
              <p:cNvPr id="13" name="Rectángulo 4">
                <a:extLst>
                  <a:ext uri="{FF2B5EF4-FFF2-40B4-BE49-F238E27FC236}">
                    <a16:creationId xmlns:a16="http://schemas.microsoft.com/office/drawing/2014/main" id="{15B6D185-9420-EC47-865E-CD4FC6EC69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5231" y="1591993"/>
                <a:ext cx="6675910" cy="9993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ángulo 4">
                <a:extLst>
                  <a:ext uri="{FF2B5EF4-FFF2-40B4-BE49-F238E27FC236}">
                    <a16:creationId xmlns:a16="http://schemas.microsoft.com/office/drawing/2014/main" id="{924F3409-9095-0644-A63E-708BF445A7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8433" y="4361317"/>
                <a:ext cx="7195664" cy="611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4572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marL="46038">
                  <a:lnSpc>
                    <a:spcPct val="105000"/>
                  </a:lnSpc>
                  <a:spcAft>
                    <a:spcPts val="800"/>
                  </a:spcAft>
                </a:pPr>
                <a:r>
                  <a:rPr lang="es-ES" altLang="es-CL" sz="2400" b="1" i="1" dirty="0">
                    <a:solidFill>
                      <a:schemeClr val="accent1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Lucida Sans Unicode" panose="020B0602030504020204" pitchFamily="34" charset="0"/>
                  </a:rPr>
                  <a:t>Masa</a:t>
                </a:r>
                <a14:m>
                  <m:oMath xmlns:m="http://schemas.openxmlformats.org/officeDocument/2006/math">
                    <m:r>
                      <a:rPr lang="es-ES" altLang="es-CL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=0,298 </m:t>
                    </m:r>
                    <m:r>
                      <a:rPr lang="es-ES" altLang="es-CL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𝑚𝑜𝑙</m:t>
                    </m:r>
                    <m:r>
                      <a:rPr lang="es-ES" altLang="es-CL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 </m:t>
                    </m:r>
                    <m:r>
                      <a:rPr lang="es-ES" altLang="es-CL" sz="24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∗</m:t>
                    </m:r>
                    <m:r>
                      <a:rPr lang="es-ES" altLang="es-CL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146 </m:t>
                    </m:r>
                    <m:f>
                      <m:fPr>
                        <m:ctrlPr>
                          <a:rPr lang="es-ES" altLang="es-CL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ucida Sans Unicode" panose="020B0602030504020204" pitchFamily="34" charset="0"/>
                          </a:rPr>
                        </m:ctrlPr>
                      </m:fPr>
                      <m:num>
                        <m:r>
                          <a:rPr lang="es-ES" altLang="es-CL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ucida Sans Unicode" panose="020B0602030504020204" pitchFamily="34" charset="0"/>
                          </a:rPr>
                          <m:t>𝑔</m:t>
                        </m:r>
                      </m:num>
                      <m:den>
                        <m:r>
                          <a:rPr lang="es-ES" altLang="es-CL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ucida Sans Unicode" panose="020B0602030504020204" pitchFamily="34" charset="0"/>
                          </a:rPr>
                          <m:t>𝑚𝑜𝑙</m:t>
                        </m:r>
                      </m:den>
                    </m:f>
                    <m:r>
                      <a:rPr lang="es-ES" altLang="es-CL" sz="24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=</m:t>
                    </m:r>
                    <m:r>
                      <a:rPr lang="es-ES" altLang="es-CL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𝟒𝟑</m:t>
                    </m:r>
                    <m:r>
                      <a:rPr lang="es-ES" altLang="es-CL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,</m:t>
                    </m:r>
                    <m:r>
                      <a:rPr lang="es-ES" altLang="es-CL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𝟓</m:t>
                    </m:r>
                    <m:r>
                      <a:rPr lang="es-ES" altLang="es-CL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 </m:t>
                    </m:r>
                    <m:r>
                      <a:rPr lang="es-ES" altLang="es-CL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𝒈</m:t>
                    </m:r>
                    <m:r>
                      <a:rPr lang="es-ES" altLang="es-CL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 </m:t>
                    </m:r>
                    <m:r>
                      <a:rPr lang="es-ES" altLang="es-CL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𝒅𝒆</m:t>
                    </m:r>
                    <m:r>
                      <m:rPr>
                        <m:nor/>
                      </m:rPr>
                      <a:rPr lang="es-ES" altLang="es-CL" sz="24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s-CL" sz="24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H</m:t>
                    </m:r>
                    <m:r>
                      <m:rPr>
                        <m:nor/>
                      </m:rPr>
                      <a:rPr lang="es-CL" sz="2400" b="1" baseline="-25000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s-CL" sz="24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C</m:t>
                    </m:r>
                    <m:r>
                      <m:rPr>
                        <m:nor/>
                      </m:rPr>
                      <a:rPr lang="es-CL" sz="2400" b="1" baseline="-25000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6</m:t>
                    </m:r>
                    <m:r>
                      <m:rPr>
                        <m:nor/>
                      </m:rPr>
                      <a:rPr lang="es-CL" sz="24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H</m:t>
                    </m:r>
                    <m:r>
                      <m:rPr>
                        <m:nor/>
                      </m:rPr>
                      <a:rPr lang="es-CL" sz="2400" b="1" baseline="-25000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8</m:t>
                    </m:r>
                    <m:r>
                      <m:rPr>
                        <m:nor/>
                      </m:rPr>
                      <a:rPr lang="es-CL" sz="24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O</m:t>
                    </m:r>
                    <m:r>
                      <m:rPr>
                        <m:nor/>
                      </m:rPr>
                      <a:rPr lang="es-CL" sz="2400" b="1" baseline="-25000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endParaRPr lang="es-CL" altLang="es-CL" sz="2400" b="1" i="1" baseline="-25000" dirty="0">
                  <a:solidFill>
                    <a:schemeClr val="accent1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Lucida Sans Unicode" panose="020B0602030504020204" pitchFamily="34" charset="0"/>
                </a:endParaRPr>
              </a:p>
            </p:txBody>
          </p:sp>
        </mc:Choice>
        <mc:Fallback xmlns="">
          <p:sp>
            <p:nvSpPr>
              <p:cNvPr id="14" name="Rectángulo 4">
                <a:extLst>
                  <a:ext uri="{FF2B5EF4-FFF2-40B4-BE49-F238E27FC236}">
                    <a16:creationId xmlns:a16="http://schemas.microsoft.com/office/drawing/2014/main" id="{924F3409-9095-0644-A63E-708BF445A7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38433" y="4361317"/>
                <a:ext cx="7195664" cy="611258"/>
              </a:xfrm>
              <a:prstGeom prst="rect">
                <a:avLst/>
              </a:prstGeom>
              <a:blipFill>
                <a:blip r:embed="rId4"/>
                <a:stretch>
                  <a:fillRect l="-593" b="-693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4">
                <a:extLst>
                  <a:ext uri="{FF2B5EF4-FFF2-40B4-BE49-F238E27FC236}">
                    <a16:creationId xmlns:a16="http://schemas.microsoft.com/office/drawing/2014/main" id="{7DA6CFA2-D47D-3440-9489-AD0596A0CB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307" y="5871865"/>
                <a:ext cx="9577915" cy="792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4572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marL="46038">
                  <a:lnSpc>
                    <a:spcPct val="105000"/>
                  </a:lnSpc>
                  <a:spcAft>
                    <a:spcPts val="800"/>
                  </a:spcAft>
                </a:pPr>
                <a:r>
                  <a:rPr lang="es-ES" altLang="es-CL" sz="2400" b="1" i="1" dirty="0">
                    <a:solidFill>
                      <a:srgbClr val="008000"/>
                    </a:solidFill>
                    <a:latin typeface="Lucida Sans Unicode" panose="020B0602030504020204" pitchFamily="34" charset="0"/>
                    <a:ea typeface="Calibri" panose="020F0502020204030204" pitchFamily="34" charset="0"/>
                    <a:cs typeface="Lucida Sans Unicode" panose="020B0602030504020204" pitchFamily="34" charset="0"/>
                  </a:rPr>
                  <a:t>R</a:t>
                </a:r>
                <a14:m>
                  <m:oMath xmlns:m="http://schemas.openxmlformats.org/officeDocument/2006/math">
                    <m:r>
                      <a:rPr lang="es-ES" altLang="es-CL" sz="2800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𝒆𝒏𝒅𝒊𝒎𝒊𝒆𝒏𝒕𝒐</m:t>
                    </m:r>
                    <m:r>
                      <a:rPr lang="es-ES" altLang="es-CL" sz="2800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 </m:t>
                    </m:r>
                    <m:r>
                      <a:rPr lang="es-ES" altLang="es-CL" sz="2800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𝒅𝒆</m:t>
                    </m:r>
                    <m:r>
                      <a:rPr lang="es-ES" altLang="es-CL" sz="2800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 </m:t>
                    </m:r>
                    <m:r>
                      <a:rPr lang="es-ES" altLang="es-CL" sz="2800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𝒍𝒂</m:t>
                    </m:r>
                    <m:r>
                      <a:rPr lang="es-ES" altLang="es-CL" sz="2800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 </m:t>
                    </m:r>
                    <m:r>
                      <a:rPr lang="es-ES" altLang="es-CL" sz="2800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𝒓𝒆𝒂𝒄𝒄𝒊</m:t>
                    </m:r>
                    <m:r>
                      <a:rPr lang="es-ES" altLang="es-CL" sz="2800" b="1" i="1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ó</m:t>
                    </m:r>
                    <m:r>
                      <a:rPr lang="es-ES" altLang="es-CL" sz="2800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𝒏</m:t>
                    </m:r>
                    <m:r>
                      <a:rPr lang="es-ES" altLang="es-CL" sz="28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=</m:t>
                    </m:r>
                    <m:r>
                      <a:rPr lang="es-ES" altLang="es-CL" sz="28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 </m:t>
                    </m:r>
                    <m:f>
                      <m:fPr>
                        <m:ctrlPr>
                          <a:rPr lang="es-ES" altLang="es-CL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Lucida Sans Unicode" panose="020B0602030504020204" pitchFamily="34" charset="0"/>
                          </a:rPr>
                        </m:ctrlPr>
                      </m:fPr>
                      <m:num>
                        <m:r>
                          <a:rPr lang="es-ES" altLang="es-CL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Lucida Sans Unicode" panose="020B0602030504020204" pitchFamily="34" charset="0"/>
                          </a:rPr>
                          <m:t>33,5</m:t>
                        </m:r>
                        <m:r>
                          <a:rPr lang="es-ES" altLang="es-CL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Lucida Sans Unicode" panose="020B0602030504020204" pitchFamily="34" charset="0"/>
                          </a:rPr>
                          <m:t>𝑔</m:t>
                        </m:r>
                      </m:num>
                      <m:den>
                        <m:r>
                          <a:rPr lang="es-ES" altLang="es-CL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Lucida Sans Unicode" panose="020B0602030504020204" pitchFamily="34" charset="0"/>
                          </a:rPr>
                          <m:t>43,5</m:t>
                        </m:r>
                        <m:r>
                          <a:rPr lang="es-ES" altLang="es-CL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Lucida Sans Unicode" panose="020B0602030504020204" pitchFamily="34" charset="0"/>
                          </a:rPr>
                          <m:t>𝑔</m:t>
                        </m:r>
                      </m:den>
                    </m:f>
                    <m:r>
                      <a:rPr lang="es-ES" altLang="es-CL" sz="28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Lucida Sans Unicode" panose="020B0602030504020204" pitchFamily="34" charset="0"/>
                      </a:rPr>
                      <m:t>∗100</m:t>
                    </m:r>
                    <m:r>
                      <a:rPr lang="es-ES" altLang="es-CL" sz="28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Lucida Sans Unicode" panose="020B0602030504020204" pitchFamily="34" charset="0"/>
                      </a:rPr>
                      <m:t>=</m:t>
                    </m:r>
                    <m:r>
                      <a:rPr lang="es-ES" altLang="es-CL" sz="2800" b="1" i="0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cs typeface="Lucida Sans Unicode" panose="020B0602030504020204" pitchFamily="34" charset="0"/>
                      </a:rPr>
                      <m:t>𝟕𝟕</m:t>
                    </m:r>
                    <m:r>
                      <a:rPr lang="es-ES" altLang="es-CL" sz="2800" b="1" i="0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cs typeface="Lucida Sans Unicode" panose="020B0602030504020204" pitchFamily="34" charset="0"/>
                      </a:rPr>
                      <m:t>,</m:t>
                    </m:r>
                    <m:r>
                      <a:rPr lang="es-ES" altLang="es-CL" sz="2800" b="1" i="0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cs typeface="Lucida Sans Unicode" panose="020B0602030504020204" pitchFamily="34" charset="0"/>
                      </a:rPr>
                      <m:t>𝟎𝟏</m:t>
                    </m:r>
                    <m:r>
                      <a:rPr lang="es-ES" altLang="es-CL" sz="2800" b="1" i="0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cs typeface="Lucida Sans Unicode" panose="020B0602030504020204" pitchFamily="34" charset="0"/>
                      </a:rPr>
                      <m:t>% </m:t>
                    </m:r>
                  </m:oMath>
                </a14:m>
                <a:endParaRPr lang="es-CL" altLang="es-CL" sz="2800" b="1" baseline="-25000" dirty="0">
                  <a:solidFill>
                    <a:schemeClr val="accent1">
                      <a:lumMod val="75000"/>
                    </a:schemeClr>
                  </a:solidFill>
                  <a:latin typeface="Lucida Sans Unicode" panose="020B0602030504020204" pitchFamily="34" charset="0"/>
                  <a:ea typeface="Calibri" panose="020F0502020204030204" pitchFamily="34" charset="0"/>
                  <a:cs typeface="Lucida Sans Unicode" panose="020B0602030504020204" pitchFamily="34" charset="0"/>
                </a:endParaRPr>
              </a:p>
            </p:txBody>
          </p:sp>
        </mc:Choice>
        <mc:Fallback xmlns="">
          <p:sp>
            <p:nvSpPr>
              <p:cNvPr id="15" name="Rectángulo 4">
                <a:extLst>
                  <a:ext uri="{FF2B5EF4-FFF2-40B4-BE49-F238E27FC236}">
                    <a16:creationId xmlns:a16="http://schemas.microsoft.com/office/drawing/2014/main" id="{7DA6CFA2-D47D-3440-9489-AD0596A0CB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7307" y="5871865"/>
                <a:ext cx="9577915" cy="792525"/>
              </a:xfrm>
              <a:prstGeom prst="rect">
                <a:avLst/>
              </a:prstGeom>
              <a:blipFill>
                <a:blip r:embed="rId5"/>
                <a:stretch>
                  <a:fillRect l="-509" b="-76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ángulo 15">
            <a:extLst>
              <a:ext uri="{FF2B5EF4-FFF2-40B4-BE49-F238E27FC236}">
                <a16:creationId xmlns:a16="http://schemas.microsoft.com/office/drawing/2014/main" id="{8AE8DCC1-5B94-48AB-9E76-9A413988BB0D}"/>
              </a:ext>
            </a:extLst>
          </p:cNvPr>
          <p:cNvSpPr/>
          <p:nvPr/>
        </p:nvSpPr>
        <p:spPr>
          <a:xfrm>
            <a:off x="1114264" y="424160"/>
            <a:ext cx="7543800" cy="6546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6000"/>
              </a:lnSpc>
              <a:spcAft>
                <a:spcPts val="800"/>
              </a:spcAft>
              <a:tabLst>
                <a:tab pos="581025" algn="l"/>
              </a:tabLst>
              <a:defRPr/>
            </a:pPr>
            <a:r>
              <a:rPr lang="es-CL" sz="36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 C</a:t>
            </a:r>
            <a:r>
              <a:rPr lang="es-CL" sz="3600" b="1" baseline="-25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s-CL" sz="36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s-CL" sz="3600" b="1" baseline="-25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lang="es-CL" sz="36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CL" sz="36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s-CL" sz="36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2H</a:t>
            </a:r>
            <a:r>
              <a:rPr lang="es-CL" sz="3600" b="1" baseline="-25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CL" sz="36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s-CL" sz="3600" b="1" baseline="-25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s-CL" sz="36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s-CL" sz="3600" b="1" baseline="-25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es-CL" sz="36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s-CL" sz="3600" b="1" baseline="-25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endParaRPr lang="es-CL" sz="3600" b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4E0AD92-29FD-48BF-80A7-CC2AFEDC951E}"/>
              </a:ext>
            </a:extLst>
          </p:cNvPr>
          <p:cNvSpPr/>
          <p:nvPr/>
        </p:nvSpPr>
        <p:spPr>
          <a:xfrm>
            <a:off x="995231" y="2513182"/>
            <a:ext cx="7543800" cy="16483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6000"/>
              </a:lnSpc>
              <a:spcAft>
                <a:spcPts val="800"/>
              </a:spcAft>
              <a:tabLst>
                <a:tab pos="581025" algn="l"/>
              </a:tabLst>
              <a:defRPr/>
            </a:pPr>
            <a:r>
              <a:rPr lang="es-CL" sz="2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 C</a:t>
            </a:r>
            <a:r>
              <a:rPr lang="es-CL" sz="2800" b="1" baseline="-25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s-CL" sz="2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s-CL" sz="2800" b="1" baseline="-25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lang="es-CL" sz="2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CL" sz="2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s-CL" sz="2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2H</a:t>
            </a:r>
            <a:r>
              <a:rPr lang="es-CL" sz="2800" b="1" baseline="-25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CL" sz="2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s-CL" sz="2800" b="1" baseline="-25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s-CL" sz="2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s-CL" sz="2800" b="1" baseline="-25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es-CL" sz="2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s-CL" sz="2800" b="1" baseline="-25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</a:p>
          <a:p>
            <a:pPr algn="ctr">
              <a:lnSpc>
                <a:spcPct val="106000"/>
              </a:lnSpc>
              <a:spcAft>
                <a:spcPts val="800"/>
              </a:spcAft>
              <a:tabLst>
                <a:tab pos="581025" algn="l"/>
              </a:tabLst>
              <a:defRPr/>
            </a:pPr>
            <a:r>
              <a:rPr lang="es-CL" sz="2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0,298 moles </a:t>
            </a:r>
            <a:r>
              <a:rPr lang="es-CL" sz="2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X </a:t>
            </a:r>
          </a:p>
          <a:p>
            <a:pPr algn="ctr">
              <a:lnSpc>
                <a:spcPct val="106000"/>
              </a:lnSpc>
              <a:spcAft>
                <a:spcPts val="800"/>
              </a:spcAft>
              <a:tabLst>
                <a:tab pos="581025" algn="l"/>
              </a:tabLst>
              <a:defRPr/>
            </a:pPr>
            <a:r>
              <a:rPr lang="es-CL" sz="28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 = 0,298 moles de H</a:t>
            </a:r>
            <a:r>
              <a:rPr lang="es-CL" sz="2800" b="1" baseline="-250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CL" sz="28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s-CL" sz="2800" b="1" baseline="-250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s-CL" sz="28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s-CL" sz="2800" b="1" baseline="-250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es-CL" sz="28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s-CL" sz="2800" b="1" baseline="-250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endParaRPr lang="es-CL" sz="2800" b="1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ángulo 4">
                <a:extLst>
                  <a:ext uri="{FF2B5EF4-FFF2-40B4-BE49-F238E27FC236}">
                    <a16:creationId xmlns:a16="http://schemas.microsoft.com/office/drawing/2014/main" id="{98086420-708F-4A89-8090-2563525B3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166" y="5030619"/>
                <a:ext cx="9577915" cy="750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4572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marL="46038">
                  <a:lnSpc>
                    <a:spcPct val="105000"/>
                  </a:lnSpc>
                  <a:spcAft>
                    <a:spcPts val="800"/>
                  </a:spcAft>
                </a:pPr>
                <a:r>
                  <a:rPr lang="es-ES" altLang="es-CL" sz="2800" b="1" i="1" dirty="0">
                    <a:solidFill>
                      <a:srgbClr val="008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Lucida Sans Unicode" panose="020B0602030504020204" pitchFamily="34" charset="0"/>
                  </a:rPr>
                  <a:t>R</a:t>
                </a:r>
                <a14:m>
                  <m:oMath xmlns:m="http://schemas.openxmlformats.org/officeDocument/2006/math">
                    <m:r>
                      <a:rPr lang="es-ES" altLang="es-CL" sz="2800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𝒆𝒏𝒅𝒊𝒎𝒊𝒆𝒏𝒕𝒐</m:t>
                    </m:r>
                    <m:r>
                      <a:rPr lang="es-ES" altLang="es-CL" sz="2800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 </m:t>
                    </m:r>
                    <m:r>
                      <a:rPr lang="es-ES" altLang="es-CL" sz="2800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𝒅𝒆</m:t>
                    </m:r>
                    <m:r>
                      <a:rPr lang="es-ES" altLang="es-CL" sz="2800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 </m:t>
                    </m:r>
                    <m:r>
                      <a:rPr lang="es-ES" altLang="es-CL" sz="2800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𝒍𝒂</m:t>
                    </m:r>
                    <m:r>
                      <a:rPr lang="es-ES" altLang="es-CL" sz="2800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 </m:t>
                    </m:r>
                    <m:r>
                      <a:rPr lang="es-ES" altLang="es-CL" sz="2800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𝒓𝒆𝒂𝒄𝒄𝒊</m:t>
                    </m:r>
                    <m:r>
                      <a:rPr lang="es-ES" altLang="es-CL" sz="2800" b="1" i="1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ó</m:t>
                    </m:r>
                    <m:r>
                      <a:rPr lang="es-ES" altLang="es-CL" sz="2800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𝒏</m:t>
                    </m:r>
                    <m:r>
                      <a:rPr lang="es-ES" altLang="es-CL" sz="28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=</m:t>
                    </m:r>
                    <m:r>
                      <a:rPr lang="es-ES" altLang="es-CL" sz="28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Lucida Sans Unicode" panose="020B0602030504020204" pitchFamily="34" charset="0"/>
                      </a:rPr>
                      <m:t> </m:t>
                    </m:r>
                    <m:f>
                      <m:fPr>
                        <m:ctrlPr>
                          <a:rPr lang="es-ES" altLang="es-CL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Lucida Sans Unicode" panose="020B0602030504020204" pitchFamily="34" charset="0"/>
                          </a:rPr>
                        </m:ctrlPr>
                      </m:fPr>
                      <m:num>
                        <m:r>
                          <a:rPr lang="es-ES" altLang="es-CL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Lucida Sans Unicode" panose="020B0602030504020204" pitchFamily="34" charset="0"/>
                          </a:rPr>
                          <m:t>𝑅𝑒𝑛𝑑𝑖𝑚𝑖𝑒𝑛𝑡𝑜</m:t>
                        </m:r>
                        <m:r>
                          <a:rPr lang="es-ES" altLang="es-CL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Lucida Sans Unicode" panose="020B0602030504020204" pitchFamily="34" charset="0"/>
                          </a:rPr>
                          <m:t> </m:t>
                        </m:r>
                        <m:r>
                          <a:rPr lang="es-ES" altLang="es-CL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Lucida Sans Unicode" panose="020B0602030504020204" pitchFamily="34" charset="0"/>
                          </a:rPr>
                          <m:t>𝑅𝑒𝑎𝑙</m:t>
                        </m:r>
                      </m:num>
                      <m:den>
                        <m:r>
                          <a:rPr lang="es-ES" altLang="es-CL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Lucida Sans Unicode" panose="020B0602030504020204" pitchFamily="34" charset="0"/>
                          </a:rPr>
                          <m:t>𝑅𝑒𝑛𝑑𝑖𝑚𝑖𝑒𝑛𝑡𝑜</m:t>
                        </m:r>
                        <m:r>
                          <a:rPr lang="es-ES" altLang="es-CL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Lucida Sans Unicode" panose="020B0602030504020204" pitchFamily="34" charset="0"/>
                          </a:rPr>
                          <m:t> </m:t>
                        </m:r>
                        <m:r>
                          <a:rPr lang="es-ES" altLang="es-CL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Lucida Sans Unicode" panose="020B0602030504020204" pitchFamily="34" charset="0"/>
                          </a:rPr>
                          <m:t>𝑇𝑒</m:t>
                        </m:r>
                        <m:r>
                          <a:rPr lang="es-ES" altLang="es-CL" sz="28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Lucida Sans Unicode" panose="020B0602030504020204" pitchFamily="34" charset="0"/>
                          </a:rPr>
                          <m:t>ó</m:t>
                        </m:r>
                        <m:r>
                          <a:rPr lang="es-ES" altLang="es-CL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Lucida Sans Unicode" panose="020B0602030504020204" pitchFamily="34" charset="0"/>
                          </a:rPr>
                          <m:t>𝑟𝑖𝑐𝑜</m:t>
                        </m:r>
                      </m:den>
                    </m:f>
                    <m:r>
                      <a:rPr lang="es-ES" altLang="es-CL" sz="28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Lucida Sans Unicode" panose="020B0602030504020204" pitchFamily="34" charset="0"/>
                      </a:rPr>
                      <m:t>∗100</m:t>
                    </m:r>
                  </m:oMath>
                </a14:m>
                <a:endParaRPr lang="es-CL" altLang="es-CL" sz="2800" b="1" baseline="-25000" dirty="0">
                  <a:solidFill>
                    <a:schemeClr val="accent1">
                      <a:lumMod val="75000"/>
                    </a:schemeClr>
                  </a:solidFill>
                  <a:latin typeface="Lucida Sans Unicode" panose="020B0602030504020204" pitchFamily="34" charset="0"/>
                  <a:ea typeface="Calibri" panose="020F0502020204030204" pitchFamily="34" charset="0"/>
                  <a:cs typeface="Lucida Sans Unicode" panose="020B0602030504020204" pitchFamily="34" charset="0"/>
                </a:endParaRPr>
              </a:p>
            </p:txBody>
          </p:sp>
        </mc:Choice>
        <mc:Fallback xmlns="">
          <p:sp>
            <p:nvSpPr>
              <p:cNvPr id="18" name="Rectángulo 4">
                <a:extLst>
                  <a:ext uri="{FF2B5EF4-FFF2-40B4-BE49-F238E27FC236}">
                    <a16:creationId xmlns:a16="http://schemas.microsoft.com/office/drawing/2014/main" id="{98086420-708F-4A89-8090-2563525B3C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8166" y="5030619"/>
                <a:ext cx="9577915" cy="750334"/>
              </a:xfrm>
              <a:prstGeom prst="rect">
                <a:avLst/>
              </a:prstGeom>
              <a:blipFill>
                <a:blip r:embed="rId6"/>
                <a:stretch>
                  <a:fillRect l="-827" b="-81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18051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z="2000" smtClean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pPr/>
              <a:t>36</a:t>
            </a:fld>
            <a:endParaRPr lang="es-CL" sz="20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A5B10B2-2873-5F4D-B732-D2A589EE09C6}"/>
              </a:ext>
            </a:extLst>
          </p:cNvPr>
          <p:cNvSpPr txBox="1"/>
          <p:nvPr/>
        </p:nvSpPr>
        <p:spPr>
          <a:xfrm>
            <a:off x="1059119" y="3057902"/>
            <a:ext cx="10593823" cy="995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5867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Ejercicios Propuestos</a:t>
            </a:r>
          </a:p>
        </p:txBody>
      </p:sp>
      <p:grpSp>
        <p:nvGrpSpPr>
          <p:cNvPr id="6" name="Shape 627"/>
          <p:cNvGrpSpPr/>
          <p:nvPr/>
        </p:nvGrpSpPr>
        <p:grpSpPr>
          <a:xfrm>
            <a:off x="5623014" y="1377791"/>
            <a:ext cx="949919" cy="978720"/>
            <a:chOff x="3951850" y="2985350"/>
            <a:chExt cx="407950" cy="416500"/>
          </a:xfrm>
        </p:grpSpPr>
        <p:sp>
          <p:nvSpPr>
            <p:cNvPr id="7" name="Shape 628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0" t="0" r="0" b="0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" name="Shape 629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0" t="0" r="0" b="0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Shape 630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0" t="0" r="0" b="0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Shape 631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0" t="0" r="0" b="0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706" y="135466"/>
            <a:ext cx="2116765" cy="1058383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46790A2F-BD9C-334E-8684-436F0CC10440}"/>
              </a:ext>
            </a:extLst>
          </p:cNvPr>
          <p:cNvSpPr txBox="1"/>
          <p:nvPr/>
        </p:nvSpPr>
        <p:spPr>
          <a:xfrm>
            <a:off x="4311027" y="4754502"/>
            <a:ext cx="74457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6. Estequiometría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033C349-E0C4-914A-A181-745A06B92F34}"/>
              </a:ext>
            </a:extLst>
          </p:cNvPr>
          <p:cNvSpPr txBox="1"/>
          <p:nvPr/>
        </p:nvSpPr>
        <p:spPr>
          <a:xfrm>
            <a:off x="692211" y="431702"/>
            <a:ext cx="35087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I</a:t>
            </a:r>
          </a:p>
        </p:txBody>
      </p:sp>
    </p:spTree>
    <p:extLst>
      <p:ext uri="{BB962C8B-B14F-4D97-AF65-F5344CB8AC3E}">
        <p14:creationId xmlns:p14="http://schemas.microsoft.com/office/powerpoint/2010/main" val="5919200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79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z="2000" smtClean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pPr/>
              <a:t>37</a:t>
            </a:fld>
            <a:endParaRPr lang="es-CL" sz="20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23" name="CuadroTexto 10">
            <a:extLst>
              <a:ext uri="{FF2B5EF4-FFF2-40B4-BE49-F238E27FC236}">
                <a16:creationId xmlns:a16="http://schemas.microsoft.com/office/drawing/2014/main" id="{50D1A8EC-5412-2042-8E25-308ADB75B3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0" y="483640"/>
            <a:ext cx="9118600" cy="4628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_tradnl" b="1" dirty="0">
                <a:solidFill>
                  <a:srgbClr val="797979"/>
                </a:solidFill>
                <a:latin typeface="Lucida Sans Unicode"/>
              </a:rPr>
              <a:t>1.- </a:t>
            </a:r>
            <a:r>
              <a:rPr lang="es-ES_tradnl" dirty="0">
                <a:solidFill>
                  <a:schemeClr val="accent1">
                    <a:lumMod val="75000"/>
                  </a:schemeClr>
                </a:solidFill>
                <a:latin typeface="Lucida Sans Unicode"/>
              </a:rPr>
              <a:t>Imagine que está trabajando sobre la forma de mejorar el proceso mediante el cual el mineral de hierro, que contiene Fe</a:t>
            </a:r>
            <a:r>
              <a:rPr lang="es-ES_tradnl" baseline="-25000" dirty="0">
                <a:solidFill>
                  <a:schemeClr val="accent1">
                    <a:lumMod val="75000"/>
                  </a:schemeClr>
                </a:solidFill>
                <a:latin typeface="Lucida Sans Unicode"/>
              </a:rPr>
              <a:t>2</a:t>
            </a:r>
            <a:r>
              <a:rPr lang="es-ES_tradnl" dirty="0">
                <a:solidFill>
                  <a:schemeClr val="accent1">
                    <a:lumMod val="75000"/>
                  </a:schemeClr>
                </a:solidFill>
                <a:latin typeface="Lucida Sans Unicode"/>
              </a:rPr>
              <a:t>O</a:t>
            </a:r>
            <a:r>
              <a:rPr lang="es-ES_tradnl" baseline="-25000" dirty="0">
                <a:solidFill>
                  <a:schemeClr val="accent1">
                    <a:lumMod val="75000"/>
                  </a:schemeClr>
                </a:solidFill>
                <a:latin typeface="Lucida Sans Unicode"/>
              </a:rPr>
              <a:t>3</a:t>
            </a:r>
            <a:r>
              <a:rPr lang="es-ES_tradnl" dirty="0">
                <a:solidFill>
                  <a:schemeClr val="accent1">
                    <a:lumMod val="75000"/>
                  </a:schemeClr>
                </a:solidFill>
                <a:latin typeface="Lucida Sans Unicode"/>
              </a:rPr>
              <a:t> se convierte en hierro. En sus ensayos, realiza la siguiente reacción química a pequeña escala.</a:t>
            </a:r>
          </a:p>
          <a:p>
            <a:pPr algn="just">
              <a:lnSpc>
                <a:spcPct val="150000"/>
              </a:lnSpc>
            </a:pPr>
            <a:endParaRPr lang="es-ES_tradnl" dirty="0">
              <a:solidFill>
                <a:schemeClr val="accent1">
                  <a:lumMod val="75000"/>
                </a:schemeClr>
              </a:solidFill>
              <a:latin typeface="Lucida Sans Unicode"/>
            </a:endParaRPr>
          </a:p>
          <a:p>
            <a:pPr algn="just">
              <a:lnSpc>
                <a:spcPct val="150000"/>
              </a:lnSpc>
            </a:pPr>
            <a:endParaRPr lang="es-ES_tradnl" dirty="0">
              <a:solidFill>
                <a:schemeClr val="accent1">
                  <a:lumMod val="75000"/>
                </a:schemeClr>
              </a:solidFill>
              <a:latin typeface="Lucida Sans Unicode"/>
            </a:endParaRPr>
          </a:p>
          <a:p>
            <a:pPr algn="just">
              <a:lnSpc>
                <a:spcPct val="150000"/>
              </a:lnSpc>
            </a:pPr>
            <a:endParaRPr lang="es-ES_tradnl" dirty="0">
              <a:solidFill>
                <a:schemeClr val="accent1">
                  <a:lumMod val="75000"/>
                </a:schemeClr>
              </a:solidFill>
              <a:latin typeface="Lucida Sans Unicode"/>
            </a:endParaRPr>
          </a:p>
          <a:p>
            <a:pPr algn="just">
              <a:lnSpc>
                <a:spcPct val="150000"/>
              </a:lnSpc>
            </a:pPr>
            <a:endParaRPr lang="es-ES_tradnl" dirty="0">
              <a:solidFill>
                <a:schemeClr val="accent1">
                  <a:lumMod val="75000"/>
                </a:schemeClr>
              </a:solidFill>
              <a:latin typeface="Lucida Sans Unicode"/>
            </a:endParaRPr>
          </a:p>
          <a:p>
            <a:pPr algn="just">
              <a:lnSpc>
                <a:spcPct val="150000"/>
              </a:lnSpc>
            </a:pPr>
            <a:r>
              <a:rPr lang="es-ES_tradnl" dirty="0">
                <a:solidFill>
                  <a:schemeClr val="accent1">
                    <a:lumMod val="75000"/>
                  </a:schemeClr>
                </a:solidFill>
                <a:latin typeface="Lucida Sans Unicode"/>
              </a:rPr>
              <a:t>Si parte de 150 g de Fe</a:t>
            </a:r>
            <a:r>
              <a:rPr lang="es-ES_tradnl" baseline="-25000" dirty="0">
                <a:solidFill>
                  <a:schemeClr val="accent1">
                    <a:lumMod val="75000"/>
                  </a:schemeClr>
                </a:solidFill>
                <a:latin typeface="Lucida Sans Unicode"/>
              </a:rPr>
              <a:t>2</a:t>
            </a:r>
            <a:r>
              <a:rPr lang="es-ES_tradnl" dirty="0">
                <a:solidFill>
                  <a:schemeClr val="accent1">
                    <a:lumMod val="75000"/>
                  </a:schemeClr>
                </a:solidFill>
                <a:latin typeface="Lucida Sans Unicode"/>
              </a:rPr>
              <a:t>O</a:t>
            </a:r>
            <a:r>
              <a:rPr lang="es-ES_tradnl" baseline="-25000" dirty="0">
                <a:solidFill>
                  <a:schemeClr val="accent1">
                    <a:lumMod val="75000"/>
                  </a:schemeClr>
                </a:solidFill>
                <a:latin typeface="Lucida Sans Unicode"/>
              </a:rPr>
              <a:t>3</a:t>
            </a:r>
            <a:r>
              <a:rPr lang="es-ES_tradnl" dirty="0">
                <a:solidFill>
                  <a:schemeClr val="accent1">
                    <a:lumMod val="75000"/>
                  </a:schemeClr>
                </a:solidFill>
                <a:latin typeface="Lucida Sans Unicode"/>
              </a:rPr>
              <a:t> como reactivo limitante, ¿Cuál es el rendimiento teórico de Fe?</a:t>
            </a:r>
          </a:p>
          <a:p>
            <a:pPr algn="just">
              <a:lnSpc>
                <a:spcPct val="150000"/>
              </a:lnSpc>
            </a:pPr>
            <a:r>
              <a:rPr lang="es-ES_tradnl" dirty="0">
                <a:solidFill>
                  <a:schemeClr val="accent1">
                    <a:lumMod val="75000"/>
                  </a:schemeClr>
                </a:solidFill>
                <a:latin typeface="Lucida Sans Unicode"/>
              </a:rPr>
              <a:t>Si el rendimiento real de Fe en su ensayo fue de 87,9 g ¿Cuál fue el porcentaje de rendimiento?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F8DE197-B1E2-1A4D-AF0F-B2651A56BE15}"/>
              </a:ext>
            </a:extLst>
          </p:cNvPr>
          <p:cNvSpPr/>
          <p:nvPr/>
        </p:nvSpPr>
        <p:spPr>
          <a:xfrm>
            <a:off x="1191889" y="2028293"/>
            <a:ext cx="771076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_tradnl" sz="3200" b="1" dirty="0">
                <a:solidFill>
                  <a:schemeClr val="accent1">
                    <a:lumMod val="75000"/>
                  </a:schemeClr>
                </a:solidFill>
                <a:latin typeface="Lucida Sans Unicode"/>
              </a:rPr>
              <a:t>Fe</a:t>
            </a:r>
            <a:r>
              <a:rPr lang="es-ES_tradnl" sz="3200" b="1" baseline="-25000" dirty="0">
                <a:solidFill>
                  <a:schemeClr val="accent1">
                    <a:lumMod val="75000"/>
                  </a:schemeClr>
                </a:solidFill>
                <a:latin typeface="Lucida Sans Unicode"/>
              </a:rPr>
              <a:t>2</a:t>
            </a:r>
            <a:r>
              <a:rPr lang="es-ES_tradnl" sz="3200" b="1" dirty="0">
                <a:solidFill>
                  <a:schemeClr val="accent1">
                    <a:lumMod val="75000"/>
                  </a:schemeClr>
                </a:solidFill>
                <a:latin typeface="Lucida Sans Unicode"/>
              </a:rPr>
              <a:t>O</a:t>
            </a:r>
            <a:r>
              <a:rPr lang="es-ES_tradnl" sz="3200" b="1" baseline="-25000" dirty="0">
                <a:solidFill>
                  <a:schemeClr val="accent1">
                    <a:lumMod val="75000"/>
                  </a:schemeClr>
                </a:solidFill>
                <a:latin typeface="Lucida Sans Unicode"/>
              </a:rPr>
              <a:t>3(s)  </a:t>
            </a:r>
            <a:r>
              <a:rPr lang="es-ES_tradnl" sz="3200" b="1" dirty="0">
                <a:solidFill>
                  <a:schemeClr val="accent1">
                    <a:lumMod val="75000"/>
                  </a:schemeClr>
                </a:solidFill>
                <a:latin typeface="Lucida Sans Unicode"/>
              </a:rPr>
              <a:t>+ 3CO</a:t>
            </a:r>
            <a:r>
              <a:rPr lang="es-ES_tradnl" sz="3200" b="1" baseline="-25000" dirty="0">
                <a:solidFill>
                  <a:schemeClr val="accent1">
                    <a:lumMod val="75000"/>
                  </a:schemeClr>
                </a:solidFill>
                <a:latin typeface="Lucida Sans Unicode"/>
              </a:rPr>
              <a:t>(g)  </a:t>
            </a:r>
            <a:r>
              <a:rPr lang="es-ES_tradnl" sz="3200" b="1" dirty="0">
                <a:solidFill>
                  <a:schemeClr val="accent1">
                    <a:lumMod val="75000"/>
                  </a:schemeClr>
                </a:solidFill>
                <a:latin typeface="Lucida Sans Unicode"/>
              </a:rPr>
              <a:t>→ 2 Fe</a:t>
            </a:r>
            <a:r>
              <a:rPr lang="es-ES_tradnl" sz="3200" b="1" baseline="-25000" dirty="0">
                <a:solidFill>
                  <a:schemeClr val="accent1">
                    <a:lumMod val="75000"/>
                  </a:schemeClr>
                </a:solidFill>
                <a:latin typeface="Lucida Sans Unicode"/>
              </a:rPr>
              <a:t>(s)  </a:t>
            </a:r>
            <a:r>
              <a:rPr lang="es-ES_tradnl" sz="3200" b="1" dirty="0">
                <a:solidFill>
                  <a:schemeClr val="accent1">
                    <a:lumMod val="75000"/>
                  </a:schemeClr>
                </a:solidFill>
                <a:latin typeface="Lucida Sans Unicode"/>
              </a:rPr>
              <a:t>+  3 CO</a:t>
            </a:r>
            <a:r>
              <a:rPr lang="es-ES_tradnl" sz="3200" b="1" baseline="-25000" dirty="0">
                <a:solidFill>
                  <a:schemeClr val="accent1">
                    <a:lumMod val="75000"/>
                  </a:schemeClr>
                </a:solidFill>
                <a:latin typeface="Lucida Sans Unicode"/>
              </a:rPr>
              <a:t>2(g)</a:t>
            </a:r>
          </a:p>
        </p:txBody>
      </p:sp>
    </p:spTree>
    <p:extLst>
      <p:ext uri="{BB962C8B-B14F-4D97-AF65-F5344CB8AC3E}">
        <p14:creationId xmlns:p14="http://schemas.microsoft.com/office/powerpoint/2010/main" val="26782408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s-CL" sz="2000" smtClean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pPr algn="ctr"/>
              <a:t>38</a:t>
            </a:fld>
            <a:endParaRPr lang="es-CL" sz="200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EAEEBA65-F4E6-CA4F-BCBC-89B74A2B90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56EF4F04-C2EE-E843-A538-78F792225618}"/>
              </a:ext>
            </a:extLst>
          </p:cNvPr>
          <p:cNvSpPr txBox="1"/>
          <p:nvPr/>
        </p:nvSpPr>
        <p:spPr>
          <a:xfrm>
            <a:off x="4676827" y="5040700"/>
            <a:ext cx="74457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6. Estequiometría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F0A3067-708F-2C4B-B3C4-8E3999F7B05C}"/>
              </a:ext>
            </a:extLst>
          </p:cNvPr>
          <p:cNvSpPr txBox="1"/>
          <p:nvPr/>
        </p:nvSpPr>
        <p:spPr>
          <a:xfrm>
            <a:off x="4595746" y="340242"/>
            <a:ext cx="35087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I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83A0D7D-52B9-104D-B524-E1F8E960B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058" y="1908675"/>
            <a:ext cx="64008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1646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z="200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pPr/>
              <a:t>39</a:t>
            </a:fld>
            <a:endParaRPr lang="es-CL" sz="200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5" name="Imagen 5">
            <a:extLst>
              <a:ext uri="{FF2B5EF4-FFF2-40B4-BE49-F238E27FC236}">
                <a16:creationId xmlns:a16="http://schemas.microsoft.com/office/drawing/2014/main" id="{087B753E-CD7B-6C4B-9D4B-6D18CBFAB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26" y="933109"/>
            <a:ext cx="3860722" cy="2413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ángulo 1">
            <a:extLst>
              <a:ext uri="{FF2B5EF4-FFF2-40B4-BE49-F238E27FC236}">
                <a16:creationId xmlns:a16="http://schemas.microsoft.com/office/drawing/2014/main" id="{92F0395A-ABAA-7B4B-8026-CBCB71495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55" y="152424"/>
            <a:ext cx="414889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s-CL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Pureza de Reactivos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6FDC7D7-42D8-B543-A5EC-4BD670477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514" y="933109"/>
            <a:ext cx="478704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La caliza es la base para la obtención del oxido de calcio, componente esencial del cemento.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Está formada en un 90% de carbonato de calcio, además de otras sustancias que no reaccionan y que por lo tanto, no son de nuestro interés.</a:t>
            </a:r>
          </a:p>
        </p:txBody>
      </p:sp>
      <p:pic>
        <p:nvPicPr>
          <p:cNvPr id="8" name="Picture 2" descr="Resultado de imagen de anillo de oro">
            <a:extLst>
              <a:ext uri="{FF2B5EF4-FFF2-40B4-BE49-F238E27FC236}">
                <a16:creationId xmlns:a16="http://schemas.microsoft.com/office/drawing/2014/main" id="{57588EBC-8480-9744-8FE4-75CFF2787C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51" t="2673" r="9169" b="8984"/>
          <a:stretch/>
        </p:blipFill>
        <p:spPr bwMode="auto">
          <a:xfrm>
            <a:off x="7718805" y="3346202"/>
            <a:ext cx="1955800" cy="2141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uadroTexto 6">
            <a:extLst>
              <a:ext uri="{FF2B5EF4-FFF2-40B4-BE49-F238E27FC236}">
                <a16:creationId xmlns:a16="http://schemas.microsoft.com/office/drawing/2014/main" id="{A1262A74-8248-6A41-8CCE-0C65EF7CD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127" y="3838407"/>
            <a:ext cx="6653211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s-CL" altLang="es-CL" sz="2000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Otra forma de expresar la pureza en el caso del oro, es mediante su ley o sus quilates. 24 quilates significa oro puro.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1B3F5B6A-F47A-412C-906C-3E143FCB3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193" y="5108987"/>
            <a:ext cx="8244408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457200" eaLnBrk="0" hangingPunct="0">
              <a:lnSpc>
                <a:spcPct val="60000"/>
              </a:lnSpc>
              <a:spcBef>
                <a:spcPct val="50000"/>
              </a:spcBef>
              <a:buClr>
                <a:srgbClr val="C0504D"/>
              </a:buClr>
              <a:buFont typeface="Monotype Sorts" charset="2"/>
              <a:buNone/>
            </a:pPr>
            <a:r>
              <a:rPr kumimoji="1" lang="es-ES_tradnl" sz="2000" b="1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	</a:t>
            </a:r>
            <a:endParaRPr kumimoji="1" lang="es-ES" sz="2000" b="1" dirty="0">
              <a:solidFill>
                <a:srgbClr val="000000"/>
              </a:solidFill>
              <a:latin typeface="Tahoma" pitchFamily="34" charset="0"/>
              <a:cs typeface="Times New Roman" pitchFamily="18" charset="0"/>
            </a:endParaRPr>
          </a:p>
          <a:p>
            <a:pPr defTabSz="457200" eaLnBrk="0" hangingPunct="0">
              <a:spcBef>
                <a:spcPct val="50000"/>
              </a:spcBef>
              <a:buClr>
                <a:srgbClr val="C0504D"/>
              </a:buClr>
              <a:buFont typeface="Monotype Sorts" charset="2"/>
              <a:buNone/>
            </a:pPr>
            <a:r>
              <a:rPr kumimoji="1" lang="es-ES" sz="2000" b="1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% de </a:t>
            </a:r>
            <a:r>
              <a:rPr kumimoji="1" lang="es-ES_tradnl" sz="2000" b="1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pureza </a:t>
            </a:r>
            <a:r>
              <a:rPr kumimoji="1" lang="es-ES" sz="2000" b="1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=</a:t>
            </a:r>
            <a:r>
              <a:rPr kumimoji="1" lang="es-CL" sz="2000" b="1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    </a:t>
            </a:r>
            <a:r>
              <a:rPr kumimoji="1" lang="es-ES_tradnl" sz="2000" b="1" u="sng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masa sustancia pura </a:t>
            </a:r>
            <a:r>
              <a:rPr kumimoji="1" lang="es-ES_tradnl" sz="2000" b="1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             </a:t>
            </a:r>
            <a:r>
              <a:rPr kumimoji="1" lang="es-ES" sz="2000" b="1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x  100%</a:t>
            </a:r>
          </a:p>
          <a:p>
            <a:pPr defTabSz="457200" eaLnBrk="0" hangingPunct="0">
              <a:lnSpc>
                <a:spcPct val="60000"/>
              </a:lnSpc>
              <a:spcBef>
                <a:spcPct val="50000"/>
              </a:spcBef>
              <a:buClr>
                <a:srgbClr val="C0504D"/>
              </a:buClr>
              <a:buFont typeface="Monotype Sorts" charset="2"/>
              <a:buNone/>
            </a:pPr>
            <a:r>
              <a:rPr kumimoji="1" lang="es-ES" sz="2000" b="1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 </a:t>
            </a:r>
            <a:r>
              <a:rPr kumimoji="1" lang="es-ES_tradnl" sz="2000" b="1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                         masa sustancia impura o total </a:t>
            </a:r>
            <a:endParaRPr kumimoji="1" lang="es-ES" sz="2000" b="1" dirty="0">
              <a:solidFill>
                <a:srgbClr val="000000"/>
              </a:solidFill>
              <a:latin typeface="Tahoma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8368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z="2000" smtClean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pPr/>
              <a:t>40</a:t>
            </a:fld>
            <a:endParaRPr lang="es-CL" sz="2000" dirty="0">
              <a:solidFill>
                <a:schemeClr val="bg1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A5B10B2-2873-5F4D-B732-D2A589EE09C6}"/>
              </a:ext>
            </a:extLst>
          </p:cNvPr>
          <p:cNvSpPr txBox="1"/>
          <p:nvPr/>
        </p:nvSpPr>
        <p:spPr>
          <a:xfrm>
            <a:off x="2027436" y="2931560"/>
            <a:ext cx="7780961" cy="995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5867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Ejercicios</a:t>
            </a:r>
          </a:p>
        </p:txBody>
      </p:sp>
      <p:grpSp>
        <p:nvGrpSpPr>
          <p:cNvPr id="4" name="Shape 257">
            <a:extLst>
              <a:ext uri="{FF2B5EF4-FFF2-40B4-BE49-F238E27FC236}">
                <a16:creationId xmlns:a16="http://schemas.microsoft.com/office/drawing/2014/main" id="{04B9F9FE-CAD3-B543-8CDF-E1698D657268}"/>
              </a:ext>
            </a:extLst>
          </p:cNvPr>
          <p:cNvGrpSpPr/>
          <p:nvPr/>
        </p:nvGrpSpPr>
        <p:grpSpPr>
          <a:xfrm>
            <a:off x="5125820" y="1447365"/>
            <a:ext cx="1171845" cy="1045591"/>
            <a:chOff x="5233525" y="4954450"/>
            <a:chExt cx="538275" cy="516350"/>
          </a:xfrm>
        </p:grpSpPr>
        <p:sp>
          <p:nvSpPr>
            <p:cNvPr id="5" name="Shape 258">
              <a:extLst>
                <a:ext uri="{FF2B5EF4-FFF2-40B4-BE49-F238E27FC236}">
                  <a16:creationId xmlns:a16="http://schemas.microsoft.com/office/drawing/2014/main" id="{3E8DF75F-16CC-044D-B3EB-21E22FDE5D71}"/>
                </a:ext>
              </a:extLst>
            </p:cNvPr>
            <p:cNvSpPr/>
            <p:nvPr/>
          </p:nvSpPr>
          <p:spPr>
            <a:xfrm>
              <a:off x="5637825" y="4954450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" name="Shape 259">
              <a:extLst>
                <a:ext uri="{FF2B5EF4-FFF2-40B4-BE49-F238E27FC236}">
                  <a16:creationId xmlns:a16="http://schemas.microsoft.com/office/drawing/2014/main" id="{00E51DBF-8113-B84A-A35D-3F18272B4179}"/>
                </a:ext>
              </a:extLst>
            </p:cNvPr>
            <p:cNvSpPr/>
            <p:nvPr/>
          </p:nvSpPr>
          <p:spPr>
            <a:xfrm>
              <a:off x="5323025" y="4980625"/>
              <a:ext cx="88925" cy="88925"/>
            </a:xfrm>
            <a:custGeom>
              <a:avLst/>
              <a:gdLst/>
              <a:ahLst/>
              <a:cxnLst/>
              <a:rect l="0" t="0" r="0" b="0"/>
              <a:pathLst>
                <a:path w="3557" h="3557" fill="none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" name="Shape 260">
              <a:extLst>
                <a:ext uri="{FF2B5EF4-FFF2-40B4-BE49-F238E27FC236}">
                  <a16:creationId xmlns:a16="http://schemas.microsoft.com/office/drawing/2014/main" id="{05CBC384-9B02-6C47-A556-79B0CE94ACE9}"/>
                </a:ext>
              </a:extLst>
            </p:cNvPr>
            <p:cNvSpPr/>
            <p:nvPr/>
          </p:nvSpPr>
          <p:spPr>
            <a:xfrm>
              <a:off x="5233525" y="5255225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" name="Shape 261">
              <a:extLst>
                <a:ext uri="{FF2B5EF4-FFF2-40B4-BE49-F238E27FC236}">
                  <a16:creationId xmlns:a16="http://schemas.microsoft.com/office/drawing/2014/main" id="{7CB79486-E909-DD4B-8865-6C314698F68D}"/>
                </a:ext>
              </a:extLst>
            </p:cNvPr>
            <p:cNvSpPr/>
            <p:nvPr/>
          </p:nvSpPr>
          <p:spPr>
            <a:xfrm>
              <a:off x="5453325" y="5382475"/>
              <a:ext cx="88925" cy="88325"/>
            </a:xfrm>
            <a:custGeom>
              <a:avLst/>
              <a:gdLst/>
              <a:ahLst/>
              <a:cxnLst/>
              <a:rect l="0" t="0" r="0" b="0"/>
              <a:pathLst>
                <a:path w="3557" h="3533" fill="none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Shape 262">
              <a:extLst>
                <a:ext uri="{FF2B5EF4-FFF2-40B4-BE49-F238E27FC236}">
                  <a16:creationId xmlns:a16="http://schemas.microsoft.com/office/drawing/2014/main" id="{BAF265E0-CBE6-4040-907F-05F1F377C216}"/>
                </a:ext>
              </a:extLst>
            </p:cNvPr>
            <p:cNvSpPr/>
            <p:nvPr/>
          </p:nvSpPr>
          <p:spPr>
            <a:xfrm>
              <a:off x="5682875" y="5188875"/>
              <a:ext cx="88925" cy="89525"/>
            </a:xfrm>
            <a:custGeom>
              <a:avLst/>
              <a:gdLst/>
              <a:ahLst/>
              <a:cxnLst/>
              <a:rect l="0" t="0" r="0" b="0"/>
              <a:pathLst>
                <a:path w="3557" h="3581" fill="none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Shape 263">
              <a:extLst>
                <a:ext uri="{FF2B5EF4-FFF2-40B4-BE49-F238E27FC236}">
                  <a16:creationId xmlns:a16="http://schemas.microsoft.com/office/drawing/2014/main" id="{86187FDB-D2A0-B342-A64D-09F3799BCEDF}"/>
                </a:ext>
              </a:extLst>
            </p:cNvPr>
            <p:cNvSpPr/>
            <p:nvPr/>
          </p:nvSpPr>
          <p:spPr>
            <a:xfrm>
              <a:off x="5411925" y="5110925"/>
              <a:ext cx="188775" cy="189400"/>
            </a:xfrm>
            <a:custGeom>
              <a:avLst/>
              <a:gdLst/>
              <a:ahLst/>
              <a:cxnLst/>
              <a:rect l="0" t="0" r="0" b="0"/>
              <a:pathLst>
                <a:path w="7551" h="7576" fill="none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" name="Shape 264">
              <a:extLst>
                <a:ext uri="{FF2B5EF4-FFF2-40B4-BE49-F238E27FC236}">
                  <a16:creationId xmlns:a16="http://schemas.microsoft.com/office/drawing/2014/main" id="{82924474-FA90-8C42-A57C-5842FE291D36}"/>
                </a:ext>
              </a:extLst>
            </p:cNvPr>
            <p:cNvSpPr/>
            <p:nvPr/>
          </p:nvSpPr>
          <p:spPr>
            <a:xfrm>
              <a:off x="5367475" y="5025075"/>
              <a:ext cx="81600" cy="105975"/>
            </a:xfrm>
            <a:custGeom>
              <a:avLst/>
              <a:gdLst/>
              <a:ahLst/>
              <a:cxnLst/>
              <a:rect l="0" t="0" r="0" b="0"/>
              <a:pathLst>
                <a:path w="3264" h="4239" fill="none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" name="Shape 265">
              <a:extLst>
                <a:ext uri="{FF2B5EF4-FFF2-40B4-BE49-F238E27FC236}">
                  <a16:creationId xmlns:a16="http://schemas.microsoft.com/office/drawing/2014/main" id="{D426B43C-121B-804D-A231-BA36FA3616A2}"/>
                </a:ext>
              </a:extLst>
            </p:cNvPr>
            <p:cNvSpPr/>
            <p:nvPr/>
          </p:nvSpPr>
          <p:spPr>
            <a:xfrm>
              <a:off x="5567800" y="4999500"/>
              <a:ext cx="115100" cy="133975"/>
            </a:xfrm>
            <a:custGeom>
              <a:avLst/>
              <a:gdLst/>
              <a:ahLst/>
              <a:cxnLst/>
              <a:rect l="0" t="0" r="0" b="0"/>
              <a:pathLst>
                <a:path w="4604" h="5359" fill="none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" name="Shape 266">
              <a:extLst>
                <a:ext uri="{FF2B5EF4-FFF2-40B4-BE49-F238E27FC236}">
                  <a16:creationId xmlns:a16="http://schemas.microsoft.com/office/drawing/2014/main" id="{00D2FF67-53FB-234F-B3A8-8CFDF5C33ECF}"/>
                </a:ext>
              </a:extLst>
            </p:cNvPr>
            <p:cNvSpPr/>
            <p:nvPr/>
          </p:nvSpPr>
          <p:spPr>
            <a:xfrm>
              <a:off x="5600075" y="5217475"/>
              <a:ext cx="127275" cy="16475"/>
            </a:xfrm>
            <a:custGeom>
              <a:avLst/>
              <a:gdLst/>
              <a:ahLst/>
              <a:cxnLst/>
              <a:rect l="0" t="0" r="0" b="0"/>
              <a:pathLst>
                <a:path w="5091" h="659" fill="none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" name="Shape 267">
              <a:extLst>
                <a:ext uri="{FF2B5EF4-FFF2-40B4-BE49-F238E27FC236}">
                  <a16:creationId xmlns:a16="http://schemas.microsoft.com/office/drawing/2014/main" id="{3F48E860-50C8-9B4E-B0BD-C55D0C2FE270}"/>
                </a:ext>
              </a:extLst>
            </p:cNvPr>
            <p:cNvSpPr/>
            <p:nvPr/>
          </p:nvSpPr>
          <p:spPr>
            <a:xfrm>
              <a:off x="5497775" y="5299675"/>
              <a:ext cx="4900" cy="126675"/>
            </a:xfrm>
            <a:custGeom>
              <a:avLst/>
              <a:gdLst/>
              <a:ahLst/>
              <a:cxnLst/>
              <a:rect l="0" t="0" r="0" b="0"/>
              <a:pathLst>
                <a:path w="196" h="5067" fill="none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" name="Shape 268">
              <a:extLst>
                <a:ext uri="{FF2B5EF4-FFF2-40B4-BE49-F238E27FC236}">
                  <a16:creationId xmlns:a16="http://schemas.microsoft.com/office/drawing/2014/main" id="{AC1A6B39-DB16-724E-A189-8011253BEA2F}"/>
                </a:ext>
              </a:extLst>
            </p:cNvPr>
            <p:cNvSpPr/>
            <p:nvPr/>
          </p:nvSpPr>
          <p:spPr>
            <a:xfrm>
              <a:off x="5277975" y="5241825"/>
              <a:ext cx="141275" cy="58500"/>
            </a:xfrm>
            <a:custGeom>
              <a:avLst/>
              <a:gdLst/>
              <a:ahLst/>
              <a:cxnLst/>
              <a:rect l="0" t="0" r="0" b="0"/>
              <a:pathLst>
                <a:path w="5651" h="2340" fill="none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pic>
        <p:nvPicPr>
          <p:cNvPr id="16" name="Imagen 15">
            <a:extLst>
              <a:ext uri="{FF2B5EF4-FFF2-40B4-BE49-F238E27FC236}">
                <a16:creationId xmlns:a16="http://schemas.microsoft.com/office/drawing/2014/main" id="{0AD80E5E-69A2-AA42-A559-DF79D111F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706" y="135466"/>
            <a:ext cx="2116765" cy="1058383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3AD31768-1C1A-C441-A5C4-6052FFE5EE5A}"/>
              </a:ext>
            </a:extLst>
          </p:cNvPr>
          <p:cNvSpPr txBox="1"/>
          <p:nvPr/>
        </p:nvSpPr>
        <p:spPr>
          <a:xfrm>
            <a:off x="4311027" y="4441139"/>
            <a:ext cx="74457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6. Estequiometría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9472569-EA6D-DD4D-A1FD-262CAF870970}"/>
              </a:ext>
            </a:extLst>
          </p:cNvPr>
          <p:cNvSpPr txBox="1"/>
          <p:nvPr/>
        </p:nvSpPr>
        <p:spPr>
          <a:xfrm>
            <a:off x="692211" y="431702"/>
            <a:ext cx="35087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I</a:t>
            </a:r>
          </a:p>
        </p:txBody>
      </p:sp>
    </p:spTree>
    <p:extLst>
      <p:ext uri="{BB962C8B-B14F-4D97-AF65-F5344CB8AC3E}">
        <p14:creationId xmlns:p14="http://schemas.microsoft.com/office/powerpoint/2010/main" val="41453328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>
          <a:xfrm>
            <a:off x="11343550" y="6333135"/>
            <a:ext cx="779019" cy="524800"/>
          </a:xfrm>
        </p:spPr>
        <p:txBody>
          <a:bodyPr/>
          <a:lstStyle/>
          <a:p>
            <a:fld id="{00000000-1234-1234-1234-123412341234}" type="slidenum">
              <a:rPr lang="es-CL" sz="2000" smtClean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pPr/>
              <a:t>41</a:t>
            </a:fld>
            <a:endParaRPr lang="es-CL" sz="200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2082" y="132951"/>
            <a:ext cx="2253963" cy="1058383"/>
          </a:xfrm>
          <a:prstGeom prst="rect">
            <a:avLst/>
          </a:prstGeom>
        </p:spPr>
      </p:pic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592483" y="114308"/>
            <a:ext cx="196704" cy="4001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2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23" name="CuadroTexto 2">
            <a:extLst>
              <a:ext uri="{FF2B5EF4-FFF2-40B4-BE49-F238E27FC236}">
                <a16:creationId xmlns:a16="http://schemas.microsoft.com/office/drawing/2014/main" id="{295FDC4F-66B5-1445-ABA5-AF2985202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347" y="498660"/>
            <a:ext cx="9156861" cy="1438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CL" altLang="es-CL" sz="2000" b="1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1.- </a:t>
            </a: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Un mineral de Zn tiene un 85% de pureza. Si usted tiene 25 g de este mineral. Determine la masa de plata obtenida, sabiendo que la reacción tiene un 70% de rendimiento. Según la siguiente reacción:</a:t>
            </a:r>
          </a:p>
        </p:txBody>
      </p:sp>
      <p:sp>
        <p:nvSpPr>
          <p:cNvPr id="24" name="Rectángulo 4">
            <a:extLst>
              <a:ext uri="{FF2B5EF4-FFF2-40B4-BE49-F238E27FC236}">
                <a16:creationId xmlns:a16="http://schemas.microsoft.com/office/drawing/2014/main" id="{47F6CACD-00A6-4741-9A3C-8A0737BC2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2" y="2820844"/>
            <a:ext cx="10350500" cy="674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s-CL" altLang="es-CL" sz="2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 </a:t>
            </a:r>
            <a:r>
              <a:rPr lang="es-CL" altLang="es-CL" sz="36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Zn </a:t>
            </a:r>
            <a:r>
              <a:rPr lang="es-CL" altLang="es-CL" sz="36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(s) </a:t>
            </a:r>
            <a:r>
              <a:rPr lang="es-CL" altLang="es-CL" sz="36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+ AgNO</a:t>
            </a:r>
            <a:r>
              <a:rPr lang="es-CL" altLang="es-CL" sz="36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3</a:t>
            </a:r>
            <a:r>
              <a:rPr lang="es-CL" altLang="es-CL" sz="36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sz="36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(ac)  </a:t>
            </a:r>
            <a:r>
              <a:rPr lang="es-CL" altLang="es-CL" sz="36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→  Ag </a:t>
            </a:r>
            <a:r>
              <a:rPr lang="es-CL" altLang="es-CL" sz="36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(s)</a:t>
            </a:r>
            <a:r>
              <a:rPr lang="es-CL" altLang="es-CL" sz="36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+ Zn (NO</a:t>
            </a:r>
            <a:r>
              <a:rPr lang="es-CL" altLang="es-CL" sz="36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3</a:t>
            </a:r>
            <a:r>
              <a:rPr lang="es-CL" altLang="es-CL" sz="36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)</a:t>
            </a:r>
            <a:r>
              <a:rPr lang="es-CL" altLang="es-CL" sz="36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sz="36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sz="36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(ac)</a:t>
            </a:r>
          </a:p>
        </p:txBody>
      </p:sp>
      <p:pic>
        <p:nvPicPr>
          <p:cNvPr id="26" name="Picture 2" descr="Resultado de imagen de atención">
            <a:extLst>
              <a:ext uri="{FF2B5EF4-FFF2-40B4-BE49-F238E27FC236}">
                <a16:creationId xmlns:a16="http://schemas.microsoft.com/office/drawing/2014/main" id="{B5F3DE1E-F2FF-A546-9195-480DEA8AE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630822">
            <a:off x="204347" y="4143939"/>
            <a:ext cx="2667441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CuadroTexto 6">
            <a:extLst>
              <a:ext uri="{FF2B5EF4-FFF2-40B4-BE49-F238E27FC236}">
                <a16:creationId xmlns:a16="http://schemas.microsoft.com/office/drawing/2014/main" id="{B39CFAD6-8BC5-1F42-BA1D-6ED55E6D6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4137" y="6036913"/>
            <a:ext cx="83837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s-CL" altLang="es-CL" sz="2000" dirty="0">
                <a:solidFill>
                  <a:srgbClr val="FF9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La ecuación no está balanceada, es lo primero que debes hacer!!!!</a:t>
            </a:r>
          </a:p>
        </p:txBody>
      </p:sp>
    </p:spTree>
    <p:extLst>
      <p:ext uri="{BB962C8B-B14F-4D97-AF65-F5344CB8AC3E}">
        <p14:creationId xmlns:p14="http://schemas.microsoft.com/office/powerpoint/2010/main" val="16545898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z="2000" smtClean="0">
                <a:solidFill>
                  <a:schemeClr val="accent1">
                    <a:lumMod val="75000"/>
                  </a:schemeClr>
                </a:solidFill>
              </a:rPr>
              <a:pPr/>
              <a:t>42</a:t>
            </a:fld>
            <a:endParaRPr lang="es-CL" sz="200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2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" name="Nube 9">
            <a:extLst>
              <a:ext uri="{FF2B5EF4-FFF2-40B4-BE49-F238E27FC236}">
                <a16:creationId xmlns:a16="http://schemas.microsoft.com/office/drawing/2014/main" id="{011F2244-957D-F842-AB02-66153904F9DA}"/>
              </a:ext>
            </a:extLst>
          </p:cNvPr>
          <p:cNvSpPr/>
          <p:nvPr/>
        </p:nvSpPr>
        <p:spPr>
          <a:xfrm>
            <a:off x="211277" y="785877"/>
            <a:ext cx="3481298" cy="237199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L" dirty="0"/>
          </a:p>
        </p:txBody>
      </p:sp>
      <p:sp>
        <p:nvSpPr>
          <p:cNvPr id="12" name="CuadroTexto 3">
            <a:extLst>
              <a:ext uri="{FF2B5EF4-FFF2-40B4-BE49-F238E27FC236}">
                <a16:creationId xmlns:a16="http://schemas.microsoft.com/office/drawing/2014/main" id="{7E24919C-674E-5E4E-AD10-6C60602A4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015" y="1150703"/>
            <a:ext cx="2345821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s-CL" altLang="es-CL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Una vez que la ecuación está balanceada. Debes calcular la masa de Zn puro</a:t>
            </a:r>
          </a:p>
        </p:txBody>
      </p:sp>
      <p:sp>
        <p:nvSpPr>
          <p:cNvPr id="14" name="Rectángulo: biselado 5">
            <a:extLst>
              <a:ext uri="{FF2B5EF4-FFF2-40B4-BE49-F238E27FC236}">
                <a16:creationId xmlns:a16="http://schemas.microsoft.com/office/drawing/2014/main" id="{A8679435-B9B2-4B4C-96A2-AF2E18B5CA03}"/>
              </a:ext>
            </a:extLst>
          </p:cNvPr>
          <p:cNvSpPr/>
          <p:nvPr/>
        </p:nvSpPr>
        <p:spPr>
          <a:xfrm>
            <a:off x="6643886" y="4546249"/>
            <a:ext cx="3538137" cy="1159777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L"/>
          </a:p>
        </p:txBody>
      </p:sp>
      <p:sp>
        <p:nvSpPr>
          <p:cNvPr id="15" name="CuadroTexto 6">
            <a:extLst>
              <a:ext uri="{FF2B5EF4-FFF2-40B4-BE49-F238E27FC236}">
                <a16:creationId xmlns:a16="http://schemas.microsoft.com/office/drawing/2014/main" id="{1C265D83-7EC6-2D44-8CAB-7952099E85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676" y="4833751"/>
            <a:ext cx="314055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s-CL" altLang="es-CL" sz="16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Relación estequiométrica entre Zn y Ag</a:t>
            </a:r>
          </a:p>
        </p:txBody>
      </p:sp>
      <p:sp>
        <p:nvSpPr>
          <p:cNvPr id="16" name="Rectángulo 4">
            <a:extLst>
              <a:ext uri="{FF2B5EF4-FFF2-40B4-BE49-F238E27FC236}">
                <a16:creationId xmlns:a16="http://schemas.microsoft.com/office/drawing/2014/main" id="{D5B42A3F-F472-A542-ACE2-BE8D201A4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299" y="105981"/>
            <a:ext cx="8666757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6038">
              <a:lnSpc>
                <a:spcPct val="105000"/>
              </a:lnSpc>
              <a:spcAft>
                <a:spcPts val="800"/>
              </a:spcAft>
            </a:pPr>
            <a:r>
              <a:rPr lang="es-CL" altLang="es-CL" sz="32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Zn</a:t>
            </a:r>
            <a:r>
              <a:rPr lang="es-CL" altLang="es-CL" sz="32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(s) </a:t>
            </a:r>
            <a:r>
              <a:rPr lang="es-CL" altLang="es-CL" sz="32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+ </a:t>
            </a:r>
            <a:r>
              <a:rPr lang="es-CL" altLang="es-CL" sz="3200" dirty="0">
                <a:solidFill>
                  <a:srgbClr val="FF2F92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sz="32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AgNO</a:t>
            </a:r>
            <a:r>
              <a:rPr lang="es-CL" altLang="es-CL" sz="32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3(ac)  </a:t>
            </a:r>
            <a:r>
              <a:rPr lang="es-CL" altLang="es-CL" sz="32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→  </a:t>
            </a:r>
            <a:r>
              <a:rPr lang="es-CL" altLang="es-CL" sz="3200" dirty="0">
                <a:solidFill>
                  <a:srgbClr val="FF2F92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sz="32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Ag</a:t>
            </a:r>
            <a:r>
              <a:rPr lang="es-CL" altLang="es-CL" sz="32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(s)</a:t>
            </a:r>
            <a:r>
              <a:rPr lang="es-CL" altLang="es-CL" sz="32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+ Zn (NO</a:t>
            </a:r>
            <a:r>
              <a:rPr lang="es-CL" altLang="es-CL" sz="32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3</a:t>
            </a:r>
            <a:r>
              <a:rPr lang="es-CL" altLang="es-CL" sz="32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)</a:t>
            </a:r>
            <a:r>
              <a:rPr lang="es-CL" altLang="es-CL" sz="32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2(ac)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ángulo 4">
                <a:extLst>
                  <a:ext uri="{FF2B5EF4-FFF2-40B4-BE49-F238E27FC236}">
                    <a16:creationId xmlns:a16="http://schemas.microsoft.com/office/drawing/2014/main" id="{06F9A3CC-5A02-014D-B4F5-12C3041940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6725" y="3264070"/>
                <a:ext cx="7075459" cy="999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4572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marL="46038">
                  <a:lnSpc>
                    <a:spcPct val="10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altLang="es-CL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Lucida Sans Unicode" panose="020B0602030504020204" pitchFamily="34" charset="0"/>
                        </a:rPr>
                        <m:t>𝑀𝑜𝑙𝑒𝑠</m:t>
                      </m:r>
                      <m:r>
                        <a:rPr lang="es-ES" altLang="es-CL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Lucida Sans Unicode" panose="020B0602030504020204" pitchFamily="34" charset="0"/>
                        </a:rPr>
                        <m:t> </m:t>
                      </m:r>
                      <m:r>
                        <a:rPr lang="es-ES" altLang="es-CL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Lucida Sans Unicode" panose="020B0602030504020204" pitchFamily="34" charset="0"/>
                        </a:rPr>
                        <m:t>𝑑𝑒</m:t>
                      </m:r>
                      <m:r>
                        <a:rPr lang="es-ES" altLang="es-CL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Lucida Sans Unicode" panose="020B0602030504020204" pitchFamily="34" charset="0"/>
                        </a:rPr>
                        <m:t> </m:t>
                      </m:r>
                      <m:r>
                        <a:rPr lang="es-ES" altLang="es-CL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Lucida Sans Unicode" panose="020B0602030504020204" pitchFamily="34" charset="0"/>
                        </a:rPr>
                        <m:t>𝑍𝑛</m:t>
                      </m:r>
                      <m:r>
                        <a:rPr lang="es-ES" altLang="es-CL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Lucida Sans Unicode" panose="020B0602030504020204" pitchFamily="34" charset="0"/>
                        </a:rPr>
                        <m:t>=</m:t>
                      </m:r>
                      <m:f>
                        <m:fPr>
                          <m:ctrlPr>
                            <a:rPr lang="es-ES" altLang="es-CL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Lucida Sans Unicode" panose="020B0602030504020204" pitchFamily="34" charset="0"/>
                            </a:rPr>
                          </m:ctrlPr>
                        </m:fPr>
                        <m:num>
                          <m:r>
                            <a:rPr lang="es-ES" altLang="es-CL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Lucida Sans Unicode" panose="020B0602030504020204" pitchFamily="34" charset="0"/>
                            </a:rPr>
                            <m:t>21,25 </m:t>
                          </m:r>
                          <m:r>
                            <a:rPr lang="es-ES" altLang="es-CL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Lucida Sans Unicode" panose="020B0602030504020204" pitchFamily="34" charset="0"/>
                            </a:rPr>
                            <m:t>𝑔</m:t>
                          </m:r>
                        </m:num>
                        <m:den>
                          <m:r>
                            <a:rPr lang="es-ES" altLang="es-CL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Lucida Sans Unicode" panose="020B0602030504020204" pitchFamily="34" charset="0"/>
                            </a:rPr>
                            <m:t>65,37 </m:t>
                          </m:r>
                          <m:r>
                            <a:rPr lang="es-ES" altLang="es-CL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Lucida Sans Unicode" panose="020B0602030504020204" pitchFamily="34" charset="0"/>
                            </a:rPr>
                            <m:t>𝑔</m:t>
                          </m:r>
                          <m:r>
                            <a:rPr lang="es-ES" altLang="es-CL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Lucida Sans Unicode" panose="020B0602030504020204" pitchFamily="34" charset="0"/>
                            </a:rPr>
                            <m:t>/</m:t>
                          </m:r>
                          <m:r>
                            <a:rPr lang="es-ES" altLang="es-CL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Lucida Sans Unicode" panose="020B0602030504020204" pitchFamily="34" charset="0"/>
                            </a:rPr>
                            <m:t>𝑚𝑜𝑙</m:t>
                          </m:r>
                        </m:den>
                      </m:f>
                      <m:r>
                        <a:rPr lang="es-ES" altLang="es-CL" sz="2400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Lucida Sans Unicode" panose="020B0602030504020204" pitchFamily="34" charset="0"/>
                        </a:rPr>
                        <m:t>=0,325 </m:t>
                      </m:r>
                      <m:r>
                        <m:rPr>
                          <m:sty m:val="p"/>
                        </m:rPr>
                        <a:rPr lang="es-ES" altLang="es-CL" sz="2400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Lucida Sans Unicode" panose="020B0602030504020204" pitchFamily="34" charset="0"/>
                        </a:rPr>
                        <m:t>moles</m:t>
                      </m:r>
                      <m:r>
                        <a:rPr lang="es-ES" altLang="es-CL" sz="2400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Lucida Sans Unicode" panose="020B060203050402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altLang="es-CL" sz="2400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Lucida Sans Unicode" panose="020B0602030504020204" pitchFamily="34" charset="0"/>
                        </a:rPr>
                        <m:t>de</m:t>
                      </m:r>
                      <m:r>
                        <a:rPr lang="es-ES" altLang="es-CL" sz="2400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Lucida Sans Unicode" panose="020B060203050402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altLang="es-CL" sz="2400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Lucida Sans Unicode" panose="020B0602030504020204" pitchFamily="34" charset="0"/>
                        </a:rPr>
                        <m:t>Zn</m:t>
                      </m:r>
                    </m:oMath>
                  </m:oMathPara>
                </a14:m>
                <a:endParaRPr lang="es-CL" altLang="es-CL" sz="2400" baseline="-25000" dirty="0">
                  <a:solidFill>
                    <a:schemeClr val="accent1">
                      <a:lumMod val="75000"/>
                    </a:schemeClr>
                  </a:solidFill>
                  <a:latin typeface="Lucida Sans Unicode" panose="020B0602030504020204" pitchFamily="34" charset="0"/>
                  <a:ea typeface="Calibri" panose="020F0502020204030204" pitchFamily="34" charset="0"/>
                  <a:cs typeface="Lucida Sans Unicode" panose="020B0602030504020204" pitchFamily="34" charset="0"/>
                </a:endParaRPr>
              </a:p>
            </p:txBody>
          </p:sp>
        </mc:Choice>
        <mc:Fallback xmlns="">
          <p:sp>
            <p:nvSpPr>
              <p:cNvPr id="17" name="Rectángulo 4">
                <a:extLst>
                  <a:ext uri="{FF2B5EF4-FFF2-40B4-BE49-F238E27FC236}">
                    <a16:creationId xmlns:a16="http://schemas.microsoft.com/office/drawing/2014/main" id="{06F9A3CC-5A02-014D-B4F5-12C3041940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6725" y="3264070"/>
                <a:ext cx="7075459" cy="9993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ángulo 4">
            <a:extLst>
              <a:ext uri="{FF2B5EF4-FFF2-40B4-BE49-F238E27FC236}">
                <a16:creationId xmlns:a16="http://schemas.microsoft.com/office/drawing/2014/main" id="{AE5CC703-1173-3E44-A6D7-33F8B6DA4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5900" y="1590024"/>
            <a:ext cx="3633861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6038">
              <a:lnSpc>
                <a:spcPct val="105000"/>
              </a:lnSpc>
              <a:spcAft>
                <a:spcPts val="800"/>
              </a:spcAft>
            </a:pPr>
            <a:r>
              <a:rPr lang="es-CL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 X</a:t>
            </a:r>
            <a:r>
              <a:rPr lang="es-CL" altLang="es-CL" sz="24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g  </a:t>
            </a:r>
            <a:r>
              <a:rPr lang="es-CL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→    85 % pureza</a:t>
            </a:r>
            <a:endParaRPr lang="es-CL" altLang="es-CL" sz="2400" baseline="-25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ea typeface="Calibri" panose="020F050202020403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9" name="Rectángulo 4">
            <a:extLst>
              <a:ext uri="{FF2B5EF4-FFF2-40B4-BE49-F238E27FC236}">
                <a16:creationId xmlns:a16="http://schemas.microsoft.com/office/drawing/2014/main" id="{1ADC0370-606E-E443-BE03-4FAC5E90E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907" y="2254503"/>
            <a:ext cx="3237563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6038">
              <a:lnSpc>
                <a:spcPct val="105000"/>
              </a:lnSpc>
              <a:spcAft>
                <a:spcPts val="800"/>
              </a:spcAft>
            </a:pPr>
            <a:r>
              <a:rPr lang="es-CL" altLang="es-CL" sz="2400" b="1" dirty="0">
                <a:solidFill>
                  <a:srgbClr val="0080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 X</a:t>
            </a:r>
            <a:r>
              <a:rPr lang="es-CL" altLang="es-CL" sz="2400" b="1" baseline="-25000" dirty="0">
                <a:solidFill>
                  <a:srgbClr val="0080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</a:t>
            </a:r>
            <a:r>
              <a:rPr lang="es-CL" altLang="es-CL" sz="2400" b="1" dirty="0">
                <a:solidFill>
                  <a:srgbClr val="0080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= 21,25 g </a:t>
            </a:r>
            <a:endParaRPr lang="es-CL" altLang="es-CL" sz="2400" b="1" baseline="-25000" dirty="0">
              <a:solidFill>
                <a:srgbClr val="008000"/>
              </a:solidFill>
              <a:latin typeface="Lucida Sans Unicode" panose="020B0602030504020204" pitchFamily="34" charset="0"/>
              <a:ea typeface="Calibri" panose="020F050202020403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20" name="Rectángulo 4">
            <a:extLst>
              <a:ext uri="{FF2B5EF4-FFF2-40B4-BE49-F238E27FC236}">
                <a16:creationId xmlns:a16="http://schemas.microsoft.com/office/drawing/2014/main" id="{380AFCB5-D2B1-0740-8E03-F79646917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4693" y="2242603"/>
            <a:ext cx="2543515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6038" algn="ctr">
              <a:lnSpc>
                <a:spcPct val="105000"/>
              </a:lnSpc>
              <a:spcAft>
                <a:spcPts val="800"/>
              </a:spcAft>
              <a:tabLst/>
            </a:pPr>
            <a:r>
              <a:rPr lang="es-CL" altLang="es-CL" sz="2000" b="1" dirty="0">
                <a:solidFill>
                  <a:srgbClr val="0080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La masa real de Zn es de 21,25g</a:t>
            </a:r>
            <a:endParaRPr lang="es-CL" altLang="es-CL" sz="2000" b="1" baseline="-25000" dirty="0">
              <a:solidFill>
                <a:srgbClr val="008000"/>
              </a:solidFill>
              <a:latin typeface="Lucida Sans Unicode" panose="020B0602030504020204" pitchFamily="34" charset="0"/>
              <a:ea typeface="Calibri" panose="020F050202020403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21" name="Rectángulo 4">
            <a:extLst>
              <a:ext uri="{FF2B5EF4-FFF2-40B4-BE49-F238E27FC236}">
                <a16:creationId xmlns:a16="http://schemas.microsoft.com/office/drawing/2014/main" id="{9DBA83AE-A34A-FA4E-9494-0E94084AD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804" y="5173455"/>
            <a:ext cx="5978753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6038">
              <a:lnSpc>
                <a:spcPct val="105000"/>
              </a:lnSpc>
              <a:spcAft>
                <a:spcPts val="800"/>
              </a:spcAft>
            </a:pPr>
            <a:r>
              <a:rPr lang="es-CL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0,325 moles de Zn →   X moles de Ag</a:t>
            </a:r>
            <a:endParaRPr lang="es-CL" altLang="es-CL" sz="2400" baseline="-25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ea typeface="Calibri" panose="020F050202020403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23" name="Rectángulo 4">
            <a:extLst>
              <a:ext uri="{FF2B5EF4-FFF2-40B4-BE49-F238E27FC236}">
                <a16:creationId xmlns:a16="http://schemas.microsoft.com/office/drawing/2014/main" id="{B7655C8E-5491-D746-8025-1C4BBDB8C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6592" y="1004749"/>
            <a:ext cx="3481297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6038">
              <a:lnSpc>
                <a:spcPct val="105000"/>
              </a:lnSpc>
              <a:spcAft>
                <a:spcPts val="800"/>
              </a:spcAft>
            </a:pPr>
            <a:r>
              <a:rPr lang="es-CL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25</a:t>
            </a:r>
            <a:r>
              <a:rPr lang="es-CL" altLang="es-CL" sz="2400" baseline="-250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g  </a:t>
            </a:r>
            <a:r>
              <a:rPr lang="es-CL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→  100 % pureza</a:t>
            </a:r>
            <a:endParaRPr lang="es-CL" altLang="es-CL" sz="2400" baseline="-25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ea typeface="Calibri" panose="020F050202020403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24" name="Rectángulo 4">
            <a:extLst>
              <a:ext uri="{FF2B5EF4-FFF2-40B4-BE49-F238E27FC236}">
                <a16:creationId xmlns:a16="http://schemas.microsoft.com/office/drawing/2014/main" id="{35C180E3-7D8E-5547-95DA-7332DDFB5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896" y="4598418"/>
            <a:ext cx="5803701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6038">
              <a:lnSpc>
                <a:spcPct val="105000"/>
              </a:lnSpc>
              <a:spcAft>
                <a:spcPts val="800"/>
              </a:spcAft>
            </a:pPr>
            <a:r>
              <a:rPr lang="es-CL" altLang="es-CL" sz="2400" dirty="0">
                <a:solidFill>
                  <a:schemeClr val="accent1">
                    <a:lumMod val="75000"/>
                  </a:scheme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1 mol de Zn    →  2 moles de Ag</a:t>
            </a:r>
            <a:endParaRPr lang="es-CL" altLang="es-CL" sz="2400" baseline="-25000" dirty="0">
              <a:solidFill>
                <a:schemeClr val="accent1">
                  <a:lumMod val="75000"/>
                </a:schemeClr>
              </a:solidFill>
              <a:latin typeface="Lucida Sans Unicode" panose="020B0602030504020204" pitchFamily="34" charset="0"/>
              <a:ea typeface="Calibri" panose="020F050202020403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25" name="Rectángulo 4">
            <a:extLst>
              <a:ext uri="{FF2B5EF4-FFF2-40B4-BE49-F238E27FC236}">
                <a16:creationId xmlns:a16="http://schemas.microsoft.com/office/drawing/2014/main" id="{02867BDF-0FA7-4714-A7C1-776D3F41F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34" y="5993528"/>
            <a:ext cx="12023835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6038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>
                <a:tab pos="581025" algn="l"/>
              </a:tabLst>
              <a:defRPr/>
            </a:pPr>
            <a:r>
              <a:rPr kumimoji="0" lang="es-CL" altLang="es-CL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X=   0,650 moles de Ag   ( Si la reacción fuese en un 100% de rendimiento)</a:t>
            </a:r>
            <a:endParaRPr kumimoji="0" lang="es-CL" altLang="es-CL" sz="2400" b="1" i="0" u="none" strike="noStrike" kern="1200" cap="none" spc="0" normalizeH="0" baseline="-2500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Sans Unicode" panose="020B0602030504020204" pitchFamily="34" charset="0"/>
              <a:ea typeface="Calibri" panose="020F0502020204030204" pitchFamily="34" charset="0"/>
              <a:cs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9145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s-CL" sz="2000" b="0" i="0" u="none" strike="noStrike" kern="1200" cap="none" spc="0" normalizeH="0" baseline="0" noProof="0" smtClean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s-CL" sz="2000" b="0" i="0" u="none" strike="noStrike" kern="1200" cap="none" spc="0" normalizeH="0" baseline="0" noProof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2860133" y="-366665"/>
            <a:ext cx="184731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20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ángulo 4">
            <a:extLst>
              <a:ext uri="{FF2B5EF4-FFF2-40B4-BE49-F238E27FC236}">
                <a16:creationId xmlns:a16="http://schemas.microsoft.com/office/drawing/2014/main" id="{AE5CC703-1173-3E44-A6D7-33F8B6DA4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139" y="981265"/>
            <a:ext cx="5820013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6038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>
                <a:tab pos="581025" algn="l"/>
              </a:tabLst>
              <a:defRPr/>
            </a:pPr>
            <a:r>
              <a:rPr kumimoji="0" lang="es-CL" altLang="es-CL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 X</a:t>
            </a:r>
            <a:r>
              <a:rPr lang="es-CL" altLang="es-CL" sz="2400" baseline="-25000" dirty="0">
                <a:solidFill>
                  <a:srgbClr val="4472C4">
                    <a:lumMod val="75000"/>
                  </a:srgb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moles de Ag</a:t>
            </a:r>
            <a:r>
              <a:rPr kumimoji="0" lang="es-CL" altLang="es-CL" sz="2400" b="0" i="0" u="none" strike="noStrike" kern="1200" cap="none" spc="0" normalizeH="0" baseline="-2500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</a:t>
            </a:r>
            <a:r>
              <a:rPr kumimoji="0" lang="es-CL" altLang="es-CL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→   70 %  </a:t>
            </a:r>
            <a:r>
              <a:rPr kumimoji="0" lang="es-CL" altLang="es-CL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rendimeinto</a:t>
            </a:r>
            <a:endParaRPr kumimoji="0" lang="es-CL" altLang="es-CL" sz="2400" b="0" i="0" u="none" strike="noStrike" kern="1200" cap="none" spc="0" normalizeH="0" baseline="-2500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Lucida Sans Unicode" panose="020B0602030504020204" pitchFamily="34" charset="0"/>
              <a:ea typeface="Calibri" panose="020F050202020403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9" name="Rectángulo 4">
            <a:extLst>
              <a:ext uri="{FF2B5EF4-FFF2-40B4-BE49-F238E27FC236}">
                <a16:creationId xmlns:a16="http://schemas.microsoft.com/office/drawing/2014/main" id="{1ADC0370-606E-E443-BE03-4FAC5E90E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1888" y="1882601"/>
            <a:ext cx="7247822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6038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>
                <a:tab pos="581025" algn="l"/>
              </a:tabLst>
              <a:defRPr/>
            </a:pPr>
            <a:r>
              <a:rPr kumimoji="0" lang="es-CL" altLang="es-CL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 X</a:t>
            </a:r>
            <a:r>
              <a:rPr kumimoji="0" lang="es-CL" altLang="es-CL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</a:t>
            </a:r>
            <a:r>
              <a:rPr kumimoji="0" lang="es-CL" altLang="es-CL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= </a:t>
            </a:r>
            <a:r>
              <a:rPr lang="es-CL" altLang="es-CL" sz="2400" b="1" dirty="0">
                <a:solidFill>
                  <a:srgbClr val="008000"/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0,445 moles de Ag (70% rendimiento) </a:t>
            </a:r>
            <a:r>
              <a:rPr kumimoji="0" lang="es-CL" altLang="es-CL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</a:t>
            </a:r>
            <a:endParaRPr kumimoji="0" lang="es-CL" altLang="es-CL" sz="2400" b="1" i="0" u="none" strike="noStrike" kern="1200" cap="none" spc="0" normalizeH="0" baseline="-2500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Sans Unicode" panose="020B0602030504020204" pitchFamily="34" charset="0"/>
              <a:ea typeface="Calibri" panose="020F050202020403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23" name="Rectángulo 4">
            <a:extLst>
              <a:ext uri="{FF2B5EF4-FFF2-40B4-BE49-F238E27FC236}">
                <a16:creationId xmlns:a16="http://schemas.microsoft.com/office/drawing/2014/main" id="{B7655C8E-5491-D746-8025-1C4BBDB8C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2270" y="523776"/>
            <a:ext cx="7756323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6038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>
                <a:tab pos="581025" algn="l"/>
              </a:tabLst>
              <a:defRPr/>
            </a:pPr>
            <a:r>
              <a:rPr lang="es-CL" altLang="es-CL" sz="2400" dirty="0">
                <a:solidFill>
                  <a:srgbClr val="4472C4">
                    <a:lumMod val="75000"/>
                  </a:srgbClr>
                </a:solidFill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0, 650 moles de Ag</a:t>
            </a:r>
            <a:r>
              <a:rPr kumimoji="0" lang="es-CL" altLang="es-CL" sz="2400" b="0" i="0" u="none" strike="noStrike" kern="1200" cap="none" spc="0" normalizeH="0" baseline="-2500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  </a:t>
            </a:r>
            <a:r>
              <a:rPr kumimoji="0" lang="es-CL" altLang="es-CL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→  100 % </a:t>
            </a:r>
            <a:r>
              <a:rPr kumimoji="0" lang="es-CL" altLang="es-CL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Lucida Sans Unicode" panose="020B0602030504020204" pitchFamily="34" charset="0"/>
                <a:ea typeface="Calibri" panose="020F0502020204030204" pitchFamily="34" charset="0"/>
                <a:cs typeface="Lucida Sans Unicode" panose="020B0602030504020204" pitchFamily="34" charset="0"/>
              </a:rPr>
              <a:t>rendimeinto</a:t>
            </a:r>
            <a:endParaRPr kumimoji="0" lang="es-CL" altLang="es-CL" sz="2400" b="0" i="0" u="none" strike="noStrike" kern="1200" cap="none" spc="0" normalizeH="0" baseline="-2500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Lucida Sans Unicode" panose="020B0602030504020204" pitchFamily="34" charset="0"/>
              <a:ea typeface="Calibri" panose="020F0502020204030204" pitchFamily="34" charset="0"/>
              <a:cs typeface="Lucida Sans Unicode" panose="020B06020305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ángulo 4">
                <a:extLst>
                  <a:ext uri="{FF2B5EF4-FFF2-40B4-BE49-F238E27FC236}">
                    <a16:creationId xmlns:a16="http://schemas.microsoft.com/office/drawing/2014/main" id="{3F65A792-5BEF-411F-B534-C133CF445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759" y="2783937"/>
                <a:ext cx="8019393" cy="15830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4572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8102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marL="46038">
                  <a:lnSpc>
                    <a:spcPct val="105000"/>
                  </a:lnSpc>
                  <a:spcAft>
                    <a:spcPts val="800"/>
                  </a:spcAft>
                </a:pPr>
                <a:r>
                  <a:rPr lang="es-ES" altLang="es-CL" sz="2400" b="1" i="1" dirty="0">
                    <a:solidFill>
                      <a:schemeClr val="accent1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Lucida Sans Unicode" panose="020B0602030504020204" pitchFamily="34" charset="0"/>
                  </a:rPr>
                  <a:t>Masa</a:t>
                </a:r>
                <a14:m>
                  <m:oMath xmlns:m="http://schemas.openxmlformats.org/officeDocument/2006/math">
                    <m:r>
                      <a:rPr lang="es-ES" altLang="es-CL" sz="24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 </m:t>
                    </m:r>
                    <m:d>
                      <m:dPr>
                        <m:ctrlPr>
                          <a:rPr lang="es-ES" altLang="es-CL" sz="24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ucida Sans Unicode" panose="020B0602030504020204" pitchFamily="34" charset="0"/>
                          </a:rPr>
                        </m:ctrlPr>
                      </m:dPr>
                      <m:e>
                        <m:r>
                          <a:rPr lang="es-ES" altLang="es-CL" sz="24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ucida Sans Unicode" panose="020B0602030504020204" pitchFamily="34" charset="0"/>
                          </a:rPr>
                          <m:t>𝑨𝒈</m:t>
                        </m:r>
                      </m:e>
                    </m:d>
                    <m:r>
                      <a:rPr lang="es-ES" altLang="es-CL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=0,445 </m:t>
                    </m:r>
                    <m:r>
                      <a:rPr lang="es-ES" altLang="es-CL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𝑚𝑜𝑙𝑒𝑠</m:t>
                    </m:r>
                    <m:r>
                      <a:rPr lang="es-ES" altLang="es-CL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 </m:t>
                    </m:r>
                    <m:r>
                      <a:rPr lang="es-ES" altLang="es-CL" sz="24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∗</m:t>
                    </m:r>
                    <m:r>
                      <a:rPr lang="es-ES" altLang="es-CL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107,9 </m:t>
                    </m:r>
                    <m:f>
                      <m:fPr>
                        <m:ctrlPr>
                          <a:rPr lang="es-ES" altLang="es-CL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ucida Sans Unicode" panose="020B0602030504020204" pitchFamily="34" charset="0"/>
                          </a:rPr>
                        </m:ctrlPr>
                      </m:fPr>
                      <m:num>
                        <m:r>
                          <a:rPr lang="es-ES" altLang="es-CL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ucida Sans Unicode" panose="020B0602030504020204" pitchFamily="34" charset="0"/>
                          </a:rPr>
                          <m:t>𝑔</m:t>
                        </m:r>
                      </m:num>
                      <m:den>
                        <m:r>
                          <a:rPr lang="es-ES" altLang="es-CL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ucida Sans Unicode" panose="020B0602030504020204" pitchFamily="34" charset="0"/>
                          </a:rPr>
                          <m:t>𝑚𝑜𝑙</m:t>
                        </m:r>
                      </m:den>
                    </m:f>
                    <m:r>
                      <a:rPr lang="es-ES" altLang="es-CL" sz="24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=</m:t>
                    </m:r>
                    <m:r>
                      <a:rPr lang="es-ES" altLang="es-CL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𝟒𝟗</m:t>
                    </m:r>
                    <m:r>
                      <a:rPr lang="es-ES" altLang="es-CL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,</m:t>
                    </m:r>
                    <m:r>
                      <a:rPr lang="es-ES" altLang="es-CL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𝟎𝟗</m:t>
                    </m:r>
                    <m:r>
                      <a:rPr lang="es-ES" altLang="es-CL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 </m:t>
                    </m:r>
                    <m:r>
                      <a:rPr lang="es-ES" altLang="es-CL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𝒈</m:t>
                    </m:r>
                    <m:r>
                      <a:rPr lang="es-ES" altLang="es-CL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 </m:t>
                    </m:r>
                    <m:r>
                      <a:rPr lang="es-ES" altLang="es-CL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𝒅𝒆</m:t>
                    </m:r>
                    <m:r>
                      <m:rPr>
                        <m:nor/>
                      </m:rPr>
                      <a:rPr lang="es-ES" altLang="es-CL" sz="24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s-ES" altLang="es-CL" sz="24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Ag</m:t>
                    </m:r>
                    <m:r>
                      <m:rPr>
                        <m:nor/>
                      </m:rPr>
                      <a:rPr lang="es-ES" altLang="es-CL" sz="24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                      </m:t>
                    </m:r>
                  </m:oMath>
                </a14:m>
                <a:endParaRPr lang="es-ES" altLang="es-CL" sz="2400" b="1" i="0" dirty="0">
                  <a:solidFill>
                    <a:srgbClr val="C0000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Lucida Sans Unicode" panose="020B0602030504020204" pitchFamily="34" charset="0"/>
                </a:endParaRPr>
              </a:p>
              <a:p>
                <a:pPr marL="46038">
                  <a:lnSpc>
                    <a:spcPct val="10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ES" altLang="es-CL" sz="2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ucida Sans Unicode" panose="020B0602030504020204" pitchFamily="34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s-ES" altLang="es-CL" sz="2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ucida Sans Unicode" panose="020B0602030504020204" pitchFamily="34" charset="0"/>
                        </a:rPr>
                        <m:t>obtenida</m:t>
                      </m:r>
                      <m:r>
                        <m:rPr>
                          <m:nor/>
                        </m:rPr>
                        <a:rPr lang="es-ES" altLang="es-CL" sz="2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ucida Sans Unicode" panose="020B0602030504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altLang="es-CL" sz="2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ucida Sans Unicode" panose="020B0602030504020204" pitchFamily="34" charset="0"/>
                        </a:rPr>
                        <m:t>para</m:t>
                      </m:r>
                      <m:r>
                        <m:rPr>
                          <m:nor/>
                        </m:rPr>
                        <a:rPr lang="es-ES" altLang="es-CL" sz="2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ucida Sans Unicode" panose="020B0602030504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altLang="es-CL" sz="2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ucida Sans Unicode" panose="020B0602030504020204" pitchFamily="34" charset="0"/>
                        </a:rPr>
                        <m:t>una</m:t>
                      </m:r>
                      <m:r>
                        <m:rPr>
                          <m:nor/>
                        </m:rPr>
                        <a:rPr lang="es-ES" altLang="es-CL" sz="2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ucida Sans Unicode" panose="020B0602030504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altLang="es-CL" sz="2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ucida Sans Unicode" panose="020B0602030504020204" pitchFamily="34" charset="0"/>
                        </a:rPr>
                        <m:t>reacci</m:t>
                      </m:r>
                      <m:r>
                        <m:rPr>
                          <m:nor/>
                        </m:rPr>
                        <a:rPr lang="es-ES" altLang="es-CL" sz="2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ucida Sans Unicode" panose="020B0602030504020204" pitchFamily="34" charset="0"/>
                        </a:rPr>
                        <m:t>ò</m:t>
                      </m:r>
                      <m:r>
                        <m:rPr>
                          <m:nor/>
                        </m:rPr>
                        <a:rPr lang="es-ES" altLang="es-CL" sz="2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ucida Sans Unicode" panose="020B0602030504020204" pitchFamily="34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es-ES" altLang="es-CL" sz="2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ucida Sans Unicode" panose="020B0602030504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altLang="es-CL" sz="2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ucida Sans Unicode" panose="020B0602030504020204" pitchFamily="34" charset="0"/>
                        </a:rPr>
                        <m:t>de</m:t>
                      </m:r>
                      <m:r>
                        <m:rPr>
                          <m:nor/>
                        </m:rPr>
                        <a:rPr lang="es-ES" altLang="es-CL" sz="2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ucida Sans Unicode" panose="020B0602030504020204" pitchFamily="34" charset="0"/>
                        </a:rPr>
                        <m:t> 70 % </m:t>
                      </m:r>
                      <m:r>
                        <m:rPr>
                          <m:nor/>
                        </m:rPr>
                        <a:rPr lang="es-ES" altLang="es-CL" sz="2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ucida Sans Unicode" panose="020B0602030504020204" pitchFamily="34" charset="0"/>
                        </a:rPr>
                        <m:t>rendimiento</m:t>
                      </m:r>
                      <m:r>
                        <m:rPr>
                          <m:nor/>
                        </m:rPr>
                        <a:rPr lang="es-ES" altLang="es-CL" sz="2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ucida Sans Unicode" panose="020B0602030504020204" pitchFamily="34" charset="0"/>
                        </a:rPr>
                        <m:t>)</m:t>
                      </m:r>
                    </m:oMath>
                  </m:oMathPara>
                </a14:m>
                <a:endParaRPr lang="es-CL" altLang="es-CL" sz="2400" b="1" i="1" baseline="-25000" dirty="0">
                  <a:solidFill>
                    <a:schemeClr val="accent1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Lucida Sans Unicode" panose="020B0602030504020204" pitchFamily="34" charset="0"/>
                </a:endParaRPr>
              </a:p>
            </p:txBody>
          </p:sp>
        </mc:Choice>
        <mc:Fallback xmlns="">
          <p:sp>
            <p:nvSpPr>
              <p:cNvPr id="25" name="Rectángulo 4">
                <a:extLst>
                  <a:ext uri="{FF2B5EF4-FFF2-40B4-BE49-F238E27FC236}">
                    <a16:creationId xmlns:a16="http://schemas.microsoft.com/office/drawing/2014/main" id="{3F65A792-5BEF-411F-B534-C133CF445E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759" y="2783937"/>
                <a:ext cx="8019393" cy="1583062"/>
              </a:xfrm>
              <a:prstGeom prst="rect">
                <a:avLst/>
              </a:prstGeom>
              <a:blipFill>
                <a:blip r:embed="rId3"/>
                <a:stretch>
                  <a:fillRect l="-53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95044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44</a:t>
            </a:fld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46684" y="1426351"/>
            <a:ext cx="6096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188610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1625</TotalTime>
  <Words>2629</Words>
  <Application>Microsoft Office PowerPoint</Application>
  <PresentationFormat>Panorámica</PresentationFormat>
  <Paragraphs>341</Paragraphs>
  <Slides>44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44</vt:i4>
      </vt:variant>
    </vt:vector>
  </HeadingPairs>
  <TitlesOfParts>
    <vt:vector size="55" baseType="lpstr">
      <vt:lpstr>Arial</vt:lpstr>
      <vt:lpstr>Calibri</vt:lpstr>
      <vt:lpstr>Calibri Light</vt:lpstr>
      <vt:lpstr>Cambria Math</vt:lpstr>
      <vt:lpstr>Impact</vt:lpstr>
      <vt:lpstr>Karla</vt:lpstr>
      <vt:lpstr>Lucida Bright</vt:lpstr>
      <vt:lpstr>Lucida Sans Unicode</vt:lpstr>
      <vt:lpstr>Monotype Sorts</vt:lpstr>
      <vt:lpstr>Tahoma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Química General Ingeniería</dc:title>
  <dc:creator>Marlen  Gutierrez Cutino</dc:creator>
  <cp:lastModifiedBy>Patricio Hermosilla Ibáñez</cp:lastModifiedBy>
  <cp:revision>116</cp:revision>
  <dcterms:created xsi:type="dcterms:W3CDTF">2020-03-18T21:42:36Z</dcterms:created>
  <dcterms:modified xsi:type="dcterms:W3CDTF">2020-11-06T18:20:35Z</dcterms:modified>
</cp:coreProperties>
</file>