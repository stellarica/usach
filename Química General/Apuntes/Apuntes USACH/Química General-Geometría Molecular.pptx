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7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188"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s-ES"/>
              <a:t>Haga clic para modificar el estilo de título del patrón</a:t>
            </a:r>
            <a:endParaRPr kumimoji="0"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7 Forma libre"/>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10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a:endParaRPr lang="en-US">
                <a:solidFill>
                  <a:prstClr val="white"/>
                </a:solidFill>
              </a:endParaRPr>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extLst/>
          </a:lstStyle>
          <a:p>
            <a:fld id="{D2348F7C-4B8D-4831-9349-6D1EB06F70D4}" type="datetimeFigureOut">
              <a:rPr lang="es-CL" smtClean="0"/>
              <a:pPr/>
              <a:t>15-09-2021</a:t>
            </a:fld>
            <a:endParaRPr lang="es-CL"/>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extLst/>
          </a:lstStyle>
          <a:p>
            <a:endParaRPr lang="es-CL">
              <a:solidFill>
                <a:srgbClr val="2DA2BF">
                  <a:tint val="20000"/>
                </a:srgbClr>
              </a:solidFill>
            </a:endParaRPr>
          </a:p>
        </p:txBody>
      </p:sp>
      <p:sp>
        <p:nvSpPr>
          <p:cNvPr id="27" name="26 Marcador de número de diapositiva"/>
          <p:cNvSpPr>
            <a:spLocks noGrp="1"/>
          </p:cNvSpPr>
          <p:nvPr>
            <p:ph type="sldNum" sz="quarter" idx="12"/>
          </p:nvPr>
        </p:nvSpPr>
        <p:spPr/>
        <p:txBody>
          <a:bodyPr/>
          <a:lstStyle>
            <a:lvl1pPr>
              <a:defRPr>
                <a:solidFill>
                  <a:srgbClr val="FFFFFF"/>
                </a:solidFill>
              </a:defRPr>
            </a:lvl1pPr>
            <a:extLst/>
          </a:lstStyle>
          <a:p>
            <a:fld id="{65B1081D-DAF9-402C-A1A0-A7925D712C8E}" type="slidenum">
              <a:rPr lang="es-CL" smtClean="0"/>
              <a:pPr/>
              <a:t>‹Nº›</a:t>
            </a:fld>
            <a:endParaRPr lang="es-CL"/>
          </a:p>
        </p:txBody>
      </p:sp>
    </p:spTree>
    <p:extLst>
      <p:ext uri="{BB962C8B-B14F-4D97-AF65-F5344CB8AC3E}">
        <p14:creationId xmlns:p14="http://schemas.microsoft.com/office/powerpoint/2010/main" val="1782670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2348F7C-4B8D-4831-9349-6D1EB06F70D4}" type="datetimeFigureOut">
              <a:rPr lang="es-CL" smtClean="0">
                <a:solidFill>
                  <a:prstClr val="black"/>
                </a:solidFill>
              </a:rPr>
              <a:pPr/>
              <a:t>15-09-2021</a:t>
            </a:fld>
            <a:endParaRPr lang="es-CL">
              <a:solidFill>
                <a:prstClr val="black"/>
              </a:solidFill>
            </a:endParaRPr>
          </a:p>
        </p:txBody>
      </p:sp>
      <p:sp>
        <p:nvSpPr>
          <p:cNvPr id="5" name="4 Marcador de pie de página"/>
          <p:cNvSpPr>
            <a:spLocks noGrp="1"/>
          </p:cNvSpPr>
          <p:nvPr>
            <p:ph type="ftr" sz="quarter" idx="11"/>
          </p:nvPr>
        </p:nvSpPr>
        <p:spPr/>
        <p:txBody>
          <a:bodyPr/>
          <a:lstStyle/>
          <a:p>
            <a:endParaRPr lang="es-CL">
              <a:solidFill>
                <a:prstClr val="black"/>
              </a:solidFill>
            </a:endParaRPr>
          </a:p>
        </p:txBody>
      </p:sp>
      <p:sp>
        <p:nvSpPr>
          <p:cNvPr id="6" name="5 Marcador de número de diapositiva"/>
          <p:cNvSpPr>
            <a:spLocks noGrp="1"/>
          </p:cNvSpPr>
          <p:nvPr>
            <p:ph type="sldNum" sz="quarter" idx="12"/>
          </p:nvPr>
        </p:nvSpPr>
        <p:spPr/>
        <p:txBody>
          <a:bodyPr/>
          <a:lstStyle/>
          <a:p>
            <a:fld id="{65B1081D-DAF9-402C-A1A0-A7925D712C8E}" type="slidenum">
              <a:rPr lang="es-CL" smtClean="0">
                <a:solidFill>
                  <a:prstClr val="black"/>
                </a:solidFill>
              </a:rPr>
              <a:pPr/>
              <a:t>‹Nº›</a:t>
            </a:fld>
            <a:endParaRPr lang="es-CL">
              <a:solidFill>
                <a:prstClr val="black"/>
              </a:solidFill>
            </a:endParaRPr>
          </a:p>
        </p:txBody>
      </p:sp>
      <p:sp>
        <p:nvSpPr>
          <p:cNvPr id="7" name="6 Título"/>
          <p:cNvSpPr>
            <a:spLocks noGrp="1"/>
          </p:cNvSpPr>
          <p:nvPr>
            <p:ph type="title"/>
          </p:nvPr>
        </p:nvSpPr>
        <p:spPr/>
        <p:txBody>
          <a:bodyPr rtlCol="0"/>
          <a:lstStyle/>
          <a:p>
            <a:r>
              <a:rPr kumimoji="0" lang="es-ES"/>
              <a:t>Haga clic para modificar el estilo de título del patrón</a:t>
            </a:r>
            <a:endParaRPr kumimoji="0" lang="en-US"/>
          </a:p>
        </p:txBody>
      </p:sp>
    </p:spTree>
    <p:extLst>
      <p:ext uri="{BB962C8B-B14F-4D97-AF65-F5344CB8AC3E}">
        <p14:creationId xmlns:p14="http://schemas.microsoft.com/office/powerpoint/2010/main" val="59566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D2348F7C-4B8D-4831-9349-6D1EB06F70D4}" type="datetimeFigureOut">
              <a:rPr lang="es-CL" smtClean="0">
                <a:solidFill>
                  <a:prstClr val="white"/>
                </a:solidFill>
              </a:rPr>
              <a:pPr/>
              <a:t>15-09-2021</a:t>
            </a:fld>
            <a:endParaRPr lang="es-CL">
              <a:solidFill>
                <a:prstClr val="white"/>
              </a:solidFill>
            </a:endParaRPr>
          </a:p>
        </p:txBody>
      </p:sp>
      <p:sp>
        <p:nvSpPr>
          <p:cNvPr id="5" name="4 Marcador de pie de página"/>
          <p:cNvSpPr>
            <a:spLocks noGrp="1"/>
          </p:cNvSpPr>
          <p:nvPr>
            <p:ph type="ftr" sz="quarter" idx="11"/>
          </p:nvPr>
        </p:nvSpPr>
        <p:spPr/>
        <p:txBody>
          <a:bodyPr/>
          <a:lstStyle/>
          <a:p>
            <a:endParaRPr lang="es-CL">
              <a:solidFill>
                <a:prstClr val="white"/>
              </a:solidFill>
            </a:endParaRPr>
          </a:p>
        </p:txBody>
      </p:sp>
      <p:sp>
        <p:nvSpPr>
          <p:cNvPr id="6" name="5 Marcador de número de diapositiva"/>
          <p:cNvSpPr>
            <a:spLocks noGrp="1"/>
          </p:cNvSpPr>
          <p:nvPr>
            <p:ph type="sldNum" sz="quarter" idx="12"/>
          </p:nvPr>
        </p:nvSpPr>
        <p:spPr/>
        <p:txBody>
          <a:bodyPr/>
          <a:lstStyle/>
          <a:p>
            <a:fld id="{65B1081D-DAF9-402C-A1A0-A7925D712C8E}" type="slidenum">
              <a:rPr lang="es-CL" smtClean="0">
                <a:solidFill>
                  <a:prstClr val="white"/>
                </a:solidFill>
              </a:rPr>
              <a:pPr/>
              <a:t>‹Nº›</a:t>
            </a:fld>
            <a:endParaRPr lang="es-CL">
              <a:solidFill>
                <a:prstClr val="white"/>
              </a:solidFill>
            </a:endParaRPr>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Tree>
    <p:extLst>
      <p:ext uri="{BB962C8B-B14F-4D97-AF65-F5344CB8AC3E}">
        <p14:creationId xmlns:p14="http://schemas.microsoft.com/office/powerpoint/2010/main" val="381557181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D2348F7C-4B8D-4831-9349-6D1EB06F70D4}" type="datetimeFigureOut">
              <a:rPr lang="es-CL" smtClean="0">
                <a:solidFill>
                  <a:prstClr val="white"/>
                </a:solidFill>
              </a:rPr>
              <a:pPr/>
              <a:t>15-09-2021</a:t>
            </a:fld>
            <a:endParaRPr lang="es-CL">
              <a:solidFill>
                <a:prstClr val="white"/>
              </a:solidFill>
            </a:endParaRPr>
          </a:p>
        </p:txBody>
      </p:sp>
      <p:sp>
        <p:nvSpPr>
          <p:cNvPr id="6" name="5 Marcador de pie de página"/>
          <p:cNvSpPr>
            <a:spLocks noGrp="1"/>
          </p:cNvSpPr>
          <p:nvPr>
            <p:ph type="ftr" sz="quarter" idx="11"/>
          </p:nvPr>
        </p:nvSpPr>
        <p:spPr/>
        <p:txBody>
          <a:bodyPr/>
          <a:lstStyle/>
          <a:p>
            <a:endParaRPr lang="es-CL">
              <a:solidFill>
                <a:prstClr val="white"/>
              </a:solidFill>
            </a:endParaRPr>
          </a:p>
        </p:txBody>
      </p:sp>
      <p:sp>
        <p:nvSpPr>
          <p:cNvPr id="7" name="6 Marcador de número de diapositiva"/>
          <p:cNvSpPr>
            <a:spLocks noGrp="1"/>
          </p:cNvSpPr>
          <p:nvPr>
            <p:ph type="sldNum" sz="quarter" idx="12"/>
          </p:nvPr>
        </p:nvSpPr>
        <p:spPr/>
        <p:txBody>
          <a:bodyPr/>
          <a:lstStyle/>
          <a:p>
            <a:fld id="{65B1081D-DAF9-402C-A1A0-A7925D712C8E}" type="slidenum">
              <a:rPr lang="es-CL" smtClean="0">
                <a:solidFill>
                  <a:prstClr val="white"/>
                </a:solidFill>
              </a:rPr>
              <a:pPr/>
              <a:t>‹Nº›</a:t>
            </a:fld>
            <a:endParaRPr lang="es-CL">
              <a:solidFill>
                <a:prstClr val="white"/>
              </a:solidFill>
            </a:endParaRPr>
          </a:p>
        </p:txBody>
      </p:sp>
      <p:sp>
        <p:nvSpPr>
          <p:cNvPr id="8" name="7 Título"/>
          <p:cNvSpPr>
            <a:spLocks noGrp="1"/>
          </p:cNvSpPr>
          <p:nvPr>
            <p:ph type="title"/>
          </p:nvPr>
        </p:nvSpPr>
        <p:spPr/>
        <p:txBody>
          <a:bodyPr rtlCol="0"/>
          <a:lstStyle/>
          <a:p>
            <a:r>
              <a:rPr kumimoji="0" lang="es-ES"/>
              <a:t>Haga clic para modificar el estilo de título del patrón</a:t>
            </a:r>
            <a:endParaRPr kumimoji="0" lang="en-US"/>
          </a:p>
        </p:txBody>
      </p:sp>
    </p:spTree>
    <p:extLst>
      <p:ext uri="{BB962C8B-B14F-4D97-AF65-F5344CB8AC3E}">
        <p14:creationId xmlns:p14="http://schemas.microsoft.com/office/powerpoint/2010/main" val="393746537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D2348F7C-4B8D-4831-9349-6D1EB06F70D4}" type="datetimeFigureOut">
              <a:rPr lang="es-CL" smtClean="0">
                <a:solidFill>
                  <a:prstClr val="black"/>
                </a:solidFill>
              </a:rPr>
              <a:pPr/>
              <a:t>15-09-2021</a:t>
            </a:fld>
            <a:endParaRPr lang="es-CL">
              <a:solidFill>
                <a:prstClr val="black"/>
              </a:solidFill>
            </a:endParaRPr>
          </a:p>
        </p:txBody>
      </p:sp>
      <p:sp>
        <p:nvSpPr>
          <p:cNvPr id="8" name="7 Marcador de pie de página"/>
          <p:cNvSpPr>
            <a:spLocks noGrp="1"/>
          </p:cNvSpPr>
          <p:nvPr>
            <p:ph type="ftr" sz="quarter" idx="11"/>
          </p:nvPr>
        </p:nvSpPr>
        <p:spPr/>
        <p:txBody>
          <a:bodyPr/>
          <a:lstStyle/>
          <a:p>
            <a:endParaRPr lang="es-CL">
              <a:solidFill>
                <a:prstClr val="black"/>
              </a:solidFill>
            </a:endParaRPr>
          </a:p>
        </p:txBody>
      </p:sp>
      <p:sp>
        <p:nvSpPr>
          <p:cNvPr id="9" name="8 Marcador de número de diapositiva"/>
          <p:cNvSpPr>
            <a:spLocks noGrp="1"/>
          </p:cNvSpPr>
          <p:nvPr>
            <p:ph type="sldNum" sz="quarter" idx="12"/>
          </p:nvPr>
        </p:nvSpPr>
        <p:spPr/>
        <p:txBody>
          <a:bodyPr/>
          <a:lstStyle/>
          <a:p>
            <a:fld id="{65B1081D-DAF9-402C-A1A0-A7925D712C8E}" type="slidenum">
              <a:rPr lang="es-CL" smtClean="0">
                <a:solidFill>
                  <a:prstClr val="black"/>
                </a:solidFill>
              </a:rPr>
              <a:pPr/>
              <a:t>‹Nº›</a:t>
            </a:fld>
            <a:endParaRPr lang="es-CL">
              <a:solidFill>
                <a:prstClr val="black"/>
              </a:solidFill>
            </a:endParaRPr>
          </a:p>
        </p:txBody>
      </p:sp>
    </p:spTree>
    <p:extLst>
      <p:ext uri="{BB962C8B-B14F-4D97-AF65-F5344CB8AC3E}">
        <p14:creationId xmlns:p14="http://schemas.microsoft.com/office/powerpoint/2010/main" val="393374151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D2348F7C-4B8D-4831-9349-6D1EB06F70D4}" type="datetimeFigureOut">
              <a:rPr lang="es-CL" smtClean="0">
                <a:solidFill>
                  <a:prstClr val="white"/>
                </a:solidFill>
              </a:rPr>
              <a:pPr/>
              <a:t>15-09-2021</a:t>
            </a:fld>
            <a:endParaRPr lang="es-CL">
              <a:solidFill>
                <a:prstClr val="white"/>
              </a:solidFill>
            </a:endParaRPr>
          </a:p>
        </p:txBody>
      </p:sp>
      <p:sp>
        <p:nvSpPr>
          <p:cNvPr id="4" name="3 Marcador de pie de página"/>
          <p:cNvSpPr>
            <a:spLocks noGrp="1"/>
          </p:cNvSpPr>
          <p:nvPr>
            <p:ph type="ftr" sz="quarter" idx="11"/>
          </p:nvPr>
        </p:nvSpPr>
        <p:spPr/>
        <p:txBody>
          <a:bodyPr/>
          <a:lstStyle/>
          <a:p>
            <a:endParaRPr lang="es-CL">
              <a:solidFill>
                <a:prstClr val="white"/>
              </a:solidFill>
            </a:endParaRPr>
          </a:p>
        </p:txBody>
      </p:sp>
      <p:sp>
        <p:nvSpPr>
          <p:cNvPr id="5" name="4 Marcador de número de diapositiva"/>
          <p:cNvSpPr>
            <a:spLocks noGrp="1"/>
          </p:cNvSpPr>
          <p:nvPr>
            <p:ph type="sldNum" sz="quarter" idx="12"/>
          </p:nvPr>
        </p:nvSpPr>
        <p:spPr/>
        <p:txBody>
          <a:bodyPr/>
          <a:lstStyle/>
          <a:p>
            <a:fld id="{65B1081D-DAF9-402C-A1A0-A7925D712C8E}" type="slidenum">
              <a:rPr lang="es-CL" smtClean="0">
                <a:solidFill>
                  <a:prstClr val="white"/>
                </a:solidFill>
              </a:rPr>
              <a:pPr/>
              <a:t>‹Nº›</a:t>
            </a:fld>
            <a:endParaRPr lang="es-CL">
              <a:solidFill>
                <a:prstClr val="white"/>
              </a:solidFill>
            </a:endParaRPr>
          </a:p>
        </p:txBody>
      </p:sp>
      <p:sp>
        <p:nvSpPr>
          <p:cNvPr id="6" name="5 Título"/>
          <p:cNvSpPr>
            <a:spLocks noGrp="1"/>
          </p:cNvSpPr>
          <p:nvPr>
            <p:ph type="title"/>
          </p:nvPr>
        </p:nvSpPr>
        <p:spPr/>
        <p:txBody>
          <a:bodyPr rtlCol="0"/>
          <a:lstStyle/>
          <a:p>
            <a:r>
              <a:rPr kumimoji="0" lang="es-ES"/>
              <a:t>Haga clic para modificar el estilo de título del patrón</a:t>
            </a:r>
            <a:endParaRPr kumimoji="0" lang="en-US"/>
          </a:p>
        </p:txBody>
      </p:sp>
    </p:spTree>
    <p:extLst>
      <p:ext uri="{BB962C8B-B14F-4D97-AF65-F5344CB8AC3E}">
        <p14:creationId xmlns:p14="http://schemas.microsoft.com/office/powerpoint/2010/main" val="422860820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D2348F7C-4B8D-4831-9349-6D1EB06F70D4}" type="datetimeFigureOut">
              <a:rPr lang="es-CL" smtClean="0">
                <a:solidFill>
                  <a:prstClr val="black"/>
                </a:solidFill>
              </a:rPr>
              <a:pPr/>
              <a:t>15-09-2021</a:t>
            </a:fld>
            <a:endParaRPr lang="es-CL">
              <a:solidFill>
                <a:prstClr val="black"/>
              </a:solidFill>
            </a:endParaRPr>
          </a:p>
        </p:txBody>
      </p:sp>
      <p:sp>
        <p:nvSpPr>
          <p:cNvPr id="3" name="2 Marcador de pie de página"/>
          <p:cNvSpPr>
            <a:spLocks noGrp="1"/>
          </p:cNvSpPr>
          <p:nvPr>
            <p:ph type="ftr" sz="quarter" idx="11"/>
          </p:nvPr>
        </p:nvSpPr>
        <p:spPr/>
        <p:txBody>
          <a:bodyPr/>
          <a:lstStyle/>
          <a:p>
            <a:endParaRPr lang="es-CL">
              <a:solidFill>
                <a:prstClr val="black"/>
              </a:solidFill>
            </a:endParaRPr>
          </a:p>
        </p:txBody>
      </p:sp>
      <p:sp>
        <p:nvSpPr>
          <p:cNvPr id="4" name="3 Marcador de número de diapositiva"/>
          <p:cNvSpPr>
            <a:spLocks noGrp="1"/>
          </p:cNvSpPr>
          <p:nvPr>
            <p:ph type="sldNum" sz="quarter" idx="12"/>
          </p:nvPr>
        </p:nvSpPr>
        <p:spPr/>
        <p:txBody>
          <a:bodyPr/>
          <a:lstStyle/>
          <a:p>
            <a:fld id="{65B1081D-DAF9-402C-A1A0-A7925D712C8E}" type="slidenum">
              <a:rPr lang="es-CL" smtClean="0">
                <a:solidFill>
                  <a:prstClr val="black"/>
                </a:solidFill>
              </a:rPr>
              <a:pPr/>
              <a:t>‹Nº›</a:t>
            </a:fld>
            <a:endParaRPr lang="es-CL">
              <a:solidFill>
                <a:prstClr val="black"/>
              </a:solidFill>
            </a:endParaRPr>
          </a:p>
        </p:txBody>
      </p:sp>
    </p:spTree>
    <p:extLst>
      <p:ext uri="{BB962C8B-B14F-4D97-AF65-F5344CB8AC3E}">
        <p14:creationId xmlns:p14="http://schemas.microsoft.com/office/powerpoint/2010/main" val="1603798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s-ES"/>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p>
            <a:fld id="{D2348F7C-4B8D-4831-9349-6D1EB06F70D4}" type="datetimeFigureOut">
              <a:rPr lang="es-CL" smtClean="0">
                <a:solidFill>
                  <a:prstClr val="black"/>
                </a:solidFill>
              </a:rPr>
              <a:pPr/>
              <a:t>15-09-2021</a:t>
            </a:fld>
            <a:endParaRPr lang="es-CL">
              <a:solidFill>
                <a:prstClr val="black"/>
              </a:solidFill>
            </a:endParaRPr>
          </a:p>
        </p:txBody>
      </p:sp>
      <p:sp>
        <p:nvSpPr>
          <p:cNvPr id="6" name="5 Marcador de pie de página"/>
          <p:cNvSpPr>
            <a:spLocks noGrp="1"/>
          </p:cNvSpPr>
          <p:nvPr>
            <p:ph type="ftr" sz="quarter" idx="11"/>
          </p:nvPr>
        </p:nvSpPr>
        <p:spPr/>
        <p:txBody>
          <a:bodyPr/>
          <a:lstStyle/>
          <a:p>
            <a:endParaRPr lang="es-CL">
              <a:solidFill>
                <a:prstClr val="black"/>
              </a:solidFill>
            </a:endParaRPr>
          </a:p>
        </p:txBody>
      </p:sp>
      <p:sp>
        <p:nvSpPr>
          <p:cNvPr id="7" name="6 Marcador de número de diapositiva"/>
          <p:cNvSpPr>
            <a:spLocks noGrp="1"/>
          </p:cNvSpPr>
          <p:nvPr>
            <p:ph type="sldNum" sz="quarter" idx="12"/>
          </p:nvPr>
        </p:nvSpPr>
        <p:spPr/>
        <p:txBody>
          <a:bodyPr/>
          <a:lstStyle/>
          <a:p>
            <a:fld id="{65B1081D-DAF9-402C-A1A0-A7925D712C8E}" type="slidenum">
              <a:rPr lang="es-CL" smtClean="0">
                <a:solidFill>
                  <a:prstClr val="black"/>
                </a:solidFill>
              </a:rPr>
              <a:pPr/>
              <a:t>‹Nº›</a:t>
            </a:fld>
            <a:endParaRPr lang="es-CL">
              <a:solidFill>
                <a:prstClr val="black"/>
              </a:solidFill>
            </a:endParaRPr>
          </a:p>
        </p:txBody>
      </p:sp>
    </p:spTree>
    <p:extLst>
      <p:ext uri="{BB962C8B-B14F-4D97-AF65-F5344CB8AC3E}">
        <p14:creationId xmlns:p14="http://schemas.microsoft.com/office/powerpoint/2010/main" val="51670737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s-ES"/>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s-ES"/>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extLst/>
          </a:lstStyle>
          <a:p>
            <a:fld id="{D2348F7C-4B8D-4831-9349-6D1EB06F70D4}" type="datetimeFigureOut">
              <a:rPr lang="es-CL" smtClean="0">
                <a:solidFill>
                  <a:prstClr val="white"/>
                </a:solidFill>
              </a:rPr>
              <a:pPr/>
              <a:t>15-09-2021</a:t>
            </a:fld>
            <a:endParaRPr lang="es-CL">
              <a:solidFill>
                <a:prstClr val="white"/>
              </a:solidFill>
            </a:endParaRPr>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s-CL">
              <a:solidFill>
                <a:prstClr val="white"/>
              </a:solidFill>
            </a:endParaRPr>
          </a:p>
        </p:txBody>
      </p:sp>
      <p:sp>
        <p:nvSpPr>
          <p:cNvPr id="7" name="6 Marcador de número de diapositiva"/>
          <p:cNvSpPr>
            <a:spLocks noGrp="1"/>
          </p:cNvSpPr>
          <p:nvPr>
            <p:ph type="sldNum" sz="quarter" idx="12"/>
          </p:nvPr>
        </p:nvSpPr>
        <p:spPr/>
        <p:txBody>
          <a:bodyPr/>
          <a:lstStyle>
            <a:lvl1pPr>
              <a:defRPr>
                <a:solidFill>
                  <a:schemeClr val="tx1"/>
                </a:solidFill>
              </a:defRPr>
            </a:lvl1pPr>
            <a:extLst/>
          </a:lstStyle>
          <a:p>
            <a:fld id="{65B1081D-DAF9-402C-A1A0-A7925D712C8E}" type="slidenum">
              <a:rPr lang="es-CL" smtClean="0">
                <a:solidFill>
                  <a:prstClr val="white"/>
                </a:solidFill>
              </a:rPr>
              <a:pPr/>
              <a:t>‹Nº›</a:t>
            </a:fld>
            <a:endParaRPr lang="es-CL">
              <a:solidFill>
                <a:prstClr val="white"/>
              </a:solidFill>
            </a:endParaRPr>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s-ES"/>
              <a:t>Haga clic para modificar el estilo de título del patrón</a:t>
            </a:r>
            <a:endParaRPr kumimoji="0" lang="en-US"/>
          </a:p>
        </p:txBody>
      </p:sp>
      <p:sp>
        <p:nvSpPr>
          <p:cNvPr id="8" name="7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8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 name="9 Triángulo rectángulo"/>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a:endParaRPr lang="en-US">
              <a:solidFill>
                <a:prstClr val="white"/>
              </a:solidFill>
            </a:endParaRPr>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Tree>
    <p:extLst>
      <p:ext uri="{BB962C8B-B14F-4D97-AF65-F5344CB8AC3E}">
        <p14:creationId xmlns:p14="http://schemas.microsoft.com/office/powerpoint/2010/main" val="311845028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1481329"/>
            <a:ext cx="8229600" cy="4386071"/>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2348F7C-4B8D-4831-9349-6D1EB06F70D4}" type="datetimeFigureOut">
              <a:rPr lang="es-CL" smtClean="0">
                <a:solidFill>
                  <a:prstClr val="black"/>
                </a:solidFill>
              </a:rPr>
              <a:pPr/>
              <a:t>15-09-2021</a:t>
            </a:fld>
            <a:endParaRPr lang="es-CL">
              <a:solidFill>
                <a:prstClr val="black"/>
              </a:solidFill>
            </a:endParaRPr>
          </a:p>
        </p:txBody>
      </p:sp>
      <p:sp>
        <p:nvSpPr>
          <p:cNvPr id="5" name="4 Marcador de pie de página"/>
          <p:cNvSpPr>
            <a:spLocks noGrp="1"/>
          </p:cNvSpPr>
          <p:nvPr>
            <p:ph type="ftr" sz="quarter" idx="11"/>
          </p:nvPr>
        </p:nvSpPr>
        <p:spPr/>
        <p:txBody>
          <a:bodyPr/>
          <a:lstStyle/>
          <a:p>
            <a:endParaRPr lang="es-CL">
              <a:solidFill>
                <a:prstClr val="black"/>
              </a:solidFill>
            </a:endParaRPr>
          </a:p>
        </p:txBody>
      </p:sp>
      <p:sp>
        <p:nvSpPr>
          <p:cNvPr id="6" name="5 Marcador de número de diapositiva"/>
          <p:cNvSpPr>
            <a:spLocks noGrp="1"/>
          </p:cNvSpPr>
          <p:nvPr>
            <p:ph type="sldNum" sz="quarter" idx="12"/>
          </p:nvPr>
        </p:nvSpPr>
        <p:spPr/>
        <p:txBody>
          <a:bodyPr/>
          <a:lstStyle/>
          <a:p>
            <a:fld id="{65B1081D-DAF9-402C-A1A0-A7925D712C8E}" type="slidenum">
              <a:rPr lang="es-CL" smtClean="0">
                <a:solidFill>
                  <a:prstClr val="black"/>
                </a:solidFill>
              </a:rPr>
              <a:pPr/>
              <a:t>‹Nº›</a:t>
            </a:fld>
            <a:endParaRPr lang="es-CL">
              <a:solidFill>
                <a:prstClr val="black"/>
              </a:solidFill>
            </a:endParaRPr>
          </a:p>
        </p:txBody>
      </p:sp>
    </p:spTree>
    <p:extLst>
      <p:ext uri="{BB962C8B-B14F-4D97-AF65-F5344CB8AC3E}">
        <p14:creationId xmlns:p14="http://schemas.microsoft.com/office/powerpoint/2010/main" val="412392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1"/>
            <a:ext cx="6324600" cy="5592760"/>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2348F7C-4B8D-4831-9349-6D1EB06F70D4}" type="datetimeFigureOut">
              <a:rPr lang="es-CL" smtClean="0">
                <a:solidFill>
                  <a:prstClr val="black"/>
                </a:solidFill>
              </a:rPr>
              <a:pPr/>
              <a:t>15-09-2021</a:t>
            </a:fld>
            <a:endParaRPr lang="es-CL">
              <a:solidFill>
                <a:prstClr val="black"/>
              </a:solidFill>
            </a:endParaRPr>
          </a:p>
        </p:txBody>
      </p:sp>
      <p:sp>
        <p:nvSpPr>
          <p:cNvPr id="5" name="4 Marcador de pie de página"/>
          <p:cNvSpPr>
            <a:spLocks noGrp="1"/>
          </p:cNvSpPr>
          <p:nvPr>
            <p:ph type="ftr" sz="quarter" idx="11"/>
          </p:nvPr>
        </p:nvSpPr>
        <p:spPr/>
        <p:txBody>
          <a:bodyPr/>
          <a:lstStyle/>
          <a:p>
            <a:endParaRPr lang="es-CL">
              <a:solidFill>
                <a:prstClr val="black"/>
              </a:solidFill>
            </a:endParaRPr>
          </a:p>
        </p:txBody>
      </p:sp>
      <p:sp>
        <p:nvSpPr>
          <p:cNvPr id="6" name="5 Marcador de número de diapositiva"/>
          <p:cNvSpPr>
            <a:spLocks noGrp="1"/>
          </p:cNvSpPr>
          <p:nvPr>
            <p:ph type="sldNum" sz="quarter" idx="12"/>
          </p:nvPr>
        </p:nvSpPr>
        <p:spPr/>
        <p:txBody>
          <a:bodyPr/>
          <a:lstStyle/>
          <a:p>
            <a:fld id="{65B1081D-DAF9-402C-A1A0-A7925D712C8E}" type="slidenum">
              <a:rPr lang="es-CL" smtClean="0">
                <a:solidFill>
                  <a:prstClr val="black"/>
                </a:solidFill>
              </a:rPr>
              <a:pPr/>
              <a:t>‹Nº›</a:t>
            </a:fld>
            <a:endParaRPr lang="es-CL">
              <a:solidFill>
                <a:prstClr val="black"/>
              </a:solidFill>
            </a:endParaRPr>
          </a:p>
        </p:txBody>
      </p:sp>
    </p:spTree>
    <p:extLst>
      <p:ext uri="{BB962C8B-B14F-4D97-AF65-F5344CB8AC3E}">
        <p14:creationId xmlns:p14="http://schemas.microsoft.com/office/powerpoint/2010/main" val="3526261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2" name="11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4" name="13 Triángulo rectángulo"/>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a:endParaRPr lang="en-US">
              <a:solidFill>
                <a:prstClr val="white"/>
              </a:solidFill>
            </a:endParaRPr>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s-ES"/>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D2348F7C-4B8D-4831-9349-6D1EB06F70D4}" type="datetimeFigureOut">
              <a:rPr lang="es-CL" smtClean="0">
                <a:solidFill>
                  <a:prstClr val="black"/>
                </a:solidFill>
              </a:rPr>
              <a:pPr/>
              <a:t>15-09-2021</a:t>
            </a:fld>
            <a:endParaRPr lang="es-CL">
              <a:solidFill>
                <a:prstClr val="black"/>
              </a:solidFill>
            </a:endParaRPr>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s-CL">
              <a:solidFill>
                <a:prstClr val="black"/>
              </a:solidFill>
            </a:endParaRPr>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65B1081D-DAF9-402C-A1A0-A7925D712C8E}" type="slidenum">
              <a:rPr lang="es-CL" smtClean="0">
                <a:solidFill>
                  <a:prstClr val="black"/>
                </a:solidFill>
              </a:rPr>
              <a:pPr/>
              <a:t>‹Nº›</a:t>
            </a:fld>
            <a:endParaRPr lang="es-CL">
              <a:solidFill>
                <a:prstClr val="black"/>
              </a:solidFill>
            </a:endParaRPr>
          </a:p>
        </p:txBody>
      </p:sp>
    </p:spTree>
    <p:extLst>
      <p:ext uri="{BB962C8B-B14F-4D97-AF65-F5344CB8AC3E}">
        <p14:creationId xmlns:p14="http://schemas.microsoft.com/office/powerpoint/2010/main" val="39582477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ctrTitle"/>
          </p:nvPr>
        </p:nvSpPr>
        <p:spPr>
          <a:xfrm>
            <a:off x="611560" y="2060848"/>
            <a:ext cx="7772400" cy="956319"/>
          </a:xfrm>
        </p:spPr>
        <p:txBody>
          <a:bodyPr/>
          <a:lstStyle/>
          <a:p>
            <a:pPr algn="ctr"/>
            <a:r>
              <a:rPr lang="es-CL" dirty="0"/>
              <a:t>Química General</a:t>
            </a:r>
          </a:p>
        </p:txBody>
      </p:sp>
      <p:pic>
        <p:nvPicPr>
          <p:cNvPr id="7" name="Picture 611" descr="escuela de quimica pf"/>
          <p:cNvPicPr>
            <a:picLocks noChangeAspect="1" noChangeArrowheads="1"/>
          </p:cNvPicPr>
          <p:nvPr/>
        </p:nvPicPr>
        <p:blipFill>
          <a:blip r:embed="rId2" cstate="print">
            <a:clrChange>
              <a:clrFrom>
                <a:srgbClr val="9BEE9E"/>
              </a:clrFrom>
              <a:clrTo>
                <a:srgbClr val="9BEE9E">
                  <a:alpha val="0"/>
                </a:srgbClr>
              </a:clrTo>
            </a:clrChange>
          </a:blip>
          <a:srcRect l="84267" t="86099" r="7374"/>
          <a:stretch>
            <a:fillRect/>
          </a:stretch>
        </p:blipFill>
        <p:spPr bwMode="auto">
          <a:xfrm>
            <a:off x="0" y="0"/>
            <a:ext cx="1619672" cy="2013686"/>
          </a:xfrm>
          <a:prstGeom prst="rect">
            <a:avLst/>
          </a:prstGeom>
          <a:noFill/>
          <a:ln w="9525">
            <a:noFill/>
            <a:miter lim="800000"/>
            <a:headEnd/>
            <a:tailEnd/>
          </a:ln>
        </p:spPr>
      </p:pic>
      <p:pic>
        <p:nvPicPr>
          <p:cNvPr id="8" name="Picture 2" descr="https://encrypted-tbn3.gstatic.com/images?q=tbn:ANd9GcRO8J1yNec4_1wCPtjuOiewf5nQGYl5NV2bwbf3r77IoDnU9TRF_g"/>
          <p:cNvPicPr>
            <a:picLocks noChangeAspect="1" noChangeArrowheads="1"/>
          </p:cNvPicPr>
          <p:nvPr/>
        </p:nvPicPr>
        <p:blipFill>
          <a:blip r:embed="rId3" cstate="print"/>
          <a:srcRect/>
          <a:stretch>
            <a:fillRect/>
          </a:stretch>
        </p:blipFill>
        <p:spPr bwMode="auto">
          <a:xfrm>
            <a:off x="0" y="5229201"/>
            <a:ext cx="2171732" cy="1628800"/>
          </a:xfrm>
          <a:prstGeom prst="rect">
            <a:avLst/>
          </a:prstGeom>
          <a:noFill/>
        </p:spPr>
      </p:pic>
      <p:pic>
        <p:nvPicPr>
          <p:cNvPr id="9" name="Picture 4" descr="http://4.bp.blogspot.com/_JgcpRXputak/TGSY_u3HkFI/AAAAAAAAADo/R9EnwbxcXKA/s1600/000444530.jpg"/>
          <p:cNvPicPr>
            <a:picLocks noChangeAspect="1" noChangeArrowheads="1"/>
          </p:cNvPicPr>
          <p:nvPr/>
        </p:nvPicPr>
        <p:blipFill>
          <a:blip r:embed="rId4" cstate="print"/>
          <a:srcRect/>
          <a:stretch>
            <a:fillRect/>
          </a:stretch>
        </p:blipFill>
        <p:spPr bwMode="auto">
          <a:xfrm>
            <a:off x="7092280" y="188640"/>
            <a:ext cx="1831876" cy="1786533"/>
          </a:xfrm>
          <a:prstGeom prst="rect">
            <a:avLst/>
          </a:prstGeom>
          <a:noFill/>
        </p:spPr>
      </p:pic>
      <p:sp>
        <p:nvSpPr>
          <p:cNvPr id="10" name="2 Subtítulo"/>
          <p:cNvSpPr txBox="1">
            <a:spLocks/>
          </p:cNvSpPr>
          <p:nvPr/>
        </p:nvSpPr>
        <p:spPr>
          <a:xfrm>
            <a:off x="683568" y="2924944"/>
            <a:ext cx="7772400" cy="2016224"/>
          </a:xfrm>
          <a:prstGeom prst="rect">
            <a:avLst/>
          </a:prstGeom>
        </p:spPr>
        <p:txBody>
          <a:bodyPr vert="horz" lIns="45720" rIns="45720">
            <a:normAutofit/>
          </a:bodyPr>
          <a:lstStyle/>
          <a:p>
            <a:pPr marR="64008" algn="r">
              <a:spcBef>
                <a:spcPts val="400"/>
              </a:spcBef>
              <a:buClr>
                <a:srgbClr val="2DA2BF"/>
              </a:buClr>
              <a:buSzPct val="68000"/>
              <a:buFont typeface="Wingdings 3"/>
              <a:buNone/>
              <a:defRPr/>
            </a:pPr>
            <a:endParaRPr lang="es-CL" sz="2700" dirty="0">
              <a:solidFill>
                <a:srgbClr val="464646"/>
              </a:solidFill>
            </a:endParaRPr>
          </a:p>
          <a:p>
            <a:pPr marR="64008" algn="ctr">
              <a:lnSpc>
                <a:spcPct val="170000"/>
              </a:lnSpc>
              <a:spcBef>
                <a:spcPts val="400"/>
              </a:spcBef>
              <a:buClr>
                <a:srgbClr val="2DA2BF"/>
              </a:buClr>
              <a:buSzPct val="68000"/>
              <a:buFont typeface="Wingdings 3"/>
              <a:buNone/>
              <a:defRPr/>
            </a:pPr>
            <a:r>
              <a:rPr lang="es-CL" sz="2700" dirty="0">
                <a:solidFill>
                  <a:srgbClr val="464646"/>
                </a:solidFill>
              </a:rPr>
              <a:t>Geometría Molecular </a:t>
            </a:r>
          </a:p>
          <a:p>
            <a:pPr marR="64008" algn="ctr">
              <a:lnSpc>
                <a:spcPct val="170000"/>
              </a:lnSpc>
              <a:spcBef>
                <a:spcPts val="400"/>
              </a:spcBef>
              <a:buClr>
                <a:srgbClr val="2DA2BF"/>
              </a:buClr>
              <a:buSzPct val="68000"/>
              <a:buFont typeface="Wingdings 3"/>
              <a:buNone/>
              <a:defRPr/>
            </a:pPr>
            <a:endParaRPr lang="es-CL" sz="2700" dirty="0">
              <a:solidFill>
                <a:srgbClr val="464646"/>
              </a:solidFill>
            </a:endParaRPr>
          </a:p>
        </p:txBody>
      </p:sp>
    </p:spTree>
    <p:extLst>
      <p:ext uri="{BB962C8B-B14F-4D97-AF65-F5344CB8AC3E}">
        <p14:creationId xmlns:p14="http://schemas.microsoft.com/office/powerpoint/2010/main" val="131197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251520" y="188640"/>
            <a:ext cx="8352928" cy="954107"/>
          </a:xfrm>
          <a:prstGeom prst="rect">
            <a:avLst/>
          </a:prstGeom>
          <a:noFill/>
        </p:spPr>
        <p:txBody>
          <a:bodyPr wrap="square" rtlCol="0">
            <a:spAutoFit/>
          </a:bodyPr>
          <a:lstStyle/>
          <a:p>
            <a:pPr algn="just"/>
            <a:r>
              <a:rPr lang="es-CL" sz="2800" dirty="0"/>
              <a:t>Geometría Molecular y Teoría de Repulsión de Pares electrónicos de Valencia (TRPEV). </a:t>
            </a:r>
          </a:p>
        </p:txBody>
      </p:sp>
      <p:sp>
        <p:nvSpPr>
          <p:cNvPr id="5" name="4 CuadroTexto"/>
          <p:cNvSpPr txBox="1"/>
          <p:nvPr/>
        </p:nvSpPr>
        <p:spPr>
          <a:xfrm>
            <a:off x="0" y="1340768"/>
            <a:ext cx="8820472" cy="1200329"/>
          </a:xfrm>
          <a:prstGeom prst="rect">
            <a:avLst/>
          </a:prstGeom>
          <a:noFill/>
        </p:spPr>
        <p:txBody>
          <a:bodyPr wrap="square" rtlCol="0">
            <a:spAutoFit/>
          </a:bodyPr>
          <a:lstStyle/>
          <a:p>
            <a:pPr marL="285750" indent="-285750" algn="just">
              <a:buFont typeface="Arial" panose="020B0604020202020204" pitchFamily="34" charset="0"/>
              <a:buChar char="•"/>
            </a:pPr>
            <a:r>
              <a:rPr lang="es-CL" dirty="0"/>
              <a:t>El arreglo geométrico de los enlaces en torno a un átomo, en una molécula aislada, depende del número total de pares electrónicos en la capa de valencia del átomo, incluyendo los pares electrónicos enlazantes y los no enlazantes. </a:t>
            </a:r>
          </a:p>
        </p:txBody>
      </p:sp>
      <p:sp>
        <p:nvSpPr>
          <p:cNvPr id="6" name="5 CuadroTexto"/>
          <p:cNvSpPr txBox="1"/>
          <p:nvPr/>
        </p:nvSpPr>
        <p:spPr>
          <a:xfrm>
            <a:off x="2375489" y="3292360"/>
            <a:ext cx="4392488" cy="707886"/>
          </a:xfrm>
          <a:prstGeom prst="rect">
            <a:avLst/>
          </a:prstGeom>
          <a:noFill/>
        </p:spPr>
        <p:txBody>
          <a:bodyPr wrap="square" rtlCol="0">
            <a:spAutoFit/>
          </a:bodyPr>
          <a:lstStyle/>
          <a:p>
            <a:pPr algn="ctr"/>
            <a:r>
              <a:rPr lang="es-CL" sz="4000" dirty="0" err="1"/>
              <a:t>AL</a:t>
            </a:r>
            <a:r>
              <a:rPr lang="es-CL" sz="4000" baseline="-25000" dirty="0" err="1"/>
              <a:t>m</a:t>
            </a:r>
            <a:r>
              <a:rPr lang="es-CL" sz="4000" dirty="0" err="1"/>
              <a:t>E</a:t>
            </a:r>
            <a:r>
              <a:rPr lang="es-CL" sz="4000" baseline="-25000" dirty="0" err="1"/>
              <a:t>n</a:t>
            </a:r>
            <a:endParaRPr lang="es-CL" sz="4000" dirty="0"/>
          </a:p>
        </p:txBody>
      </p:sp>
      <p:sp>
        <p:nvSpPr>
          <p:cNvPr id="7" name="6 CuadroTexto"/>
          <p:cNvSpPr txBox="1"/>
          <p:nvPr/>
        </p:nvSpPr>
        <p:spPr>
          <a:xfrm>
            <a:off x="251520" y="2738517"/>
            <a:ext cx="8136904" cy="369332"/>
          </a:xfrm>
          <a:prstGeom prst="rect">
            <a:avLst/>
          </a:prstGeom>
          <a:noFill/>
        </p:spPr>
        <p:txBody>
          <a:bodyPr wrap="square" rtlCol="0">
            <a:spAutoFit/>
          </a:bodyPr>
          <a:lstStyle/>
          <a:p>
            <a:r>
              <a:rPr lang="es-CL" dirty="0"/>
              <a:t>Considerando a una molécula covalente</a:t>
            </a:r>
          </a:p>
        </p:txBody>
      </p:sp>
      <p:cxnSp>
        <p:nvCxnSpPr>
          <p:cNvPr id="9" name="8 Conector recto de flecha"/>
          <p:cNvCxnSpPr/>
          <p:nvPr/>
        </p:nvCxnSpPr>
        <p:spPr>
          <a:xfrm flipH="1">
            <a:off x="2375489" y="3646303"/>
            <a:ext cx="1404423" cy="3539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899592" y="4127942"/>
            <a:ext cx="1907945" cy="369332"/>
          </a:xfrm>
          <a:prstGeom prst="rect">
            <a:avLst/>
          </a:prstGeom>
          <a:noFill/>
        </p:spPr>
        <p:txBody>
          <a:bodyPr wrap="square" rtlCol="0">
            <a:spAutoFit/>
          </a:bodyPr>
          <a:lstStyle/>
          <a:p>
            <a:r>
              <a:rPr lang="es-CL" dirty="0"/>
              <a:t>Átomo central</a:t>
            </a:r>
          </a:p>
        </p:txBody>
      </p:sp>
      <p:cxnSp>
        <p:nvCxnSpPr>
          <p:cNvPr id="11" name="10 Conector recto de flecha"/>
          <p:cNvCxnSpPr/>
          <p:nvPr/>
        </p:nvCxnSpPr>
        <p:spPr>
          <a:xfrm flipH="1">
            <a:off x="4410236" y="4000246"/>
            <a:ext cx="1" cy="5808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3771350" y="4581128"/>
            <a:ext cx="2808312" cy="369332"/>
          </a:xfrm>
          <a:prstGeom prst="rect">
            <a:avLst/>
          </a:prstGeom>
          <a:noFill/>
        </p:spPr>
        <p:txBody>
          <a:bodyPr wrap="square" rtlCol="0">
            <a:spAutoFit/>
          </a:bodyPr>
          <a:lstStyle/>
          <a:p>
            <a:r>
              <a:rPr lang="es-CL" dirty="0"/>
              <a:t>Ligandos</a:t>
            </a:r>
          </a:p>
        </p:txBody>
      </p:sp>
      <p:cxnSp>
        <p:nvCxnSpPr>
          <p:cNvPr id="16" name="15 Conector recto de flecha"/>
          <p:cNvCxnSpPr/>
          <p:nvPr/>
        </p:nvCxnSpPr>
        <p:spPr>
          <a:xfrm>
            <a:off x="5334033" y="3646303"/>
            <a:ext cx="1763928" cy="5309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6566761" y="4199111"/>
            <a:ext cx="2384826" cy="646331"/>
          </a:xfrm>
          <a:prstGeom prst="rect">
            <a:avLst/>
          </a:prstGeom>
          <a:noFill/>
        </p:spPr>
        <p:txBody>
          <a:bodyPr wrap="square" rtlCol="0">
            <a:spAutoFit/>
          </a:bodyPr>
          <a:lstStyle/>
          <a:p>
            <a:r>
              <a:rPr lang="es-CL" dirty="0"/>
              <a:t>Pares electrónicos no enlazantes</a:t>
            </a:r>
          </a:p>
        </p:txBody>
      </p:sp>
      <p:sp>
        <p:nvSpPr>
          <p:cNvPr id="19" name="18 CuadroTexto"/>
          <p:cNvSpPr txBox="1"/>
          <p:nvPr/>
        </p:nvSpPr>
        <p:spPr>
          <a:xfrm>
            <a:off x="2325719" y="5157191"/>
            <a:ext cx="6624736" cy="1477328"/>
          </a:xfrm>
          <a:prstGeom prst="rect">
            <a:avLst/>
          </a:prstGeom>
          <a:noFill/>
        </p:spPr>
        <p:txBody>
          <a:bodyPr wrap="square" rtlCol="0">
            <a:spAutoFit/>
          </a:bodyPr>
          <a:lstStyle/>
          <a:p>
            <a:r>
              <a:rPr lang="es-CL" dirty="0"/>
              <a:t>Donde: </a:t>
            </a:r>
          </a:p>
          <a:p>
            <a:r>
              <a:rPr lang="es-CL" dirty="0"/>
              <a:t>               m : N° de ligandos unidos al átomo central</a:t>
            </a:r>
          </a:p>
          <a:p>
            <a:r>
              <a:rPr lang="es-CL" dirty="0"/>
              <a:t>       </a:t>
            </a:r>
          </a:p>
          <a:p>
            <a:r>
              <a:rPr lang="es-CL" dirty="0"/>
              <a:t>               n : N° de pares electrónicos no enlazantes que    	       posee el átomo central    </a:t>
            </a:r>
          </a:p>
        </p:txBody>
      </p:sp>
    </p:spTree>
    <p:extLst>
      <p:ext uri="{BB962C8B-B14F-4D97-AF65-F5344CB8AC3E}">
        <p14:creationId xmlns:p14="http://schemas.microsoft.com/office/powerpoint/2010/main" val="527633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07504" y="334608"/>
            <a:ext cx="8820472" cy="646331"/>
          </a:xfrm>
          <a:prstGeom prst="rect">
            <a:avLst/>
          </a:prstGeom>
          <a:noFill/>
        </p:spPr>
        <p:txBody>
          <a:bodyPr wrap="square" rtlCol="0">
            <a:spAutoFit/>
          </a:bodyPr>
          <a:lstStyle/>
          <a:p>
            <a:pPr marL="285750" indent="-285750" algn="just">
              <a:buFont typeface="Arial" panose="020B0604020202020204" pitchFamily="34" charset="0"/>
              <a:buChar char="•"/>
            </a:pPr>
            <a:r>
              <a:rPr lang="es-CL" dirty="0"/>
              <a:t> Si se considera moléculas cuyos átomos centrales no tienen pares electrónicos no enlazantes, se tiene las siguientes posibilidades : </a:t>
            </a:r>
          </a:p>
        </p:txBody>
      </p:sp>
      <p:sp>
        <p:nvSpPr>
          <p:cNvPr id="5" name="4 CuadroTexto"/>
          <p:cNvSpPr txBox="1"/>
          <p:nvPr/>
        </p:nvSpPr>
        <p:spPr>
          <a:xfrm>
            <a:off x="179245" y="1628800"/>
            <a:ext cx="4392488" cy="707886"/>
          </a:xfrm>
          <a:prstGeom prst="rect">
            <a:avLst/>
          </a:prstGeom>
          <a:noFill/>
        </p:spPr>
        <p:txBody>
          <a:bodyPr wrap="square" rtlCol="0">
            <a:spAutoFit/>
          </a:bodyPr>
          <a:lstStyle/>
          <a:p>
            <a:r>
              <a:rPr lang="es-CL" sz="4000" dirty="0"/>
              <a:t>AL</a:t>
            </a:r>
            <a:r>
              <a:rPr lang="es-CL" sz="4000" baseline="-25000" dirty="0"/>
              <a:t>2		</a:t>
            </a:r>
            <a:endParaRPr lang="es-CL" sz="4000" dirty="0"/>
          </a:p>
        </p:txBody>
      </p:sp>
      <p:sp>
        <p:nvSpPr>
          <p:cNvPr id="6" name="5 CuadroTexto"/>
          <p:cNvSpPr txBox="1"/>
          <p:nvPr/>
        </p:nvSpPr>
        <p:spPr>
          <a:xfrm>
            <a:off x="179245" y="1650473"/>
            <a:ext cx="4392488" cy="707886"/>
          </a:xfrm>
          <a:prstGeom prst="rect">
            <a:avLst/>
          </a:prstGeom>
          <a:noFill/>
        </p:spPr>
        <p:txBody>
          <a:bodyPr wrap="square" rtlCol="0">
            <a:spAutoFit/>
          </a:bodyPr>
          <a:lstStyle/>
          <a:p>
            <a:pPr algn="ctr"/>
            <a:r>
              <a:rPr lang="es-CL" sz="4000" dirty="0"/>
              <a:t>AL</a:t>
            </a:r>
            <a:r>
              <a:rPr lang="es-CL" sz="4000" baseline="-25000" dirty="0"/>
              <a:t>3</a:t>
            </a:r>
            <a:endParaRPr lang="es-CL" sz="4000" dirty="0"/>
          </a:p>
        </p:txBody>
      </p:sp>
      <p:sp>
        <p:nvSpPr>
          <p:cNvPr id="7" name="6 CuadroTexto"/>
          <p:cNvSpPr txBox="1"/>
          <p:nvPr/>
        </p:nvSpPr>
        <p:spPr>
          <a:xfrm>
            <a:off x="1619672" y="1630582"/>
            <a:ext cx="4392488" cy="707886"/>
          </a:xfrm>
          <a:prstGeom prst="rect">
            <a:avLst/>
          </a:prstGeom>
          <a:noFill/>
        </p:spPr>
        <p:txBody>
          <a:bodyPr wrap="square" rtlCol="0">
            <a:spAutoFit/>
          </a:bodyPr>
          <a:lstStyle/>
          <a:p>
            <a:pPr algn="ctr"/>
            <a:r>
              <a:rPr lang="es-CL" sz="4000" dirty="0"/>
              <a:t>AL</a:t>
            </a:r>
            <a:r>
              <a:rPr lang="es-CL" sz="4000" baseline="-25000" dirty="0"/>
              <a:t>4</a:t>
            </a:r>
            <a:endParaRPr lang="es-CL" sz="4000" dirty="0"/>
          </a:p>
        </p:txBody>
      </p:sp>
      <p:sp>
        <p:nvSpPr>
          <p:cNvPr id="8" name="7 CuadroTexto"/>
          <p:cNvSpPr txBox="1"/>
          <p:nvPr/>
        </p:nvSpPr>
        <p:spPr>
          <a:xfrm>
            <a:off x="3131840" y="1652255"/>
            <a:ext cx="4392488" cy="707886"/>
          </a:xfrm>
          <a:prstGeom prst="rect">
            <a:avLst/>
          </a:prstGeom>
          <a:noFill/>
        </p:spPr>
        <p:txBody>
          <a:bodyPr wrap="square" rtlCol="0">
            <a:spAutoFit/>
          </a:bodyPr>
          <a:lstStyle/>
          <a:p>
            <a:pPr algn="ctr"/>
            <a:r>
              <a:rPr lang="es-CL" sz="4000" dirty="0"/>
              <a:t>AL</a:t>
            </a:r>
            <a:r>
              <a:rPr lang="es-CL" sz="4000" baseline="-25000" dirty="0"/>
              <a:t>5</a:t>
            </a:r>
            <a:endParaRPr lang="es-CL" sz="4000" dirty="0"/>
          </a:p>
        </p:txBody>
      </p:sp>
      <p:sp>
        <p:nvSpPr>
          <p:cNvPr id="9" name="8 CuadroTexto"/>
          <p:cNvSpPr txBox="1"/>
          <p:nvPr/>
        </p:nvSpPr>
        <p:spPr>
          <a:xfrm>
            <a:off x="4932040" y="1628800"/>
            <a:ext cx="4392488" cy="707886"/>
          </a:xfrm>
          <a:prstGeom prst="rect">
            <a:avLst/>
          </a:prstGeom>
          <a:noFill/>
        </p:spPr>
        <p:txBody>
          <a:bodyPr wrap="square" rtlCol="0">
            <a:spAutoFit/>
          </a:bodyPr>
          <a:lstStyle/>
          <a:p>
            <a:pPr algn="ctr"/>
            <a:r>
              <a:rPr lang="es-CL" sz="2800" dirty="0"/>
              <a:t>y</a:t>
            </a:r>
            <a:r>
              <a:rPr lang="es-CL" sz="4000" dirty="0"/>
              <a:t>  AL</a:t>
            </a:r>
            <a:r>
              <a:rPr lang="es-CL" sz="4000" baseline="-25000" dirty="0"/>
              <a:t>6</a:t>
            </a:r>
            <a:endParaRPr lang="es-CL" sz="4000" dirty="0"/>
          </a:p>
        </p:txBody>
      </p:sp>
      <p:sp>
        <p:nvSpPr>
          <p:cNvPr id="10" name="9 CuadroTexto"/>
          <p:cNvSpPr txBox="1"/>
          <p:nvPr/>
        </p:nvSpPr>
        <p:spPr>
          <a:xfrm>
            <a:off x="107504" y="2755767"/>
            <a:ext cx="8136904" cy="1354217"/>
          </a:xfrm>
          <a:prstGeom prst="rect">
            <a:avLst/>
          </a:prstGeom>
          <a:noFill/>
        </p:spPr>
        <p:txBody>
          <a:bodyPr wrap="square" rtlCol="0">
            <a:spAutoFit/>
          </a:bodyPr>
          <a:lstStyle/>
          <a:p>
            <a:pPr marL="285750" indent="-285750" algn="just">
              <a:buFont typeface="Arial" panose="020B0604020202020204" pitchFamily="34" charset="0"/>
              <a:buChar char="•"/>
            </a:pPr>
            <a:r>
              <a:rPr lang="es-CL" dirty="0"/>
              <a:t>Para el caso en que se obtenga tres átomos  </a:t>
            </a:r>
            <a:r>
              <a:rPr lang="es-CL" sz="2800" dirty="0"/>
              <a:t>(AL</a:t>
            </a:r>
            <a:r>
              <a:rPr lang="es-CL" sz="2800" baseline="-25000" dirty="0"/>
              <a:t>2</a:t>
            </a:r>
            <a:r>
              <a:rPr lang="es-CL" sz="2800" dirty="0"/>
              <a:t>) </a:t>
            </a:r>
            <a:r>
              <a:rPr lang="es-CL" dirty="0"/>
              <a:t>existen varias posibilidades de ordenar los</a:t>
            </a:r>
            <a:r>
              <a:rPr lang="es-CL" u="sng" dirty="0"/>
              <a:t> ligandos </a:t>
            </a:r>
            <a:r>
              <a:rPr lang="es-CL" dirty="0"/>
              <a:t>en torno al átomo central, debido a que los enlaces de estos átomos pueden estar orientados formando diversos ángulos. </a:t>
            </a:r>
          </a:p>
        </p:txBody>
      </p:sp>
      <p:cxnSp>
        <p:nvCxnSpPr>
          <p:cNvPr id="12" name="11 Conector angular"/>
          <p:cNvCxnSpPr/>
          <p:nvPr/>
        </p:nvCxnSpPr>
        <p:spPr>
          <a:xfrm>
            <a:off x="827584" y="4148992"/>
            <a:ext cx="1440000" cy="504000"/>
          </a:xfrm>
          <a:prstGeom prst="bentConnector3">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375488" y="4411161"/>
            <a:ext cx="6300967" cy="2123658"/>
          </a:xfrm>
          <a:prstGeom prst="rect">
            <a:avLst/>
          </a:prstGeom>
          <a:noFill/>
        </p:spPr>
        <p:txBody>
          <a:bodyPr wrap="square" rtlCol="0">
            <a:spAutoFit/>
          </a:bodyPr>
          <a:lstStyle/>
          <a:p>
            <a:r>
              <a:rPr lang="es-CL" dirty="0"/>
              <a:t>PERO !!!!!  </a:t>
            </a:r>
          </a:p>
          <a:p>
            <a:endParaRPr lang="es-CL" dirty="0"/>
          </a:p>
          <a:p>
            <a:pPr algn="just"/>
            <a:r>
              <a:rPr lang="es-CL" sz="2400" dirty="0"/>
              <a:t>Según la TRPEV  establece que la molécula adopta la forma que permita que la </a:t>
            </a:r>
            <a:r>
              <a:rPr lang="es-CL" sz="2400" u="sng" dirty="0"/>
              <a:t>repulsión</a:t>
            </a:r>
            <a:r>
              <a:rPr lang="es-CL" sz="2400" dirty="0"/>
              <a:t> entre los pares electrónicos sea mínima !!</a:t>
            </a:r>
          </a:p>
        </p:txBody>
      </p:sp>
    </p:spTree>
    <p:extLst>
      <p:ext uri="{BB962C8B-B14F-4D97-AF65-F5344CB8AC3E}">
        <p14:creationId xmlns:p14="http://schemas.microsoft.com/office/powerpoint/2010/main" val="1553150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06016" y="116632"/>
            <a:ext cx="8858472" cy="2215991"/>
          </a:xfrm>
          <a:prstGeom prst="rect">
            <a:avLst/>
          </a:prstGeom>
          <a:noFill/>
        </p:spPr>
        <p:txBody>
          <a:bodyPr wrap="square" rtlCol="0">
            <a:spAutoFit/>
          </a:bodyPr>
          <a:lstStyle/>
          <a:p>
            <a:pPr marL="285750" indent="-285750" algn="just">
              <a:buFont typeface="Arial" panose="020B0604020202020204" pitchFamily="34" charset="0"/>
              <a:buChar char="•"/>
            </a:pPr>
            <a:r>
              <a:rPr lang="es-CL" dirty="0"/>
              <a:t>Entonces la forma que debe adoptar la molécula  AL</a:t>
            </a:r>
            <a:r>
              <a:rPr lang="es-CL" baseline="-25000" dirty="0"/>
              <a:t>2 </a:t>
            </a:r>
            <a:r>
              <a:rPr lang="es-CL" dirty="0"/>
              <a:t>, para que dos pares electrónicos ejerzan una mínima repulsión entre sí, es </a:t>
            </a:r>
            <a:r>
              <a:rPr lang="es-CL" u="sng" dirty="0"/>
              <a:t>LINEAL</a:t>
            </a:r>
            <a:r>
              <a:rPr lang="es-CL" dirty="0"/>
              <a:t>, con un ángulo de 180°. </a:t>
            </a:r>
          </a:p>
          <a:p>
            <a:pPr marL="285750" indent="-285750" algn="just">
              <a:buFont typeface="Arial" panose="020B0604020202020204" pitchFamily="34" charset="0"/>
              <a:buChar char="•"/>
            </a:pPr>
            <a:endParaRPr lang="es-CL" baseline="-25000" dirty="0"/>
          </a:p>
          <a:p>
            <a:pPr algn="just"/>
            <a:r>
              <a:rPr lang="es-CL" sz="3200" baseline="-25000" dirty="0"/>
              <a:t>                                     </a:t>
            </a:r>
            <a:r>
              <a:rPr lang="es-CL" sz="3200" dirty="0"/>
              <a:t> </a:t>
            </a:r>
            <a:r>
              <a:rPr lang="es-CL" sz="3200" baseline="-25000" dirty="0"/>
              <a:t>  </a:t>
            </a:r>
            <a:r>
              <a:rPr lang="es-CL" sz="3200" dirty="0"/>
              <a:t> L : A : L</a:t>
            </a:r>
          </a:p>
          <a:p>
            <a:pPr algn="just"/>
            <a:endParaRPr lang="es-CL" sz="2000" dirty="0"/>
          </a:p>
          <a:p>
            <a:pPr algn="just"/>
            <a:r>
              <a:rPr lang="es-CL" sz="2000" dirty="0"/>
              <a:t>Por ejemplo para las molécula de CO</a:t>
            </a:r>
            <a:r>
              <a:rPr lang="es-CL" sz="2000" baseline="-25000" dirty="0"/>
              <a:t>2 </a:t>
            </a:r>
            <a:r>
              <a:rPr lang="es-CL" sz="2000" dirty="0"/>
              <a:t>y BeH</a:t>
            </a:r>
            <a:r>
              <a:rPr lang="es-CL" sz="2000" baseline="-25000" dirty="0"/>
              <a:t>2</a:t>
            </a:r>
            <a:r>
              <a:rPr lang="es-CL" sz="2000" dirty="0"/>
              <a:t>:</a:t>
            </a:r>
          </a:p>
        </p:txBody>
      </p:sp>
      <p:pic>
        <p:nvPicPr>
          <p:cNvPr id="2050" name="Picture 2" descr="Resultado de imagen para teoria de repulsion de pares electronic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492896"/>
            <a:ext cx="3312769" cy="194421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sultado de imagen para Geometría Molecular para AL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5252" y="2492896"/>
            <a:ext cx="3637148" cy="1944216"/>
          </a:xfrm>
          <a:prstGeom prst="rect">
            <a:avLst/>
          </a:prstGeom>
          <a:noFill/>
          <a:extLst>
            <a:ext uri="{909E8E84-426E-40DD-AFC4-6F175D3DCCD1}">
              <a14:hiddenFill xmlns:a14="http://schemas.microsoft.com/office/drawing/2010/main">
                <a:solidFill>
                  <a:srgbClr val="FFFFFF"/>
                </a:solidFill>
              </a14:hiddenFill>
            </a:ext>
          </a:extLst>
        </p:spPr>
      </p:pic>
      <p:sp>
        <p:nvSpPr>
          <p:cNvPr id="9" name="8 CuadroTexto"/>
          <p:cNvSpPr txBox="1"/>
          <p:nvPr/>
        </p:nvSpPr>
        <p:spPr>
          <a:xfrm>
            <a:off x="251520" y="4639488"/>
            <a:ext cx="8568952" cy="1015663"/>
          </a:xfrm>
          <a:prstGeom prst="rect">
            <a:avLst/>
          </a:prstGeom>
          <a:noFill/>
        </p:spPr>
        <p:txBody>
          <a:bodyPr wrap="square" rtlCol="0">
            <a:spAutoFit/>
          </a:bodyPr>
          <a:lstStyle/>
          <a:p>
            <a:pPr algn="just"/>
            <a:r>
              <a:rPr lang="es-CL" sz="2000" dirty="0"/>
              <a:t>De esta forma, los dos pares electrónicos están lo más alejados posibles uno del otro y además el átomo central se interpone entre ellos, evitando la repulsión. </a:t>
            </a:r>
          </a:p>
        </p:txBody>
      </p:sp>
    </p:spTree>
    <p:extLst>
      <p:ext uri="{BB962C8B-B14F-4D97-AF65-F5344CB8AC3E}">
        <p14:creationId xmlns:p14="http://schemas.microsoft.com/office/powerpoint/2010/main" val="835837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06016" y="116632"/>
            <a:ext cx="8858472" cy="1015663"/>
          </a:xfrm>
          <a:prstGeom prst="rect">
            <a:avLst/>
          </a:prstGeom>
          <a:noFill/>
        </p:spPr>
        <p:txBody>
          <a:bodyPr wrap="square" rtlCol="0">
            <a:spAutoFit/>
          </a:bodyPr>
          <a:lstStyle/>
          <a:p>
            <a:pPr marL="285750" indent="-285750" algn="just">
              <a:buFont typeface="Arial" panose="020B0604020202020204" pitchFamily="34" charset="0"/>
              <a:buChar char="•"/>
            </a:pPr>
            <a:r>
              <a:rPr lang="es-CL" sz="2000" dirty="0"/>
              <a:t>Con consideraciones similares es posible deducir las siguientes geometrías para moléculas que tienen tres, cuatro, cinco o seis átomos en torno al átomo central. </a:t>
            </a:r>
          </a:p>
        </p:txBody>
      </p:sp>
      <p:grpSp>
        <p:nvGrpSpPr>
          <p:cNvPr id="9" name="8 Grupo"/>
          <p:cNvGrpSpPr/>
          <p:nvPr/>
        </p:nvGrpSpPr>
        <p:grpSpPr>
          <a:xfrm>
            <a:off x="116244" y="1215085"/>
            <a:ext cx="6498588" cy="2621803"/>
            <a:chOff x="2771056" y="1278656"/>
            <a:chExt cx="6498588" cy="2621803"/>
          </a:xfrm>
        </p:grpSpPr>
        <p:sp>
          <p:nvSpPr>
            <p:cNvPr id="5" name="4 CuadroTexto"/>
            <p:cNvSpPr txBox="1"/>
            <p:nvPr/>
          </p:nvSpPr>
          <p:spPr>
            <a:xfrm>
              <a:off x="2771056" y="1278656"/>
              <a:ext cx="3528392" cy="461665"/>
            </a:xfrm>
            <a:prstGeom prst="rect">
              <a:avLst/>
            </a:prstGeom>
            <a:noFill/>
          </p:spPr>
          <p:txBody>
            <a:bodyPr wrap="square" rtlCol="0">
              <a:spAutoFit/>
            </a:bodyPr>
            <a:lstStyle/>
            <a:p>
              <a:r>
                <a:rPr lang="es-CL" sz="2400" dirty="0"/>
                <a:t>AL</a:t>
              </a:r>
              <a:r>
                <a:rPr lang="es-CL" sz="2400" baseline="-25000" dirty="0"/>
                <a:t>3</a:t>
              </a:r>
              <a:r>
                <a:rPr lang="es-CL" sz="2400" dirty="0"/>
                <a:t>    Trigonal plana</a:t>
              </a:r>
            </a:p>
          </p:txBody>
        </p:sp>
        <p:sp>
          <p:nvSpPr>
            <p:cNvPr id="6" name="5 CuadroTexto"/>
            <p:cNvSpPr txBox="1"/>
            <p:nvPr/>
          </p:nvSpPr>
          <p:spPr>
            <a:xfrm>
              <a:off x="2771056" y="1892720"/>
              <a:ext cx="3528392" cy="461665"/>
            </a:xfrm>
            <a:prstGeom prst="rect">
              <a:avLst/>
            </a:prstGeom>
            <a:noFill/>
          </p:spPr>
          <p:txBody>
            <a:bodyPr wrap="square" rtlCol="0">
              <a:spAutoFit/>
            </a:bodyPr>
            <a:lstStyle/>
            <a:p>
              <a:r>
                <a:rPr lang="es-CL" sz="2400" dirty="0"/>
                <a:t>AL</a:t>
              </a:r>
              <a:r>
                <a:rPr lang="es-CL" sz="2400" baseline="-25000" dirty="0"/>
                <a:t>4</a:t>
              </a:r>
              <a:r>
                <a:rPr lang="es-CL" sz="2400" dirty="0"/>
                <a:t>    Tetraédrica</a:t>
              </a:r>
            </a:p>
          </p:txBody>
        </p:sp>
        <p:sp>
          <p:nvSpPr>
            <p:cNvPr id="7" name="6 CuadroTexto"/>
            <p:cNvSpPr txBox="1"/>
            <p:nvPr/>
          </p:nvSpPr>
          <p:spPr>
            <a:xfrm>
              <a:off x="2803522" y="2492896"/>
              <a:ext cx="6448998" cy="461665"/>
            </a:xfrm>
            <a:prstGeom prst="rect">
              <a:avLst/>
            </a:prstGeom>
            <a:noFill/>
          </p:spPr>
          <p:txBody>
            <a:bodyPr wrap="square" rtlCol="0">
              <a:spAutoFit/>
            </a:bodyPr>
            <a:lstStyle/>
            <a:p>
              <a:r>
                <a:rPr lang="es-CL" sz="2400" dirty="0"/>
                <a:t>AL</a:t>
              </a:r>
              <a:r>
                <a:rPr lang="es-CL" sz="2400" baseline="-25000" dirty="0"/>
                <a:t>5</a:t>
              </a:r>
              <a:r>
                <a:rPr lang="es-CL" sz="2400" dirty="0"/>
                <a:t>    Bipirámide de base triangular</a:t>
              </a:r>
            </a:p>
          </p:txBody>
        </p:sp>
        <p:sp>
          <p:nvSpPr>
            <p:cNvPr id="8" name="7 CuadroTexto"/>
            <p:cNvSpPr txBox="1"/>
            <p:nvPr/>
          </p:nvSpPr>
          <p:spPr>
            <a:xfrm>
              <a:off x="2820646" y="3069462"/>
              <a:ext cx="6448998" cy="830997"/>
            </a:xfrm>
            <a:prstGeom prst="rect">
              <a:avLst/>
            </a:prstGeom>
            <a:noFill/>
          </p:spPr>
          <p:txBody>
            <a:bodyPr wrap="square" rtlCol="0">
              <a:spAutoFit/>
            </a:bodyPr>
            <a:lstStyle/>
            <a:p>
              <a:r>
                <a:rPr lang="es-CL" sz="2400" dirty="0"/>
                <a:t>AL</a:t>
              </a:r>
              <a:r>
                <a:rPr lang="es-CL" sz="2400" baseline="-25000" dirty="0"/>
                <a:t>6</a:t>
              </a:r>
              <a:r>
                <a:rPr lang="es-CL" sz="2400" dirty="0"/>
                <a:t>    Bipirámide de base cuadrada o </a:t>
              </a:r>
            </a:p>
            <a:p>
              <a:r>
                <a:rPr lang="es-CL" sz="2400" dirty="0"/>
                <a:t>         octaedro</a:t>
              </a:r>
            </a:p>
          </p:txBody>
        </p:sp>
      </p:grpSp>
      <p:sp>
        <p:nvSpPr>
          <p:cNvPr id="10" name="9 Flecha derecha"/>
          <p:cNvSpPr/>
          <p:nvPr/>
        </p:nvSpPr>
        <p:spPr>
          <a:xfrm>
            <a:off x="5580112" y="2059981"/>
            <a:ext cx="792088" cy="3693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10 CuadroTexto"/>
          <p:cNvSpPr txBox="1"/>
          <p:nvPr/>
        </p:nvSpPr>
        <p:spPr>
          <a:xfrm>
            <a:off x="6614832" y="1676750"/>
            <a:ext cx="2349656" cy="954107"/>
          </a:xfrm>
          <a:prstGeom prst="rect">
            <a:avLst/>
          </a:prstGeom>
          <a:noFill/>
        </p:spPr>
        <p:txBody>
          <a:bodyPr wrap="square" rtlCol="0">
            <a:spAutoFit/>
          </a:bodyPr>
          <a:lstStyle/>
          <a:p>
            <a:r>
              <a:rPr lang="es-CL" sz="2800" dirty="0">
                <a:solidFill>
                  <a:srgbClr val="00B050"/>
                </a:solidFill>
              </a:rPr>
              <a:t>Estructuras Básicas </a:t>
            </a:r>
          </a:p>
        </p:txBody>
      </p:sp>
      <p:sp>
        <p:nvSpPr>
          <p:cNvPr id="12" name="11 CuadroTexto"/>
          <p:cNvSpPr txBox="1"/>
          <p:nvPr/>
        </p:nvSpPr>
        <p:spPr>
          <a:xfrm>
            <a:off x="159651" y="4005064"/>
            <a:ext cx="8815778" cy="923330"/>
          </a:xfrm>
          <a:prstGeom prst="rect">
            <a:avLst/>
          </a:prstGeom>
          <a:noFill/>
        </p:spPr>
        <p:txBody>
          <a:bodyPr wrap="square" rtlCol="0">
            <a:spAutoFit/>
          </a:bodyPr>
          <a:lstStyle/>
          <a:p>
            <a:pPr algn="just"/>
            <a:r>
              <a:rPr lang="es-CL" dirty="0"/>
              <a:t>Se puede comprobar que cuando el número de pares electrónicos disponibles es igual a los pares electrónicos que forman el enlace químico , la forma de la molécula es igual a estas estructuras básicas como sucede en: </a:t>
            </a:r>
          </a:p>
        </p:txBody>
      </p:sp>
      <p:sp>
        <p:nvSpPr>
          <p:cNvPr id="13" name="12 CuadroTexto"/>
          <p:cNvSpPr txBox="1"/>
          <p:nvPr/>
        </p:nvSpPr>
        <p:spPr>
          <a:xfrm>
            <a:off x="539552" y="5370867"/>
            <a:ext cx="9145016" cy="584775"/>
          </a:xfrm>
          <a:prstGeom prst="rect">
            <a:avLst/>
          </a:prstGeom>
          <a:noFill/>
        </p:spPr>
        <p:txBody>
          <a:bodyPr wrap="square" rtlCol="0">
            <a:spAutoFit/>
          </a:bodyPr>
          <a:lstStyle/>
          <a:p>
            <a:r>
              <a:rPr lang="es-CL" sz="3200" dirty="0"/>
              <a:t>        CO</a:t>
            </a:r>
            <a:r>
              <a:rPr lang="es-CL" sz="3200" baseline="-25000" dirty="0"/>
              <a:t>2</a:t>
            </a:r>
            <a:r>
              <a:rPr lang="es-CL" sz="3200" dirty="0"/>
              <a:t>      BF</a:t>
            </a:r>
            <a:r>
              <a:rPr lang="es-CL" sz="3200" baseline="-25000" dirty="0"/>
              <a:t>3</a:t>
            </a:r>
            <a:r>
              <a:rPr lang="es-CL" sz="3200" dirty="0"/>
              <a:t>     CH</a:t>
            </a:r>
            <a:r>
              <a:rPr lang="es-CL" sz="3200" baseline="-25000" dirty="0"/>
              <a:t>4</a:t>
            </a:r>
            <a:r>
              <a:rPr lang="es-CL" sz="3200" dirty="0"/>
              <a:t>    PCl</a:t>
            </a:r>
            <a:r>
              <a:rPr lang="es-CL" sz="3200" baseline="-25000" dirty="0"/>
              <a:t>5</a:t>
            </a:r>
            <a:r>
              <a:rPr lang="es-CL" sz="3200" dirty="0"/>
              <a:t>     SF</a:t>
            </a:r>
            <a:r>
              <a:rPr lang="es-CL" sz="3200" baseline="-25000" dirty="0"/>
              <a:t>6</a:t>
            </a:r>
            <a:r>
              <a:rPr lang="es-CL" sz="3200" dirty="0"/>
              <a:t>   </a:t>
            </a:r>
          </a:p>
        </p:txBody>
      </p:sp>
    </p:spTree>
    <p:extLst>
      <p:ext uri="{BB962C8B-B14F-4D97-AF65-F5344CB8AC3E}">
        <p14:creationId xmlns:p14="http://schemas.microsoft.com/office/powerpoint/2010/main" val="20237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06016" y="116632"/>
            <a:ext cx="8858472" cy="2246769"/>
          </a:xfrm>
          <a:prstGeom prst="rect">
            <a:avLst/>
          </a:prstGeom>
          <a:noFill/>
        </p:spPr>
        <p:txBody>
          <a:bodyPr wrap="square" rtlCol="0">
            <a:spAutoFit/>
          </a:bodyPr>
          <a:lstStyle/>
          <a:p>
            <a:pPr marL="285750" indent="-285750" algn="just">
              <a:buFont typeface="Arial" panose="020B0604020202020204" pitchFamily="34" charset="0"/>
              <a:buChar char="•"/>
            </a:pPr>
            <a:r>
              <a:rPr lang="es-CL" sz="2000" dirty="0"/>
              <a:t>Pero en el caso donde existan pares electrónicos no enlazantes, la geometría molecular se modifica</a:t>
            </a:r>
          </a:p>
          <a:p>
            <a:pPr marL="285750" indent="-285750" algn="just">
              <a:buFont typeface="Arial" panose="020B0604020202020204" pitchFamily="34" charset="0"/>
              <a:buChar char="•"/>
            </a:pPr>
            <a:endParaRPr lang="es-CL" sz="2000" dirty="0"/>
          </a:p>
          <a:p>
            <a:pPr algn="just"/>
            <a:r>
              <a:rPr lang="es-CL" sz="2000" dirty="0"/>
              <a:t>Por ejemplo para el caso de las siguientes moléculas: </a:t>
            </a:r>
          </a:p>
          <a:p>
            <a:pPr algn="just"/>
            <a:endParaRPr lang="es-CL" sz="2000" dirty="0"/>
          </a:p>
          <a:p>
            <a:pPr algn="just"/>
            <a:endParaRPr lang="es-CL" sz="2000" dirty="0"/>
          </a:p>
          <a:p>
            <a:pPr algn="just"/>
            <a:endParaRPr lang="es-CL" sz="2000" dirty="0"/>
          </a:p>
        </p:txBody>
      </p:sp>
      <p:pic>
        <p:nvPicPr>
          <p:cNvPr id="4100" name="Picture 4" descr="Resultado de imagen para Geometría molecular del agu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1469956"/>
            <a:ext cx="2880320" cy="214223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sultado de imagen para Geometría molecular del amoniac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3143" y="1240016"/>
            <a:ext cx="2736304" cy="1900488"/>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7473" y="3083100"/>
            <a:ext cx="2449255" cy="2189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CuadroTexto"/>
          <p:cNvSpPr txBox="1"/>
          <p:nvPr/>
        </p:nvSpPr>
        <p:spPr>
          <a:xfrm>
            <a:off x="2483768" y="1605485"/>
            <a:ext cx="2304256" cy="584775"/>
          </a:xfrm>
          <a:prstGeom prst="rect">
            <a:avLst/>
          </a:prstGeom>
          <a:noFill/>
        </p:spPr>
        <p:txBody>
          <a:bodyPr wrap="square" rtlCol="0">
            <a:spAutoFit/>
          </a:bodyPr>
          <a:lstStyle/>
          <a:p>
            <a:r>
              <a:rPr lang="es-CL" sz="3200" dirty="0"/>
              <a:t>H</a:t>
            </a:r>
            <a:r>
              <a:rPr lang="es-CL" sz="3200" baseline="-25000" dirty="0"/>
              <a:t>2</a:t>
            </a:r>
            <a:r>
              <a:rPr lang="es-CL" sz="3200" dirty="0"/>
              <a:t>O</a:t>
            </a:r>
          </a:p>
        </p:txBody>
      </p:sp>
      <p:sp>
        <p:nvSpPr>
          <p:cNvPr id="6" name="5 CuadroTexto"/>
          <p:cNvSpPr txBox="1"/>
          <p:nvPr/>
        </p:nvSpPr>
        <p:spPr>
          <a:xfrm>
            <a:off x="7524328" y="2790712"/>
            <a:ext cx="2159257" cy="584775"/>
          </a:xfrm>
          <a:prstGeom prst="rect">
            <a:avLst/>
          </a:prstGeom>
          <a:noFill/>
        </p:spPr>
        <p:txBody>
          <a:bodyPr wrap="square" rtlCol="0">
            <a:spAutoFit/>
          </a:bodyPr>
          <a:lstStyle/>
          <a:p>
            <a:r>
              <a:rPr lang="es-CL" sz="3200" dirty="0"/>
              <a:t>NH</a:t>
            </a:r>
            <a:r>
              <a:rPr lang="es-CL" sz="3200" baseline="-25000" dirty="0"/>
              <a:t>3</a:t>
            </a:r>
          </a:p>
        </p:txBody>
      </p:sp>
      <p:sp>
        <p:nvSpPr>
          <p:cNvPr id="11" name="10 CuadroTexto"/>
          <p:cNvSpPr txBox="1"/>
          <p:nvPr/>
        </p:nvSpPr>
        <p:spPr>
          <a:xfrm>
            <a:off x="6805231" y="4240755"/>
            <a:ext cx="2159257" cy="584775"/>
          </a:xfrm>
          <a:prstGeom prst="rect">
            <a:avLst/>
          </a:prstGeom>
          <a:noFill/>
        </p:spPr>
        <p:txBody>
          <a:bodyPr wrap="square" rtlCol="0">
            <a:spAutoFit/>
          </a:bodyPr>
          <a:lstStyle/>
          <a:p>
            <a:r>
              <a:rPr lang="es-CL" sz="3200" dirty="0"/>
              <a:t>SF</a:t>
            </a:r>
            <a:r>
              <a:rPr lang="es-CL" sz="3200" baseline="-25000" dirty="0"/>
              <a:t>4</a:t>
            </a:r>
          </a:p>
        </p:txBody>
      </p:sp>
      <p:sp>
        <p:nvSpPr>
          <p:cNvPr id="7" name="6 CuadroTexto"/>
          <p:cNvSpPr txBox="1"/>
          <p:nvPr/>
        </p:nvSpPr>
        <p:spPr>
          <a:xfrm>
            <a:off x="106016" y="4005064"/>
            <a:ext cx="4283731" cy="1631216"/>
          </a:xfrm>
          <a:prstGeom prst="rect">
            <a:avLst/>
          </a:prstGeom>
          <a:noFill/>
        </p:spPr>
        <p:txBody>
          <a:bodyPr wrap="square" rtlCol="0">
            <a:spAutoFit/>
          </a:bodyPr>
          <a:lstStyle/>
          <a:p>
            <a:pPr algn="just"/>
            <a:r>
              <a:rPr lang="es-CL" sz="2000" dirty="0"/>
              <a:t>Existen pares electrónicos no enlazantes distintos al número de enlaces con ligandos, por lo cual se presentan </a:t>
            </a:r>
            <a:r>
              <a:rPr lang="es-CL" sz="2000" dirty="0" err="1"/>
              <a:t>distorciones</a:t>
            </a:r>
            <a:r>
              <a:rPr lang="es-CL" sz="2000" dirty="0"/>
              <a:t> entre los ángulos de enlaces. </a:t>
            </a:r>
          </a:p>
        </p:txBody>
      </p:sp>
    </p:spTree>
    <p:extLst>
      <p:ext uri="{BB962C8B-B14F-4D97-AF65-F5344CB8AC3E}">
        <p14:creationId xmlns:p14="http://schemas.microsoft.com/office/powerpoint/2010/main" val="2098619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1"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4" y="268336"/>
            <a:ext cx="9109751" cy="5290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672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77" y="20426"/>
            <a:ext cx="9217676" cy="6837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3452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251520" y="332656"/>
            <a:ext cx="8568952" cy="1569660"/>
          </a:xfrm>
          <a:prstGeom prst="rect">
            <a:avLst/>
          </a:prstGeom>
          <a:noFill/>
        </p:spPr>
        <p:txBody>
          <a:bodyPr wrap="square" rtlCol="0">
            <a:spAutoFit/>
          </a:bodyPr>
          <a:lstStyle/>
          <a:p>
            <a:r>
              <a:rPr lang="es-CL" sz="2400" dirty="0"/>
              <a:t>Importante !!! </a:t>
            </a:r>
          </a:p>
          <a:p>
            <a:endParaRPr lang="es-CL" dirty="0"/>
          </a:p>
          <a:p>
            <a:pPr marL="285750" indent="-285750">
              <a:buFont typeface="Arial" panose="020B0604020202020204" pitchFamily="34" charset="0"/>
              <a:buChar char="•"/>
            </a:pPr>
            <a:r>
              <a:rPr lang="es-CL" dirty="0"/>
              <a:t>Para determinar los ángulos de enlace aproximados, en moléculas con pares electrónicos sin compartir  es necesario tener presente el orden de las fuerzas repulsivas de los pares electrónicos. </a:t>
            </a:r>
          </a:p>
        </p:txBody>
      </p:sp>
      <p:sp>
        <p:nvSpPr>
          <p:cNvPr id="5" name="4 CuadroTexto"/>
          <p:cNvSpPr txBox="1"/>
          <p:nvPr/>
        </p:nvSpPr>
        <p:spPr>
          <a:xfrm>
            <a:off x="0" y="1988840"/>
            <a:ext cx="9217024" cy="1015663"/>
          </a:xfrm>
          <a:prstGeom prst="rect">
            <a:avLst/>
          </a:prstGeom>
          <a:noFill/>
        </p:spPr>
        <p:txBody>
          <a:bodyPr wrap="square" rtlCol="0">
            <a:spAutoFit/>
          </a:bodyPr>
          <a:lstStyle/>
          <a:p>
            <a:r>
              <a:rPr lang="es-CL" sz="2000" dirty="0"/>
              <a:t>Par no enlazante – Par no enlazante &gt; Par no enlazante – Par enlazante &gt;</a:t>
            </a:r>
          </a:p>
          <a:p>
            <a:endParaRPr lang="es-CL" sz="2000" dirty="0"/>
          </a:p>
          <a:p>
            <a:r>
              <a:rPr lang="es-CL" sz="2000" dirty="0"/>
              <a:t>Par enlazante – Par enlazante </a:t>
            </a:r>
          </a:p>
        </p:txBody>
      </p:sp>
      <p:pic>
        <p:nvPicPr>
          <p:cNvPr id="6" name="Picture 6" descr="Resultado de imagen para Geometría molecular del amoniac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515" y="4409880"/>
            <a:ext cx="2321598" cy="1612456"/>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Resultado de imagen para Geometría molecular del metan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3948" y="3140968"/>
            <a:ext cx="2808312" cy="2633634"/>
          </a:xfrm>
          <a:prstGeom prst="rect">
            <a:avLst/>
          </a:prstGeom>
          <a:noFill/>
          <a:extLst>
            <a:ext uri="{909E8E84-426E-40DD-AFC4-6F175D3DCCD1}">
              <a14:hiddenFill xmlns:a14="http://schemas.microsoft.com/office/drawing/2010/main">
                <a:solidFill>
                  <a:srgbClr val="FFFFFF"/>
                </a:solidFill>
              </a14:hiddenFill>
            </a:ext>
          </a:extLst>
        </p:spPr>
      </p:pic>
      <p:sp>
        <p:nvSpPr>
          <p:cNvPr id="7" name="6 CuadroTexto"/>
          <p:cNvSpPr txBox="1"/>
          <p:nvPr/>
        </p:nvSpPr>
        <p:spPr>
          <a:xfrm>
            <a:off x="251520" y="3140968"/>
            <a:ext cx="4824536" cy="369332"/>
          </a:xfrm>
          <a:prstGeom prst="rect">
            <a:avLst/>
          </a:prstGeom>
          <a:noFill/>
        </p:spPr>
        <p:txBody>
          <a:bodyPr wrap="square" rtlCol="0">
            <a:spAutoFit/>
          </a:bodyPr>
          <a:lstStyle/>
          <a:p>
            <a:r>
              <a:rPr lang="es-CL" dirty="0"/>
              <a:t>Ejemplo : </a:t>
            </a:r>
          </a:p>
        </p:txBody>
      </p:sp>
      <p:sp>
        <p:nvSpPr>
          <p:cNvPr id="8" name="7 Elipse"/>
          <p:cNvSpPr/>
          <p:nvPr/>
        </p:nvSpPr>
        <p:spPr>
          <a:xfrm>
            <a:off x="1186314" y="4121848"/>
            <a:ext cx="576064" cy="5760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10" name="9 Conector recto de flecha"/>
          <p:cNvCxnSpPr/>
          <p:nvPr/>
        </p:nvCxnSpPr>
        <p:spPr>
          <a:xfrm flipV="1">
            <a:off x="1762378" y="3933056"/>
            <a:ext cx="577374" cy="1887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2530113" y="3244685"/>
            <a:ext cx="2844316" cy="1754326"/>
          </a:xfrm>
          <a:prstGeom prst="rect">
            <a:avLst/>
          </a:prstGeom>
          <a:noFill/>
        </p:spPr>
        <p:txBody>
          <a:bodyPr wrap="square" rtlCol="0">
            <a:spAutoFit/>
          </a:bodyPr>
          <a:lstStyle/>
          <a:p>
            <a:pPr algn="just"/>
            <a:r>
              <a:rPr lang="es-CL" dirty="0"/>
              <a:t>Este par electrónico no enlazante repele los pares electrónicos compartidos con mayor fuerza , disminuyendo los ángulos de enlace. </a:t>
            </a:r>
          </a:p>
        </p:txBody>
      </p:sp>
    </p:spTree>
    <p:extLst>
      <p:ext uri="{BB962C8B-B14F-4D97-AF65-F5344CB8AC3E}">
        <p14:creationId xmlns:p14="http://schemas.microsoft.com/office/powerpoint/2010/main" val="2376624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79512" y="188640"/>
            <a:ext cx="8712968" cy="923330"/>
          </a:xfrm>
          <a:prstGeom prst="rect">
            <a:avLst/>
          </a:prstGeom>
          <a:noFill/>
        </p:spPr>
        <p:txBody>
          <a:bodyPr wrap="square" rtlCol="0">
            <a:spAutoFit/>
          </a:bodyPr>
          <a:lstStyle/>
          <a:p>
            <a:pPr marL="285750" indent="-285750">
              <a:buFont typeface="Arial" panose="020B0604020202020204" pitchFamily="34" charset="0"/>
              <a:buChar char="•"/>
            </a:pPr>
            <a:r>
              <a:rPr lang="es-CL" dirty="0"/>
              <a:t>En el caso de la molécula de agua, la repulsión es mayor, ya que existen dos pares de electrones no enlazantes repeliendo a los pares enlazantes y por consiguiente el ángulo de enlace es menor aun (104,5°) </a:t>
            </a:r>
          </a:p>
        </p:txBody>
      </p:sp>
      <p:sp>
        <p:nvSpPr>
          <p:cNvPr id="5" name="AutoShape 2" descr="Resultado de imagen para Geometría angular de la molécula de agu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sp>
        <p:nvSpPr>
          <p:cNvPr id="6" name="AutoShape 4" descr="Resultado de imagen para Geometría angular de la molécula de agu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sp>
        <p:nvSpPr>
          <p:cNvPr id="7" name="AutoShape 6" descr="Resultado de imagen para Geometría angular de la molécula de agu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pic>
        <p:nvPicPr>
          <p:cNvPr id="819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3364" y="1026369"/>
            <a:ext cx="2762874" cy="2061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7 CuadroTexto"/>
          <p:cNvSpPr txBox="1"/>
          <p:nvPr/>
        </p:nvSpPr>
        <p:spPr>
          <a:xfrm>
            <a:off x="140589" y="3068960"/>
            <a:ext cx="8988425" cy="1477328"/>
          </a:xfrm>
          <a:prstGeom prst="rect">
            <a:avLst/>
          </a:prstGeom>
          <a:noFill/>
        </p:spPr>
        <p:txBody>
          <a:bodyPr wrap="square" rtlCol="0">
            <a:spAutoFit/>
          </a:bodyPr>
          <a:lstStyle/>
          <a:p>
            <a:pPr marL="285750" indent="-285750" algn="just">
              <a:buFont typeface="Arial" panose="020B0604020202020204" pitchFamily="34" charset="0"/>
              <a:buChar char="•"/>
            </a:pPr>
            <a:r>
              <a:rPr lang="es-CL" dirty="0"/>
              <a:t> En el caso de aquellas moléculas que presentan dobles o triples enlaces la TRPEV los considera como simples, a pesar de que esta teoría explique separar lo suficientemente los pares electrones para obtener el menor grado de repulsión, pero en este caso, en los dobles o triples enlaces los electrones deben estar cerca para  establecer este tipo de enlaces. </a:t>
            </a:r>
          </a:p>
        </p:txBody>
      </p:sp>
      <p:pic>
        <p:nvPicPr>
          <p:cNvPr id="820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050" y="4500570"/>
            <a:ext cx="3943676" cy="21807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541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07504" y="260648"/>
            <a:ext cx="8280920" cy="369332"/>
          </a:xfrm>
          <a:prstGeom prst="rect">
            <a:avLst/>
          </a:prstGeom>
          <a:noFill/>
        </p:spPr>
        <p:txBody>
          <a:bodyPr wrap="square" rtlCol="0">
            <a:spAutoFit/>
          </a:bodyPr>
          <a:lstStyle/>
          <a:p>
            <a:r>
              <a:rPr lang="es-CL" dirty="0"/>
              <a:t>Ejemplo : Determinar la geometría molecular de la molécula de SO</a:t>
            </a:r>
            <a:r>
              <a:rPr lang="es-CL" baseline="-25000" dirty="0"/>
              <a:t>2</a:t>
            </a:r>
            <a:endParaRPr lang="es-CL"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18" y="2348006"/>
            <a:ext cx="5108162" cy="1230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48" y="1090888"/>
            <a:ext cx="2544876" cy="98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971" y="4005064"/>
            <a:ext cx="2154237" cy="214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3275856" y="4672449"/>
            <a:ext cx="5688632" cy="923330"/>
          </a:xfrm>
          <a:prstGeom prst="rect">
            <a:avLst/>
          </a:prstGeom>
          <a:noFill/>
        </p:spPr>
        <p:txBody>
          <a:bodyPr wrap="square" rtlCol="0">
            <a:spAutoFit/>
          </a:bodyPr>
          <a:lstStyle/>
          <a:p>
            <a:pPr algn="just"/>
            <a:r>
              <a:rPr lang="es-CL" dirty="0"/>
              <a:t>Por lo tanto si consideramos los enlaces dobles como simples; por lo tanto, la figura base es triangular con 120° entre sus enlaces. </a:t>
            </a:r>
          </a:p>
        </p:txBody>
      </p:sp>
    </p:spTree>
    <p:extLst>
      <p:ext uri="{BB962C8B-B14F-4D97-AF65-F5344CB8AC3E}">
        <p14:creationId xmlns:p14="http://schemas.microsoft.com/office/powerpoint/2010/main" val="83103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fade">
                                      <p:cBhvr>
                                        <p:cTn id="7" dur="1000"/>
                                        <p:tgtEl>
                                          <p:spTgt spid="9219"/>
                                        </p:tgtEl>
                                      </p:cBhvr>
                                    </p:animEffect>
                                    <p:anim calcmode="lin" valueType="num">
                                      <p:cBhvr>
                                        <p:cTn id="8" dur="1000" fill="hold"/>
                                        <p:tgtEl>
                                          <p:spTgt spid="9219"/>
                                        </p:tgtEl>
                                        <p:attrNameLst>
                                          <p:attrName>ppt_x</p:attrName>
                                        </p:attrNameLst>
                                      </p:cBhvr>
                                      <p:tavLst>
                                        <p:tav tm="0">
                                          <p:val>
                                            <p:strVal val="#ppt_x"/>
                                          </p:val>
                                        </p:tav>
                                        <p:tav tm="100000">
                                          <p:val>
                                            <p:strVal val="#ppt_x"/>
                                          </p:val>
                                        </p:tav>
                                      </p:tavLst>
                                    </p:anim>
                                    <p:anim calcmode="lin" valueType="num">
                                      <p:cBhvr>
                                        <p:cTn id="9" dur="1000" fill="hold"/>
                                        <p:tgtEl>
                                          <p:spTgt spid="92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9218"/>
                                        </p:tgtEl>
                                        <p:attrNameLst>
                                          <p:attrName>style.visibility</p:attrName>
                                        </p:attrNameLst>
                                      </p:cBhvr>
                                      <p:to>
                                        <p:strVal val="visible"/>
                                      </p:to>
                                    </p:set>
                                    <p:animEffect transition="in" filter="fade">
                                      <p:cBhvr>
                                        <p:cTn id="14" dur="500"/>
                                        <p:tgtEl>
                                          <p:spTgt spid="9218"/>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220"/>
                                        </p:tgtEl>
                                        <p:attrNameLst>
                                          <p:attrName>style.visibility</p:attrName>
                                        </p:attrNameLst>
                                      </p:cBhvr>
                                      <p:to>
                                        <p:strVal val="visible"/>
                                      </p:to>
                                    </p:set>
                                    <p:animEffect transition="in" filter="fade">
                                      <p:cBhvr>
                                        <p:cTn id="19" dur="1000"/>
                                        <p:tgtEl>
                                          <p:spTgt spid="9220"/>
                                        </p:tgtEl>
                                      </p:cBhvr>
                                    </p:animEffect>
                                    <p:anim calcmode="lin" valueType="num">
                                      <p:cBhvr>
                                        <p:cTn id="20" dur="1000" fill="hold"/>
                                        <p:tgtEl>
                                          <p:spTgt spid="9220"/>
                                        </p:tgtEl>
                                        <p:attrNameLst>
                                          <p:attrName>ppt_x</p:attrName>
                                        </p:attrNameLst>
                                      </p:cBhvr>
                                      <p:tavLst>
                                        <p:tav tm="0">
                                          <p:val>
                                            <p:strVal val="#ppt_x"/>
                                          </p:val>
                                        </p:tav>
                                        <p:tav tm="100000">
                                          <p:val>
                                            <p:strVal val="#ppt_x"/>
                                          </p:val>
                                        </p:tav>
                                      </p:tavLst>
                                    </p:anim>
                                    <p:anim calcmode="lin" valueType="num">
                                      <p:cBhvr>
                                        <p:cTn id="21" dur="1000" fill="hold"/>
                                        <p:tgtEl>
                                          <p:spTgt spid="922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251520" y="188640"/>
            <a:ext cx="8352928" cy="954107"/>
          </a:xfrm>
          <a:prstGeom prst="rect">
            <a:avLst/>
          </a:prstGeom>
          <a:noFill/>
        </p:spPr>
        <p:txBody>
          <a:bodyPr wrap="square" rtlCol="0">
            <a:spAutoFit/>
          </a:bodyPr>
          <a:lstStyle/>
          <a:p>
            <a:pPr algn="just"/>
            <a:r>
              <a:rPr lang="es-CL" sz="2800" dirty="0"/>
              <a:t>Geometría Molecular y Polaridad de la Molécula. </a:t>
            </a:r>
          </a:p>
        </p:txBody>
      </p:sp>
      <p:sp>
        <p:nvSpPr>
          <p:cNvPr id="5" name="4 CuadroTexto"/>
          <p:cNvSpPr txBox="1"/>
          <p:nvPr/>
        </p:nvSpPr>
        <p:spPr>
          <a:xfrm>
            <a:off x="0" y="1142747"/>
            <a:ext cx="8640960" cy="1354217"/>
          </a:xfrm>
          <a:prstGeom prst="rect">
            <a:avLst/>
          </a:prstGeom>
          <a:noFill/>
        </p:spPr>
        <p:txBody>
          <a:bodyPr wrap="square" rtlCol="0">
            <a:spAutoFit/>
          </a:bodyPr>
          <a:lstStyle/>
          <a:p>
            <a:pPr marL="285750" indent="-285750" algn="just">
              <a:buFont typeface="Arial" panose="020B0604020202020204" pitchFamily="34" charset="0"/>
              <a:buChar char="•"/>
            </a:pPr>
            <a:r>
              <a:rPr lang="es-CL" dirty="0"/>
              <a:t>Como el momento dipolar </a:t>
            </a:r>
            <a:r>
              <a:rPr lang="es-CL" sz="3200" b="1" dirty="0"/>
              <a:t>µ</a:t>
            </a:r>
            <a:r>
              <a:rPr lang="es-CL" dirty="0"/>
              <a:t>, es una magnitud vectorial, para determinar si una molécula poliatómica es o no polar, habrá que hacer la suma vectorial de los momentos dipolares correspondientes: </a:t>
            </a:r>
            <a:r>
              <a:rPr lang="es-CL" sz="3200" b="1" dirty="0"/>
              <a:t> </a:t>
            </a:r>
          </a:p>
        </p:txBody>
      </p:sp>
      <p:sp>
        <p:nvSpPr>
          <p:cNvPr id="6" name="5 CuadroTexto"/>
          <p:cNvSpPr txBox="1"/>
          <p:nvPr/>
        </p:nvSpPr>
        <p:spPr>
          <a:xfrm>
            <a:off x="251520" y="2636912"/>
            <a:ext cx="3024336" cy="369332"/>
          </a:xfrm>
          <a:prstGeom prst="rect">
            <a:avLst/>
          </a:prstGeom>
          <a:noFill/>
        </p:spPr>
        <p:txBody>
          <a:bodyPr wrap="square" rtlCol="0">
            <a:spAutoFit/>
          </a:bodyPr>
          <a:lstStyle/>
          <a:p>
            <a:r>
              <a:rPr lang="es-CL" dirty="0"/>
              <a:t>Ejemplo: </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610303"/>
            <a:ext cx="2343150" cy="195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CuadroTexto"/>
          <p:cNvSpPr txBox="1"/>
          <p:nvPr/>
        </p:nvSpPr>
        <p:spPr>
          <a:xfrm>
            <a:off x="4427984" y="2786407"/>
            <a:ext cx="4032448" cy="369332"/>
          </a:xfrm>
          <a:prstGeom prst="rect">
            <a:avLst/>
          </a:prstGeom>
          <a:noFill/>
        </p:spPr>
        <p:txBody>
          <a:bodyPr wrap="square" rtlCol="0">
            <a:spAutoFit/>
          </a:bodyPr>
          <a:lstStyle/>
          <a:p>
            <a:r>
              <a:rPr lang="el-GR" dirty="0"/>
              <a:t>Δ</a:t>
            </a:r>
            <a:r>
              <a:rPr lang="es-CL" dirty="0"/>
              <a:t> Electronegatividad (O-H): 1,4</a:t>
            </a:r>
          </a:p>
        </p:txBody>
      </p:sp>
      <p:sp>
        <p:nvSpPr>
          <p:cNvPr id="8" name="7 CuadroTexto"/>
          <p:cNvSpPr txBox="1"/>
          <p:nvPr/>
        </p:nvSpPr>
        <p:spPr>
          <a:xfrm>
            <a:off x="4427984" y="3284984"/>
            <a:ext cx="4536504" cy="923330"/>
          </a:xfrm>
          <a:prstGeom prst="rect">
            <a:avLst/>
          </a:prstGeom>
          <a:noFill/>
        </p:spPr>
        <p:txBody>
          <a:bodyPr wrap="square" rtlCol="0">
            <a:spAutoFit/>
          </a:bodyPr>
          <a:lstStyle/>
          <a:p>
            <a:pPr algn="just"/>
            <a:r>
              <a:rPr lang="es-CL" dirty="0"/>
              <a:t>Esta diferencia de E, provocara  una separación de carga entre los átomos, provocando la polarización del enlace</a:t>
            </a:r>
          </a:p>
        </p:txBody>
      </p:sp>
      <p:sp>
        <p:nvSpPr>
          <p:cNvPr id="9" name="8 Flecha abajo"/>
          <p:cNvSpPr/>
          <p:nvPr/>
        </p:nvSpPr>
        <p:spPr>
          <a:xfrm>
            <a:off x="6372200" y="4365104"/>
            <a:ext cx="576064"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9 CuadroTexto"/>
          <p:cNvSpPr txBox="1"/>
          <p:nvPr/>
        </p:nvSpPr>
        <p:spPr>
          <a:xfrm>
            <a:off x="4211960" y="5085184"/>
            <a:ext cx="4752528" cy="1569660"/>
          </a:xfrm>
          <a:prstGeom prst="rect">
            <a:avLst/>
          </a:prstGeom>
          <a:noFill/>
        </p:spPr>
        <p:txBody>
          <a:bodyPr wrap="square" rtlCol="0">
            <a:spAutoFit/>
          </a:bodyPr>
          <a:lstStyle/>
          <a:p>
            <a:pPr algn="just"/>
            <a:r>
              <a:rPr lang="es-CL" sz="2400" b="1" dirty="0">
                <a:solidFill>
                  <a:srgbClr val="00B050"/>
                </a:solidFill>
              </a:rPr>
              <a:t>Por lo tanto el momento dipolar resultante dependerá de la geometría de la molécula. </a:t>
            </a:r>
          </a:p>
        </p:txBody>
      </p:sp>
    </p:spTree>
    <p:extLst>
      <p:ext uri="{BB962C8B-B14F-4D97-AF65-F5344CB8AC3E}">
        <p14:creationId xmlns:p14="http://schemas.microsoft.com/office/powerpoint/2010/main" val="2056608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1268760"/>
            <a:ext cx="251777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CuadroTexto"/>
          <p:cNvSpPr txBox="1"/>
          <p:nvPr/>
        </p:nvSpPr>
        <p:spPr>
          <a:xfrm>
            <a:off x="107504" y="260648"/>
            <a:ext cx="8928992" cy="523220"/>
          </a:xfrm>
          <a:prstGeom prst="rect">
            <a:avLst/>
          </a:prstGeom>
          <a:noFill/>
        </p:spPr>
        <p:txBody>
          <a:bodyPr wrap="square" rtlCol="0">
            <a:spAutoFit/>
          </a:bodyPr>
          <a:lstStyle/>
          <a:p>
            <a:pPr marL="285750" indent="-285750">
              <a:buFont typeface="Arial" panose="020B0604020202020204" pitchFamily="34" charset="0"/>
              <a:buChar char="•"/>
            </a:pPr>
            <a:r>
              <a:rPr lang="es-CL" dirty="0"/>
              <a:t>Para la unión  </a:t>
            </a:r>
            <a:r>
              <a:rPr lang="es-CL" sz="2800" dirty="0"/>
              <a:t>O-H</a:t>
            </a:r>
            <a:r>
              <a:rPr lang="es-CL" dirty="0"/>
              <a:t> el momento dipolar tiene una magnitud de 1,51 D. </a:t>
            </a:r>
            <a:endParaRPr lang="es-CL" sz="2800" dirty="0"/>
          </a:p>
        </p:txBody>
      </p:sp>
      <p:sp>
        <p:nvSpPr>
          <p:cNvPr id="5" name="4 CuadroTexto"/>
          <p:cNvSpPr txBox="1"/>
          <p:nvPr/>
        </p:nvSpPr>
        <p:spPr>
          <a:xfrm>
            <a:off x="3707904" y="980728"/>
            <a:ext cx="4968552" cy="1477328"/>
          </a:xfrm>
          <a:prstGeom prst="rect">
            <a:avLst/>
          </a:prstGeom>
          <a:noFill/>
        </p:spPr>
        <p:txBody>
          <a:bodyPr wrap="square" rtlCol="0">
            <a:spAutoFit/>
          </a:bodyPr>
          <a:lstStyle/>
          <a:p>
            <a:r>
              <a:rPr lang="es-CL" dirty="0"/>
              <a:t>Por lo tanto si la molécula de agua fuese lineal ambos vectores se anularían porque serían iguales y de sentido contrario, por lo que    </a:t>
            </a:r>
            <a:r>
              <a:rPr lang="es-CL" sz="3600" dirty="0"/>
              <a:t>µ = 0 </a:t>
            </a:r>
            <a:r>
              <a:rPr lang="es-CL" dirty="0"/>
              <a:t>.</a:t>
            </a:r>
            <a:endParaRPr lang="es-CL" sz="3600" dirty="0"/>
          </a:p>
        </p:txBody>
      </p:sp>
      <p:sp>
        <p:nvSpPr>
          <p:cNvPr id="6" name="5 CuadroTexto"/>
          <p:cNvSpPr txBox="1"/>
          <p:nvPr/>
        </p:nvSpPr>
        <p:spPr>
          <a:xfrm>
            <a:off x="107504" y="3212976"/>
            <a:ext cx="9036496" cy="1231106"/>
          </a:xfrm>
          <a:prstGeom prst="rect">
            <a:avLst/>
          </a:prstGeom>
          <a:noFill/>
        </p:spPr>
        <p:txBody>
          <a:bodyPr wrap="square" rtlCol="0">
            <a:spAutoFit/>
          </a:bodyPr>
          <a:lstStyle/>
          <a:p>
            <a:pPr marL="285750" indent="-285750">
              <a:buFont typeface="Arial" panose="020B0604020202020204" pitchFamily="34" charset="0"/>
              <a:buChar char="•"/>
            </a:pPr>
            <a:r>
              <a:rPr lang="es-CL" dirty="0"/>
              <a:t>El momento dipolar del H</a:t>
            </a:r>
            <a:r>
              <a:rPr lang="es-CL" baseline="-25000" dirty="0"/>
              <a:t>2</a:t>
            </a:r>
            <a:r>
              <a:rPr lang="es-CL" dirty="0"/>
              <a:t>O, determinado experimentalmente, tiene un valor de 1,84 D, lo que significa que</a:t>
            </a:r>
            <a:r>
              <a:rPr lang="es-CL" sz="2800" dirty="0"/>
              <a:t> la molécula no puede ser lineal !!</a:t>
            </a:r>
          </a:p>
        </p:txBody>
      </p:sp>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501" y="4441635"/>
            <a:ext cx="2818805" cy="1883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Rectángulo"/>
          <p:cNvSpPr/>
          <p:nvPr/>
        </p:nvSpPr>
        <p:spPr>
          <a:xfrm>
            <a:off x="5124621" y="5383288"/>
            <a:ext cx="2215671" cy="523220"/>
          </a:xfrm>
          <a:prstGeom prst="rect">
            <a:avLst/>
          </a:prstGeom>
        </p:spPr>
        <p:txBody>
          <a:bodyPr wrap="none">
            <a:spAutoFit/>
          </a:bodyPr>
          <a:lstStyle/>
          <a:p>
            <a:r>
              <a:rPr lang="es-CL" sz="2800" dirty="0"/>
              <a:t>µ = 1,84 D </a:t>
            </a:r>
          </a:p>
        </p:txBody>
      </p:sp>
    </p:spTree>
    <p:extLst>
      <p:ext uri="{BB962C8B-B14F-4D97-AF65-F5344CB8AC3E}">
        <p14:creationId xmlns:p14="http://schemas.microsoft.com/office/powerpoint/2010/main" val="149613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1000"/>
                                        <p:tgtEl>
                                          <p:spTgt spid="11266"/>
                                        </p:tgtEl>
                                      </p:cBhvr>
                                    </p:animEffect>
                                    <p:anim calcmode="lin" valueType="num">
                                      <p:cBhvr>
                                        <p:cTn id="8" dur="1000" fill="hold"/>
                                        <p:tgtEl>
                                          <p:spTgt spid="11266"/>
                                        </p:tgtEl>
                                        <p:attrNameLst>
                                          <p:attrName>ppt_x</p:attrName>
                                        </p:attrNameLst>
                                      </p:cBhvr>
                                      <p:tavLst>
                                        <p:tav tm="0">
                                          <p:val>
                                            <p:strVal val="#ppt_x"/>
                                          </p:val>
                                        </p:tav>
                                        <p:tav tm="100000">
                                          <p:val>
                                            <p:strVal val="#ppt_x"/>
                                          </p:val>
                                        </p:tav>
                                      </p:tavLst>
                                    </p:anim>
                                    <p:anim calcmode="lin" valueType="num">
                                      <p:cBhvr>
                                        <p:cTn id="9"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79512" y="260648"/>
            <a:ext cx="8784976" cy="810478"/>
          </a:xfrm>
          <a:prstGeom prst="rect">
            <a:avLst/>
          </a:prstGeom>
          <a:noFill/>
        </p:spPr>
        <p:txBody>
          <a:bodyPr wrap="square" rtlCol="0">
            <a:spAutoFit/>
          </a:bodyPr>
          <a:lstStyle/>
          <a:p>
            <a:r>
              <a:rPr lang="es-CL" dirty="0"/>
              <a:t>Otro ejemplo, se podría representar para la molécula de </a:t>
            </a:r>
            <a:r>
              <a:rPr lang="es-CL" sz="2800" dirty="0"/>
              <a:t>CCl</a:t>
            </a:r>
            <a:r>
              <a:rPr lang="es-CL" sz="2800" baseline="-25000" dirty="0"/>
              <a:t>4 </a:t>
            </a:r>
          </a:p>
          <a:p>
            <a:endParaRPr lang="es-CL" sz="2800" baseline="-25000" dirty="0"/>
          </a:p>
        </p:txBody>
      </p:sp>
      <p:sp>
        <p:nvSpPr>
          <p:cNvPr id="5" name="4 Rectángulo"/>
          <p:cNvSpPr/>
          <p:nvPr/>
        </p:nvSpPr>
        <p:spPr>
          <a:xfrm>
            <a:off x="179512" y="1098604"/>
            <a:ext cx="8964488" cy="923330"/>
          </a:xfrm>
          <a:prstGeom prst="rect">
            <a:avLst/>
          </a:prstGeom>
        </p:spPr>
        <p:txBody>
          <a:bodyPr wrap="square">
            <a:spAutoFit/>
          </a:bodyPr>
          <a:lstStyle/>
          <a:p>
            <a:r>
              <a:rPr lang="es-CL" dirty="0"/>
              <a:t>Donde el</a:t>
            </a:r>
            <a:r>
              <a:rPr lang="es-CL" sz="3600" b="1" dirty="0"/>
              <a:t> µ </a:t>
            </a:r>
            <a:r>
              <a:rPr lang="es-CL" dirty="0"/>
              <a:t>del enlace C-Cl   es 2,05 D, pero sin embargo  esta molécula es apolar  </a:t>
            </a:r>
            <a:endParaRPr lang="es-CL" baseline="-25000"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857364"/>
            <a:ext cx="3816424" cy="36476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CuadroTexto"/>
          <p:cNvSpPr txBox="1"/>
          <p:nvPr/>
        </p:nvSpPr>
        <p:spPr>
          <a:xfrm>
            <a:off x="3571868" y="2636912"/>
            <a:ext cx="5216912" cy="1477328"/>
          </a:xfrm>
          <a:prstGeom prst="rect">
            <a:avLst/>
          </a:prstGeom>
          <a:noFill/>
        </p:spPr>
        <p:txBody>
          <a:bodyPr wrap="square" rtlCol="0">
            <a:spAutoFit/>
          </a:bodyPr>
          <a:lstStyle/>
          <a:p>
            <a:pPr algn="just"/>
            <a:r>
              <a:rPr lang="es-CL" dirty="0"/>
              <a:t>Esto implica que el ordenamiento de los átomos de cloro en torno al átomo de carbono central debe ser simétrico, lo que hace que los momentos dipolares de los distintos enlaces se cancelen mutuamente. </a:t>
            </a:r>
          </a:p>
        </p:txBody>
      </p:sp>
    </p:spTree>
    <p:extLst>
      <p:ext uri="{BB962C8B-B14F-4D97-AF65-F5344CB8AC3E}">
        <p14:creationId xmlns:p14="http://schemas.microsoft.com/office/powerpoint/2010/main" val="262259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79512" y="260648"/>
            <a:ext cx="8784976" cy="4431983"/>
          </a:xfrm>
          <a:prstGeom prst="rect">
            <a:avLst/>
          </a:prstGeom>
          <a:noFill/>
        </p:spPr>
        <p:txBody>
          <a:bodyPr wrap="square" rtlCol="0">
            <a:spAutoFit/>
          </a:bodyPr>
          <a:lstStyle/>
          <a:p>
            <a:r>
              <a:rPr lang="es-CL" sz="2400" dirty="0"/>
              <a:t>En resumen, para que una molécula sea polar es preciso que cumpla las condiciones siguientes: </a:t>
            </a:r>
          </a:p>
          <a:p>
            <a:endParaRPr lang="es-CL" b="1" dirty="0">
              <a:solidFill>
                <a:srgbClr val="00B050"/>
              </a:solidFill>
            </a:endParaRPr>
          </a:p>
          <a:p>
            <a:pPr marL="285750" indent="-285750">
              <a:buFont typeface="Arial" panose="020B0604020202020204" pitchFamily="34" charset="0"/>
              <a:buChar char="•"/>
            </a:pPr>
            <a:r>
              <a:rPr lang="es-CL" sz="2000" b="1" dirty="0">
                <a:solidFill>
                  <a:srgbClr val="00B050"/>
                </a:solidFill>
              </a:rPr>
              <a:t>Se requiere que haya, por lo menos, un enlace polar o un par de electrones no compartidos en el átomo central.</a:t>
            </a:r>
          </a:p>
          <a:p>
            <a:pPr marL="285750" indent="-285750"/>
            <a:endParaRPr lang="es-CL" sz="2000" b="1" dirty="0">
              <a:solidFill>
                <a:srgbClr val="00B050"/>
              </a:solidFill>
            </a:endParaRPr>
          </a:p>
          <a:p>
            <a:pPr marL="285750" indent="-285750"/>
            <a:r>
              <a:rPr lang="es-CL" sz="2000" b="1" dirty="0">
                <a:solidFill>
                  <a:srgbClr val="0070C0"/>
                </a:solidFill>
              </a:rPr>
              <a:t>    Ejemplo : HCl</a:t>
            </a:r>
          </a:p>
          <a:p>
            <a:pPr marL="285750" indent="-285750">
              <a:buFont typeface="Arial" panose="020B0604020202020204" pitchFamily="34" charset="0"/>
              <a:buChar char="•"/>
            </a:pPr>
            <a:endParaRPr lang="es-CL" sz="2000" dirty="0"/>
          </a:p>
          <a:p>
            <a:pPr marL="285750" indent="-285750">
              <a:buFont typeface="Arial" panose="020B0604020202020204" pitchFamily="34" charset="0"/>
              <a:buChar char="•"/>
            </a:pPr>
            <a:r>
              <a:rPr lang="es-CL" sz="2000" b="1" dirty="0">
                <a:solidFill>
                  <a:srgbClr val="00B050"/>
                </a:solidFill>
              </a:rPr>
              <a:t>Cuando hay más de un enlace polar, o más de un par de electrones no compartidos, deben estar ordenados de manera que los momentos dipolares no se cancelen entre sí. </a:t>
            </a:r>
          </a:p>
          <a:p>
            <a:pPr marL="285750" indent="-285750">
              <a:buFont typeface="Arial" panose="020B0604020202020204" pitchFamily="34" charset="0"/>
              <a:buChar char="•"/>
            </a:pPr>
            <a:endParaRPr lang="es-CL" sz="2000" b="1" dirty="0">
              <a:solidFill>
                <a:srgbClr val="00B050"/>
              </a:solidFill>
            </a:endParaRPr>
          </a:p>
          <a:p>
            <a:pPr marL="285750" indent="-285750"/>
            <a:r>
              <a:rPr lang="es-CL" sz="2000" b="1" dirty="0">
                <a:solidFill>
                  <a:srgbClr val="0070C0"/>
                </a:solidFill>
              </a:rPr>
              <a:t>    Ejemplo : H</a:t>
            </a:r>
            <a:r>
              <a:rPr lang="es-CL" sz="2000" b="1" baseline="-25000" dirty="0">
                <a:solidFill>
                  <a:srgbClr val="0070C0"/>
                </a:solidFill>
              </a:rPr>
              <a:t>2</a:t>
            </a:r>
            <a:r>
              <a:rPr lang="es-CL" sz="2000" b="1" dirty="0">
                <a:solidFill>
                  <a:srgbClr val="0070C0"/>
                </a:solidFill>
              </a:rPr>
              <a:t>O o SnCl</a:t>
            </a:r>
            <a:r>
              <a:rPr lang="es-CL" sz="2000" b="1" baseline="-25000" dirty="0">
                <a:solidFill>
                  <a:srgbClr val="0070C0"/>
                </a:solidFill>
              </a:rPr>
              <a:t>2</a:t>
            </a:r>
            <a:endParaRPr lang="es-CL" b="1" baseline="-25000" dirty="0">
              <a:solidFill>
                <a:srgbClr val="0070C0"/>
              </a:solidFill>
            </a:endParaRPr>
          </a:p>
          <a:p>
            <a:endParaRPr lang="es-CL" dirty="0"/>
          </a:p>
        </p:txBody>
      </p:sp>
      <p:sp>
        <p:nvSpPr>
          <p:cNvPr id="5" name="4 CuadroTexto"/>
          <p:cNvSpPr txBox="1"/>
          <p:nvPr/>
        </p:nvSpPr>
        <p:spPr>
          <a:xfrm>
            <a:off x="500034" y="4572008"/>
            <a:ext cx="8424936" cy="1785104"/>
          </a:xfrm>
          <a:prstGeom prst="rect">
            <a:avLst/>
          </a:prstGeom>
          <a:noFill/>
        </p:spPr>
        <p:txBody>
          <a:bodyPr wrap="square" rtlCol="0">
            <a:spAutoFit/>
          </a:bodyPr>
          <a:lstStyle/>
          <a:p>
            <a:r>
              <a:rPr lang="es-CL" dirty="0"/>
              <a:t>Ejercicio: Utilizando únicamente el sistema periódico, ordenar los siguientes enlaces según polaridad creciente </a:t>
            </a:r>
          </a:p>
          <a:p>
            <a:endParaRPr lang="es-CL" dirty="0"/>
          </a:p>
          <a:p>
            <a:pPr algn="ctr"/>
            <a:endParaRPr lang="es-CL" sz="2800" dirty="0"/>
          </a:p>
          <a:p>
            <a:pPr algn="ctr"/>
            <a:r>
              <a:rPr lang="es-CL" sz="2800" dirty="0"/>
              <a:t>Br-Cl    Br- Br y Li-Cl </a:t>
            </a:r>
          </a:p>
        </p:txBody>
      </p:sp>
    </p:spTree>
    <p:extLst>
      <p:ext uri="{BB962C8B-B14F-4D97-AF65-F5344CB8AC3E}">
        <p14:creationId xmlns:p14="http://schemas.microsoft.com/office/powerpoint/2010/main" val="2432444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79512" y="260648"/>
            <a:ext cx="8712968" cy="2185214"/>
          </a:xfrm>
          <a:prstGeom prst="rect">
            <a:avLst/>
          </a:prstGeom>
          <a:noFill/>
        </p:spPr>
        <p:txBody>
          <a:bodyPr wrap="square" rtlCol="0">
            <a:spAutoFit/>
          </a:bodyPr>
          <a:lstStyle/>
          <a:p>
            <a:r>
              <a:rPr lang="es-CL" sz="2800" dirty="0"/>
              <a:t>Polaridad de la molécula y solubilidad</a:t>
            </a:r>
            <a:r>
              <a:rPr lang="es-CL" sz="2400" dirty="0"/>
              <a:t> </a:t>
            </a:r>
          </a:p>
          <a:p>
            <a:endParaRPr lang="es-CL" dirty="0"/>
          </a:p>
          <a:p>
            <a:r>
              <a:rPr lang="es-CL" dirty="0"/>
              <a:t>La regla de oro de la solubilidad dice :</a:t>
            </a:r>
          </a:p>
          <a:p>
            <a:endParaRPr lang="es-CL" dirty="0"/>
          </a:p>
          <a:p>
            <a:pPr algn="ctr"/>
            <a:r>
              <a:rPr lang="es-CL" b="1" i="1" dirty="0">
                <a:solidFill>
                  <a:srgbClr val="00B050"/>
                </a:solidFill>
              </a:rPr>
              <a:t>“ Lo semejante disuelve a lo semejante”</a:t>
            </a:r>
          </a:p>
          <a:p>
            <a:pPr algn="ctr"/>
            <a:endParaRPr lang="es-CL" b="1" i="1" dirty="0">
              <a:solidFill>
                <a:srgbClr val="00B050"/>
              </a:solidFill>
            </a:endParaRPr>
          </a:p>
          <a:p>
            <a:pPr algn="ctr"/>
            <a:endParaRPr lang="es-CL" b="1" i="1" dirty="0">
              <a:solidFill>
                <a:srgbClr val="00B050"/>
              </a:solidFill>
            </a:endParaRPr>
          </a:p>
        </p:txBody>
      </p:sp>
      <p:sp>
        <p:nvSpPr>
          <p:cNvPr id="5" name="4 CuadroTexto"/>
          <p:cNvSpPr txBox="1"/>
          <p:nvPr/>
        </p:nvSpPr>
        <p:spPr>
          <a:xfrm>
            <a:off x="611560" y="2290585"/>
            <a:ext cx="7848872" cy="646331"/>
          </a:xfrm>
          <a:prstGeom prst="rect">
            <a:avLst/>
          </a:prstGeom>
          <a:noFill/>
        </p:spPr>
        <p:txBody>
          <a:bodyPr wrap="square" rtlCol="0">
            <a:spAutoFit/>
          </a:bodyPr>
          <a:lstStyle/>
          <a:p>
            <a:r>
              <a:rPr lang="es-CL" dirty="0"/>
              <a:t>HCl    y H</a:t>
            </a:r>
            <a:r>
              <a:rPr lang="es-CL" baseline="-25000" dirty="0"/>
              <a:t>2</a:t>
            </a:r>
            <a:r>
              <a:rPr lang="es-CL" dirty="0"/>
              <a:t>O  ambos compuestos químicos son polares por lo tanto se disuelven entre ellos. </a:t>
            </a:r>
          </a:p>
        </p:txBody>
      </p:sp>
      <p:sp>
        <p:nvSpPr>
          <p:cNvPr id="6" name="5 CuadroTexto"/>
          <p:cNvSpPr txBox="1"/>
          <p:nvPr/>
        </p:nvSpPr>
        <p:spPr>
          <a:xfrm>
            <a:off x="611560" y="3289957"/>
            <a:ext cx="7848872" cy="646331"/>
          </a:xfrm>
          <a:prstGeom prst="rect">
            <a:avLst/>
          </a:prstGeom>
          <a:noFill/>
        </p:spPr>
        <p:txBody>
          <a:bodyPr wrap="square" rtlCol="0">
            <a:spAutoFit/>
          </a:bodyPr>
          <a:lstStyle/>
          <a:p>
            <a:r>
              <a:rPr lang="es-CL" dirty="0"/>
              <a:t>CCl</a:t>
            </a:r>
            <a:r>
              <a:rPr lang="es-CL" baseline="-25000" dirty="0"/>
              <a:t>4</a:t>
            </a:r>
            <a:r>
              <a:rPr lang="es-CL" dirty="0"/>
              <a:t>  es apolar   y H</a:t>
            </a:r>
            <a:r>
              <a:rPr lang="es-CL" baseline="-25000" dirty="0"/>
              <a:t>2</a:t>
            </a:r>
            <a:r>
              <a:rPr lang="es-CL" dirty="0"/>
              <a:t>O es polar   por lo tanto no se disuelven entre ellos.  </a:t>
            </a:r>
          </a:p>
        </p:txBody>
      </p:sp>
      <p:sp>
        <p:nvSpPr>
          <p:cNvPr id="8" name="7 CuadroTexto"/>
          <p:cNvSpPr txBox="1"/>
          <p:nvPr/>
        </p:nvSpPr>
        <p:spPr>
          <a:xfrm>
            <a:off x="611560" y="4159167"/>
            <a:ext cx="7848872" cy="646331"/>
          </a:xfrm>
          <a:prstGeom prst="rect">
            <a:avLst/>
          </a:prstGeom>
          <a:noFill/>
        </p:spPr>
        <p:txBody>
          <a:bodyPr wrap="square" rtlCol="0">
            <a:spAutoFit/>
          </a:bodyPr>
          <a:lstStyle/>
          <a:p>
            <a:r>
              <a:rPr lang="es-CL" dirty="0"/>
              <a:t>CCl</a:t>
            </a:r>
            <a:r>
              <a:rPr lang="es-CL" baseline="-25000" dirty="0"/>
              <a:t>4</a:t>
            </a:r>
            <a:r>
              <a:rPr lang="es-CL" dirty="0"/>
              <a:t>  es apolar   y  benceno  es apolar   por lo tanto se disuelven entre ellos.  </a:t>
            </a:r>
          </a:p>
        </p:txBody>
      </p:sp>
    </p:spTree>
    <p:extLst>
      <p:ext uri="{BB962C8B-B14F-4D97-AF65-F5344CB8AC3E}">
        <p14:creationId xmlns:p14="http://schemas.microsoft.com/office/powerpoint/2010/main" val="38403602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796</TotalTime>
  <Words>1032</Words>
  <Application>Microsoft Office PowerPoint</Application>
  <PresentationFormat>Presentación en pantalla (4:3)</PresentationFormat>
  <Paragraphs>93</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Lucida Sans Unicode</vt:lpstr>
      <vt:lpstr>Verdana</vt:lpstr>
      <vt:lpstr>Wingdings 2</vt:lpstr>
      <vt:lpstr>Wingdings 3</vt:lpstr>
      <vt:lpstr>Concurrencia</vt:lpstr>
      <vt:lpstr>Química General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Química General</dc:title>
  <dc:creator>Javier Cristóbal Espinoza Vergara</dc:creator>
  <cp:lastModifiedBy>dayra.escudero@gmail.com</cp:lastModifiedBy>
  <cp:revision>29</cp:revision>
  <dcterms:created xsi:type="dcterms:W3CDTF">2017-09-24T15:19:59Z</dcterms:created>
  <dcterms:modified xsi:type="dcterms:W3CDTF">2021-09-15T15:02:01Z</dcterms:modified>
</cp:coreProperties>
</file>